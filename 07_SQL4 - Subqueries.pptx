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 id="272" r:id="rId16"/>
    <p:sldId id="269" r:id="rId17"/>
    <p:sldId id="271" r:id="rId18"/>
    <p:sldId id="273"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18" autoAdjust="0"/>
    <p:restoredTop sz="94660"/>
  </p:normalViewPr>
  <p:slideViewPr>
    <p:cSldViewPr snapToGrid="0">
      <p:cViewPr varScale="1">
        <p:scale>
          <a:sx n="83" d="100"/>
          <a:sy n="83" d="100"/>
        </p:scale>
        <p:origin x="1248"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4C23E0B-6B96-4089-8AEB-3E64D57FBC2E}" type="datetimeFigureOut">
              <a:rPr lang="en-US" smtClean="0"/>
              <a:t>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7E90A85-DE47-429F-8797-38D7F2F69045}" type="slidenum">
              <a:rPr lang="en-US" smtClean="0"/>
              <a:t>‹#›</a:t>
            </a:fld>
            <a:endParaRPr lang="en-US"/>
          </a:p>
        </p:txBody>
      </p:sp>
    </p:spTree>
    <p:extLst>
      <p:ext uri="{BB962C8B-B14F-4D97-AF65-F5344CB8AC3E}">
        <p14:creationId xmlns:p14="http://schemas.microsoft.com/office/powerpoint/2010/main" val="27692643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C23E0B-6B96-4089-8AEB-3E64D57FBC2E}" type="datetimeFigureOut">
              <a:rPr lang="en-US" smtClean="0"/>
              <a:t>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7E90A85-DE47-429F-8797-38D7F2F69045}" type="slidenum">
              <a:rPr lang="en-US" smtClean="0"/>
              <a:t>‹#›</a:t>
            </a:fld>
            <a:endParaRPr lang="en-US"/>
          </a:p>
        </p:txBody>
      </p:sp>
    </p:spTree>
    <p:extLst>
      <p:ext uri="{BB962C8B-B14F-4D97-AF65-F5344CB8AC3E}">
        <p14:creationId xmlns:p14="http://schemas.microsoft.com/office/powerpoint/2010/main" val="2460895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4C23E0B-6B96-4089-8AEB-3E64D57FBC2E}" type="datetimeFigureOut">
              <a:rPr lang="en-US" smtClean="0"/>
              <a:t>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7E90A85-DE47-429F-8797-38D7F2F69045}" type="slidenum">
              <a:rPr lang="en-US" smtClean="0"/>
              <a:t>‹#›</a:t>
            </a:fld>
            <a:endParaRPr lang="en-US"/>
          </a:p>
        </p:txBody>
      </p:sp>
    </p:spTree>
    <p:extLst>
      <p:ext uri="{BB962C8B-B14F-4D97-AF65-F5344CB8AC3E}">
        <p14:creationId xmlns:p14="http://schemas.microsoft.com/office/powerpoint/2010/main" val="42536925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4C23E0B-6B96-4089-8AEB-3E64D57FBC2E}" type="datetimeFigureOut">
              <a:rPr lang="en-US" smtClean="0"/>
              <a:t>2/28/2025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7E90A85-DE47-429F-8797-38D7F2F69045}" type="slidenum">
              <a:rPr lang="en-US" smtClean="0"/>
              <a:t>‹#›</a:t>
            </a:fld>
            <a:endParaRPr lang="en-US"/>
          </a:p>
        </p:txBody>
      </p:sp>
    </p:spTree>
    <p:extLst>
      <p:ext uri="{BB962C8B-B14F-4D97-AF65-F5344CB8AC3E}">
        <p14:creationId xmlns:p14="http://schemas.microsoft.com/office/powerpoint/2010/main" val="33949857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4C23E0B-6B96-4089-8AEB-3E64D57FBC2E}" type="datetimeFigureOut">
              <a:rPr lang="en-US" smtClean="0"/>
              <a:t>2/28/2025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7E90A85-DE47-429F-8797-38D7F2F69045}" type="slidenum">
              <a:rPr lang="en-US" smtClean="0"/>
              <a:t>‹#›</a:t>
            </a:fld>
            <a:endParaRPr lang="en-US"/>
          </a:p>
        </p:txBody>
      </p:sp>
    </p:spTree>
    <p:extLst>
      <p:ext uri="{BB962C8B-B14F-4D97-AF65-F5344CB8AC3E}">
        <p14:creationId xmlns:p14="http://schemas.microsoft.com/office/powerpoint/2010/main" val="18396351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4C23E0B-6B96-4089-8AEB-3E64D57FBC2E}" type="datetimeFigureOut">
              <a:rPr lang="en-US" smtClean="0"/>
              <a:t>2/28/2025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7E90A85-DE47-429F-8797-38D7F2F69045}" type="slidenum">
              <a:rPr lang="en-US" smtClean="0"/>
              <a:t>‹#›</a:t>
            </a:fld>
            <a:endParaRPr lang="en-US"/>
          </a:p>
        </p:txBody>
      </p:sp>
    </p:spTree>
    <p:extLst>
      <p:ext uri="{BB962C8B-B14F-4D97-AF65-F5344CB8AC3E}">
        <p14:creationId xmlns:p14="http://schemas.microsoft.com/office/powerpoint/2010/main" val="19095118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C23E0B-6B96-4089-8AEB-3E64D57FBC2E}" type="datetimeFigureOut">
              <a:rPr lang="en-US" smtClean="0"/>
              <a:t>2/28/2025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7E90A85-DE47-429F-8797-38D7F2F69045}" type="slidenum">
              <a:rPr lang="en-US" smtClean="0"/>
              <a:t>‹#›</a:t>
            </a:fld>
            <a:endParaRPr lang="en-US"/>
          </a:p>
        </p:txBody>
      </p:sp>
    </p:spTree>
    <p:extLst>
      <p:ext uri="{BB962C8B-B14F-4D97-AF65-F5344CB8AC3E}">
        <p14:creationId xmlns:p14="http://schemas.microsoft.com/office/powerpoint/2010/main" val="9473749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4C23E0B-6B96-4089-8AEB-3E64D57FBC2E}" type="datetimeFigureOut">
              <a:rPr lang="en-US" smtClean="0"/>
              <a:t>2/28/2025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7E90A85-DE47-429F-8797-38D7F2F69045}" type="slidenum">
              <a:rPr lang="en-US" smtClean="0"/>
              <a:t>‹#›</a:t>
            </a:fld>
            <a:endParaRPr lang="en-US"/>
          </a:p>
        </p:txBody>
      </p:sp>
    </p:spTree>
    <p:extLst>
      <p:ext uri="{BB962C8B-B14F-4D97-AF65-F5344CB8AC3E}">
        <p14:creationId xmlns:p14="http://schemas.microsoft.com/office/powerpoint/2010/main" val="38903356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4C23E0B-6B96-4089-8AEB-3E64D57FBC2E}" type="datetimeFigureOut">
              <a:rPr lang="en-US" smtClean="0"/>
              <a:t>2/28/2025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7E90A85-DE47-429F-8797-38D7F2F69045}" type="slidenum">
              <a:rPr lang="en-US" smtClean="0"/>
              <a:t>‹#›</a:t>
            </a:fld>
            <a:endParaRPr lang="en-US"/>
          </a:p>
        </p:txBody>
      </p:sp>
    </p:spTree>
    <p:extLst>
      <p:ext uri="{BB962C8B-B14F-4D97-AF65-F5344CB8AC3E}">
        <p14:creationId xmlns:p14="http://schemas.microsoft.com/office/powerpoint/2010/main" val="36172729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C23E0B-6B96-4089-8AEB-3E64D57FBC2E}" type="datetimeFigureOut">
              <a:rPr lang="en-US" smtClean="0"/>
              <a:t>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7E90A85-DE47-429F-8797-38D7F2F69045}" type="slidenum">
              <a:rPr lang="en-US" smtClean="0"/>
              <a:t>‹#›</a:t>
            </a:fld>
            <a:endParaRPr lang="en-US"/>
          </a:p>
        </p:txBody>
      </p:sp>
    </p:spTree>
    <p:extLst>
      <p:ext uri="{BB962C8B-B14F-4D97-AF65-F5344CB8AC3E}">
        <p14:creationId xmlns:p14="http://schemas.microsoft.com/office/powerpoint/2010/main" val="17407905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C23E0B-6B96-4089-8AEB-3E64D57FBC2E}" type="datetimeFigureOut">
              <a:rPr lang="en-US" smtClean="0"/>
              <a:t>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7E90A85-DE47-429F-8797-38D7F2F69045}" type="slidenum">
              <a:rPr lang="en-US" smtClean="0"/>
              <a:t>‹#›</a:t>
            </a:fld>
            <a:endParaRPr lang="en-US"/>
          </a:p>
        </p:txBody>
      </p:sp>
    </p:spTree>
    <p:extLst>
      <p:ext uri="{BB962C8B-B14F-4D97-AF65-F5344CB8AC3E}">
        <p14:creationId xmlns:p14="http://schemas.microsoft.com/office/powerpoint/2010/main" val="9541364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4C23E0B-6B96-4089-8AEB-3E64D57FBC2E}" type="datetimeFigureOut">
              <a:rPr lang="en-US" smtClean="0"/>
              <a:t>2/28/2025</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7E90A85-DE47-429F-8797-38D7F2F69045}" type="slidenum">
              <a:rPr lang="en-US" smtClean="0"/>
              <a:t>‹#›</a:t>
            </a:fld>
            <a:endParaRPr lang="en-US"/>
          </a:p>
        </p:txBody>
      </p:sp>
    </p:spTree>
    <p:extLst>
      <p:ext uri="{BB962C8B-B14F-4D97-AF65-F5344CB8AC3E}">
        <p14:creationId xmlns:p14="http://schemas.microsoft.com/office/powerpoint/2010/main" val="50883198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SQL</a:t>
            </a:r>
            <a:r>
              <a:rPr lang="lv-LV" dirty="0"/>
              <a:t> </a:t>
            </a:r>
            <a:br>
              <a:rPr lang="lv-LV" dirty="0"/>
            </a:br>
            <a:r>
              <a:rPr lang="lv-LV" dirty="0" err="1"/>
              <a:t>Subqueries</a:t>
            </a:r>
            <a:endParaRPr lang="en-US" dirty="0"/>
          </a:p>
        </p:txBody>
      </p:sp>
    </p:spTree>
    <p:extLst>
      <p:ext uri="{BB962C8B-B14F-4D97-AF65-F5344CB8AC3E}">
        <p14:creationId xmlns:p14="http://schemas.microsoft.com/office/powerpoint/2010/main" val="4160554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lv-LV" dirty="0" err="1"/>
              <a:t>Subqueries</a:t>
            </a:r>
            <a:endParaRPr lang="en-US" dirty="0"/>
          </a:p>
        </p:txBody>
      </p:sp>
      <p:sp>
        <p:nvSpPr>
          <p:cNvPr id="3" name="Content Placeholder 2"/>
          <p:cNvSpPr>
            <a:spLocks noGrp="1"/>
          </p:cNvSpPr>
          <p:nvPr>
            <p:ph idx="1"/>
          </p:nvPr>
        </p:nvSpPr>
        <p:spPr/>
        <p:txBody>
          <a:bodyPr>
            <a:normAutofit fontScale="85000" lnSpcReduction="20000"/>
          </a:bodyPr>
          <a:lstStyle/>
          <a:p>
            <a:pPr marL="0" indent="0" algn="just">
              <a:buNone/>
            </a:pPr>
            <a:r>
              <a:rPr lang="en-US" dirty="0"/>
              <a:t>A subquery is a SQL query within a query.</a:t>
            </a:r>
          </a:p>
          <a:p>
            <a:pPr marL="0" indent="0" algn="just">
              <a:buNone/>
            </a:pPr>
            <a:r>
              <a:rPr lang="en-US" dirty="0"/>
              <a:t>They are nested queries that provide data to the enclosing query.</a:t>
            </a:r>
          </a:p>
          <a:p>
            <a:pPr marL="0" indent="0" algn="just">
              <a:buNone/>
            </a:pPr>
            <a:endParaRPr lang="en-US" dirty="0"/>
          </a:p>
          <a:p>
            <a:pPr marL="0" indent="0" algn="just">
              <a:buNone/>
            </a:pPr>
            <a:r>
              <a:rPr lang="en-US" dirty="0"/>
              <a:t>Subqueries can return individual values or a list of records.</a:t>
            </a:r>
          </a:p>
          <a:p>
            <a:pPr marL="0" indent="0" algn="just">
              <a:buNone/>
            </a:pPr>
            <a:r>
              <a:rPr lang="en-US" dirty="0"/>
              <a:t>Note that subquery statements are enclosed between parenthesis.</a:t>
            </a:r>
            <a:endParaRPr lang="lv-LV" dirty="0"/>
          </a:p>
          <a:p>
            <a:pPr marL="0" indent="0" algn="just">
              <a:buNone/>
            </a:pPr>
            <a:endParaRPr lang="lv-LV" dirty="0"/>
          </a:p>
          <a:p>
            <a:pPr marL="0" indent="0" algn="just">
              <a:buNone/>
            </a:pPr>
            <a:r>
              <a:rPr lang="en-US" dirty="0"/>
              <a:t>A subquery may </a:t>
            </a:r>
            <a:r>
              <a:rPr lang="lv-LV" dirty="0" err="1"/>
              <a:t>be</a:t>
            </a:r>
            <a:r>
              <a:rPr lang="lv-LV" dirty="0"/>
              <a:t> </a:t>
            </a:r>
            <a:r>
              <a:rPr lang="lv-LV" dirty="0" err="1"/>
              <a:t>included</a:t>
            </a:r>
            <a:r>
              <a:rPr lang="lv-LV" dirty="0"/>
              <a:t> </a:t>
            </a:r>
            <a:r>
              <a:rPr lang="lv-LV" dirty="0" err="1"/>
              <a:t>whithin</a:t>
            </a:r>
            <a:r>
              <a:rPr lang="en-US" dirty="0"/>
              <a:t>:</a:t>
            </a:r>
          </a:p>
          <a:p>
            <a:pPr algn="just"/>
            <a:r>
              <a:rPr lang="en-US" dirty="0"/>
              <a:t>Select commands in From, Where, and Having statements
In another subquery
In Insert, Delete, Update commands</a:t>
            </a:r>
          </a:p>
        </p:txBody>
      </p:sp>
    </p:spTree>
    <p:extLst>
      <p:ext uri="{BB962C8B-B14F-4D97-AF65-F5344CB8AC3E}">
        <p14:creationId xmlns:p14="http://schemas.microsoft.com/office/powerpoint/2010/main" val="3905670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lv-LV" dirty="0" err="1"/>
              <a:t>Subqueries</a:t>
            </a:r>
            <a:endParaRPr lang="en-US" dirty="0"/>
          </a:p>
        </p:txBody>
      </p:sp>
      <p:sp>
        <p:nvSpPr>
          <p:cNvPr id="3" name="Content Placeholder 2"/>
          <p:cNvSpPr>
            <a:spLocks noGrp="1"/>
          </p:cNvSpPr>
          <p:nvPr>
            <p:ph idx="1"/>
          </p:nvPr>
        </p:nvSpPr>
        <p:spPr>
          <a:xfrm>
            <a:off x="628650" y="1564375"/>
            <a:ext cx="7886700" cy="4351338"/>
          </a:xfrm>
        </p:spPr>
        <p:txBody>
          <a:bodyPr/>
          <a:lstStyle/>
          <a:p>
            <a:pPr marL="0" indent="0">
              <a:buNone/>
            </a:pPr>
            <a:r>
              <a:rPr lang="en-US" dirty="0"/>
              <a:t>Example:</a:t>
            </a:r>
          </a:p>
          <a:p>
            <a:pPr marL="0" indent="0">
              <a:buNone/>
            </a:pPr>
            <a:r>
              <a:rPr lang="en-US" dirty="0"/>
              <a:t>Display books were published in 2008. There are three options for solving this task:</a:t>
            </a:r>
          </a:p>
          <a:p>
            <a:pPr marL="0" indent="0">
              <a:buNone/>
            </a:pPr>
            <a:r>
              <a:rPr lang="en-US" dirty="0"/>
              <a:t>1. Write a query that outputs numbers for books published in 2008. Then write a second query that shows the titles of the books according to the numbers received.</a:t>
            </a:r>
          </a:p>
        </p:txBody>
      </p:sp>
      <p:sp>
        <p:nvSpPr>
          <p:cNvPr id="4" name="Rectangle 3"/>
          <p:cNvSpPr/>
          <p:nvPr/>
        </p:nvSpPr>
        <p:spPr>
          <a:xfrm>
            <a:off x="760971" y="4734769"/>
            <a:ext cx="2584598" cy="923330"/>
          </a:xfrm>
          <a:prstGeom prst="rect">
            <a:avLst/>
          </a:prstGeom>
        </p:spPr>
        <p:txBody>
          <a:bodyPr wrap="square">
            <a:spAutoFit/>
          </a:bodyPr>
          <a:lstStyle/>
          <a:p>
            <a:r>
              <a:rPr lang="en-US" dirty="0"/>
              <a:t>SELECT </a:t>
            </a:r>
            <a:r>
              <a:rPr lang="en-US" dirty="0" err="1"/>
              <a:t>BookId</a:t>
            </a:r>
            <a:endParaRPr lang="en-US" dirty="0"/>
          </a:p>
          <a:p>
            <a:r>
              <a:rPr lang="en-US" dirty="0"/>
              <a:t>FROM </a:t>
            </a:r>
            <a:r>
              <a:rPr lang="en-US" dirty="0" err="1"/>
              <a:t>Title_page</a:t>
            </a:r>
            <a:endParaRPr lang="en-US" dirty="0"/>
          </a:p>
          <a:p>
            <a:r>
              <a:rPr lang="en-US" dirty="0"/>
              <a:t>WHERE </a:t>
            </a:r>
            <a:r>
              <a:rPr lang="en-US" dirty="0" err="1"/>
              <a:t>YearOfPub</a:t>
            </a:r>
            <a:r>
              <a:rPr lang="en-US" dirty="0"/>
              <a:t>=2008;</a:t>
            </a:r>
          </a:p>
        </p:txBody>
      </p:sp>
      <p:sp>
        <p:nvSpPr>
          <p:cNvPr id="6" name="Rectangle 5"/>
          <p:cNvSpPr/>
          <p:nvPr/>
        </p:nvSpPr>
        <p:spPr>
          <a:xfrm>
            <a:off x="5205051" y="4734769"/>
            <a:ext cx="2724503" cy="923330"/>
          </a:xfrm>
          <a:prstGeom prst="rect">
            <a:avLst/>
          </a:prstGeom>
        </p:spPr>
        <p:txBody>
          <a:bodyPr wrap="square">
            <a:spAutoFit/>
          </a:bodyPr>
          <a:lstStyle/>
          <a:p>
            <a:r>
              <a:rPr lang="en-US" dirty="0"/>
              <a:t>SELECT Title</a:t>
            </a:r>
          </a:p>
          <a:p>
            <a:r>
              <a:rPr lang="en-US" dirty="0"/>
              <a:t>FROM Books</a:t>
            </a:r>
          </a:p>
          <a:p>
            <a:r>
              <a:rPr lang="en-US" dirty="0"/>
              <a:t>WHERE </a:t>
            </a:r>
            <a:r>
              <a:rPr lang="en-US" dirty="0" err="1"/>
              <a:t>BookId</a:t>
            </a:r>
            <a:r>
              <a:rPr lang="en-US" dirty="0"/>
              <a:t> IN (63, 64);</a:t>
            </a:r>
          </a:p>
        </p:txBody>
      </p:sp>
      <p:sp>
        <p:nvSpPr>
          <p:cNvPr id="8" name="Arrow: Right 7"/>
          <p:cNvSpPr/>
          <p:nvPr/>
        </p:nvSpPr>
        <p:spPr>
          <a:xfrm>
            <a:off x="3736343" y="5387204"/>
            <a:ext cx="747714" cy="34963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B71D2162-43B6-9D5A-46F7-112ABA6C5360}"/>
              </a:ext>
            </a:extLst>
          </p:cNvPr>
          <p:cNvPicPr>
            <a:picLocks noChangeAspect="1"/>
          </p:cNvPicPr>
          <p:nvPr/>
        </p:nvPicPr>
        <p:blipFill>
          <a:blip r:embed="rId2"/>
          <a:stretch>
            <a:fillRect/>
          </a:stretch>
        </p:blipFill>
        <p:spPr>
          <a:xfrm>
            <a:off x="1296549" y="5658099"/>
            <a:ext cx="747714" cy="1097452"/>
          </a:xfrm>
          <a:prstGeom prst="rect">
            <a:avLst/>
          </a:prstGeom>
        </p:spPr>
      </p:pic>
      <p:pic>
        <p:nvPicPr>
          <p:cNvPr id="11" name="Picture 10">
            <a:extLst>
              <a:ext uri="{FF2B5EF4-FFF2-40B4-BE49-F238E27FC236}">
                <a16:creationId xmlns:a16="http://schemas.microsoft.com/office/drawing/2014/main" id="{62CF9D76-15D2-6BD2-8421-8922399F883B}"/>
              </a:ext>
            </a:extLst>
          </p:cNvPr>
          <p:cNvPicPr>
            <a:picLocks noChangeAspect="1"/>
          </p:cNvPicPr>
          <p:nvPr/>
        </p:nvPicPr>
        <p:blipFill>
          <a:blip r:embed="rId3"/>
          <a:stretch>
            <a:fillRect/>
          </a:stretch>
        </p:blipFill>
        <p:spPr>
          <a:xfrm>
            <a:off x="5338980" y="5658099"/>
            <a:ext cx="1674314" cy="1051029"/>
          </a:xfrm>
          <a:prstGeom prst="rect">
            <a:avLst/>
          </a:prstGeom>
        </p:spPr>
      </p:pic>
    </p:spTree>
    <p:extLst>
      <p:ext uri="{BB962C8B-B14F-4D97-AF65-F5344CB8AC3E}">
        <p14:creationId xmlns:p14="http://schemas.microsoft.com/office/powerpoint/2010/main" val="22139154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lv-LV" dirty="0" err="1"/>
              <a:t>Subqueries</a:t>
            </a:r>
            <a:endParaRPr lang="en-US" dirty="0"/>
          </a:p>
        </p:txBody>
      </p:sp>
      <p:sp>
        <p:nvSpPr>
          <p:cNvPr id="3" name="Content Placeholder 2"/>
          <p:cNvSpPr>
            <a:spLocks noGrp="1"/>
          </p:cNvSpPr>
          <p:nvPr>
            <p:ph idx="1"/>
          </p:nvPr>
        </p:nvSpPr>
        <p:spPr/>
        <p:txBody>
          <a:bodyPr/>
          <a:lstStyle/>
          <a:p>
            <a:pPr marL="0" indent="0">
              <a:buNone/>
            </a:pPr>
            <a:r>
              <a:rPr lang="en-US" dirty="0"/>
              <a:t>Example:</a:t>
            </a:r>
          </a:p>
          <a:p>
            <a:pPr marL="0" indent="0">
              <a:buNone/>
            </a:pPr>
            <a:r>
              <a:rPr lang="en-US" dirty="0"/>
              <a:t>Display books were published in 2008. There are three options for solving this task:</a:t>
            </a:r>
          </a:p>
          <a:p>
            <a:pPr marL="514350" indent="-514350" algn="just">
              <a:buFont typeface="+mj-lt"/>
              <a:buAutoNum type="arabicPeriod" startAt="2"/>
            </a:pPr>
            <a:r>
              <a:rPr lang="lv-LV" dirty="0" err="1"/>
              <a:t>Use</a:t>
            </a:r>
            <a:r>
              <a:rPr lang="lv-LV" dirty="0"/>
              <a:t> </a:t>
            </a:r>
            <a:r>
              <a:rPr lang="lv-LV" dirty="0" err="1"/>
              <a:t>table</a:t>
            </a:r>
            <a:r>
              <a:rPr lang="en-US" dirty="0"/>
              <a:t> JOIN</a:t>
            </a:r>
            <a:r>
              <a:rPr lang="lv-LV" dirty="0"/>
              <a:t>.</a:t>
            </a:r>
            <a:endParaRPr lang="en-US" dirty="0"/>
          </a:p>
        </p:txBody>
      </p:sp>
      <p:sp>
        <p:nvSpPr>
          <p:cNvPr id="4" name="Rectangle 3"/>
          <p:cNvSpPr/>
          <p:nvPr/>
        </p:nvSpPr>
        <p:spPr>
          <a:xfrm>
            <a:off x="628650" y="4141379"/>
            <a:ext cx="6350000" cy="923330"/>
          </a:xfrm>
          <a:prstGeom prst="rect">
            <a:avLst/>
          </a:prstGeom>
        </p:spPr>
        <p:txBody>
          <a:bodyPr wrap="square">
            <a:spAutoFit/>
          </a:bodyPr>
          <a:lstStyle/>
          <a:p>
            <a:r>
              <a:rPr lang="en-US" b="1" dirty="0"/>
              <a:t>SELECT </a:t>
            </a:r>
            <a:r>
              <a:rPr lang="en-US" b="1" dirty="0" err="1"/>
              <a:t>b.Title</a:t>
            </a:r>
            <a:endParaRPr lang="en-US" b="1" dirty="0"/>
          </a:p>
          <a:p>
            <a:r>
              <a:rPr lang="en-US" b="1" dirty="0"/>
              <a:t>FROM Books b INNER JOIN </a:t>
            </a:r>
            <a:r>
              <a:rPr lang="en-US" b="1" dirty="0" err="1"/>
              <a:t>Title_page</a:t>
            </a:r>
            <a:r>
              <a:rPr lang="en-US" b="1" dirty="0"/>
              <a:t> t ON (</a:t>
            </a:r>
            <a:r>
              <a:rPr lang="en-US" b="1" dirty="0" err="1"/>
              <a:t>b.BookId</a:t>
            </a:r>
            <a:r>
              <a:rPr lang="en-US" b="1" dirty="0"/>
              <a:t>=</a:t>
            </a:r>
            <a:r>
              <a:rPr lang="en-US" b="1" dirty="0" err="1"/>
              <a:t>t.BookId</a:t>
            </a:r>
            <a:r>
              <a:rPr lang="en-US" b="1" dirty="0"/>
              <a:t>)</a:t>
            </a:r>
          </a:p>
          <a:p>
            <a:r>
              <a:rPr lang="en-US" b="1" dirty="0"/>
              <a:t>WHERE </a:t>
            </a:r>
            <a:r>
              <a:rPr lang="en-US" b="1" dirty="0" err="1"/>
              <a:t>t.YearOfPub</a:t>
            </a:r>
            <a:r>
              <a:rPr lang="en-US" b="1" dirty="0"/>
              <a:t>=2008;</a:t>
            </a:r>
          </a:p>
        </p:txBody>
      </p:sp>
      <p:pic>
        <p:nvPicPr>
          <p:cNvPr id="5" name="Picture 4">
            <a:extLst>
              <a:ext uri="{FF2B5EF4-FFF2-40B4-BE49-F238E27FC236}">
                <a16:creationId xmlns:a16="http://schemas.microsoft.com/office/drawing/2014/main" id="{6BC42D93-196E-5ED6-B5A3-DFA6C259B254}"/>
              </a:ext>
            </a:extLst>
          </p:cNvPr>
          <p:cNvPicPr>
            <a:picLocks noChangeAspect="1"/>
          </p:cNvPicPr>
          <p:nvPr/>
        </p:nvPicPr>
        <p:blipFill>
          <a:blip r:embed="rId2"/>
          <a:stretch>
            <a:fillRect/>
          </a:stretch>
        </p:blipFill>
        <p:spPr>
          <a:xfrm>
            <a:off x="3556362" y="5384263"/>
            <a:ext cx="1674314" cy="1051029"/>
          </a:xfrm>
          <a:prstGeom prst="rect">
            <a:avLst/>
          </a:prstGeom>
        </p:spPr>
      </p:pic>
    </p:spTree>
    <p:extLst>
      <p:ext uri="{BB962C8B-B14F-4D97-AF65-F5344CB8AC3E}">
        <p14:creationId xmlns:p14="http://schemas.microsoft.com/office/powerpoint/2010/main" val="27014592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lv-LV" dirty="0" err="1"/>
              <a:t>Subqueries</a:t>
            </a:r>
            <a:endParaRPr lang="en-US" dirty="0"/>
          </a:p>
        </p:txBody>
      </p:sp>
      <p:sp>
        <p:nvSpPr>
          <p:cNvPr id="3" name="Content Placeholder 2"/>
          <p:cNvSpPr>
            <a:spLocks noGrp="1"/>
          </p:cNvSpPr>
          <p:nvPr>
            <p:ph idx="1"/>
          </p:nvPr>
        </p:nvSpPr>
        <p:spPr/>
        <p:txBody>
          <a:bodyPr/>
          <a:lstStyle/>
          <a:p>
            <a:pPr marL="0" indent="0">
              <a:buNone/>
            </a:pPr>
            <a:r>
              <a:rPr lang="en-US" dirty="0"/>
              <a:t>Example:</a:t>
            </a:r>
          </a:p>
          <a:p>
            <a:pPr marL="0" indent="0">
              <a:buNone/>
            </a:pPr>
            <a:r>
              <a:rPr lang="en-US" dirty="0"/>
              <a:t>Display books were published in 2008. There are three options for solving this task:</a:t>
            </a:r>
          </a:p>
          <a:p>
            <a:pPr marL="514350" indent="-514350" algn="just">
              <a:buFont typeface="+mj-lt"/>
              <a:buAutoNum type="arabicPeriod" startAt="3"/>
            </a:pPr>
            <a:r>
              <a:rPr lang="en-US" dirty="0"/>
              <a:t>Use Subquery.</a:t>
            </a:r>
          </a:p>
        </p:txBody>
      </p:sp>
      <p:sp>
        <p:nvSpPr>
          <p:cNvPr id="4" name="Rectangle 3"/>
          <p:cNvSpPr/>
          <p:nvPr/>
        </p:nvSpPr>
        <p:spPr>
          <a:xfrm>
            <a:off x="628650" y="4141379"/>
            <a:ext cx="6350000" cy="1754326"/>
          </a:xfrm>
          <a:prstGeom prst="rect">
            <a:avLst/>
          </a:prstGeom>
        </p:spPr>
        <p:txBody>
          <a:bodyPr wrap="square">
            <a:spAutoFit/>
          </a:bodyPr>
          <a:lstStyle/>
          <a:p>
            <a:r>
              <a:rPr lang="en-US" b="1" dirty="0"/>
              <a:t>SELECT Title</a:t>
            </a:r>
          </a:p>
          <a:p>
            <a:r>
              <a:rPr lang="en-US" b="1" dirty="0"/>
              <a:t>FROM Books</a:t>
            </a:r>
          </a:p>
          <a:p>
            <a:r>
              <a:rPr lang="en-US" b="1" dirty="0"/>
              <a:t>WHERE </a:t>
            </a:r>
            <a:r>
              <a:rPr lang="en-US" b="1" dirty="0" err="1"/>
              <a:t>BookId</a:t>
            </a:r>
            <a:r>
              <a:rPr lang="en-US" b="1" dirty="0"/>
              <a:t> IN (</a:t>
            </a:r>
          </a:p>
          <a:p>
            <a:r>
              <a:rPr lang="en-US" b="1" dirty="0"/>
              <a:t>   SELECT </a:t>
            </a:r>
            <a:r>
              <a:rPr lang="en-US" b="1" dirty="0" err="1"/>
              <a:t>BookId</a:t>
            </a:r>
            <a:endParaRPr lang="en-US" b="1" dirty="0"/>
          </a:p>
          <a:p>
            <a:r>
              <a:rPr lang="en-US" b="1" dirty="0"/>
              <a:t>   FROM </a:t>
            </a:r>
            <a:r>
              <a:rPr lang="en-US" b="1" dirty="0" err="1"/>
              <a:t>Title_page</a:t>
            </a:r>
            <a:endParaRPr lang="en-US" b="1" dirty="0"/>
          </a:p>
          <a:p>
            <a:r>
              <a:rPr lang="en-US" b="1" dirty="0"/>
              <a:t>   WHERE </a:t>
            </a:r>
            <a:r>
              <a:rPr lang="en-US" b="1" dirty="0" err="1"/>
              <a:t>YearOfPub</a:t>
            </a:r>
            <a:r>
              <a:rPr lang="en-US" b="1" dirty="0"/>
              <a:t>=2008);</a:t>
            </a:r>
          </a:p>
        </p:txBody>
      </p:sp>
      <p:pic>
        <p:nvPicPr>
          <p:cNvPr id="5" name="Picture 4">
            <a:extLst>
              <a:ext uri="{FF2B5EF4-FFF2-40B4-BE49-F238E27FC236}">
                <a16:creationId xmlns:a16="http://schemas.microsoft.com/office/drawing/2014/main" id="{89F12FEF-83F9-12CD-371D-D04CE750F3D2}"/>
              </a:ext>
            </a:extLst>
          </p:cNvPr>
          <p:cNvPicPr>
            <a:picLocks noChangeAspect="1"/>
          </p:cNvPicPr>
          <p:nvPr/>
        </p:nvPicPr>
        <p:blipFill>
          <a:blip r:embed="rId2"/>
          <a:stretch>
            <a:fillRect/>
          </a:stretch>
        </p:blipFill>
        <p:spPr>
          <a:xfrm>
            <a:off x="5235529" y="4294372"/>
            <a:ext cx="2384482" cy="1496828"/>
          </a:xfrm>
          <a:prstGeom prst="rect">
            <a:avLst/>
          </a:prstGeom>
        </p:spPr>
      </p:pic>
    </p:spTree>
    <p:extLst>
      <p:ext uri="{BB962C8B-B14F-4D97-AF65-F5344CB8AC3E}">
        <p14:creationId xmlns:p14="http://schemas.microsoft.com/office/powerpoint/2010/main" val="8245312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lv-LV" dirty="0" err="1"/>
              <a:t>Subqueries</a:t>
            </a:r>
            <a:endParaRPr lang="en-US" dirty="0"/>
          </a:p>
        </p:txBody>
      </p:sp>
      <p:sp>
        <p:nvSpPr>
          <p:cNvPr id="3" name="Content Placeholder 2"/>
          <p:cNvSpPr>
            <a:spLocks noGrp="1"/>
          </p:cNvSpPr>
          <p:nvPr>
            <p:ph idx="1"/>
          </p:nvPr>
        </p:nvSpPr>
        <p:spPr/>
        <p:txBody>
          <a:bodyPr>
            <a:normAutofit/>
          </a:bodyPr>
          <a:lstStyle/>
          <a:p>
            <a:pPr marL="0" indent="0" algn="just">
              <a:buNone/>
            </a:pPr>
            <a:r>
              <a:rPr lang="en-US" dirty="0"/>
              <a:t>The structure of the subquery is the same as the structure of the Select command. However, there are some differences:</a:t>
            </a:r>
          </a:p>
          <a:p>
            <a:pPr algn="just"/>
            <a:r>
              <a:rPr lang="en-US" dirty="0"/>
              <a:t>no semicolon is required at the end of a subquery</a:t>
            </a:r>
          </a:p>
          <a:p>
            <a:pPr algn="just"/>
            <a:r>
              <a:rPr lang="en-US" dirty="0"/>
              <a:t>the subquery usually does not contain an ORDER BY statement</a:t>
            </a:r>
          </a:p>
          <a:p>
            <a:pPr algn="just"/>
            <a:r>
              <a:rPr lang="en-US" dirty="0"/>
              <a:t>In the Select statement of a subquery, you can use columns from tables that are defined in the From statement of a query</a:t>
            </a:r>
          </a:p>
        </p:txBody>
      </p:sp>
    </p:spTree>
    <p:extLst>
      <p:ext uri="{BB962C8B-B14F-4D97-AF65-F5344CB8AC3E}">
        <p14:creationId xmlns:p14="http://schemas.microsoft.com/office/powerpoint/2010/main" val="14286615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lv-LV" dirty="0" err="1"/>
              <a:t>Subqueries</a:t>
            </a:r>
            <a:endParaRPr lang="en-US" dirty="0"/>
          </a:p>
        </p:txBody>
      </p:sp>
      <p:sp>
        <p:nvSpPr>
          <p:cNvPr id="3" name="Content Placeholder 2"/>
          <p:cNvSpPr>
            <a:spLocks noGrp="1"/>
          </p:cNvSpPr>
          <p:nvPr>
            <p:ph idx="1"/>
          </p:nvPr>
        </p:nvSpPr>
        <p:spPr>
          <a:xfrm>
            <a:off x="628650" y="1825625"/>
            <a:ext cx="7886700" cy="4947708"/>
          </a:xfrm>
        </p:spPr>
        <p:txBody>
          <a:bodyPr>
            <a:normAutofit fontScale="92500" lnSpcReduction="10000"/>
          </a:bodyPr>
          <a:lstStyle/>
          <a:p>
            <a:pPr marL="0" indent="0" algn="just">
              <a:lnSpc>
                <a:spcPct val="120000"/>
              </a:lnSpc>
              <a:buNone/>
            </a:pPr>
            <a:r>
              <a:rPr lang="en-US" sz="2000" dirty="0"/>
              <a:t>Most commonly subqueries are included in the WHERE sentence of the SELECT command. In this case, the WHERE sentence takes one of the following forms:
</a:t>
            </a:r>
            <a:r>
              <a:rPr lang="lv-LV" sz="2000" i="1" dirty="0"/>
              <a:t>	WHERE	 </a:t>
            </a:r>
            <a:r>
              <a:rPr lang="lv-LV" sz="2000" i="1" dirty="0" err="1"/>
              <a:t>column</a:t>
            </a:r>
            <a:r>
              <a:rPr lang="lv-LV" sz="2000" i="1" dirty="0"/>
              <a:t> OPERATOR (</a:t>
            </a:r>
            <a:r>
              <a:rPr lang="lv-LV" sz="2000" i="1" dirty="0" err="1"/>
              <a:t>subquery</a:t>
            </a:r>
            <a:r>
              <a:rPr lang="lv-LV" sz="2000" i="1" dirty="0"/>
              <a:t>);</a:t>
            </a:r>
            <a:endParaRPr lang="en-US" sz="2000" dirty="0"/>
          </a:p>
          <a:p>
            <a:pPr marL="0" indent="0" algn="just">
              <a:lnSpc>
                <a:spcPct val="120000"/>
              </a:lnSpc>
              <a:buNone/>
            </a:pPr>
            <a:r>
              <a:rPr lang="lv-LV" sz="2000" i="1" dirty="0"/>
              <a:t>	WHERE	</a:t>
            </a:r>
            <a:r>
              <a:rPr lang="lv-LV" sz="2000" i="1" dirty="0" err="1"/>
              <a:t>column</a:t>
            </a:r>
            <a:r>
              <a:rPr lang="lv-LV" sz="2000" i="1" dirty="0"/>
              <a:t> OPERATOR [NOT] IN (</a:t>
            </a:r>
            <a:r>
              <a:rPr lang="lv-LV" sz="2000" i="1" dirty="0" err="1"/>
              <a:t>subquery</a:t>
            </a:r>
            <a:r>
              <a:rPr lang="lv-LV" sz="2000" i="1" dirty="0"/>
              <a:t>);</a:t>
            </a:r>
            <a:endParaRPr lang="en-US" sz="2000" dirty="0"/>
          </a:p>
          <a:p>
            <a:pPr marL="0" indent="0" algn="just">
              <a:lnSpc>
                <a:spcPct val="120000"/>
              </a:lnSpc>
              <a:buNone/>
            </a:pPr>
            <a:r>
              <a:rPr lang="en-US" sz="2000" dirty="0"/>
              <a:t>Where</a:t>
            </a:r>
            <a:r>
              <a:rPr lang="lv-LV" sz="2000" dirty="0"/>
              <a:t>:</a:t>
            </a:r>
            <a:endParaRPr lang="en-US" sz="2000" dirty="0"/>
          </a:p>
          <a:p>
            <a:pPr marL="0" indent="0" algn="just">
              <a:lnSpc>
                <a:spcPct val="120000"/>
              </a:lnSpc>
              <a:buNone/>
            </a:pPr>
            <a:r>
              <a:rPr lang="lv-LV" sz="2000" b="1" dirty="0"/>
              <a:t>OPERATOR</a:t>
            </a:r>
            <a:r>
              <a:rPr lang="lv-LV" sz="2000" dirty="0"/>
              <a:t> – </a:t>
            </a:r>
            <a:r>
              <a:rPr lang="lv-LV" sz="2000" dirty="0" err="1"/>
              <a:t>comparison</a:t>
            </a:r>
            <a:r>
              <a:rPr lang="lv-LV" sz="2000" dirty="0"/>
              <a:t> operator (&lt;, &lt;=, &gt;, &gt;=, &lt;&gt;, =)</a:t>
            </a:r>
            <a:endParaRPr lang="en-US" sz="2000" dirty="0"/>
          </a:p>
          <a:p>
            <a:pPr marL="0" indent="0" algn="just">
              <a:lnSpc>
                <a:spcPct val="120000"/>
              </a:lnSpc>
              <a:buNone/>
            </a:pPr>
            <a:r>
              <a:rPr lang="lv-LV" sz="2000" b="1" dirty="0"/>
              <a:t>[NOT] IN</a:t>
            </a:r>
            <a:r>
              <a:rPr lang="lv-LV" sz="2000" dirty="0"/>
              <a:t> – </a:t>
            </a:r>
            <a:r>
              <a:rPr lang="en-US" sz="2000" dirty="0"/>
              <a:t>verifies that the value is included in the set of values ​​selected by the subquery</a:t>
            </a:r>
          </a:p>
          <a:p>
            <a:pPr marL="0" indent="0" algn="just">
              <a:lnSpc>
                <a:spcPct val="120000"/>
              </a:lnSpc>
              <a:buNone/>
            </a:pPr>
            <a:r>
              <a:rPr lang="lv-LV" sz="2000" dirty="0"/>
              <a:t> </a:t>
            </a:r>
            <a:endParaRPr lang="en-US" sz="2000" dirty="0"/>
          </a:p>
          <a:p>
            <a:pPr marL="0" indent="0" algn="just">
              <a:lnSpc>
                <a:spcPct val="120000"/>
              </a:lnSpc>
              <a:buNone/>
            </a:pPr>
            <a:r>
              <a:rPr lang="en-US" sz="2000" dirty="0"/>
              <a:t>Many queries that contain subqueries can be converted to queries with table JOINS, but there are tasks that can only be solved by subqueries.</a:t>
            </a:r>
          </a:p>
        </p:txBody>
      </p:sp>
    </p:spTree>
    <p:extLst>
      <p:ext uri="{BB962C8B-B14F-4D97-AF65-F5344CB8AC3E}">
        <p14:creationId xmlns:p14="http://schemas.microsoft.com/office/powerpoint/2010/main" val="31092518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lv-LV" dirty="0" err="1"/>
              <a:t>Simple</a:t>
            </a:r>
            <a:r>
              <a:rPr lang="lv-LV" dirty="0"/>
              <a:t> </a:t>
            </a:r>
            <a:r>
              <a:rPr lang="lv-LV" dirty="0" err="1"/>
              <a:t>and</a:t>
            </a:r>
            <a:r>
              <a:rPr lang="lv-LV" dirty="0"/>
              <a:t> </a:t>
            </a:r>
            <a:r>
              <a:rPr lang="lv-LV" dirty="0" err="1"/>
              <a:t>complex</a:t>
            </a:r>
            <a:r>
              <a:rPr lang="lv-LV" dirty="0"/>
              <a:t> </a:t>
            </a:r>
            <a:r>
              <a:rPr lang="lv-LV" dirty="0" err="1"/>
              <a:t>subqueries</a:t>
            </a:r>
            <a:endParaRPr lang="en-US" dirty="0"/>
          </a:p>
        </p:txBody>
      </p:sp>
      <p:sp>
        <p:nvSpPr>
          <p:cNvPr id="3" name="Content Placeholder 2"/>
          <p:cNvSpPr>
            <a:spLocks noGrp="1"/>
          </p:cNvSpPr>
          <p:nvPr>
            <p:ph idx="1"/>
          </p:nvPr>
        </p:nvSpPr>
        <p:spPr>
          <a:xfrm>
            <a:off x="628650" y="1825625"/>
            <a:ext cx="7886700" cy="4913842"/>
          </a:xfrm>
        </p:spPr>
        <p:txBody>
          <a:bodyPr>
            <a:normAutofit/>
          </a:bodyPr>
          <a:lstStyle/>
          <a:p>
            <a:pPr marL="0" indent="0" algn="just">
              <a:buNone/>
            </a:pPr>
            <a:r>
              <a:rPr lang="en-US" dirty="0"/>
              <a:t>Simple Query – A query that can be executed separately, regardless of the command in which it is built in.
</a:t>
            </a:r>
            <a:endParaRPr lang="lv-LV" dirty="0"/>
          </a:p>
          <a:p>
            <a:pPr marL="0" indent="0" algn="just">
              <a:buNone/>
            </a:pPr>
            <a:endParaRPr lang="lv-LV" dirty="0"/>
          </a:p>
          <a:p>
            <a:pPr marL="0" indent="0" algn="just">
              <a:buNone/>
            </a:pPr>
            <a:endParaRPr lang="lv-LV" dirty="0"/>
          </a:p>
          <a:p>
            <a:pPr marL="0" indent="0" algn="just">
              <a:buNone/>
            </a:pPr>
            <a:endParaRPr lang="en-US" dirty="0"/>
          </a:p>
          <a:p>
            <a:pPr marL="0" indent="0" algn="just">
              <a:buNone/>
            </a:pPr>
            <a:r>
              <a:rPr lang="en-US" dirty="0"/>
              <a:t>Simple query execution sequence:</a:t>
            </a:r>
          </a:p>
          <a:p>
            <a:pPr marL="0" indent="0" algn="just">
              <a:buNone/>
            </a:pPr>
            <a:r>
              <a:rPr lang="en-US" dirty="0"/>
              <a:t>execution of the subquery.</a:t>
            </a:r>
          </a:p>
          <a:p>
            <a:pPr marL="0" indent="0" algn="just">
              <a:buNone/>
            </a:pPr>
            <a:r>
              <a:rPr lang="en-US" dirty="0"/>
              <a:t>its result is used to process external query.</a:t>
            </a:r>
          </a:p>
        </p:txBody>
      </p:sp>
      <p:sp>
        <p:nvSpPr>
          <p:cNvPr id="4" name="Rectangle 3"/>
          <p:cNvSpPr/>
          <p:nvPr/>
        </p:nvSpPr>
        <p:spPr>
          <a:xfrm>
            <a:off x="2965449" y="2935768"/>
            <a:ext cx="3344915" cy="1754326"/>
          </a:xfrm>
          <a:prstGeom prst="rect">
            <a:avLst/>
          </a:prstGeom>
        </p:spPr>
        <p:txBody>
          <a:bodyPr wrap="square">
            <a:spAutoFit/>
          </a:bodyPr>
          <a:lstStyle/>
          <a:p>
            <a:r>
              <a:rPr lang="en-US" b="1" dirty="0"/>
              <a:t>SELECT Title</a:t>
            </a:r>
          </a:p>
          <a:p>
            <a:r>
              <a:rPr lang="en-US" b="1" dirty="0"/>
              <a:t>FROM Books</a:t>
            </a:r>
          </a:p>
          <a:p>
            <a:r>
              <a:rPr lang="en-US" b="1" dirty="0"/>
              <a:t>WHERE </a:t>
            </a:r>
            <a:r>
              <a:rPr lang="en-US" b="1" dirty="0" err="1"/>
              <a:t>BookId</a:t>
            </a:r>
            <a:r>
              <a:rPr lang="en-US" b="1" dirty="0"/>
              <a:t> IN (</a:t>
            </a:r>
          </a:p>
          <a:p>
            <a:r>
              <a:rPr lang="en-US" b="1" dirty="0"/>
              <a:t>   SELECT </a:t>
            </a:r>
            <a:r>
              <a:rPr lang="en-US" b="1" dirty="0" err="1"/>
              <a:t>BookId</a:t>
            </a:r>
            <a:endParaRPr lang="en-US" b="1" dirty="0"/>
          </a:p>
          <a:p>
            <a:r>
              <a:rPr lang="en-US" b="1" dirty="0"/>
              <a:t>   FROM </a:t>
            </a:r>
            <a:r>
              <a:rPr lang="en-US" b="1" dirty="0" err="1"/>
              <a:t>Title_page</a:t>
            </a:r>
            <a:endParaRPr lang="en-US" b="1" dirty="0"/>
          </a:p>
          <a:p>
            <a:r>
              <a:rPr lang="en-US" b="1" dirty="0"/>
              <a:t>   WHERE </a:t>
            </a:r>
            <a:r>
              <a:rPr lang="en-US" b="1" dirty="0" err="1"/>
              <a:t>YearOfPub</a:t>
            </a:r>
            <a:r>
              <a:rPr lang="en-US" b="1" dirty="0"/>
              <a:t>=2008);</a:t>
            </a:r>
          </a:p>
        </p:txBody>
      </p:sp>
      <p:sp>
        <p:nvSpPr>
          <p:cNvPr id="5" name="Rectangle 4"/>
          <p:cNvSpPr/>
          <p:nvPr/>
        </p:nvSpPr>
        <p:spPr>
          <a:xfrm>
            <a:off x="2965450" y="3823869"/>
            <a:ext cx="2852546" cy="86622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FF0000"/>
                </a:solidFill>
              </a:ln>
              <a:noFill/>
            </a:endParaRPr>
          </a:p>
        </p:txBody>
      </p:sp>
    </p:spTree>
    <p:extLst>
      <p:ext uri="{BB962C8B-B14F-4D97-AF65-F5344CB8AC3E}">
        <p14:creationId xmlns:p14="http://schemas.microsoft.com/office/powerpoint/2010/main" val="14355967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lv-LV" dirty="0" err="1"/>
              <a:t>Simple</a:t>
            </a:r>
            <a:r>
              <a:rPr lang="lv-LV" dirty="0"/>
              <a:t> </a:t>
            </a:r>
            <a:r>
              <a:rPr lang="lv-LV" dirty="0" err="1"/>
              <a:t>and</a:t>
            </a:r>
            <a:r>
              <a:rPr lang="lv-LV" dirty="0"/>
              <a:t> </a:t>
            </a:r>
            <a:r>
              <a:rPr lang="lv-LV" dirty="0" err="1"/>
              <a:t>complex</a:t>
            </a:r>
            <a:r>
              <a:rPr lang="lv-LV" dirty="0"/>
              <a:t> </a:t>
            </a:r>
            <a:r>
              <a:rPr lang="lv-LV" dirty="0" err="1"/>
              <a:t>subqueries</a:t>
            </a:r>
            <a:endParaRPr lang="en-US" dirty="0"/>
          </a:p>
        </p:txBody>
      </p:sp>
      <p:sp>
        <p:nvSpPr>
          <p:cNvPr id="3" name="Content Placeholder 2"/>
          <p:cNvSpPr>
            <a:spLocks noGrp="1"/>
          </p:cNvSpPr>
          <p:nvPr>
            <p:ph idx="1"/>
          </p:nvPr>
        </p:nvSpPr>
        <p:spPr>
          <a:xfrm>
            <a:off x="628650" y="1825625"/>
            <a:ext cx="7886700" cy="4913842"/>
          </a:xfrm>
        </p:spPr>
        <p:txBody>
          <a:bodyPr>
            <a:normAutofit fontScale="62500" lnSpcReduction="20000"/>
          </a:bodyPr>
          <a:lstStyle/>
          <a:p>
            <a:pPr marL="0" indent="0" algn="just">
              <a:lnSpc>
                <a:spcPct val="120000"/>
              </a:lnSpc>
              <a:buNone/>
            </a:pPr>
            <a:r>
              <a:rPr lang="en-US" dirty="0"/>
              <a:t>A complex subquery is not considered separately from the command in which it is built in. A complex internal query is used when you need to process an internal query table for each row in an external query. A complex query has a different structure and a different execution sequence.</a:t>
            </a:r>
          </a:p>
          <a:p>
            <a:pPr marL="0" indent="0" algn="just">
              <a:lnSpc>
                <a:spcPct val="120000"/>
              </a:lnSpc>
              <a:buNone/>
            </a:pPr>
            <a:r>
              <a:rPr lang="lv-LV" dirty="0"/>
              <a:t> </a:t>
            </a:r>
            <a:endParaRPr lang="en-US" dirty="0"/>
          </a:p>
          <a:p>
            <a:pPr marL="0" indent="0" algn="just">
              <a:lnSpc>
                <a:spcPct val="120000"/>
              </a:lnSpc>
              <a:buNone/>
            </a:pPr>
            <a:r>
              <a:rPr lang="lv-LV" dirty="0" err="1"/>
              <a:t>Stru</a:t>
            </a:r>
            <a:r>
              <a:rPr lang="en-US" dirty="0" err="1"/>
              <a:t>cture</a:t>
            </a:r>
            <a:r>
              <a:rPr lang="lv-LV" dirty="0"/>
              <a:t>:</a:t>
            </a:r>
            <a:endParaRPr lang="en-US" dirty="0"/>
          </a:p>
          <a:p>
            <a:pPr marL="0" indent="0" algn="just">
              <a:lnSpc>
                <a:spcPct val="120000"/>
              </a:lnSpc>
              <a:buNone/>
            </a:pPr>
            <a:r>
              <a:rPr lang="lv-LV" i="1" dirty="0"/>
              <a:t>SELECT	</a:t>
            </a:r>
            <a:r>
              <a:rPr lang="en-US" i="1" dirty="0"/>
              <a:t>external table</a:t>
            </a:r>
            <a:r>
              <a:rPr lang="lv-LV" i="1" dirty="0"/>
              <a:t> </a:t>
            </a:r>
            <a:r>
              <a:rPr lang="lv-LV" i="1" dirty="0" err="1"/>
              <a:t>columns</a:t>
            </a:r>
            <a:endParaRPr lang="en-US" dirty="0"/>
          </a:p>
          <a:p>
            <a:pPr marL="0" indent="0" algn="just">
              <a:lnSpc>
                <a:spcPct val="120000"/>
              </a:lnSpc>
              <a:buNone/>
            </a:pPr>
            <a:r>
              <a:rPr lang="lv-LV" i="1" dirty="0"/>
              <a:t>FROM	</a:t>
            </a:r>
            <a:r>
              <a:rPr lang="en-US" i="1" dirty="0"/>
              <a:t>external</a:t>
            </a:r>
            <a:r>
              <a:rPr lang="lv-LV" i="1" dirty="0"/>
              <a:t> </a:t>
            </a:r>
            <a:r>
              <a:rPr lang="lv-LV" i="1" dirty="0" err="1"/>
              <a:t>tab</a:t>
            </a:r>
            <a:r>
              <a:rPr lang="en-US" i="1" dirty="0"/>
              <a:t>le</a:t>
            </a:r>
            <a:endParaRPr lang="lv-LV" i="1" dirty="0"/>
          </a:p>
          <a:p>
            <a:pPr marL="0" indent="0" algn="just">
              <a:lnSpc>
                <a:spcPct val="120000"/>
              </a:lnSpc>
              <a:buNone/>
            </a:pPr>
            <a:r>
              <a:rPr lang="lv-LV" i="1" dirty="0"/>
              <a:t>WHERE	</a:t>
            </a:r>
            <a:r>
              <a:rPr lang="en-US" i="1" dirty="0"/>
              <a:t>external</a:t>
            </a:r>
            <a:r>
              <a:rPr lang="lv-LV" i="1" dirty="0"/>
              <a:t> </a:t>
            </a:r>
            <a:r>
              <a:rPr lang="lv-LV" i="1" dirty="0" err="1"/>
              <a:t>column</a:t>
            </a:r>
            <a:r>
              <a:rPr lang="lv-LV" i="1" dirty="0"/>
              <a:t> IN    (</a:t>
            </a:r>
          </a:p>
          <a:p>
            <a:pPr marL="0" indent="0" algn="just">
              <a:lnSpc>
                <a:spcPct val="120000"/>
              </a:lnSpc>
              <a:buNone/>
            </a:pPr>
            <a:r>
              <a:rPr lang="lv-LV" i="1" dirty="0"/>
              <a:t>	SELECT </a:t>
            </a:r>
            <a:r>
              <a:rPr lang="en-US" i="1" dirty="0"/>
              <a:t>internal table </a:t>
            </a:r>
            <a:r>
              <a:rPr lang="lv-LV" i="1" dirty="0" err="1"/>
              <a:t>columns</a:t>
            </a:r>
            <a:endParaRPr lang="lv-LV" i="1" dirty="0"/>
          </a:p>
          <a:p>
            <a:pPr marL="0" indent="0" algn="just">
              <a:lnSpc>
                <a:spcPct val="120000"/>
              </a:lnSpc>
              <a:buNone/>
            </a:pPr>
            <a:r>
              <a:rPr lang="lv-LV" i="1" dirty="0"/>
              <a:t>	FROM </a:t>
            </a:r>
            <a:r>
              <a:rPr lang="en-US" i="1" dirty="0"/>
              <a:t>internal</a:t>
            </a:r>
            <a:r>
              <a:rPr lang="lv-LV" i="1" dirty="0"/>
              <a:t> </a:t>
            </a:r>
            <a:r>
              <a:rPr lang="lv-LV" i="1" dirty="0" err="1"/>
              <a:t>tab</a:t>
            </a:r>
            <a:r>
              <a:rPr lang="en-US" i="1" dirty="0"/>
              <a:t>le</a:t>
            </a:r>
            <a:endParaRPr lang="lv-LV" i="1" dirty="0"/>
          </a:p>
          <a:p>
            <a:pPr marL="0" indent="0" algn="just">
              <a:lnSpc>
                <a:spcPct val="120000"/>
              </a:lnSpc>
              <a:buNone/>
            </a:pPr>
            <a:r>
              <a:rPr lang="lv-LV" i="1" dirty="0"/>
              <a:t>	WHERE </a:t>
            </a:r>
            <a:r>
              <a:rPr lang="en-US" i="1" dirty="0"/>
              <a:t>internal</a:t>
            </a:r>
            <a:r>
              <a:rPr lang="lv-LV" i="1" dirty="0"/>
              <a:t> </a:t>
            </a:r>
            <a:r>
              <a:rPr lang="lv-LV" i="1" dirty="0" err="1"/>
              <a:t>column</a:t>
            </a:r>
            <a:r>
              <a:rPr lang="lv-LV" i="1" dirty="0"/>
              <a:t> = </a:t>
            </a:r>
            <a:r>
              <a:rPr lang="en-US" i="1" dirty="0"/>
              <a:t>external</a:t>
            </a:r>
            <a:r>
              <a:rPr lang="lv-LV" i="1" dirty="0"/>
              <a:t> </a:t>
            </a:r>
            <a:r>
              <a:rPr lang="lv-LV" i="1" dirty="0" err="1"/>
              <a:t>column</a:t>
            </a:r>
            <a:r>
              <a:rPr lang="lv-LV" i="1" dirty="0"/>
              <a:t>);</a:t>
            </a:r>
            <a:endParaRPr lang="en-US" dirty="0"/>
          </a:p>
        </p:txBody>
      </p:sp>
    </p:spTree>
    <p:extLst>
      <p:ext uri="{BB962C8B-B14F-4D97-AF65-F5344CB8AC3E}">
        <p14:creationId xmlns:p14="http://schemas.microsoft.com/office/powerpoint/2010/main" val="35550426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lv-LV" dirty="0" err="1"/>
              <a:t>Simple</a:t>
            </a:r>
            <a:r>
              <a:rPr lang="lv-LV" dirty="0"/>
              <a:t> </a:t>
            </a:r>
            <a:r>
              <a:rPr lang="lv-LV" dirty="0" err="1"/>
              <a:t>and</a:t>
            </a:r>
            <a:r>
              <a:rPr lang="lv-LV" dirty="0"/>
              <a:t> </a:t>
            </a:r>
            <a:r>
              <a:rPr lang="lv-LV" dirty="0" err="1"/>
              <a:t>complex</a:t>
            </a:r>
            <a:r>
              <a:rPr lang="lv-LV" dirty="0"/>
              <a:t> </a:t>
            </a:r>
            <a:r>
              <a:rPr lang="lv-LV" dirty="0" err="1"/>
              <a:t>subqueries</a:t>
            </a:r>
            <a:endParaRPr lang="en-US" dirty="0"/>
          </a:p>
        </p:txBody>
      </p:sp>
      <p:sp>
        <p:nvSpPr>
          <p:cNvPr id="3" name="Content Placeholder 2"/>
          <p:cNvSpPr>
            <a:spLocks noGrp="1"/>
          </p:cNvSpPr>
          <p:nvPr>
            <p:ph idx="1"/>
          </p:nvPr>
        </p:nvSpPr>
        <p:spPr>
          <a:xfrm>
            <a:off x="628650" y="1825625"/>
            <a:ext cx="7886700" cy="4913842"/>
          </a:xfrm>
        </p:spPr>
        <p:txBody>
          <a:bodyPr>
            <a:normAutofit/>
          </a:bodyPr>
          <a:lstStyle/>
          <a:p>
            <a:pPr marL="0" indent="0" algn="just">
              <a:buNone/>
            </a:pPr>
            <a:r>
              <a:rPr lang="en-US" dirty="0"/>
              <a:t>Example: Two tables are given: </a:t>
            </a:r>
            <a:r>
              <a:rPr lang="en-US" dirty="0" err="1"/>
              <a:t>Books_taken</a:t>
            </a:r>
            <a:r>
              <a:rPr lang="en-US" dirty="0"/>
              <a:t> and Books. Write a query that displays the name of books which copies remained in the library.
</a:t>
            </a:r>
          </a:p>
        </p:txBody>
      </p:sp>
      <p:pic>
        <p:nvPicPr>
          <p:cNvPr id="5" name="Picture 4">
            <a:extLst>
              <a:ext uri="{FF2B5EF4-FFF2-40B4-BE49-F238E27FC236}">
                <a16:creationId xmlns:a16="http://schemas.microsoft.com/office/drawing/2014/main" id="{1325DFBC-2483-5FCC-37EB-33CF2B457721}"/>
              </a:ext>
            </a:extLst>
          </p:cNvPr>
          <p:cNvPicPr>
            <a:picLocks noChangeAspect="1"/>
          </p:cNvPicPr>
          <p:nvPr/>
        </p:nvPicPr>
        <p:blipFill>
          <a:blip r:embed="rId2"/>
          <a:stretch>
            <a:fillRect/>
          </a:stretch>
        </p:blipFill>
        <p:spPr>
          <a:xfrm>
            <a:off x="785790" y="3610990"/>
            <a:ext cx="2381582" cy="2000529"/>
          </a:xfrm>
          <a:prstGeom prst="rect">
            <a:avLst/>
          </a:prstGeom>
        </p:spPr>
      </p:pic>
      <p:pic>
        <p:nvPicPr>
          <p:cNvPr id="9" name="Picture 8">
            <a:extLst>
              <a:ext uri="{FF2B5EF4-FFF2-40B4-BE49-F238E27FC236}">
                <a16:creationId xmlns:a16="http://schemas.microsoft.com/office/drawing/2014/main" id="{605CEEA5-2008-4B28-3241-8675F102F8B8}"/>
              </a:ext>
            </a:extLst>
          </p:cNvPr>
          <p:cNvPicPr>
            <a:picLocks noChangeAspect="1"/>
          </p:cNvPicPr>
          <p:nvPr/>
        </p:nvPicPr>
        <p:blipFill>
          <a:blip r:embed="rId3"/>
          <a:stretch>
            <a:fillRect/>
          </a:stretch>
        </p:blipFill>
        <p:spPr>
          <a:xfrm>
            <a:off x="4412406" y="3564380"/>
            <a:ext cx="3810532" cy="2181529"/>
          </a:xfrm>
          <a:prstGeom prst="rect">
            <a:avLst/>
          </a:prstGeom>
        </p:spPr>
      </p:pic>
    </p:spTree>
    <p:extLst>
      <p:ext uri="{BB962C8B-B14F-4D97-AF65-F5344CB8AC3E}">
        <p14:creationId xmlns:p14="http://schemas.microsoft.com/office/powerpoint/2010/main" val="37719013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lv-LV" dirty="0" err="1"/>
              <a:t>Simple</a:t>
            </a:r>
            <a:r>
              <a:rPr lang="lv-LV" dirty="0"/>
              <a:t> </a:t>
            </a:r>
            <a:r>
              <a:rPr lang="lv-LV" dirty="0" err="1"/>
              <a:t>and</a:t>
            </a:r>
            <a:r>
              <a:rPr lang="lv-LV" dirty="0"/>
              <a:t> </a:t>
            </a:r>
            <a:r>
              <a:rPr lang="lv-LV" dirty="0" err="1"/>
              <a:t>complex</a:t>
            </a:r>
            <a:r>
              <a:rPr lang="lv-LV" dirty="0"/>
              <a:t> </a:t>
            </a:r>
            <a:r>
              <a:rPr lang="lv-LV" dirty="0" err="1"/>
              <a:t>subqueries</a:t>
            </a:r>
            <a:endParaRPr lang="en-US" dirty="0"/>
          </a:p>
        </p:txBody>
      </p:sp>
      <p:sp>
        <p:nvSpPr>
          <p:cNvPr id="3" name="Content Placeholder 2"/>
          <p:cNvSpPr>
            <a:spLocks noGrp="1"/>
          </p:cNvSpPr>
          <p:nvPr>
            <p:ph idx="1"/>
          </p:nvPr>
        </p:nvSpPr>
        <p:spPr>
          <a:xfrm>
            <a:off x="628650" y="1825625"/>
            <a:ext cx="7886700" cy="4913842"/>
          </a:xfrm>
        </p:spPr>
        <p:txBody>
          <a:bodyPr>
            <a:normAutofit/>
          </a:bodyPr>
          <a:lstStyle/>
          <a:p>
            <a:pPr marL="0" indent="0" algn="just">
              <a:buNone/>
            </a:pPr>
            <a:r>
              <a:rPr lang="en-US" dirty="0"/>
              <a:t>Example: Two tables are given: </a:t>
            </a:r>
            <a:r>
              <a:rPr lang="en-US" dirty="0" err="1"/>
              <a:t>Books_taken</a:t>
            </a:r>
            <a:r>
              <a:rPr lang="en-US" dirty="0"/>
              <a:t> and Books. Write a query that displays the name of books which copies remained in the library.</a:t>
            </a:r>
          </a:p>
        </p:txBody>
      </p:sp>
      <p:sp>
        <p:nvSpPr>
          <p:cNvPr id="5" name="Rectangle 4"/>
          <p:cNvSpPr/>
          <p:nvPr/>
        </p:nvSpPr>
        <p:spPr>
          <a:xfrm>
            <a:off x="628650" y="3598672"/>
            <a:ext cx="6618817" cy="1754326"/>
          </a:xfrm>
          <a:prstGeom prst="rect">
            <a:avLst/>
          </a:prstGeom>
        </p:spPr>
        <p:txBody>
          <a:bodyPr wrap="square">
            <a:spAutoFit/>
          </a:bodyPr>
          <a:lstStyle/>
          <a:p>
            <a:r>
              <a:rPr lang="en-US" b="1" dirty="0"/>
              <a:t>SELECT </a:t>
            </a:r>
            <a:r>
              <a:rPr lang="en-US" b="1" dirty="0" err="1"/>
              <a:t>b.Title</a:t>
            </a:r>
            <a:r>
              <a:rPr lang="en-US" b="1" dirty="0"/>
              <a:t> AS `Book Title`, </a:t>
            </a:r>
            <a:r>
              <a:rPr lang="en-US" b="1" dirty="0" err="1"/>
              <a:t>b.Publisher</a:t>
            </a:r>
            <a:endParaRPr lang="en-US" b="1" dirty="0"/>
          </a:p>
          <a:p>
            <a:r>
              <a:rPr lang="en-US" b="1" dirty="0"/>
              <a:t>FROM Books b</a:t>
            </a:r>
          </a:p>
          <a:p>
            <a:r>
              <a:rPr lang="en-US" b="1" dirty="0"/>
              <a:t>WHERE </a:t>
            </a:r>
            <a:r>
              <a:rPr lang="en-US" b="1" dirty="0" err="1"/>
              <a:t>b.NumOfCopies</a:t>
            </a:r>
            <a:r>
              <a:rPr lang="en-US" b="1" dirty="0"/>
              <a:t> &gt; (</a:t>
            </a:r>
          </a:p>
          <a:p>
            <a:r>
              <a:rPr lang="en-US" b="1" dirty="0"/>
              <a:t>   SELECT Count(</a:t>
            </a:r>
            <a:r>
              <a:rPr lang="en-US" b="1" dirty="0" err="1"/>
              <a:t>bt.BookID</a:t>
            </a:r>
            <a:r>
              <a:rPr lang="en-US" b="1" dirty="0"/>
              <a:t>)</a:t>
            </a:r>
          </a:p>
          <a:p>
            <a:r>
              <a:rPr lang="en-US" b="1" dirty="0"/>
              <a:t>   FROM </a:t>
            </a:r>
            <a:r>
              <a:rPr lang="en-US" b="1" dirty="0" err="1"/>
              <a:t>Books_taken</a:t>
            </a:r>
            <a:r>
              <a:rPr lang="en-US" b="1" dirty="0"/>
              <a:t> </a:t>
            </a:r>
            <a:r>
              <a:rPr lang="en-US" b="1" dirty="0" err="1"/>
              <a:t>bt</a:t>
            </a:r>
            <a:endParaRPr lang="en-US" b="1" dirty="0"/>
          </a:p>
          <a:p>
            <a:r>
              <a:rPr lang="en-US" b="1" dirty="0"/>
              <a:t>   WHERE </a:t>
            </a:r>
            <a:r>
              <a:rPr lang="en-US" b="1" dirty="0" err="1"/>
              <a:t>bt.BookID</a:t>
            </a:r>
            <a:r>
              <a:rPr lang="en-US" b="1" dirty="0"/>
              <a:t> = </a:t>
            </a:r>
            <a:r>
              <a:rPr lang="en-US" b="1" dirty="0" err="1"/>
              <a:t>b.BookId</a:t>
            </a:r>
            <a:r>
              <a:rPr lang="en-US" b="1" dirty="0"/>
              <a:t>);</a:t>
            </a:r>
          </a:p>
        </p:txBody>
      </p:sp>
      <p:pic>
        <p:nvPicPr>
          <p:cNvPr id="6" name="Picture 5">
            <a:extLst>
              <a:ext uri="{FF2B5EF4-FFF2-40B4-BE49-F238E27FC236}">
                <a16:creationId xmlns:a16="http://schemas.microsoft.com/office/drawing/2014/main" id="{0DD3F0CC-09DA-1A76-1FBA-ABF6D67A86ED}"/>
              </a:ext>
            </a:extLst>
          </p:cNvPr>
          <p:cNvPicPr>
            <a:picLocks noChangeAspect="1"/>
          </p:cNvPicPr>
          <p:nvPr/>
        </p:nvPicPr>
        <p:blipFill>
          <a:blip r:embed="rId2"/>
          <a:stretch>
            <a:fillRect/>
          </a:stretch>
        </p:blipFill>
        <p:spPr>
          <a:xfrm>
            <a:off x="5198328" y="3429000"/>
            <a:ext cx="3022035" cy="2301891"/>
          </a:xfrm>
          <a:prstGeom prst="rect">
            <a:avLst/>
          </a:prstGeom>
        </p:spPr>
      </p:pic>
    </p:spTree>
    <p:extLst>
      <p:ext uri="{BB962C8B-B14F-4D97-AF65-F5344CB8AC3E}">
        <p14:creationId xmlns:p14="http://schemas.microsoft.com/office/powerpoint/2010/main" val="16891544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B022D1C-4063-71B5-E2DF-BD52246741FA}"/>
              </a:ext>
            </a:extLst>
          </p:cNvPr>
          <p:cNvPicPr>
            <a:picLocks noChangeAspect="1"/>
          </p:cNvPicPr>
          <p:nvPr/>
        </p:nvPicPr>
        <p:blipFill>
          <a:blip r:embed="rId2"/>
          <a:stretch>
            <a:fillRect/>
          </a:stretch>
        </p:blipFill>
        <p:spPr>
          <a:xfrm>
            <a:off x="1579419" y="4842540"/>
            <a:ext cx="3344904" cy="1914957"/>
          </a:xfrm>
          <a:prstGeom prst="rect">
            <a:avLst/>
          </a:prstGeom>
        </p:spPr>
      </p:pic>
      <p:sp>
        <p:nvSpPr>
          <p:cNvPr id="2" name="Title 1"/>
          <p:cNvSpPr>
            <a:spLocks noGrp="1"/>
          </p:cNvSpPr>
          <p:nvPr>
            <p:ph type="title"/>
          </p:nvPr>
        </p:nvSpPr>
        <p:spPr>
          <a:xfrm>
            <a:off x="628650" y="71612"/>
            <a:ext cx="7886700" cy="1325563"/>
          </a:xfrm>
        </p:spPr>
        <p:txBody>
          <a:bodyPr/>
          <a:lstStyle/>
          <a:p>
            <a:pPr algn="ctr"/>
            <a:r>
              <a:rPr lang="lv-LV" dirty="0" err="1"/>
              <a:t>Simple</a:t>
            </a:r>
            <a:r>
              <a:rPr lang="lv-LV" dirty="0"/>
              <a:t> </a:t>
            </a:r>
            <a:r>
              <a:rPr lang="lv-LV" dirty="0" err="1"/>
              <a:t>and</a:t>
            </a:r>
            <a:r>
              <a:rPr lang="lv-LV" dirty="0"/>
              <a:t> </a:t>
            </a:r>
            <a:r>
              <a:rPr lang="lv-LV" dirty="0" err="1"/>
              <a:t>complex</a:t>
            </a:r>
            <a:r>
              <a:rPr lang="lv-LV" dirty="0"/>
              <a:t> </a:t>
            </a:r>
            <a:r>
              <a:rPr lang="lv-LV" dirty="0" err="1"/>
              <a:t>subqueries</a:t>
            </a:r>
            <a:endParaRPr lang="en-US" dirty="0"/>
          </a:p>
        </p:txBody>
      </p:sp>
      <p:sp>
        <p:nvSpPr>
          <p:cNvPr id="3" name="Content Placeholder 2"/>
          <p:cNvSpPr>
            <a:spLocks noGrp="1"/>
          </p:cNvSpPr>
          <p:nvPr>
            <p:ph idx="1"/>
          </p:nvPr>
        </p:nvSpPr>
        <p:spPr>
          <a:xfrm>
            <a:off x="628650" y="1622426"/>
            <a:ext cx="7886700" cy="4913842"/>
          </a:xfrm>
        </p:spPr>
        <p:txBody>
          <a:bodyPr>
            <a:normAutofit/>
          </a:bodyPr>
          <a:lstStyle/>
          <a:p>
            <a:pPr marL="0" indent="0" algn="just">
              <a:buNone/>
            </a:pPr>
            <a:r>
              <a:rPr lang="en-US" dirty="0"/>
              <a:t>Query execution order:
subquery is executed for each external query record!
</a:t>
            </a:r>
          </a:p>
        </p:txBody>
      </p:sp>
      <p:sp>
        <p:nvSpPr>
          <p:cNvPr id="5" name="Rectangle 4"/>
          <p:cNvSpPr/>
          <p:nvPr/>
        </p:nvSpPr>
        <p:spPr>
          <a:xfrm>
            <a:off x="4458180" y="3026668"/>
            <a:ext cx="3752596" cy="1569660"/>
          </a:xfrm>
          <a:prstGeom prst="rect">
            <a:avLst/>
          </a:prstGeom>
        </p:spPr>
        <p:txBody>
          <a:bodyPr wrap="square">
            <a:spAutoFit/>
          </a:bodyPr>
          <a:lstStyle/>
          <a:p>
            <a:r>
              <a:rPr lang="en-US" sz="1600" b="1" dirty="0"/>
              <a:t>SELECT </a:t>
            </a:r>
            <a:r>
              <a:rPr lang="en-US" sz="1600" b="1" dirty="0" err="1"/>
              <a:t>b.Title</a:t>
            </a:r>
            <a:r>
              <a:rPr lang="en-US" sz="1600" b="1" dirty="0"/>
              <a:t> AS `Book Title`, </a:t>
            </a:r>
            <a:r>
              <a:rPr lang="en-US" sz="1600" b="1" dirty="0" err="1"/>
              <a:t>b.Publisher</a:t>
            </a:r>
            <a:endParaRPr lang="en-US" sz="1600" b="1" dirty="0"/>
          </a:p>
          <a:p>
            <a:r>
              <a:rPr lang="en-US" sz="1600" b="1" dirty="0"/>
              <a:t>FROM Books b</a:t>
            </a:r>
          </a:p>
          <a:p>
            <a:r>
              <a:rPr lang="en-US" sz="1600" b="1" dirty="0"/>
              <a:t>WHERE </a:t>
            </a:r>
            <a:r>
              <a:rPr lang="en-US" sz="1600" b="1" dirty="0" err="1"/>
              <a:t>b.NumOfCopies</a:t>
            </a:r>
            <a:r>
              <a:rPr lang="en-US" sz="1600" b="1" dirty="0"/>
              <a:t> &gt; (</a:t>
            </a:r>
          </a:p>
          <a:p>
            <a:r>
              <a:rPr lang="en-US" sz="1600" b="1" dirty="0"/>
              <a:t>   SELECT Count(</a:t>
            </a:r>
            <a:r>
              <a:rPr lang="en-US" sz="1600" b="1" dirty="0" err="1"/>
              <a:t>bt.BookID</a:t>
            </a:r>
            <a:r>
              <a:rPr lang="en-US" sz="1600" b="1" dirty="0"/>
              <a:t>)</a:t>
            </a:r>
          </a:p>
          <a:p>
            <a:r>
              <a:rPr lang="en-US" sz="1600" b="1" dirty="0"/>
              <a:t>   FROM </a:t>
            </a:r>
            <a:r>
              <a:rPr lang="en-US" sz="1600" b="1" dirty="0" err="1"/>
              <a:t>Books_taken</a:t>
            </a:r>
            <a:r>
              <a:rPr lang="en-US" sz="1600" b="1" dirty="0"/>
              <a:t> </a:t>
            </a:r>
            <a:r>
              <a:rPr lang="en-US" sz="1600" b="1" dirty="0" err="1"/>
              <a:t>bt</a:t>
            </a:r>
            <a:endParaRPr lang="en-US" sz="1600" b="1" dirty="0"/>
          </a:p>
          <a:p>
            <a:r>
              <a:rPr lang="en-US" sz="1600" b="1" dirty="0"/>
              <a:t>   WHERE </a:t>
            </a:r>
            <a:r>
              <a:rPr lang="en-US" sz="1600" b="1" dirty="0" err="1"/>
              <a:t>bt.BookID</a:t>
            </a:r>
            <a:r>
              <a:rPr lang="en-US" sz="1600" b="1" dirty="0"/>
              <a:t> = </a:t>
            </a:r>
            <a:r>
              <a:rPr lang="en-US" sz="1600" b="1" dirty="0" err="1"/>
              <a:t>b.BookId</a:t>
            </a:r>
            <a:r>
              <a:rPr lang="en-US" sz="1600" b="1" dirty="0"/>
              <a:t>);</a:t>
            </a:r>
          </a:p>
        </p:txBody>
      </p:sp>
      <p:sp>
        <p:nvSpPr>
          <p:cNvPr id="4" name="Rectangle 3"/>
          <p:cNvSpPr/>
          <p:nvPr/>
        </p:nvSpPr>
        <p:spPr>
          <a:xfrm>
            <a:off x="4458180" y="3811498"/>
            <a:ext cx="2991556" cy="78483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9" name="Straight Arrow Connector 8"/>
          <p:cNvCxnSpPr>
            <a:endCxn id="4" idx="2"/>
          </p:cNvCxnSpPr>
          <p:nvPr/>
        </p:nvCxnSpPr>
        <p:spPr>
          <a:xfrm flipV="1">
            <a:off x="4616225" y="4596328"/>
            <a:ext cx="1337733" cy="631792"/>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cxnSpLocks/>
            <a:endCxn id="4" idx="2"/>
          </p:cNvCxnSpPr>
          <p:nvPr/>
        </p:nvCxnSpPr>
        <p:spPr>
          <a:xfrm flipV="1">
            <a:off x="4658823" y="4596328"/>
            <a:ext cx="1295135" cy="857044"/>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cxnSpLocks/>
            <a:endCxn id="4" idx="2"/>
          </p:cNvCxnSpPr>
          <p:nvPr/>
        </p:nvCxnSpPr>
        <p:spPr>
          <a:xfrm flipV="1">
            <a:off x="4680122" y="4596328"/>
            <a:ext cx="1273836" cy="1082296"/>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cxnSpLocks/>
            <a:endCxn id="4" idx="2"/>
          </p:cNvCxnSpPr>
          <p:nvPr/>
        </p:nvCxnSpPr>
        <p:spPr>
          <a:xfrm flipV="1">
            <a:off x="4669472" y="4596328"/>
            <a:ext cx="1284486" cy="1438686"/>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cxnSpLocks/>
            <a:endCxn id="4" idx="2"/>
          </p:cNvCxnSpPr>
          <p:nvPr/>
        </p:nvCxnSpPr>
        <p:spPr>
          <a:xfrm flipV="1">
            <a:off x="4669472" y="4596328"/>
            <a:ext cx="1284486" cy="1663938"/>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cxnSpLocks/>
            <a:endCxn id="4" idx="2"/>
          </p:cNvCxnSpPr>
          <p:nvPr/>
        </p:nvCxnSpPr>
        <p:spPr>
          <a:xfrm flipV="1">
            <a:off x="4669472" y="4596328"/>
            <a:ext cx="1284486" cy="1907702"/>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93846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Practice</a:t>
            </a:r>
          </a:p>
        </p:txBody>
      </p:sp>
      <p:sp>
        <p:nvSpPr>
          <p:cNvPr id="3" name="Content Placeholder 2"/>
          <p:cNvSpPr>
            <a:spLocks noGrp="1"/>
          </p:cNvSpPr>
          <p:nvPr>
            <p:ph idx="1"/>
          </p:nvPr>
        </p:nvSpPr>
        <p:spPr/>
        <p:txBody>
          <a:bodyPr/>
          <a:lstStyle/>
          <a:p>
            <a:pPr marL="0" indent="0">
              <a:buNone/>
            </a:pPr>
            <a:r>
              <a:rPr lang="en-US" dirty="0"/>
              <a:t>1. Create a query that outputs information about books that are currently in the library:</a:t>
            </a:r>
          </a:p>
          <a:p>
            <a:r>
              <a:rPr lang="en-US" dirty="0"/>
              <a:t>Book Title
how many books are in the library at all
how many books remained in the library</a:t>
            </a:r>
          </a:p>
        </p:txBody>
      </p:sp>
      <p:pic>
        <p:nvPicPr>
          <p:cNvPr id="5" name="Picture 4">
            <a:extLst>
              <a:ext uri="{FF2B5EF4-FFF2-40B4-BE49-F238E27FC236}">
                <a16:creationId xmlns:a16="http://schemas.microsoft.com/office/drawing/2014/main" id="{80121D66-6A26-0994-BD9B-AEC3DC322074}"/>
              </a:ext>
            </a:extLst>
          </p:cNvPr>
          <p:cNvPicPr>
            <a:picLocks noChangeAspect="1"/>
          </p:cNvPicPr>
          <p:nvPr/>
        </p:nvPicPr>
        <p:blipFill>
          <a:blip r:embed="rId2"/>
          <a:stretch>
            <a:fillRect/>
          </a:stretch>
        </p:blipFill>
        <p:spPr>
          <a:xfrm>
            <a:off x="1985819" y="4466900"/>
            <a:ext cx="4873784" cy="1844999"/>
          </a:xfrm>
          <a:prstGeom prst="rect">
            <a:avLst/>
          </a:prstGeom>
        </p:spPr>
      </p:pic>
    </p:spTree>
    <p:extLst>
      <p:ext uri="{BB962C8B-B14F-4D97-AF65-F5344CB8AC3E}">
        <p14:creationId xmlns:p14="http://schemas.microsoft.com/office/powerpoint/2010/main" val="5296507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Practice</a:t>
            </a:r>
          </a:p>
        </p:txBody>
      </p:sp>
      <p:sp>
        <p:nvSpPr>
          <p:cNvPr id="3" name="Content Placeholder 2"/>
          <p:cNvSpPr>
            <a:spLocks noGrp="1"/>
          </p:cNvSpPr>
          <p:nvPr>
            <p:ph idx="1"/>
          </p:nvPr>
        </p:nvSpPr>
        <p:spPr>
          <a:xfrm>
            <a:off x="628649" y="1825625"/>
            <a:ext cx="8187359" cy="4351338"/>
          </a:xfrm>
        </p:spPr>
        <p:txBody>
          <a:bodyPr/>
          <a:lstStyle/>
          <a:p>
            <a:pPr marL="514350" indent="-514350">
              <a:buFont typeface="+mj-lt"/>
              <a:buAutoNum type="arabicPeriod" startAt="2"/>
            </a:pPr>
            <a:r>
              <a:rPr lang="en-US" dirty="0"/>
              <a:t>Update the 1</a:t>
            </a:r>
            <a:r>
              <a:rPr lang="en-US" baseline="30000" dirty="0"/>
              <a:t>st</a:t>
            </a:r>
            <a:r>
              <a:rPr lang="en-US" dirty="0"/>
              <a:t> task  so that you can also see how many books have been taken home</a:t>
            </a:r>
            <a:endParaRPr lang="lv-LV" dirty="0"/>
          </a:p>
          <a:p>
            <a:pPr marL="514350" indent="-514350">
              <a:buFont typeface="+mj-lt"/>
              <a:buAutoNum type="arabicPeriod" startAt="2"/>
            </a:pPr>
            <a:endParaRPr lang="lv-LV" dirty="0"/>
          </a:p>
          <a:p>
            <a:pPr marL="514350" indent="-514350">
              <a:buFont typeface="+mj-lt"/>
              <a:buAutoNum type="arabicPeriod" startAt="2"/>
            </a:pPr>
            <a:endParaRPr lang="lv-LV" dirty="0"/>
          </a:p>
          <a:p>
            <a:pPr marL="514350" indent="-514350">
              <a:buFont typeface="+mj-lt"/>
              <a:buAutoNum type="arabicPeriod" startAt="2"/>
            </a:pPr>
            <a:endParaRPr lang="lv-LV" dirty="0"/>
          </a:p>
          <a:p>
            <a:pPr marL="514350" indent="-514350">
              <a:buFont typeface="+mj-lt"/>
              <a:buAutoNum type="arabicPeriod" startAt="2"/>
            </a:pPr>
            <a:r>
              <a:rPr lang="en-US" dirty="0"/>
              <a:t>Update 2</a:t>
            </a:r>
            <a:r>
              <a:rPr lang="en-US" baseline="30000" dirty="0"/>
              <a:t>nd</a:t>
            </a:r>
            <a:r>
              <a:rPr lang="en-US" dirty="0"/>
              <a:t> task so that you can see only those books that have been taken at least one copy.</a:t>
            </a:r>
          </a:p>
        </p:txBody>
      </p:sp>
      <p:pic>
        <p:nvPicPr>
          <p:cNvPr id="5" name="Picture 4">
            <a:extLst>
              <a:ext uri="{FF2B5EF4-FFF2-40B4-BE49-F238E27FC236}">
                <a16:creationId xmlns:a16="http://schemas.microsoft.com/office/drawing/2014/main" id="{E54305CC-E61C-C0AE-B0A0-5DD96F3FE89C}"/>
              </a:ext>
            </a:extLst>
          </p:cNvPr>
          <p:cNvPicPr>
            <a:picLocks noChangeAspect="1"/>
          </p:cNvPicPr>
          <p:nvPr/>
        </p:nvPicPr>
        <p:blipFill>
          <a:blip r:embed="rId2"/>
          <a:stretch>
            <a:fillRect/>
          </a:stretch>
        </p:blipFill>
        <p:spPr>
          <a:xfrm>
            <a:off x="2027915" y="2619927"/>
            <a:ext cx="5088169" cy="1618145"/>
          </a:xfrm>
          <a:prstGeom prst="rect">
            <a:avLst/>
          </a:prstGeom>
        </p:spPr>
      </p:pic>
      <p:pic>
        <p:nvPicPr>
          <p:cNvPr id="8" name="Picture 7">
            <a:extLst>
              <a:ext uri="{FF2B5EF4-FFF2-40B4-BE49-F238E27FC236}">
                <a16:creationId xmlns:a16="http://schemas.microsoft.com/office/drawing/2014/main" id="{7CC237D1-7E58-E320-33C7-56D829DBBC55}"/>
              </a:ext>
            </a:extLst>
          </p:cNvPr>
          <p:cNvPicPr>
            <a:picLocks noChangeAspect="1"/>
          </p:cNvPicPr>
          <p:nvPr/>
        </p:nvPicPr>
        <p:blipFill>
          <a:blip r:embed="rId3"/>
          <a:stretch>
            <a:fillRect/>
          </a:stretch>
        </p:blipFill>
        <p:spPr>
          <a:xfrm>
            <a:off x="1895100" y="5226816"/>
            <a:ext cx="5353797" cy="1428949"/>
          </a:xfrm>
          <a:prstGeom prst="rect">
            <a:avLst/>
          </a:prstGeom>
        </p:spPr>
      </p:pic>
    </p:spTree>
    <p:extLst>
      <p:ext uri="{BB962C8B-B14F-4D97-AF65-F5344CB8AC3E}">
        <p14:creationId xmlns:p14="http://schemas.microsoft.com/office/powerpoint/2010/main" val="38934522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Practice</a:t>
            </a:r>
          </a:p>
        </p:txBody>
      </p:sp>
      <p:sp>
        <p:nvSpPr>
          <p:cNvPr id="3" name="Content Placeholder 2"/>
          <p:cNvSpPr>
            <a:spLocks noGrp="1"/>
          </p:cNvSpPr>
          <p:nvPr>
            <p:ph idx="1"/>
          </p:nvPr>
        </p:nvSpPr>
        <p:spPr>
          <a:xfrm>
            <a:off x="628650" y="1328670"/>
            <a:ext cx="7886700" cy="5449818"/>
          </a:xfrm>
        </p:spPr>
        <p:txBody>
          <a:bodyPr>
            <a:normAutofit fontScale="92500" lnSpcReduction="10000"/>
          </a:bodyPr>
          <a:lstStyle/>
          <a:p>
            <a:pPr marL="514350" indent="-514350">
              <a:buFont typeface="+mj-lt"/>
              <a:buAutoNum type="arabicPeriod" startAt="4"/>
            </a:pPr>
            <a:r>
              <a:rPr lang="en-US" dirty="0"/>
              <a:t>Journal table stores information about the services provided during the year. How many times was each type of service provided and what amount of money was received for each type of service?</a:t>
            </a:r>
            <a:endParaRPr lang="lv-LV" dirty="0"/>
          </a:p>
          <a:p>
            <a:pPr marL="514350" indent="-514350">
              <a:buFont typeface="+mj-lt"/>
              <a:buAutoNum type="arabicPeriod" startAt="4"/>
            </a:pPr>
            <a:endParaRPr lang="lv-LV" dirty="0"/>
          </a:p>
          <a:p>
            <a:pPr marL="514350" indent="-514350">
              <a:buFont typeface="+mj-lt"/>
              <a:buAutoNum type="arabicPeriod" startAt="4"/>
            </a:pPr>
            <a:endParaRPr lang="lv-LV" dirty="0"/>
          </a:p>
          <a:p>
            <a:pPr marL="0" indent="0">
              <a:buNone/>
            </a:pPr>
            <a:endParaRPr lang="en-US" sz="2000" dirty="0"/>
          </a:p>
          <a:p>
            <a:pPr marL="0" indent="0">
              <a:buNone/>
            </a:pPr>
            <a:r>
              <a:rPr lang="en-US" sz="2000" dirty="0"/>
              <a:t>At the beginning, I recommend to calculate the Internet and MS Office, because</a:t>
            </a:r>
            <a:r>
              <a:rPr lang="ru-RU" sz="2000" dirty="0"/>
              <a:t> </a:t>
            </a:r>
            <a:r>
              <a:rPr lang="en-US" sz="2000" dirty="0"/>
              <a:t>of hourly payment.</a:t>
            </a:r>
            <a:endParaRPr lang="lv-LV" sz="2000" dirty="0"/>
          </a:p>
          <a:p>
            <a:pPr marL="0" indent="0">
              <a:buNone/>
            </a:pPr>
            <a:endParaRPr lang="lv-LV" sz="2000" dirty="0"/>
          </a:p>
          <a:p>
            <a:pPr marL="0" indent="0">
              <a:buNone/>
            </a:pPr>
            <a:endParaRPr lang="en-US" sz="2000" dirty="0"/>
          </a:p>
          <a:p>
            <a:pPr marL="0" indent="0">
              <a:buNone/>
            </a:pPr>
            <a:r>
              <a:rPr lang="en-US" sz="2000" dirty="0"/>
              <a:t>Then copying because payment is collected by copied pages
</a:t>
            </a:r>
            <a:endParaRPr lang="lv-LV" sz="2000" dirty="0"/>
          </a:p>
          <a:p>
            <a:pPr marL="0" indent="0">
              <a:buNone/>
            </a:pPr>
            <a:endParaRPr lang="lv-LV" sz="2000" dirty="0"/>
          </a:p>
          <a:p>
            <a:pPr marL="0" indent="0">
              <a:buNone/>
            </a:pPr>
            <a:r>
              <a:rPr lang="lv-LV" sz="2000" dirty="0" err="1"/>
              <a:t>Then</a:t>
            </a:r>
            <a:r>
              <a:rPr lang="lv-LV" sz="2000" dirty="0"/>
              <a:t> </a:t>
            </a:r>
            <a:r>
              <a:rPr lang="en-US" sz="2000" dirty="0"/>
              <a:t>merge (Union)</a:t>
            </a:r>
            <a:r>
              <a:rPr lang="lv-LV" sz="2000" dirty="0"/>
              <a:t>.</a:t>
            </a:r>
          </a:p>
        </p:txBody>
      </p:sp>
      <p:pic>
        <p:nvPicPr>
          <p:cNvPr id="5" name="Picture 4">
            <a:extLst>
              <a:ext uri="{FF2B5EF4-FFF2-40B4-BE49-F238E27FC236}">
                <a16:creationId xmlns:a16="http://schemas.microsoft.com/office/drawing/2014/main" id="{7E7B2A35-9EEB-DE10-38B2-46FF41C5248E}"/>
              </a:ext>
            </a:extLst>
          </p:cNvPr>
          <p:cNvPicPr>
            <a:picLocks noChangeAspect="1"/>
          </p:cNvPicPr>
          <p:nvPr/>
        </p:nvPicPr>
        <p:blipFill>
          <a:blip r:embed="rId2"/>
          <a:stretch>
            <a:fillRect/>
          </a:stretch>
        </p:blipFill>
        <p:spPr>
          <a:xfrm>
            <a:off x="2974476" y="2819928"/>
            <a:ext cx="3010320" cy="943107"/>
          </a:xfrm>
          <a:prstGeom prst="rect">
            <a:avLst/>
          </a:prstGeom>
        </p:spPr>
      </p:pic>
      <p:pic>
        <p:nvPicPr>
          <p:cNvPr id="7" name="Picture 6">
            <a:extLst>
              <a:ext uri="{FF2B5EF4-FFF2-40B4-BE49-F238E27FC236}">
                <a16:creationId xmlns:a16="http://schemas.microsoft.com/office/drawing/2014/main" id="{F52E1AC6-569B-C7CD-1F4C-DF53803008D2}"/>
              </a:ext>
            </a:extLst>
          </p:cNvPr>
          <p:cNvPicPr>
            <a:picLocks noChangeAspect="1"/>
          </p:cNvPicPr>
          <p:nvPr/>
        </p:nvPicPr>
        <p:blipFill>
          <a:blip r:embed="rId3"/>
          <a:stretch>
            <a:fillRect/>
          </a:stretch>
        </p:blipFill>
        <p:spPr>
          <a:xfrm>
            <a:off x="3503487" y="4364578"/>
            <a:ext cx="2610214" cy="724001"/>
          </a:xfrm>
          <a:prstGeom prst="rect">
            <a:avLst/>
          </a:prstGeom>
        </p:spPr>
      </p:pic>
      <p:pic>
        <p:nvPicPr>
          <p:cNvPr id="9" name="Picture 8">
            <a:extLst>
              <a:ext uri="{FF2B5EF4-FFF2-40B4-BE49-F238E27FC236}">
                <a16:creationId xmlns:a16="http://schemas.microsoft.com/office/drawing/2014/main" id="{34BE8F23-1CAD-FE3F-CEAE-F6FF9B4BAF18}"/>
              </a:ext>
            </a:extLst>
          </p:cNvPr>
          <p:cNvPicPr>
            <a:picLocks noChangeAspect="1"/>
          </p:cNvPicPr>
          <p:nvPr/>
        </p:nvPicPr>
        <p:blipFill>
          <a:blip r:embed="rId4"/>
          <a:stretch>
            <a:fillRect/>
          </a:stretch>
        </p:blipFill>
        <p:spPr>
          <a:xfrm>
            <a:off x="3224024" y="5690121"/>
            <a:ext cx="3144321" cy="544423"/>
          </a:xfrm>
          <a:prstGeom prst="rect">
            <a:avLst/>
          </a:prstGeom>
        </p:spPr>
      </p:pic>
    </p:spTree>
    <p:extLst>
      <p:ext uri="{BB962C8B-B14F-4D97-AF65-F5344CB8AC3E}">
        <p14:creationId xmlns:p14="http://schemas.microsoft.com/office/powerpoint/2010/main" val="7377711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Answers</a:t>
            </a:r>
          </a:p>
        </p:txBody>
      </p:sp>
      <p:sp>
        <p:nvSpPr>
          <p:cNvPr id="3" name="Content Placeholder 2"/>
          <p:cNvSpPr>
            <a:spLocks noGrp="1"/>
          </p:cNvSpPr>
          <p:nvPr>
            <p:ph idx="1"/>
          </p:nvPr>
        </p:nvSpPr>
        <p:spPr/>
        <p:txBody>
          <a:bodyPr>
            <a:normAutofit lnSpcReduction="10000"/>
          </a:bodyPr>
          <a:lstStyle/>
          <a:p>
            <a:pPr marL="0" indent="0">
              <a:buNone/>
            </a:pPr>
            <a:r>
              <a:rPr lang="en-US" sz="2000" dirty="0"/>
              <a:t>1.</a:t>
            </a:r>
          </a:p>
          <a:p>
            <a:pPr marL="0" indent="0">
              <a:spcBef>
                <a:spcPts val="0"/>
              </a:spcBef>
              <a:buNone/>
            </a:pPr>
            <a:r>
              <a:rPr lang="en-US" sz="1200" dirty="0"/>
              <a:t>SELECT </a:t>
            </a:r>
            <a:r>
              <a:rPr lang="en-US" sz="1200" dirty="0" err="1"/>
              <a:t>b.Title</a:t>
            </a:r>
            <a:r>
              <a:rPr lang="en-US" sz="1200" dirty="0"/>
              <a:t> AS `Book title`, </a:t>
            </a:r>
          </a:p>
          <a:p>
            <a:pPr marL="0" indent="0">
              <a:spcBef>
                <a:spcPts val="0"/>
              </a:spcBef>
              <a:buNone/>
            </a:pPr>
            <a:r>
              <a:rPr lang="en-US" sz="1200" dirty="0"/>
              <a:t>   </a:t>
            </a:r>
            <a:r>
              <a:rPr lang="en-US" sz="1200" dirty="0" err="1"/>
              <a:t>b.Publisher</a:t>
            </a:r>
            <a:r>
              <a:rPr lang="en-US" sz="1200" dirty="0"/>
              <a:t> AS `Publisher`, </a:t>
            </a:r>
          </a:p>
          <a:p>
            <a:pPr marL="0" indent="0">
              <a:spcBef>
                <a:spcPts val="0"/>
              </a:spcBef>
              <a:buNone/>
            </a:pPr>
            <a:r>
              <a:rPr lang="en-US" sz="1200" dirty="0"/>
              <a:t>   </a:t>
            </a:r>
            <a:r>
              <a:rPr lang="en-US" sz="1200" dirty="0" err="1"/>
              <a:t>b.NumOfCopies</a:t>
            </a:r>
            <a:r>
              <a:rPr lang="en-US" sz="1200" dirty="0"/>
              <a:t> AS `Number of copies`, </a:t>
            </a:r>
          </a:p>
          <a:p>
            <a:pPr marL="0" indent="0">
              <a:spcBef>
                <a:spcPts val="0"/>
              </a:spcBef>
              <a:buNone/>
            </a:pPr>
            <a:r>
              <a:rPr lang="en-US" sz="1200" dirty="0"/>
              <a:t>   </a:t>
            </a:r>
            <a:r>
              <a:rPr lang="en-US" sz="1200" dirty="0" err="1"/>
              <a:t>b.NumOfCopies</a:t>
            </a:r>
            <a:r>
              <a:rPr lang="en-US" sz="1200" dirty="0"/>
              <a:t> -(</a:t>
            </a:r>
          </a:p>
          <a:p>
            <a:pPr marL="0" indent="0">
              <a:spcBef>
                <a:spcPts val="0"/>
              </a:spcBef>
              <a:buNone/>
            </a:pPr>
            <a:r>
              <a:rPr lang="en-US" sz="1200" dirty="0"/>
              <a:t>      Select Count(</a:t>
            </a:r>
            <a:r>
              <a:rPr lang="en-US" sz="1200" dirty="0" err="1"/>
              <a:t>bt.BookID</a:t>
            </a:r>
            <a:r>
              <a:rPr lang="en-US" sz="1200" dirty="0"/>
              <a:t>)</a:t>
            </a:r>
          </a:p>
          <a:p>
            <a:pPr marL="0" indent="0">
              <a:spcBef>
                <a:spcPts val="0"/>
              </a:spcBef>
              <a:buNone/>
            </a:pPr>
            <a:r>
              <a:rPr lang="en-US" sz="1200" dirty="0"/>
              <a:t>      FROM </a:t>
            </a:r>
            <a:r>
              <a:rPr lang="en-US" sz="1200" dirty="0" err="1"/>
              <a:t>Books_taken</a:t>
            </a:r>
            <a:r>
              <a:rPr lang="en-US" sz="1200" dirty="0"/>
              <a:t> </a:t>
            </a:r>
            <a:r>
              <a:rPr lang="en-US" sz="1200" dirty="0" err="1"/>
              <a:t>bt</a:t>
            </a:r>
            <a:r>
              <a:rPr lang="en-US" sz="1200" dirty="0"/>
              <a:t> </a:t>
            </a:r>
          </a:p>
          <a:p>
            <a:pPr marL="0" indent="0">
              <a:spcBef>
                <a:spcPts val="0"/>
              </a:spcBef>
              <a:buNone/>
            </a:pPr>
            <a:r>
              <a:rPr lang="en-US" sz="1200" dirty="0"/>
              <a:t>      WHERE </a:t>
            </a:r>
            <a:r>
              <a:rPr lang="en-US" sz="1200" dirty="0" err="1"/>
              <a:t>bt.BookID</a:t>
            </a:r>
            <a:r>
              <a:rPr lang="en-US" sz="1200" dirty="0"/>
              <a:t>=</a:t>
            </a:r>
            <a:r>
              <a:rPr lang="en-US" sz="1200" dirty="0" err="1"/>
              <a:t>b.BookId</a:t>
            </a:r>
            <a:r>
              <a:rPr lang="en-US" sz="1200" dirty="0"/>
              <a:t>) AS Remaining</a:t>
            </a:r>
          </a:p>
          <a:p>
            <a:pPr marL="0" indent="0">
              <a:spcBef>
                <a:spcPts val="0"/>
              </a:spcBef>
              <a:buNone/>
            </a:pPr>
            <a:r>
              <a:rPr lang="en-US" sz="1200" dirty="0"/>
              <a:t>FROM Books b</a:t>
            </a:r>
          </a:p>
          <a:p>
            <a:pPr marL="0" indent="0">
              <a:spcBef>
                <a:spcPts val="0"/>
              </a:spcBef>
              <a:buNone/>
            </a:pPr>
            <a:r>
              <a:rPr lang="en-US" sz="1200" dirty="0"/>
              <a:t>ORDER BY </a:t>
            </a:r>
            <a:r>
              <a:rPr lang="en-US" sz="1200" dirty="0" err="1"/>
              <a:t>b.Title</a:t>
            </a:r>
            <a:r>
              <a:rPr lang="en-US" sz="1200" dirty="0"/>
              <a:t>;</a:t>
            </a:r>
            <a:endParaRPr lang="lv-LV" sz="1200" dirty="0"/>
          </a:p>
          <a:p>
            <a:pPr marL="0" indent="0">
              <a:spcBef>
                <a:spcPts val="0"/>
              </a:spcBef>
              <a:buNone/>
            </a:pPr>
            <a:endParaRPr lang="lv-LV" sz="1200" dirty="0"/>
          </a:p>
          <a:p>
            <a:pPr marL="0" indent="0">
              <a:spcBef>
                <a:spcPts val="0"/>
              </a:spcBef>
              <a:buNone/>
            </a:pPr>
            <a:endParaRPr lang="lv-LV" sz="1200" dirty="0"/>
          </a:p>
          <a:p>
            <a:pPr marL="0" indent="0">
              <a:spcBef>
                <a:spcPts val="0"/>
              </a:spcBef>
              <a:buNone/>
            </a:pPr>
            <a:r>
              <a:rPr lang="lv-LV" sz="1800" dirty="0"/>
              <a:t>2.</a:t>
            </a:r>
          </a:p>
          <a:p>
            <a:pPr marL="0" indent="0">
              <a:spcBef>
                <a:spcPts val="0"/>
              </a:spcBef>
              <a:buNone/>
            </a:pPr>
            <a:r>
              <a:rPr lang="lv-LV" sz="1200" dirty="0"/>
              <a:t>SELECT </a:t>
            </a:r>
            <a:r>
              <a:rPr lang="en-US" sz="1200" dirty="0"/>
              <a:t>b</a:t>
            </a:r>
            <a:r>
              <a:rPr lang="lv-LV" sz="1200" dirty="0"/>
              <a:t>.</a:t>
            </a:r>
            <a:r>
              <a:rPr lang="lv-LV" sz="1200" dirty="0" err="1"/>
              <a:t>Title</a:t>
            </a:r>
            <a:r>
              <a:rPr lang="lv-LV" sz="1200" dirty="0"/>
              <a:t> AS </a:t>
            </a:r>
            <a:r>
              <a:rPr lang="en-US" sz="1200" dirty="0"/>
              <a:t>`</a:t>
            </a:r>
            <a:r>
              <a:rPr lang="lv-LV" sz="1200" dirty="0" err="1"/>
              <a:t>Book</a:t>
            </a:r>
            <a:r>
              <a:rPr lang="lv-LV" sz="1200" dirty="0"/>
              <a:t> </a:t>
            </a:r>
            <a:r>
              <a:rPr lang="lv-LV" sz="1200" dirty="0" err="1"/>
              <a:t>title</a:t>
            </a:r>
            <a:r>
              <a:rPr lang="en-US" sz="1200" dirty="0"/>
              <a:t>`</a:t>
            </a:r>
            <a:r>
              <a:rPr lang="lv-LV" sz="1200" dirty="0"/>
              <a:t>, </a:t>
            </a:r>
          </a:p>
          <a:p>
            <a:pPr marL="0" indent="0">
              <a:spcBef>
                <a:spcPts val="0"/>
              </a:spcBef>
              <a:buNone/>
            </a:pPr>
            <a:r>
              <a:rPr lang="lv-LV" sz="1200" dirty="0"/>
              <a:t>   </a:t>
            </a:r>
            <a:r>
              <a:rPr lang="en-US" sz="1200" dirty="0"/>
              <a:t>b</a:t>
            </a:r>
            <a:r>
              <a:rPr lang="lv-LV" sz="1200" dirty="0"/>
              <a:t>.Publisher AS </a:t>
            </a:r>
            <a:r>
              <a:rPr lang="en-US" sz="1200" dirty="0"/>
              <a:t>`</a:t>
            </a:r>
            <a:r>
              <a:rPr lang="lv-LV" sz="1200" dirty="0"/>
              <a:t>Publisher</a:t>
            </a:r>
            <a:r>
              <a:rPr lang="en-US" sz="1200" dirty="0"/>
              <a:t>`</a:t>
            </a:r>
            <a:r>
              <a:rPr lang="lv-LV" sz="1200" dirty="0"/>
              <a:t>, </a:t>
            </a:r>
          </a:p>
          <a:p>
            <a:pPr marL="0" indent="0">
              <a:spcBef>
                <a:spcPts val="0"/>
              </a:spcBef>
              <a:buNone/>
            </a:pPr>
            <a:r>
              <a:rPr lang="lv-LV" sz="1200" dirty="0"/>
              <a:t>   </a:t>
            </a:r>
            <a:r>
              <a:rPr lang="en-US" sz="1200" dirty="0"/>
              <a:t>b</a:t>
            </a:r>
            <a:r>
              <a:rPr lang="lv-LV" sz="1200" dirty="0"/>
              <a:t>.</a:t>
            </a:r>
            <a:r>
              <a:rPr lang="lv-LV" sz="1200" dirty="0" err="1"/>
              <a:t>NumOfCopies</a:t>
            </a:r>
            <a:r>
              <a:rPr lang="lv-LV" sz="1200" dirty="0"/>
              <a:t> AS </a:t>
            </a:r>
            <a:r>
              <a:rPr lang="en-US" sz="1200" dirty="0"/>
              <a:t>`</a:t>
            </a:r>
            <a:r>
              <a:rPr lang="lv-LV" sz="1200" dirty="0" err="1"/>
              <a:t>Number</a:t>
            </a:r>
            <a:r>
              <a:rPr lang="lv-LV" sz="1200" dirty="0"/>
              <a:t> </a:t>
            </a:r>
            <a:r>
              <a:rPr lang="lv-LV" sz="1200" dirty="0" err="1"/>
              <a:t>of</a:t>
            </a:r>
            <a:r>
              <a:rPr lang="lv-LV" sz="1200" dirty="0"/>
              <a:t> </a:t>
            </a:r>
            <a:r>
              <a:rPr lang="lv-LV" sz="1200" dirty="0" err="1"/>
              <a:t>copies</a:t>
            </a:r>
            <a:r>
              <a:rPr lang="en-US" sz="1200" dirty="0"/>
              <a:t>`</a:t>
            </a:r>
            <a:r>
              <a:rPr lang="lv-LV" sz="1200" dirty="0"/>
              <a:t>, </a:t>
            </a:r>
          </a:p>
          <a:p>
            <a:pPr marL="0" indent="0">
              <a:spcBef>
                <a:spcPts val="0"/>
              </a:spcBef>
              <a:buNone/>
            </a:pPr>
            <a:r>
              <a:rPr lang="lv-LV" sz="1200" dirty="0"/>
              <a:t>   </a:t>
            </a:r>
            <a:r>
              <a:rPr lang="en-US" sz="1200" dirty="0"/>
              <a:t>b</a:t>
            </a:r>
            <a:r>
              <a:rPr lang="lv-LV" sz="1200" dirty="0"/>
              <a:t>.</a:t>
            </a:r>
            <a:r>
              <a:rPr lang="lv-LV" sz="1200" dirty="0" err="1"/>
              <a:t>NumOfCopies</a:t>
            </a:r>
            <a:r>
              <a:rPr lang="lv-LV" sz="1200" dirty="0"/>
              <a:t>-(</a:t>
            </a:r>
          </a:p>
          <a:p>
            <a:pPr marL="0" indent="0">
              <a:spcBef>
                <a:spcPts val="0"/>
              </a:spcBef>
              <a:buNone/>
            </a:pPr>
            <a:r>
              <a:rPr lang="lv-LV" sz="1200" dirty="0"/>
              <a:t>      </a:t>
            </a:r>
            <a:r>
              <a:rPr lang="lv-LV" sz="1200" dirty="0" err="1"/>
              <a:t>Select</a:t>
            </a:r>
            <a:r>
              <a:rPr lang="lv-LV" sz="1200" dirty="0"/>
              <a:t> </a:t>
            </a:r>
            <a:r>
              <a:rPr lang="lv-LV" sz="1200" dirty="0" err="1"/>
              <a:t>Count</a:t>
            </a:r>
            <a:r>
              <a:rPr lang="lv-LV" sz="1200" dirty="0"/>
              <a:t>(</a:t>
            </a:r>
            <a:r>
              <a:rPr lang="lv-LV" sz="1200" dirty="0" err="1"/>
              <a:t>bt.BookID</a:t>
            </a:r>
            <a:r>
              <a:rPr lang="lv-LV" sz="1200" dirty="0"/>
              <a:t>)</a:t>
            </a:r>
          </a:p>
          <a:p>
            <a:pPr marL="0" indent="0">
              <a:spcBef>
                <a:spcPts val="0"/>
              </a:spcBef>
              <a:buNone/>
            </a:pPr>
            <a:r>
              <a:rPr lang="lv-LV" sz="1200" dirty="0"/>
              <a:t>      FROM </a:t>
            </a:r>
            <a:r>
              <a:rPr lang="lv-LV" sz="1200" dirty="0" err="1"/>
              <a:t>Books_taken</a:t>
            </a:r>
            <a:r>
              <a:rPr lang="lv-LV" sz="1200" dirty="0"/>
              <a:t> </a:t>
            </a:r>
            <a:r>
              <a:rPr lang="en-US" sz="1200" dirty="0" err="1"/>
              <a:t>bt</a:t>
            </a:r>
            <a:r>
              <a:rPr lang="lv-LV" sz="1200" dirty="0"/>
              <a:t> </a:t>
            </a:r>
          </a:p>
          <a:p>
            <a:pPr marL="0" indent="0">
              <a:spcBef>
                <a:spcPts val="0"/>
              </a:spcBef>
              <a:buNone/>
            </a:pPr>
            <a:r>
              <a:rPr lang="lv-LV" sz="1200" dirty="0"/>
              <a:t>      WHERE </a:t>
            </a:r>
            <a:r>
              <a:rPr lang="lv-LV" sz="1200" dirty="0" err="1"/>
              <a:t>bt.BookID</a:t>
            </a:r>
            <a:r>
              <a:rPr lang="lv-LV" sz="1200" dirty="0"/>
              <a:t>=</a:t>
            </a:r>
            <a:r>
              <a:rPr lang="en-US" sz="1200" dirty="0"/>
              <a:t>b</a:t>
            </a:r>
            <a:r>
              <a:rPr lang="lv-LV" sz="1200" dirty="0"/>
              <a:t>.</a:t>
            </a:r>
            <a:r>
              <a:rPr lang="lv-LV" sz="1200" dirty="0" err="1"/>
              <a:t>BookId</a:t>
            </a:r>
            <a:r>
              <a:rPr lang="lv-LV" sz="1200" dirty="0"/>
              <a:t>) AS </a:t>
            </a:r>
            <a:r>
              <a:rPr lang="en-US" sz="1200" dirty="0"/>
              <a:t>Remaining</a:t>
            </a:r>
            <a:r>
              <a:rPr lang="lv-LV" sz="1200" dirty="0"/>
              <a:t>, (</a:t>
            </a:r>
          </a:p>
          <a:p>
            <a:pPr marL="0" indent="0">
              <a:spcBef>
                <a:spcPts val="0"/>
              </a:spcBef>
              <a:buNone/>
            </a:pPr>
            <a:r>
              <a:rPr lang="lv-LV" sz="1200" dirty="0"/>
              <a:t>         </a:t>
            </a:r>
            <a:r>
              <a:rPr lang="lv-LV" sz="1200" dirty="0" err="1"/>
              <a:t>Select</a:t>
            </a:r>
            <a:r>
              <a:rPr lang="lv-LV" sz="1200" dirty="0"/>
              <a:t> </a:t>
            </a:r>
            <a:r>
              <a:rPr lang="lv-LV" sz="1200" dirty="0" err="1"/>
              <a:t>Count</a:t>
            </a:r>
            <a:r>
              <a:rPr lang="lv-LV" sz="1200" dirty="0"/>
              <a:t>(</a:t>
            </a:r>
            <a:r>
              <a:rPr lang="lv-LV" sz="1200" dirty="0" err="1"/>
              <a:t>bt.BookID</a:t>
            </a:r>
            <a:r>
              <a:rPr lang="lv-LV" sz="1200" dirty="0"/>
              <a:t>) </a:t>
            </a:r>
          </a:p>
          <a:p>
            <a:pPr marL="0" indent="0">
              <a:spcBef>
                <a:spcPts val="0"/>
              </a:spcBef>
              <a:buNone/>
            </a:pPr>
            <a:r>
              <a:rPr lang="lv-LV" sz="1200" dirty="0"/>
              <a:t>	 FROM </a:t>
            </a:r>
            <a:r>
              <a:rPr lang="lv-LV" sz="1200" dirty="0" err="1"/>
              <a:t>Books_taken</a:t>
            </a:r>
            <a:r>
              <a:rPr lang="lv-LV" sz="1200" dirty="0"/>
              <a:t> </a:t>
            </a:r>
            <a:r>
              <a:rPr lang="en-US" sz="1200" dirty="0" err="1"/>
              <a:t>bt</a:t>
            </a:r>
            <a:r>
              <a:rPr lang="lv-LV" sz="1200" dirty="0"/>
              <a:t> </a:t>
            </a:r>
          </a:p>
          <a:p>
            <a:pPr marL="0" indent="0">
              <a:spcBef>
                <a:spcPts val="0"/>
              </a:spcBef>
              <a:buNone/>
            </a:pPr>
            <a:r>
              <a:rPr lang="lv-LV" sz="1200" dirty="0"/>
              <a:t>	 WHERE </a:t>
            </a:r>
            <a:r>
              <a:rPr lang="lv-LV" sz="1200" dirty="0" err="1"/>
              <a:t>bt.BookID</a:t>
            </a:r>
            <a:r>
              <a:rPr lang="lv-LV" sz="1200" dirty="0"/>
              <a:t>=</a:t>
            </a:r>
            <a:r>
              <a:rPr lang="en-US" sz="1200" dirty="0"/>
              <a:t>b</a:t>
            </a:r>
            <a:r>
              <a:rPr lang="lv-LV" sz="1200" dirty="0"/>
              <a:t>.</a:t>
            </a:r>
            <a:r>
              <a:rPr lang="lv-LV" sz="1200" dirty="0" err="1"/>
              <a:t>BookId</a:t>
            </a:r>
            <a:r>
              <a:rPr lang="lv-LV" sz="1200" dirty="0"/>
              <a:t>) AS </a:t>
            </a:r>
            <a:r>
              <a:rPr lang="en-US" sz="1200" dirty="0"/>
              <a:t>`Taken to home`</a:t>
            </a:r>
            <a:endParaRPr lang="lv-LV" sz="1200" dirty="0"/>
          </a:p>
          <a:p>
            <a:pPr marL="0" indent="0">
              <a:spcBef>
                <a:spcPts val="0"/>
              </a:spcBef>
              <a:buNone/>
            </a:pPr>
            <a:r>
              <a:rPr lang="lv-LV" sz="1200" dirty="0"/>
              <a:t>FROM </a:t>
            </a:r>
            <a:r>
              <a:rPr lang="lv-LV" sz="1200" dirty="0" err="1"/>
              <a:t>Books</a:t>
            </a:r>
            <a:r>
              <a:rPr lang="lv-LV" sz="1200" dirty="0"/>
              <a:t> </a:t>
            </a:r>
            <a:r>
              <a:rPr lang="en-US" sz="1200" dirty="0"/>
              <a:t>b</a:t>
            </a:r>
            <a:endParaRPr lang="lv-LV" sz="1200" dirty="0"/>
          </a:p>
          <a:p>
            <a:pPr marL="0" indent="0">
              <a:spcBef>
                <a:spcPts val="0"/>
              </a:spcBef>
              <a:buNone/>
            </a:pPr>
            <a:r>
              <a:rPr lang="lv-LV" sz="1200" dirty="0"/>
              <a:t>ORDER BY </a:t>
            </a:r>
            <a:r>
              <a:rPr lang="en-US" sz="1200" dirty="0"/>
              <a:t>b</a:t>
            </a:r>
            <a:r>
              <a:rPr lang="lv-LV" sz="1200" dirty="0"/>
              <a:t>.</a:t>
            </a:r>
            <a:r>
              <a:rPr lang="lv-LV" sz="1200" dirty="0" err="1"/>
              <a:t>Title</a:t>
            </a:r>
            <a:r>
              <a:rPr lang="lv-LV" sz="1200" dirty="0"/>
              <a:t>;</a:t>
            </a:r>
          </a:p>
        </p:txBody>
      </p:sp>
    </p:spTree>
    <p:extLst>
      <p:ext uri="{BB962C8B-B14F-4D97-AF65-F5344CB8AC3E}">
        <p14:creationId xmlns:p14="http://schemas.microsoft.com/office/powerpoint/2010/main" val="30494638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Answers</a:t>
            </a:r>
          </a:p>
        </p:txBody>
      </p:sp>
      <p:sp>
        <p:nvSpPr>
          <p:cNvPr id="3" name="Content Placeholder 2"/>
          <p:cNvSpPr>
            <a:spLocks noGrp="1"/>
          </p:cNvSpPr>
          <p:nvPr>
            <p:ph idx="1"/>
          </p:nvPr>
        </p:nvSpPr>
        <p:spPr>
          <a:xfrm>
            <a:off x="628650" y="1825624"/>
            <a:ext cx="7886700" cy="4803775"/>
          </a:xfrm>
        </p:spPr>
        <p:txBody>
          <a:bodyPr>
            <a:normAutofit/>
          </a:bodyPr>
          <a:lstStyle/>
          <a:p>
            <a:pPr marL="0" indent="0">
              <a:buNone/>
            </a:pPr>
            <a:r>
              <a:rPr lang="lv-LV" sz="2000" dirty="0"/>
              <a:t>3</a:t>
            </a:r>
            <a:r>
              <a:rPr lang="en-US" sz="2000" dirty="0"/>
              <a:t>.</a:t>
            </a:r>
          </a:p>
          <a:p>
            <a:pPr marL="0" indent="0">
              <a:spcBef>
                <a:spcPts val="0"/>
              </a:spcBef>
              <a:buNone/>
            </a:pPr>
            <a:r>
              <a:rPr lang="lv-LV" sz="1300" dirty="0"/>
              <a:t>SELECT </a:t>
            </a:r>
            <a:r>
              <a:rPr lang="lv-LV" sz="1300" dirty="0" err="1"/>
              <a:t>b.Title</a:t>
            </a:r>
            <a:r>
              <a:rPr lang="lv-LV" sz="1300" dirty="0"/>
              <a:t> AS </a:t>
            </a:r>
            <a:r>
              <a:rPr lang="en-US" sz="1300" dirty="0"/>
              <a:t>`</a:t>
            </a:r>
            <a:r>
              <a:rPr lang="lv-LV" sz="1300" dirty="0" err="1"/>
              <a:t>Book</a:t>
            </a:r>
            <a:r>
              <a:rPr lang="lv-LV" sz="1300" dirty="0"/>
              <a:t> </a:t>
            </a:r>
            <a:r>
              <a:rPr lang="lv-LV" sz="1300" dirty="0" err="1"/>
              <a:t>title</a:t>
            </a:r>
            <a:r>
              <a:rPr lang="en-US" sz="1300" dirty="0"/>
              <a:t>`</a:t>
            </a:r>
            <a:r>
              <a:rPr lang="lv-LV" sz="1300" dirty="0"/>
              <a:t>, </a:t>
            </a:r>
          </a:p>
          <a:p>
            <a:pPr marL="0" indent="0">
              <a:spcBef>
                <a:spcPts val="0"/>
              </a:spcBef>
              <a:buNone/>
            </a:pPr>
            <a:r>
              <a:rPr lang="lv-LV" sz="1300" dirty="0"/>
              <a:t>   </a:t>
            </a:r>
            <a:r>
              <a:rPr lang="lv-LV" sz="1300" dirty="0" err="1"/>
              <a:t>b.Publisher</a:t>
            </a:r>
            <a:r>
              <a:rPr lang="lv-LV" sz="1300" dirty="0"/>
              <a:t> AS </a:t>
            </a:r>
            <a:r>
              <a:rPr lang="en-US" sz="1300" dirty="0"/>
              <a:t>`</a:t>
            </a:r>
            <a:r>
              <a:rPr lang="lv-LV" sz="1300" dirty="0"/>
              <a:t>Publisher</a:t>
            </a:r>
            <a:r>
              <a:rPr lang="en-US" sz="1300" dirty="0"/>
              <a:t>`</a:t>
            </a:r>
            <a:r>
              <a:rPr lang="lv-LV" sz="1300" dirty="0"/>
              <a:t>, </a:t>
            </a:r>
          </a:p>
          <a:p>
            <a:pPr marL="0" indent="0">
              <a:spcBef>
                <a:spcPts val="0"/>
              </a:spcBef>
              <a:buNone/>
            </a:pPr>
            <a:r>
              <a:rPr lang="lv-LV" sz="1300" dirty="0"/>
              <a:t>   </a:t>
            </a:r>
            <a:r>
              <a:rPr lang="lv-LV" sz="1300" dirty="0" err="1"/>
              <a:t>b.NumOfCopies</a:t>
            </a:r>
            <a:r>
              <a:rPr lang="lv-LV" sz="1300" dirty="0"/>
              <a:t> AS </a:t>
            </a:r>
            <a:r>
              <a:rPr lang="en-US" sz="1300" dirty="0"/>
              <a:t>`</a:t>
            </a:r>
            <a:r>
              <a:rPr lang="lv-LV" sz="1300" dirty="0" err="1"/>
              <a:t>Number</a:t>
            </a:r>
            <a:r>
              <a:rPr lang="lv-LV" sz="1300" dirty="0"/>
              <a:t> </a:t>
            </a:r>
            <a:r>
              <a:rPr lang="lv-LV" sz="1300" dirty="0" err="1"/>
              <a:t>of</a:t>
            </a:r>
            <a:r>
              <a:rPr lang="lv-LV" sz="1300" dirty="0"/>
              <a:t> </a:t>
            </a:r>
            <a:r>
              <a:rPr lang="lv-LV" sz="1300" dirty="0" err="1"/>
              <a:t>copies</a:t>
            </a:r>
            <a:r>
              <a:rPr lang="en-US" sz="1300" dirty="0"/>
              <a:t>`</a:t>
            </a:r>
            <a:r>
              <a:rPr lang="lv-LV" sz="1300" dirty="0"/>
              <a:t>, </a:t>
            </a:r>
          </a:p>
          <a:p>
            <a:pPr marL="0" indent="0">
              <a:spcBef>
                <a:spcPts val="0"/>
              </a:spcBef>
              <a:buNone/>
            </a:pPr>
            <a:r>
              <a:rPr lang="lv-LV" sz="1300" dirty="0"/>
              <a:t>   </a:t>
            </a:r>
            <a:r>
              <a:rPr lang="lv-LV" sz="1300" dirty="0" err="1"/>
              <a:t>b.NumOfCopies</a:t>
            </a:r>
            <a:r>
              <a:rPr lang="lv-LV" sz="1300" dirty="0"/>
              <a:t>-(</a:t>
            </a:r>
          </a:p>
          <a:p>
            <a:pPr marL="0" indent="0">
              <a:spcBef>
                <a:spcPts val="0"/>
              </a:spcBef>
              <a:buNone/>
            </a:pPr>
            <a:r>
              <a:rPr lang="lv-LV" sz="1300" dirty="0"/>
              <a:t>      </a:t>
            </a:r>
            <a:r>
              <a:rPr lang="lv-LV" sz="1300" dirty="0" err="1"/>
              <a:t>Select</a:t>
            </a:r>
            <a:r>
              <a:rPr lang="lv-LV" sz="1300" dirty="0"/>
              <a:t> </a:t>
            </a:r>
            <a:r>
              <a:rPr lang="lv-LV" sz="1300" dirty="0" err="1"/>
              <a:t>Count</a:t>
            </a:r>
            <a:r>
              <a:rPr lang="lv-LV" sz="1300" dirty="0"/>
              <a:t>(</a:t>
            </a:r>
            <a:r>
              <a:rPr lang="lv-LV" sz="1300" dirty="0" err="1"/>
              <a:t>bt.BookID</a:t>
            </a:r>
            <a:r>
              <a:rPr lang="lv-LV" sz="1300" dirty="0"/>
              <a:t>)</a:t>
            </a:r>
          </a:p>
          <a:p>
            <a:pPr marL="0" indent="0">
              <a:spcBef>
                <a:spcPts val="0"/>
              </a:spcBef>
              <a:buNone/>
            </a:pPr>
            <a:r>
              <a:rPr lang="lv-LV" sz="1300" dirty="0"/>
              <a:t>      FROM </a:t>
            </a:r>
            <a:r>
              <a:rPr lang="lv-LV" sz="1300" dirty="0" err="1"/>
              <a:t>Books_taken</a:t>
            </a:r>
            <a:r>
              <a:rPr lang="lv-LV" sz="1300" dirty="0"/>
              <a:t> </a:t>
            </a:r>
            <a:r>
              <a:rPr lang="en-US" sz="1300" dirty="0" err="1"/>
              <a:t>bt</a:t>
            </a:r>
            <a:r>
              <a:rPr lang="lv-LV" sz="1300" dirty="0"/>
              <a:t> </a:t>
            </a:r>
          </a:p>
          <a:p>
            <a:pPr marL="0" indent="0">
              <a:spcBef>
                <a:spcPts val="0"/>
              </a:spcBef>
              <a:buNone/>
            </a:pPr>
            <a:r>
              <a:rPr lang="lv-LV" sz="1300" dirty="0"/>
              <a:t>      WHERE </a:t>
            </a:r>
            <a:r>
              <a:rPr lang="lv-LV" sz="1300" dirty="0" err="1"/>
              <a:t>bt.Book</a:t>
            </a:r>
            <a:r>
              <a:rPr lang="en-US" sz="1300" dirty="0"/>
              <a:t>Id</a:t>
            </a:r>
            <a:r>
              <a:rPr lang="lv-LV" sz="1300" dirty="0"/>
              <a:t>=</a:t>
            </a:r>
            <a:r>
              <a:rPr lang="lv-LV" sz="1300" dirty="0" err="1"/>
              <a:t>b.BookId</a:t>
            </a:r>
            <a:r>
              <a:rPr lang="lv-LV" sz="1300" dirty="0"/>
              <a:t>) AS </a:t>
            </a:r>
            <a:r>
              <a:rPr lang="en-US" sz="1300" dirty="0"/>
              <a:t>Remaining</a:t>
            </a:r>
            <a:r>
              <a:rPr lang="lv-LV" sz="1300" dirty="0"/>
              <a:t>, (</a:t>
            </a:r>
          </a:p>
          <a:p>
            <a:pPr marL="0" indent="0">
              <a:spcBef>
                <a:spcPts val="0"/>
              </a:spcBef>
              <a:buNone/>
            </a:pPr>
            <a:r>
              <a:rPr lang="lv-LV" sz="1300" dirty="0"/>
              <a:t>         </a:t>
            </a:r>
            <a:r>
              <a:rPr lang="lv-LV" sz="1300" dirty="0" err="1"/>
              <a:t>Select</a:t>
            </a:r>
            <a:r>
              <a:rPr lang="lv-LV" sz="1300" dirty="0"/>
              <a:t> </a:t>
            </a:r>
            <a:r>
              <a:rPr lang="lv-LV" sz="1300" dirty="0" err="1"/>
              <a:t>Count</a:t>
            </a:r>
            <a:r>
              <a:rPr lang="lv-LV" sz="1300" dirty="0"/>
              <a:t>(</a:t>
            </a:r>
            <a:r>
              <a:rPr lang="lv-LV" sz="1300" dirty="0" err="1"/>
              <a:t>bt.BookID</a:t>
            </a:r>
            <a:r>
              <a:rPr lang="lv-LV" sz="1300" dirty="0"/>
              <a:t>) </a:t>
            </a:r>
          </a:p>
          <a:p>
            <a:pPr marL="0" indent="0">
              <a:spcBef>
                <a:spcPts val="0"/>
              </a:spcBef>
              <a:buNone/>
            </a:pPr>
            <a:r>
              <a:rPr lang="lv-LV" sz="1300" dirty="0"/>
              <a:t>	 FROM </a:t>
            </a:r>
            <a:r>
              <a:rPr lang="lv-LV" sz="1300" dirty="0" err="1"/>
              <a:t>Books_taken</a:t>
            </a:r>
            <a:r>
              <a:rPr lang="lv-LV" sz="1300" dirty="0"/>
              <a:t> </a:t>
            </a:r>
            <a:r>
              <a:rPr lang="en-US" sz="1300" dirty="0" err="1"/>
              <a:t>bt</a:t>
            </a:r>
            <a:r>
              <a:rPr lang="lv-LV" sz="1300" dirty="0"/>
              <a:t> </a:t>
            </a:r>
          </a:p>
          <a:p>
            <a:pPr marL="0" indent="0">
              <a:spcBef>
                <a:spcPts val="0"/>
              </a:spcBef>
              <a:buNone/>
            </a:pPr>
            <a:r>
              <a:rPr lang="lv-LV" sz="1300" dirty="0"/>
              <a:t>	 WHERE </a:t>
            </a:r>
            <a:r>
              <a:rPr lang="lv-LV" sz="1300" dirty="0" err="1"/>
              <a:t>bt.Book</a:t>
            </a:r>
            <a:r>
              <a:rPr lang="en-US" sz="1300" dirty="0"/>
              <a:t>Id</a:t>
            </a:r>
            <a:r>
              <a:rPr lang="lv-LV" sz="1300" dirty="0"/>
              <a:t>=</a:t>
            </a:r>
            <a:r>
              <a:rPr lang="lv-LV" sz="1300" dirty="0" err="1"/>
              <a:t>b.BookId</a:t>
            </a:r>
            <a:r>
              <a:rPr lang="lv-LV" sz="1300" dirty="0"/>
              <a:t>) AS </a:t>
            </a:r>
            <a:r>
              <a:rPr lang="en-US" sz="1300" dirty="0"/>
              <a:t>`</a:t>
            </a:r>
            <a:r>
              <a:rPr lang="en-US" sz="1400" dirty="0"/>
              <a:t>Taken to home</a:t>
            </a:r>
            <a:r>
              <a:rPr lang="en-US" sz="1300" dirty="0"/>
              <a:t>`</a:t>
            </a:r>
            <a:endParaRPr lang="lv-LV" sz="1300" dirty="0"/>
          </a:p>
          <a:p>
            <a:pPr marL="0" indent="0">
              <a:spcBef>
                <a:spcPts val="0"/>
              </a:spcBef>
              <a:buNone/>
            </a:pPr>
            <a:r>
              <a:rPr lang="lv-LV" sz="1300" dirty="0"/>
              <a:t>FROM </a:t>
            </a:r>
            <a:r>
              <a:rPr lang="lv-LV" sz="1300" dirty="0" err="1"/>
              <a:t>Books</a:t>
            </a:r>
            <a:r>
              <a:rPr lang="lv-LV" sz="1300" dirty="0"/>
              <a:t> </a:t>
            </a:r>
            <a:r>
              <a:rPr lang="en-US" sz="1300" dirty="0"/>
              <a:t>b</a:t>
            </a:r>
            <a:endParaRPr lang="lv-LV" sz="1300" dirty="0"/>
          </a:p>
          <a:p>
            <a:pPr marL="0" indent="0">
              <a:spcBef>
                <a:spcPts val="0"/>
              </a:spcBef>
              <a:buNone/>
            </a:pPr>
            <a:r>
              <a:rPr lang="lv-LV" sz="1300" dirty="0"/>
              <a:t>WHERE (</a:t>
            </a:r>
          </a:p>
          <a:p>
            <a:pPr marL="0" indent="0">
              <a:spcBef>
                <a:spcPts val="0"/>
              </a:spcBef>
              <a:buNone/>
            </a:pPr>
            <a:r>
              <a:rPr lang="lv-LV" sz="1300" dirty="0"/>
              <a:t>   </a:t>
            </a:r>
            <a:r>
              <a:rPr lang="lv-LV" sz="1300" dirty="0" err="1"/>
              <a:t>Select</a:t>
            </a:r>
            <a:r>
              <a:rPr lang="lv-LV" sz="1300" dirty="0"/>
              <a:t> </a:t>
            </a:r>
            <a:r>
              <a:rPr lang="lv-LV" sz="1300" dirty="0" err="1"/>
              <a:t>Count</a:t>
            </a:r>
            <a:r>
              <a:rPr lang="lv-LV" sz="1300" dirty="0"/>
              <a:t>(</a:t>
            </a:r>
            <a:r>
              <a:rPr lang="lv-LV" sz="1300" dirty="0" err="1"/>
              <a:t>bt.Book</a:t>
            </a:r>
            <a:r>
              <a:rPr lang="en-US" sz="1300" dirty="0"/>
              <a:t>Id</a:t>
            </a:r>
            <a:r>
              <a:rPr lang="lv-LV" sz="1300" dirty="0"/>
              <a:t>) </a:t>
            </a:r>
          </a:p>
          <a:p>
            <a:pPr marL="0" indent="0">
              <a:spcBef>
                <a:spcPts val="0"/>
              </a:spcBef>
              <a:buNone/>
            </a:pPr>
            <a:r>
              <a:rPr lang="lv-LV" sz="1300" dirty="0"/>
              <a:t>   FROM </a:t>
            </a:r>
            <a:r>
              <a:rPr lang="lv-LV" sz="1300" dirty="0" err="1"/>
              <a:t>Books_taken</a:t>
            </a:r>
            <a:r>
              <a:rPr lang="lv-LV" sz="1300" dirty="0"/>
              <a:t> </a:t>
            </a:r>
            <a:r>
              <a:rPr lang="en-US" sz="1300" dirty="0" err="1"/>
              <a:t>bt</a:t>
            </a:r>
            <a:r>
              <a:rPr lang="lv-LV" sz="1300" dirty="0"/>
              <a:t> </a:t>
            </a:r>
          </a:p>
          <a:p>
            <a:pPr marL="0" indent="0">
              <a:spcBef>
                <a:spcPts val="0"/>
              </a:spcBef>
              <a:buNone/>
            </a:pPr>
            <a:r>
              <a:rPr lang="lv-LV" sz="1300" dirty="0"/>
              <a:t>   WHERE </a:t>
            </a:r>
            <a:r>
              <a:rPr lang="lv-LV" sz="1300" dirty="0" err="1"/>
              <a:t>bt.Book</a:t>
            </a:r>
            <a:r>
              <a:rPr lang="en-US" sz="1300" dirty="0"/>
              <a:t>Id</a:t>
            </a:r>
            <a:r>
              <a:rPr lang="lv-LV" sz="1300" dirty="0"/>
              <a:t>=</a:t>
            </a:r>
            <a:r>
              <a:rPr lang="lv-LV" sz="1300" dirty="0" err="1"/>
              <a:t>b.BookId</a:t>
            </a:r>
            <a:r>
              <a:rPr lang="lv-LV" sz="1300" dirty="0"/>
              <a:t>) &lt;&gt; 0</a:t>
            </a:r>
          </a:p>
          <a:p>
            <a:pPr marL="0" indent="0">
              <a:spcBef>
                <a:spcPts val="0"/>
              </a:spcBef>
              <a:buNone/>
            </a:pPr>
            <a:r>
              <a:rPr lang="lv-LV" sz="1300" dirty="0"/>
              <a:t>ORDER BY </a:t>
            </a:r>
            <a:r>
              <a:rPr lang="lv-LV" sz="1300" dirty="0" err="1"/>
              <a:t>b.Title</a:t>
            </a:r>
            <a:r>
              <a:rPr lang="lv-LV" sz="1300" dirty="0"/>
              <a:t>;</a:t>
            </a:r>
          </a:p>
          <a:p>
            <a:pPr marL="0" indent="0">
              <a:spcBef>
                <a:spcPts val="0"/>
              </a:spcBef>
              <a:buNone/>
            </a:pPr>
            <a:endParaRPr lang="lv-LV" sz="1200" dirty="0"/>
          </a:p>
          <a:p>
            <a:pPr marL="0" indent="0">
              <a:spcBef>
                <a:spcPts val="0"/>
              </a:spcBef>
              <a:buNone/>
            </a:pPr>
            <a:endParaRPr lang="lv-LV" sz="1200" dirty="0"/>
          </a:p>
        </p:txBody>
      </p:sp>
    </p:spTree>
    <p:extLst>
      <p:ext uri="{BB962C8B-B14F-4D97-AF65-F5344CB8AC3E}">
        <p14:creationId xmlns:p14="http://schemas.microsoft.com/office/powerpoint/2010/main" val="35829967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2619"/>
            <a:ext cx="7886700" cy="1325563"/>
          </a:xfrm>
        </p:spPr>
        <p:txBody>
          <a:bodyPr/>
          <a:lstStyle/>
          <a:p>
            <a:pPr algn="ctr"/>
            <a:r>
              <a:rPr lang="en-US" dirty="0"/>
              <a:t>Answers</a:t>
            </a:r>
          </a:p>
        </p:txBody>
      </p:sp>
      <p:sp>
        <p:nvSpPr>
          <p:cNvPr id="3" name="Content Placeholder 2"/>
          <p:cNvSpPr>
            <a:spLocks noGrp="1"/>
          </p:cNvSpPr>
          <p:nvPr>
            <p:ph idx="1"/>
          </p:nvPr>
        </p:nvSpPr>
        <p:spPr>
          <a:xfrm>
            <a:off x="628650" y="1023730"/>
            <a:ext cx="7886700" cy="5605669"/>
          </a:xfrm>
        </p:spPr>
        <p:txBody>
          <a:bodyPr>
            <a:normAutofit lnSpcReduction="10000"/>
          </a:bodyPr>
          <a:lstStyle/>
          <a:p>
            <a:pPr marL="0" indent="0">
              <a:buNone/>
            </a:pPr>
            <a:r>
              <a:rPr lang="lv-LV" sz="2000" dirty="0"/>
              <a:t>4</a:t>
            </a:r>
            <a:r>
              <a:rPr lang="en-US" sz="2000" dirty="0"/>
              <a:t>.</a:t>
            </a:r>
          </a:p>
          <a:p>
            <a:pPr marL="0" indent="0">
              <a:spcBef>
                <a:spcPts val="0"/>
              </a:spcBef>
              <a:buNone/>
            </a:pPr>
            <a:r>
              <a:rPr lang="lv-LV" sz="1300" dirty="0"/>
              <a:t>SELECT </a:t>
            </a:r>
            <a:r>
              <a:rPr lang="lv-LV" sz="1300" dirty="0" err="1"/>
              <a:t>s.ServiceName</a:t>
            </a:r>
            <a:r>
              <a:rPr lang="lv-LV" sz="1300" dirty="0"/>
              <a:t> AS `</a:t>
            </a:r>
            <a:r>
              <a:rPr lang="lv-LV" sz="1300" dirty="0" err="1"/>
              <a:t>Service</a:t>
            </a:r>
            <a:r>
              <a:rPr lang="lv-LV" sz="1300" dirty="0"/>
              <a:t>`, (			</a:t>
            </a:r>
          </a:p>
          <a:p>
            <a:pPr marL="0" indent="0">
              <a:spcBef>
                <a:spcPts val="0"/>
              </a:spcBef>
              <a:buNone/>
            </a:pPr>
            <a:r>
              <a:rPr lang="lv-LV" sz="1300" dirty="0"/>
              <a:t>   SELECT </a:t>
            </a:r>
            <a:r>
              <a:rPr lang="lv-LV" sz="1300" dirty="0" err="1"/>
              <a:t>Count</a:t>
            </a:r>
            <a:r>
              <a:rPr lang="lv-LV" sz="1300" dirty="0"/>
              <a:t>(</a:t>
            </a:r>
            <a:r>
              <a:rPr lang="lv-LV" sz="1300" dirty="0" err="1"/>
              <a:t>j.ServiceId</a:t>
            </a:r>
            <a:r>
              <a:rPr lang="lv-LV" sz="1300" dirty="0"/>
              <a:t>) </a:t>
            </a:r>
          </a:p>
          <a:p>
            <a:pPr marL="0" indent="0">
              <a:spcBef>
                <a:spcPts val="0"/>
              </a:spcBef>
              <a:buNone/>
            </a:pPr>
            <a:r>
              <a:rPr lang="lv-LV" sz="1300" dirty="0"/>
              <a:t>   FROM </a:t>
            </a:r>
            <a:r>
              <a:rPr lang="lv-LV" sz="1300" dirty="0" err="1"/>
              <a:t>Journal</a:t>
            </a:r>
            <a:r>
              <a:rPr lang="lv-LV" sz="1300" dirty="0"/>
              <a:t> j </a:t>
            </a:r>
          </a:p>
          <a:p>
            <a:pPr marL="0" indent="0">
              <a:spcBef>
                <a:spcPts val="0"/>
              </a:spcBef>
              <a:buNone/>
            </a:pPr>
            <a:r>
              <a:rPr lang="lv-LV" sz="1300" dirty="0"/>
              <a:t>   WHERE </a:t>
            </a:r>
            <a:r>
              <a:rPr lang="lv-LV" sz="1300" dirty="0" err="1"/>
              <a:t>j.ServiceId</a:t>
            </a:r>
            <a:r>
              <a:rPr lang="lv-LV" sz="1300" dirty="0"/>
              <a:t> = </a:t>
            </a:r>
            <a:r>
              <a:rPr lang="lv-LV" sz="1300" dirty="0" err="1"/>
              <a:t>s.ServiceId</a:t>
            </a:r>
            <a:endParaRPr lang="lv-LV" sz="1300" dirty="0"/>
          </a:p>
          <a:p>
            <a:pPr marL="0" indent="0">
              <a:spcBef>
                <a:spcPts val="0"/>
              </a:spcBef>
              <a:buNone/>
            </a:pPr>
            <a:r>
              <a:rPr lang="lv-LV" sz="1300" dirty="0"/>
              <a:t>   GROUP BY </a:t>
            </a:r>
            <a:r>
              <a:rPr lang="lv-LV" sz="1300" dirty="0" err="1"/>
              <a:t>j.ServiceId</a:t>
            </a:r>
            <a:endParaRPr lang="lv-LV" sz="1300" dirty="0"/>
          </a:p>
          <a:p>
            <a:pPr marL="0" indent="0">
              <a:spcBef>
                <a:spcPts val="0"/>
              </a:spcBef>
              <a:buNone/>
            </a:pPr>
            <a:r>
              <a:rPr lang="lv-LV" sz="1300" dirty="0"/>
              <a:t>   ) AS `</a:t>
            </a:r>
            <a:r>
              <a:rPr lang="lv-LV" sz="1300" dirty="0" err="1"/>
              <a:t>Number</a:t>
            </a:r>
            <a:r>
              <a:rPr lang="lv-LV" sz="1300" dirty="0"/>
              <a:t>`,</a:t>
            </a:r>
          </a:p>
          <a:p>
            <a:pPr marL="0" indent="0">
              <a:spcBef>
                <a:spcPts val="0"/>
              </a:spcBef>
              <a:buNone/>
            </a:pPr>
            <a:r>
              <a:rPr lang="lv-LV" sz="1300" dirty="0"/>
              <a:t>   </a:t>
            </a:r>
            <a:r>
              <a:rPr lang="lv-LV" sz="1300" dirty="0" err="1"/>
              <a:t>s.Price</a:t>
            </a:r>
            <a:r>
              <a:rPr lang="lv-LV" sz="1300" dirty="0"/>
              <a:t> * (</a:t>
            </a:r>
          </a:p>
          <a:p>
            <a:pPr marL="0" indent="0">
              <a:spcBef>
                <a:spcPts val="0"/>
              </a:spcBef>
              <a:buNone/>
            </a:pPr>
            <a:r>
              <a:rPr lang="lv-LV" sz="1300" dirty="0"/>
              <a:t>      SELECT Sum(TIMESTAMPDIFF(HOUR, </a:t>
            </a:r>
            <a:r>
              <a:rPr lang="lv-LV" sz="1300" dirty="0" err="1"/>
              <a:t>SStartTime</a:t>
            </a:r>
            <a:r>
              <a:rPr lang="lv-LV" sz="1300" dirty="0"/>
              <a:t>, </a:t>
            </a:r>
            <a:r>
              <a:rPr lang="lv-LV" sz="1300" dirty="0" err="1"/>
              <a:t>SFinishTime</a:t>
            </a:r>
            <a:r>
              <a:rPr lang="lv-LV" sz="1300" dirty="0"/>
              <a:t>)) </a:t>
            </a:r>
          </a:p>
          <a:p>
            <a:pPr marL="0" indent="0">
              <a:spcBef>
                <a:spcPts val="0"/>
              </a:spcBef>
              <a:buNone/>
            </a:pPr>
            <a:r>
              <a:rPr lang="lv-LV" sz="1300" dirty="0"/>
              <a:t>      FROM </a:t>
            </a:r>
            <a:r>
              <a:rPr lang="lv-LV" sz="1300" dirty="0" err="1"/>
              <a:t>Journal</a:t>
            </a:r>
            <a:r>
              <a:rPr lang="lv-LV" sz="1300" dirty="0"/>
              <a:t> j </a:t>
            </a:r>
          </a:p>
          <a:p>
            <a:pPr marL="0" indent="0">
              <a:spcBef>
                <a:spcPts val="0"/>
              </a:spcBef>
              <a:buNone/>
            </a:pPr>
            <a:r>
              <a:rPr lang="lv-LV" sz="1300" dirty="0"/>
              <a:t>      WHERE </a:t>
            </a:r>
            <a:r>
              <a:rPr lang="lv-LV" sz="1300" dirty="0" err="1"/>
              <a:t>j.ServiceId</a:t>
            </a:r>
            <a:r>
              <a:rPr lang="lv-LV" sz="1300" dirty="0"/>
              <a:t> = </a:t>
            </a:r>
            <a:r>
              <a:rPr lang="lv-LV" sz="1300" dirty="0" err="1"/>
              <a:t>s.ServiceId</a:t>
            </a:r>
            <a:endParaRPr lang="lv-LV" sz="1300" dirty="0"/>
          </a:p>
          <a:p>
            <a:pPr marL="0" indent="0">
              <a:spcBef>
                <a:spcPts val="0"/>
              </a:spcBef>
              <a:buNone/>
            </a:pPr>
            <a:r>
              <a:rPr lang="lv-LV" sz="1300" dirty="0"/>
              <a:t>      GROUP BY </a:t>
            </a:r>
            <a:r>
              <a:rPr lang="lv-LV" sz="1300" dirty="0" err="1"/>
              <a:t>j.ServiceId</a:t>
            </a:r>
            <a:endParaRPr lang="lv-LV" sz="1300" dirty="0"/>
          </a:p>
          <a:p>
            <a:pPr marL="0" indent="0">
              <a:spcBef>
                <a:spcPts val="0"/>
              </a:spcBef>
              <a:buNone/>
            </a:pPr>
            <a:r>
              <a:rPr lang="lv-LV" sz="1300" dirty="0"/>
              <a:t>   ) AS `</a:t>
            </a:r>
            <a:r>
              <a:rPr lang="lv-LV" sz="1300" dirty="0" err="1"/>
              <a:t>Amount</a:t>
            </a:r>
            <a:r>
              <a:rPr lang="lv-LV" sz="1300" dirty="0"/>
              <a:t> </a:t>
            </a:r>
            <a:r>
              <a:rPr lang="lv-LV" sz="1300" dirty="0" err="1"/>
              <a:t>of</a:t>
            </a:r>
            <a:r>
              <a:rPr lang="lv-LV" sz="1300" dirty="0"/>
              <a:t> </a:t>
            </a:r>
            <a:r>
              <a:rPr lang="lv-LV" sz="1300" dirty="0" err="1"/>
              <a:t>money</a:t>
            </a:r>
            <a:r>
              <a:rPr lang="lv-LV" sz="1300" dirty="0"/>
              <a:t>`</a:t>
            </a:r>
          </a:p>
          <a:p>
            <a:pPr marL="0" indent="0">
              <a:spcBef>
                <a:spcPts val="0"/>
              </a:spcBef>
              <a:buNone/>
            </a:pPr>
            <a:r>
              <a:rPr lang="lv-LV" sz="1300" dirty="0"/>
              <a:t>FROM Services s</a:t>
            </a:r>
          </a:p>
          <a:p>
            <a:pPr marL="0" indent="0">
              <a:spcBef>
                <a:spcPts val="0"/>
              </a:spcBef>
              <a:buNone/>
            </a:pPr>
            <a:r>
              <a:rPr lang="lv-LV" sz="1300" dirty="0"/>
              <a:t>WHERE </a:t>
            </a:r>
            <a:r>
              <a:rPr lang="lv-LV" sz="1300" dirty="0" err="1"/>
              <a:t>s.ServiceName</a:t>
            </a:r>
            <a:r>
              <a:rPr lang="lv-LV" sz="1300" dirty="0"/>
              <a:t> NOT LIKE '</a:t>
            </a:r>
            <a:r>
              <a:rPr lang="lv-LV" sz="1300" dirty="0" err="1"/>
              <a:t>Copy</a:t>
            </a:r>
            <a:r>
              <a:rPr lang="lv-LV" sz="1300" dirty="0"/>
              <a:t>%'</a:t>
            </a:r>
          </a:p>
          <a:p>
            <a:pPr marL="0" indent="0">
              <a:spcBef>
                <a:spcPts val="0"/>
              </a:spcBef>
              <a:buNone/>
            </a:pPr>
            <a:r>
              <a:rPr lang="lv-LV" sz="1300" dirty="0"/>
              <a:t>UNION</a:t>
            </a:r>
          </a:p>
          <a:p>
            <a:pPr marL="0" indent="0">
              <a:spcBef>
                <a:spcPts val="0"/>
              </a:spcBef>
              <a:buNone/>
            </a:pPr>
            <a:r>
              <a:rPr lang="lv-LV" sz="1300" dirty="0"/>
              <a:t>SELECT </a:t>
            </a:r>
            <a:r>
              <a:rPr lang="lv-LV" sz="1300" dirty="0" err="1"/>
              <a:t>s.ServiceName</a:t>
            </a:r>
            <a:r>
              <a:rPr lang="lv-LV" sz="1300" dirty="0"/>
              <a:t> AS `</a:t>
            </a:r>
            <a:r>
              <a:rPr lang="lv-LV" sz="1300" dirty="0" err="1"/>
              <a:t>Service</a:t>
            </a:r>
            <a:r>
              <a:rPr lang="lv-LV" sz="1300" dirty="0"/>
              <a:t>`, (			</a:t>
            </a:r>
          </a:p>
          <a:p>
            <a:pPr marL="0" indent="0">
              <a:spcBef>
                <a:spcPts val="0"/>
              </a:spcBef>
              <a:buNone/>
            </a:pPr>
            <a:r>
              <a:rPr lang="lv-LV" sz="1300" dirty="0"/>
              <a:t>   SELECT </a:t>
            </a:r>
            <a:r>
              <a:rPr lang="lv-LV" sz="1300" dirty="0" err="1"/>
              <a:t>Count</a:t>
            </a:r>
            <a:r>
              <a:rPr lang="lv-LV" sz="1300" dirty="0"/>
              <a:t>(</a:t>
            </a:r>
            <a:r>
              <a:rPr lang="lv-LV" sz="1300" dirty="0" err="1"/>
              <a:t>j.ServiceId</a:t>
            </a:r>
            <a:r>
              <a:rPr lang="lv-LV" sz="1300" dirty="0"/>
              <a:t>) </a:t>
            </a:r>
          </a:p>
          <a:p>
            <a:pPr marL="0" indent="0">
              <a:spcBef>
                <a:spcPts val="0"/>
              </a:spcBef>
              <a:buNone/>
            </a:pPr>
            <a:r>
              <a:rPr lang="lv-LV" sz="1300" dirty="0"/>
              <a:t>   FROM </a:t>
            </a:r>
            <a:r>
              <a:rPr lang="lv-LV" sz="1300" dirty="0" err="1"/>
              <a:t>Journal</a:t>
            </a:r>
            <a:r>
              <a:rPr lang="lv-LV" sz="1300" dirty="0"/>
              <a:t> j </a:t>
            </a:r>
          </a:p>
          <a:p>
            <a:pPr marL="0" indent="0">
              <a:spcBef>
                <a:spcPts val="0"/>
              </a:spcBef>
              <a:buNone/>
            </a:pPr>
            <a:r>
              <a:rPr lang="lv-LV" sz="1300" dirty="0"/>
              <a:t>   WHERE </a:t>
            </a:r>
            <a:r>
              <a:rPr lang="lv-LV" sz="1300" dirty="0" err="1"/>
              <a:t>j.ServiceId</a:t>
            </a:r>
            <a:r>
              <a:rPr lang="lv-LV" sz="1300" dirty="0"/>
              <a:t> = </a:t>
            </a:r>
            <a:r>
              <a:rPr lang="lv-LV" sz="1300" dirty="0" err="1"/>
              <a:t>s.ServiceId</a:t>
            </a:r>
            <a:endParaRPr lang="lv-LV" sz="1300" dirty="0"/>
          </a:p>
          <a:p>
            <a:pPr marL="0" indent="0">
              <a:spcBef>
                <a:spcPts val="0"/>
              </a:spcBef>
              <a:buNone/>
            </a:pPr>
            <a:r>
              <a:rPr lang="lv-LV" sz="1300" dirty="0"/>
              <a:t>   GROUP BY </a:t>
            </a:r>
            <a:r>
              <a:rPr lang="lv-LV" sz="1300" dirty="0" err="1"/>
              <a:t>j.ServiceId</a:t>
            </a:r>
            <a:endParaRPr lang="lv-LV" sz="1300" dirty="0"/>
          </a:p>
          <a:p>
            <a:pPr marL="0" indent="0">
              <a:spcBef>
                <a:spcPts val="0"/>
              </a:spcBef>
              <a:buNone/>
            </a:pPr>
            <a:r>
              <a:rPr lang="lv-LV" sz="1300" dirty="0"/>
              <a:t>   ) AS `</a:t>
            </a:r>
            <a:r>
              <a:rPr lang="lv-LV" sz="1300" dirty="0" err="1"/>
              <a:t>Number</a:t>
            </a:r>
            <a:r>
              <a:rPr lang="lv-LV" sz="1300" dirty="0"/>
              <a:t>`,</a:t>
            </a:r>
          </a:p>
          <a:p>
            <a:pPr marL="0" indent="0">
              <a:spcBef>
                <a:spcPts val="0"/>
              </a:spcBef>
              <a:buNone/>
            </a:pPr>
            <a:r>
              <a:rPr lang="lv-LV" sz="1300" dirty="0"/>
              <a:t>   </a:t>
            </a:r>
            <a:r>
              <a:rPr lang="lv-LV" sz="1300" dirty="0" err="1"/>
              <a:t>s.Price</a:t>
            </a:r>
            <a:r>
              <a:rPr lang="lv-LV" sz="1300" dirty="0"/>
              <a:t> * (</a:t>
            </a:r>
          </a:p>
          <a:p>
            <a:pPr marL="0" indent="0">
              <a:spcBef>
                <a:spcPts val="0"/>
              </a:spcBef>
              <a:buNone/>
            </a:pPr>
            <a:r>
              <a:rPr lang="lv-LV" sz="1300" dirty="0"/>
              <a:t>      SELECT Sum(</a:t>
            </a:r>
            <a:r>
              <a:rPr lang="lv-LV" sz="1300" dirty="0" err="1"/>
              <a:t>j.NumOfCopies</a:t>
            </a:r>
            <a:r>
              <a:rPr lang="lv-LV" sz="1300" dirty="0"/>
              <a:t>) </a:t>
            </a:r>
          </a:p>
          <a:p>
            <a:pPr marL="0" indent="0">
              <a:spcBef>
                <a:spcPts val="0"/>
              </a:spcBef>
              <a:buNone/>
            </a:pPr>
            <a:r>
              <a:rPr lang="lv-LV" sz="1300" dirty="0"/>
              <a:t>      FROM </a:t>
            </a:r>
            <a:r>
              <a:rPr lang="lv-LV" sz="1300" dirty="0" err="1"/>
              <a:t>Journal</a:t>
            </a:r>
            <a:r>
              <a:rPr lang="lv-LV" sz="1300" dirty="0"/>
              <a:t> j </a:t>
            </a:r>
          </a:p>
          <a:p>
            <a:pPr marL="0" indent="0">
              <a:spcBef>
                <a:spcPts val="0"/>
              </a:spcBef>
              <a:buNone/>
            </a:pPr>
            <a:r>
              <a:rPr lang="lv-LV" sz="1300" dirty="0"/>
              <a:t>      WHERE </a:t>
            </a:r>
            <a:r>
              <a:rPr lang="lv-LV" sz="1300" dirty="0" err="1"/>
              <a:t>j.ServiceId</a:t>
            </a:r>
            <a:r>
              <a:rPr lang="lv-LV" sz="1300" dirty="0"/>
              <a:t> = </a:t>
            </a:r>
            <a:r>
              <a:rPr lang="lv-LV" sz="1300" dirty="0" err="1"/>
              <a:t>s.ServiceId</a:t>
            </a:r>
            <a:endParaRPr lang="lv-LV" sz="1300" dirty="0"/>
          </a:p>
          <a:p>
            <a:pPr marL="0" indent="0">
              <a:spcBef>
                <a:spcPts val="0"/>
              </a:spcBef>
              <a:buNone/>
            </a:pPr>
            <a:r>
              <a:rPr lang="lv-LV" sz="1300" dirty="0"/>
              <a:t>      GROUP BY </a:t>
            </a:r>
            <a:r>
              <a:rPr lang="lv-LV" sz="1300" dirty="0" err="1"/>
              <a:t>j.ServiceId</a:t>
            </a:r>
            <a:endParaRPr lang="lv-LV" sz="1300" dirty="0"/>
          </a:p>
          <a:p>
            <a:pPr marL="0" indent="0">
              <a:spcBef>
                <a:spcPts val="0"/>
              </a:spcBef>
              <a:buNone/>
            </a:pPr>
            <a:r>
              <a:rPr lang="lv-LV" sz="1300" dirty="0"/>
              <a:t>   ) AS `</a:t>
            </a:r>
            <a:r>
              <a:rPr lang="lv-LV" sz="1300" dirty="0" err="1"/>
              <a:t>Amount</a:t>
            </a:r>
            <a:r>
              <a:rPr lang="lv-LV" sz="1300" dirty="0"/>
              <a:t> </a:t>
            </a:r>
            <a:r>
              <a:rPr lang="lv-LV" sz="1300" dirty="0" err="1"/>
              <a:t>of</a:t>
            </a:r>
            <a:r>
              <a:rPr lang="lv-LV" sz="1300" dirty="0"/>
              <a:t> </a:t>
            </a:r>
            <a:r>
              <a:rPr lang="lv-LV" sz="1300" dirty="0" err="1"/>
              <a:t>money</a:t>
            </a:r>
            <a:r>
              <a:rPr lang="lv-LV" sz="1300" dirty="0"/>
              <a:t>`</a:t>
            </a:r>
          </a:p>
          <a:p>
            <a:pPr marL="0" indent="0">
              <a:spcBef>
                <a:spcPts val="0"/>
              </a:spcBef>
              <a:buNone/>
            </a:pPr>
            <a:r>
              <a:rPr lang="lv-LV" sz="1300" dirty="0"/>
              <a:t>FROM Services s</a:t>
            </a:r>
          </a:p>
          <a:p>
            <a:pPr marL="0" indent="0">
              <a:spcBef>
                <a:spcPts val="0"/>
              </a:spcBef>
              <a:buNone/>
            </a:pPr>
            <a:r>
              <a:rPr lang="lv-LV" sz="1300" dirty="0"/>
              <a:t>WHERE </a:t>
            </a:r>
            <a:r>
              <a:rPr lang="lv-LV" sz="1300" dirty="0" err="1"/>
              <a:t>s.ServiceName</a:t>
            </a:r>
            <a:r>
              <a:rPr lang="lv-LV" sz="1300" dirty="0"/>
              <a:t> LIKE '</a:t>
            </a:r>
            <a:r>
              <a:rPr lang="lv-LV" sz="1300" dirty="0" err="1"/>
              <a:t>Copy</a:t>
            </a:r>
            <a:r>
              <a:rPr lang="lv-LV" sz="1300" dirty="0"/>
              <a:t>%'</a:t>
            </a:r>
          </a:p>
          <a:p>
            <a:pPr marL="0" indent="0">
              <a:spcBef>
                <a:spcPts val="0"/>
              </a:spcBef>
              <a:buNone/>
            </a:pPr>
            <a:r>
              <a:rPr lang="lv-LV" sz="1300" dirty="0"/>
              <a:t>ORDER BY `</a:t>
            </a:r>
            <a:r>
              <a:rPr lang="lv-LV" sz="1300" dirty="0" err="1"/>
              <a:t>Service</a:t>
            </a:r>
            <a:r>
              <a:rPr lang="lv-LV" sz="1300" dirty="0"/>
              <a:t>`;</a:t>
            </a:r>
          </a:p>
          <a:p>
            <a:pPr marL="0" indent="0">
              <a:spcBef>
                <a:spcPts val="0"/>
              </a:spcBef>
              <a:buNone/>
            </a:pPr>
            <a:endParaRPr lang="lv-LV" sz="1300" dirty="0"/>
          </a:p>
          <a:p>
            <a:pPr marL="0" indent="0">
              <a:spcBef>
                <a:spcPts val="0"/>
              </a:spcBef>
              <a:buNone/>
            </a:pPr>
            <a:endParaRPr lang="lv-LV" sz="1300" dirty="0"/>
          </a:p>
          <a:p>
            <a:pPr marL="0" indent="0">
              <a:spcBef>
                <a:spcPts val="0"/>
              </a:spcBef>
              <a:buNone/>
            </a:pPr>
            <a:endParaRPr lang="lv-LV" sz="1300" dirty="0"/>
          </a:p>
          <a:p>
            <a:pPr marL="0" indent="0">
              <a:spcBef>
                <a:spcPts val="0"/>
              </a:spcBef>
              <a:buNone/>
            </a:pPr>
            <a:endParaRPr lang="lv-LV" sz="1200" dirty="0"/>
          </a:p>
          <a:p>
            <a:pPr marL="0" indent="0">
              <a:spcBef>
                <a:spcPts val="0"/>
              </a:spcBef>
              <a:buNone/>
            </a:pPr>
            <a:endParaRPr lang="lv-LV" sz="1200" dirty="0"/>
          </a:p>
        </p:txBody>
      </p:sp>
    </p:spTree>
    <p:extLst>
      <p:ext uri="{BB962C8B-B14F-4D97-AF65-F5344CB8AC3E}">
        <p14:creationId xmlns:p14="http://schemas.microsoft.com/office/powerpoint/2010/main" val="358939354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1448</TotalTime>
  <Words>1431</Words>
  <Application>Microsoft Office PowerPoint</Application>
  <PresentationFormat>On-screen Show (4:3)</PresentationFormat>
  <Paragraphs>191</Paragraphs>
  <Slides>18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Calibri Light</vt:lpstr>
      <vt:lpstr>Office Theme</vt:lpstr>
      <vt:lpstr>SQL  Subqueries</vt:lpstr>
      <vt:lpstr>Subqueries</vt:lpstr>
      <vt:lpstr>Subqueries</vt:lpstr>
      <vt:lpstr>Subqueries</vt:lpstr>
      <vt:lpstr>Subqueries</vt:lpstr>
      <vt:lpstr>Subqueries</vt:lpstr>
      <vt:lpstr>Subqueries</vt:lpstr>
      <vt:lpstr>Simple and complex subqueries</vt:lpstr>
      <vt:lpstr>Simple and complex subqueries</vt:lpstr>
      <vt:lpstr>Simple and complex subqueries</vt:lpstr>
      <vt:lpstr>Simple and complex subqueries</vt:lpstr>
      <vt:lpstr>Simple and complex subqueries</vt:lpstr>
      <vt:lpstr>Practice</vt:lpstr>
      <vt:lpstr>Practice</vt:lpstr>
      <vt:lpstr>Practice</vt:lpstr>
      <vt:lpstr>Answers</vt:lpstr>
      <vt:lpstr>Answers</vt:lpstr>
      <vt:lpstr>Answers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SQL</dc:title>
  <dc:creator>Lipa</dc:creator>
  <cp:lastModifiedBy>Andrejs Liepiņš</cp:lastModifiedBy>
  <cp:revision>75</cp:revision>
  <dcterms:created xsi:type="dcterms:W3CDTF">2017-03-08T13:27:06Z</dcterms:created>
  <dcterms:modified xsi:type="dcterms:W3CDTF">2025-02-28T13:16:42Z</dcterms:modified>
</cp:coreProperties>
</file>