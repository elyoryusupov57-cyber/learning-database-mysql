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4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138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4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8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8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9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9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9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47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8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40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DE9A7-BD28-4827-AFAD-B0F68828476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258D8-B5AD-423F-B84A-DD1895F6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4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9216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An aggregate function performs a calculation on a set of values, and returns a single value. Except for COUNT(*), aggregate functions ignore null values. </a:t>
            </a:r>
            <a:endParaRPr lang="lv-LV" dirty="0"/>
          </a:p>
          <a:p>
            <a:pPr marL="0" indent="0" algn="just">
              <a:buNone/>
            </a:pPr>
            <a:r>
              <a:rPr lang="en-US" dirty="0"/>
              <a:t>Aggregate functions are often used with the GROUP BY clause of the SELECT statement.</a:t>
            </a:r>
          </a:p>
        </p:txBody>
      </p:sp>
    </p:spTree>
    <p:extLst>
      <p:ext uri="{BB962C8B-B14F-4D97-AF65-F5344CB8AC3E}">
        <p14:creationId xmlns:p14="http://schemas.microsoft.com/office/powerpoint/2010/main" val="256197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Aggregate Functions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3389289"/>
              </p:ext>
            </p:extLst>
          </p:nvPr>
        </p:nvGraphicFramePr>
        <p:xfrm>
          <a:off x="314325" y="1905001"/>
          <a:ext cx="8382000" cy="216487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984242">
                  <a:extLst>
                    <a:ext uri="{9D8B030D-6E8A-4147-A177-3AD203B41FA5}">
                      <a16:colId xmlns:a16="http://schemas.microsoft.com/office/drawing/2014/main" val="4265337631"/>
                    </a:ext>
                  </a:extLst>
                </a:gridCol>
                <a:gridCol w="6397758">
                  <a:extLst>
                    <a:ext uri="{9D8B030D-6E8A-4147-A177-3AD203B41FA5}">
                      <a16:colId xmlns:a16="http://schemas.microsoft.com/office/drawing/2014/main" val="202335275"/>
                    </a:ext>
                  </a:extLst>
                </a:gridCol>
              </a:tblGrid>
              <a:tr h="309268">
                <a:tc>
                  <a:txBody>
                    <a:bodyPr/>
                    <a:lstStyle/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lv-LV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Funkcija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lv-LV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Rezultāts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889337"/>
                  </a:ext>
                </a:extLst>
              </a:tr>
              <a:tr h="309268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Min()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the smallest value of the selected column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9006758"/>
                  </a:ext>
                </a:extLst>
              </a:tr>
              <a:tr h="309268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lv-LV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Max</a:t>
                      </a: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the largest value of the selected column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531368"/>
                  </a:ext>
                </a:extLst>
              </a:tr>
              <a:tr h="309268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Sum()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the total sum of a numeric column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757773"/>
                  </a:ext>
                </a:extLst>
              </a:tr>
              <a:tr h="309268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lv-LV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Avg</a:t>
                      </a: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the average value of a numeric column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117621"/>
                  </a:ext>
                </a:extLst>
              </a:tr>
              <a:tr h="309268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lv-LV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Count</a:t>
                      </a: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the number of rows </a:t>
                      </a: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[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that matches a specified criterion</a:t>
                      </a: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355183"/>
                  </a:ext>
                </a:extLst>
              </a:tr>
              <a:tr h="309268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lv-LV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Count(*)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the number of rows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86735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199" y="4599712"/>
            <a:ext cx="86201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Sum()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Avg()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 work only with numeric values
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Min()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Max()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 are also text functions
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Count()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 can work with any type of aggregates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
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8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Any SELECT statement must contain either only aggregate functions or only non-aggregate structures. Exception - both aggregate functions and non-aggregate structures can be used, if</a:t>
            </a:r>
            <a:r>
              <a:rPr lang="lv-LV" dirty="0"/>
              <a:t> </a:t>
            </a:r>
            <a:r>
              <a:rPr lang="lv-LV" dirty="0" err="1"/>
              <a:t>all</a:t>
            </a:r>
            <a:r>
              <a:rPr lang="lv-LV" dirty="0"/>
              <a:t> non-</a:t>
            </a:r>
            <a:r>
              <a:rPr lang="lv-LV" dirty="0" err="1"/>
              <a:t>aggregate</a:t>
            </a:r>
            <a:r>
              <a:rPr lang="lv-LV" dirty="0"/>
              <a:t> </a:t>
            </a:r>
            <a:r>
              <a:rPr lang="lv-LV" dirty="0" err="1"/>
              <a:t>structures</a:t>
            </a:r>
            <a:r>
              <a:rPr lang="lv-LV" dirty="0"/>
              <a:t> </a:t>
            </a:r>
            <a:r>
              <a:rPr lang="en-US" dirty="0"/>
              <a:t>will be grouped.</a:t>
            </a:r>
          </a:p>
        </p:txBody>
      </p:sp>
    </p:spTree>
    <p:extLst>
      <p:ext uri="{BB962C8B-B14F-4D97-AF65-F5344CB8AC3E}">
        <p14:creationId xmlns:p14="http://schemas.microsoft.com/office/powerpoint/2010/main" val="312119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Write a query to display first service date in September.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b="1" dirty="0"/>
              <a:t>SELECT Min(</a:t>
            </a:r>
            <a:r>
              <a:rPr lang="en-US" sz="1800" b="1" dirty="0" err="1"/>
              <a:t>SDate</a:t>
            </a:r>
            <a:r>
              <a:rPr lang="en-US" sz="1800" b="1" dirty="0"/>
              <a:t>) AS </a:t>
            </a:r>
            <a:r>
              <a:rPr lang="lv-LV" sz="1800" b="1" dirty="0"/>
              <a:t>`</a:t>
            </a:r>
            <a:r>
              <a:rPr lang="en-US" sz="1800" b="1" dirty="0"/>
              <a:t>First service</a:t>
            </a:r>
            <a:r>
              <a:rPr lang="lv-LV" sz="1800" b="1" dirty="0"/>
              <a:t>`</a:t>
            </a:r>
            <a:endParaRPr lang="en-US" sz="1800" b="1" dirty="0"/>
          </a:p>
          <a:p>
            <a:pPr marL="0" indent="0" algn="just">
              <a:buNone/>
            </a:pPr>
            <a:r>
              <a:rPr lang="en-US" sz="1800" b="1" dirty="0"/>
              <a:t>FROM Journal</a:t>
            </a:r>
          </a:p>
          <a:p>
            <a:pPr marL="0" indent="0" algn="just">
              <a:buNone/>
            </a:pPr>
            <a:r>
              <a:rPr lang="en-US" sz="1800" b="1" dirty="0"/>
              <a:t>WHERE MONTH(</a:t>
            </a:r>
            <a:r>
              <a:rPr lang="en-US" sz="1800" b="1" dirty="0" err="1"/>
              <a:t>SDate</a:t>
            </a:r>
            <a:r>
              <a:rPr lang="en-US" sz="1800" b="1" dirty="0"/>
              <a:t>) = 9;</a:t>
            </a:r>
          </a:p>
          <a:p>
            <a:pPr marL="0" indent="0" algn="just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D407B-B37B-BF53-E51E-9F66C8E95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905" y="4759611"/>
            <a:ext cx="2138728" cy="80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70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
All services cost
</a:t>
            </a:r>
            <a:endParaRPr lang="lv-LV" dirty="0"/>
          </a:p>
          <a:p>
            <a:pPr marL="0" indent="0" algn="just">
              <a:buNone/>
            </a:pPr>
            <a:r>
              <a:rPr lang="en-US" sz="2400" b="1" dirty="0"/>
              <a:t>SELECT Sum(Price) AS </a:t>
            </a:r>
            <a:r>
              <a:rPr lang="lv-LV" sz="2400" b="1" dirty="0"/>
              <a:t>`</a:t>
            </a:r>
            <a:r>
              <a:rPr lang="en-US" sz="2400" b="1" dirty="0"/>
              <a:t>All services cost</a:t>
            </a:r>
            <a:r>
              <a:rPr lang="lv-LV" sz="2400" b="1" dirty="0"/>
              <a:t>`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b="1" dirty="0"/>
              <a:t>FROM Services;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18036-57DF-4960-AADB-F2DF72515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710" y="3348026"/>
            <a:ext cx="28579" cy="161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6A3695-BAEB-21AF-A5F5-90B930379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757" y="4653531"/>
            <a:ext cx="2543265" cy="8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6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25563"/>
            <a:ext cx="7886700" cy="5087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
How many services lasting 1 hour were provided
</a:t>
            </a:r>
            <a:endParaRPr lang="lv-LV" dirty="0"/>
          </a:p>
          <a:p>
            <a:pPr marL="0" indent="0" algn="just">
              <a:buNone/>
            </a:pPr>
            <a:r>
              <a:rPr lang="en-US" sz="1900" b="1" dirty="0"/>
              <a:t>SELECT COUNT(*) AS `Number of services (1 hour)`</a:t>
            </a:r>
          </a:p>
          <a:p>
            <a:pPr marL="0" indent="0" algn="just">
              <a:buNone/>
            </a:pPr>
            <a:r>
              <a:rPr lang="en-US" sz="1900" b="1" dirty="0"/>
              <a:t>FROM Journal</a:t>
            </a:r>
          </a:p>
          <a:p>
            <a:pPr marL="0" indent="0" algn="just">
              <a:buNone/>
            </a:pPr>
            <a:r>
              <a:rPr lang="en-US" sz="1900" b="1" dirty="0"/>
              <a:t>WHERE (HOUR(</a:t>
            </a:r>
            <a:r>
              <a:rPr lang="en-US" sz="1900" b="1" dirty="0" err="1"/>
              <a:t>SStartTime</a:t>
            </a:r>
            <a:r>
              <a:rPr lang="en-US" sz="1900" b="1" dirty="0"/>
              <a:t>) + 1 = HOUR(</a:t>
            </a:r>
            <a:r>
              <a:rPr lang="en-US" sz="1900" b="1" dirty="0" err="1"/>
              <a:t>SFinishTime</a:t>
            </a:r>
            <a:r>
              <a:rPr lang="en-US" sz="1900" b="1" dirty="0"/>
              <a:t>))</a:t>
            </a:r>
          </a:p>
          <a:p>
            <a:pPr marL="0" indent="0" algn="just">
              <a:buNone/>
            </a:pPr>
            <a:r>
              <a:rPr lang="en-US" sz="1900" b="1" dirty="0"/>
              <a:t>      AND (MINUTE(</a:t>
            </a:r>
            <a:r>
              <a:rPr lang="en-US" sz="1900" b="1" dirty="0" err="1"/>
              <a:t>SStartTime</a:t>
            </a:r>
            <a:r>
              <a:rPr lang="en-US" sz="1900" b="1" dirty="0"/>
              <a:t>) = MINUTE(</a:t>
            </a:r>
            <a:r>
              <a:rPr lang="en-US" sz="1900" b="1" dirty="0" err="1"/>
              <a:t>SFinishTime</a:t>
            </a:r>
            <a:r>
              <a:rPr lang="en-US" sz="1900" b="1" dirty="0"/>
              <a:t>))</a:t>
            </a:r>
          </a:p>
          <a:p>
            <a:pPr marL="0" indent="0" algn="just">
              <a:buNone/>
            </a:pPr>
            <a:r>
              <a:rPr lang="en-US" sz="1900" b="1" dirty="0"/>
              <a:t>      AND (SECOND(</a:t>
            </a:r>
            <a:r>
              <a:rPr lang="en-US" sz="1900" b="1" dirty="0" err="1"/>
              <a:t>SStartTime</a:t>
            </a:r>
            <a:r>
              <a:rPr lang="en-US" sz="1900" b="1" dirty="0"/>
              <a:t>) = SECOND(</a:t>
            </a:r>
            <a:r>
              <a:rPr lang="en-US" sz="1900" b="1" dirty="0" err="1"/>
              <a:t>SFinishTime</a:t>
            </a:r>
            <a:r>
              <a:rPr lang="en-US" sz="1900" b="1" dirty="0"/>
              <a:t>));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553460-4AC7-8C9E-8DEA-77E029378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45" y="5223401"/>
            <a:ext cx="3583628" cy="81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7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4865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From the Services table display the most expensive service.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From Journal table display the number (count) of services in 2009.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From the Readers table display the number of readers from cities that begin with the letter ‘V’.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From Journal table display the average service time in minutes.</a:t>
            </a:r>
          </a:p>
        </p:txBody>
      </p:sp>
    </p:spTree>
    <p:extLst>
      <p:ext uri="{BB962C8B-B14F-4D97-AF65-F5344CB8AC3E}">
        <p14:creationId xmlns:p14="http://schemas.microsoft.com/office/powerpoint/2010/main" val="4077434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37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sz="1600" dirty="0"/>
              <a:t>1.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SELECT Max(Price) AS `Most expensive service` 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FROM Services;</a:t>
            </a:r>
            <a:endParaRPr lang="lv-LV" sz="1600" dirty="0"/>
          </a:p>
          <a:p>
            <a:pPr marL="0" indent="0">
              <a:spcBef>
                <a:spcPts val="0"/>
              </a:spcBef>
              <a:buNone/>
            </a:pPr>
            <a:endParaRPr lang="lv-LV" sz="1600" dirty="0"/>
          </a:p>
          <a:p>
            <a:pPr marL="0" indent="0">
              <a:buNone/>
            </a:pPr>
            <a:r>
              <a:rPr lang="lv-LV" sz="1600" dirty="0"/>
              <a:t>2.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COUNT(*) AS `Number of services in 2009` </a:t>
            </a:r>
          </a:p>
          <a:p>
            <a:pPr marL="0" indent="0">
              <a:buNone/>
            </a:pPr>
            <a:r>
              <a:rPr lang="en-US" sz="1600" dirty="0"/>
              <a:t>FROM Journal</a:t>
            </a:r>
          </a:p>
          <a:p>
            <a:pPr marL="0" indent="0">
              <a:buNone/>
            </a:pPr>
            <a:r>
              <a:rPr lang="en-US" sz="1600" dirty="0"/>
              <a:t>WHERE YEAR(</a:t>
            </a:r>
            <a:r>
              <a:rPr lang="en-US" sz="1600" dirty="0" err="1"/>
              <a:t>SDate</a:t>
            </a:r>
            <a:r>
              <a:rPr lang="en-US" sz="1600" dirty="0"/>
              <a:t>) = 2009;</a:t>
            </a:r>
            <a:endParaRPr lang="lv-LV" sz="1600" dirty="0"/>
          </a:p>
          <a:p>
            <a:pPr marL="0" indent="0">
              <a:buNone/>
            </a:pPr>
            <a:r>
              <a:rPr lang="lv-LV" sz="1600" dirty="0"/>
              <a:t>3.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SELECT Count(*) AS `Readers with V`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FROM Readers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WHERE Town LIKE 'V%';</a:t>
            </a:r>
            <a:endParaRPr lang="lv-LV" sz="1600" dirty="0"/>
          </a:p>
          <a:p>
            <a:pPr marL="0" indent="0">
              <a:buNone/>
            </a:pPr>
            <a:r>
              <a:rPr lang="lv-LV" sz="1600" dirty="0"/>
              <a:t>4.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SELECT AVG(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             (HOUR(</a:t>
            </a:r>
            <a:r>
              <a:rPr lang="en-US" sz="1600" dirty="0" err="1"/>
              <a:t>SFinishTime</a:t>
            </a:r>
            <a:r>
              <a:rPr lang="en-US" sz="1600" dirty="0"/>
              <a:t>) * 60 + MINUTE(</a:t>
            </a:r>
            <a:r>
              <a:rPr lang="en-US" sz="1600" dirty="0" err="1"/>
              <a:t>SFinishTime</a:t>
            </a:r>
            <a:r>
              <a:rPr lang="en-US" sz="1600" dirty="0"/>
              <a:t>)) 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             (HOUR(</a:t>
            </a:r>
            <a:r>
              <a:rPr lang="en-US" sz="1600" dirty="0" err="1"/>
              <a:t>SStartTime</a:t>
            </a:r>
            <a:r>
              <a:rPr lang="en-US" sz="1600" dirty="0"/>
              <a:t>) * 60 + MINUTE(</a:t>
            </a:r>
            <a:r>
              <a:rPr lang="en-US" sz="1600" dirty="0" err="1"/>
              <a:t>SStartTime</a:t>
            </a:r>
            <a:r>
              <a:rPr lang="en-US" sz="1600" dirty="0"/>
              <a:t>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          ) AS `Average service time in minutes`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FROM Journal;</a:t>
            </a:r>
          </a:p>
        </p:txBody>
      </p:sp>
    </p:spTree>
    <p:extLst>
      <p:ext uri="{BB962C8B-B14F-4D97-AF65-F5344CB8AC3E}">
        <p14:creationId xmlns:p14="http://schemas.microsoft.com/office/powerpoint/2010/main" val="2949068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SQL offers the ability to divide any table into groups and to calculate aggregate functions for any group.
</a:t>
            </a:r>
            <a:r>
              <a:rPr lang="lv-LV" dirty="0"/>
              <a:t> </a:t>
            </a:r>
            <a:endParaRPr lang="en-US" dirty="0"/>
          </a:p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lv-LV" i="1" dirty="0"/>
              <a:t>SELECT	</a:t>
            </a:r>
            <a:r>
              <a:rPr lang="lv-LV" i="1" dirty="0" err="1"/>
              <a:t>columns</a:t>
            </a:r>
            <a:r>
              <a:rPr lang="lv-LV" i="1" dirty="0"/>
              <a:t>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i="1" dirty="0"/>
              <a:t>FROM 	</a:t>
            </a:r>
            <a:r>
              <a:rPr lang="lv-LV" i="1" dirty="0" err="1"/>
              <a:t>table</a:t>
            </a:r>
            <a:r>
              <a:rPr lang="lv-LV" i="1" dirty="0"/>
              <a:t>	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i="1" dirty="0"/>
              <a:t>[WHERE	</a:t>
            </a:r>
            <a:r>
              <a:rPr lang="lv-LV" i="1" dirty="0" err="1"/>
              <a:t>condition</a:t>
            </a:r>
            <a:r>
              <a:rPr lang="lv-LV" i="1" dirty="0"/>
              <a:t>]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i="1" dirty="0"/>
              <a:t>GROUP BY	</a:t>
            </a:r>
            <a:r>
              <a:rPr lang="lv-LV" i="1" dirty="0" err="1"/>
              <a:t>columns</a:t>
            </a:r>
            <a:r>
              <a:rPr lang="lv-LV" i="1" dirty="0"/>
              <a:t>					 [ORDER BY 	</a:t>
            </a:r>
            <a:r>
              <a:rPr lang="en-US" i="1" dirty="0"/>
              <a:t>sorting</a:t>
            </a:r>
            <a:r>
              <a:rPr lang="lv-LV" i="1" dirty="0"/>
              <a:t> </a:t>
            </a:r>
            <a:r>
              <a:rPr lang="lv-LV" i="1" dirty="0" err="1"/>
              <a:t>columns</a:t>
            </a:r>
            <a:r>
              <a:rPr lang="lv-LV" i="1" dirty="0"/>
              <a:t>];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182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2391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
How many books each author has in the library (excluding copies of the same book)
</a:t>
            </a:r>
            <a:endParaRPr lang="lv-LV" dirty="0"/>
          </a:p>
          <a:p>
            <a:pPr marL="0" indent="0">
              <a:buNone/>
            </a:pPr>
            <a:r>
              <a:rPr lang="en-US" sz="2000" b="1" dirty="0"/>
              <a:t>SELECT COUNT(</a:t>
            </a:r>
            <a:r>
              <a:rPr lang="en-US" sz="2000" b="1" dirty="0" err="1"/>
              <a:t>AuthorID</a:t>
            </a:r>
            <a:r>
              <a:rPr lang="en-US" sz="2000" b="1" dirty="0"/>
              <a:t>) AS `Book number`, </a:t>
            </a:r>
            <a:r>
              <a:rPr lang="en-US" sz="2000" b="1" dirty="0" err="1"/>
              <a:t>AuthorID</a:t>
            </a:r>
            <a:r>
              <a:rPr lang="en-US" sz="2000" b="1" dirty="0"/>
              <a:t> AS `Author ID`</a:t>
            </a:r>
          </a:p>
          <a:p>
            <a:pPr marL="0" indent="0">
              <a:buNone/>
            </a:pPr>
            <a:r>
              <a:rPr lang="en-US" sz="2000" b="1" dirty="0"/>
              <a:t>FROM </a:t>
            </a:r>
            <a:r>
              <a:rPr lang="en-US" sz="2000" b="1" dirty="0" err="1"/>
              <a:t>Title_page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GROUP BY </a:t>
            </a:r>
            <a:r>
              <a:rPr lang="en-US" sz="2000" b="1" dirty="0" err="1"/>
              <a:t>AuthorID</a:t>
            </a:r>
            <a:r>
              <a:rPr lang="en-US" sz="2000" b="1" dirty="0"/>
              <a:t>;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FED99-91BA-3D88-AE7E-5A0946218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084" y="5062392"/>
            <a:ext cx="2463730" cy="130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25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239125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Execution procedure: the query divides the table </a:t>
            </a:r>
            <a:r>
              <a:rPr lang="en-US" dirty="0" err="1"/>
              <a:t>Title_page</a:t>
            </a:r>
            <a:r>
              <a:rPr lang="en-US" dirty="0"/>
              <a:t> into groups according to the author's number, and then calculates how many times the author encounters in the group (how many books he wrote).</a:t>
            </a:r>
            <a:endParaRPr lang="lv-LV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6AD68-9053-E170-C098-B3CE8B84B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08" y="4060318"/>
            <a:ext cx="2324424" cy="2257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D5445C-E260-58F5-A1AE-9759114BD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881" y="4661462"/>
            <a:ext cx="2463730" cy="130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01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If the SELECT statement contains both aggregate functions and non-aggregate arguments, then any table column from the SELECT statement that is not an aggregate argument must be placed in the GROUP BY statement.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All NULL values ​​will be placed in a separate group.</a:t>
            </a:r>
          </a:p>
        </p:txBody>
      </p:sp>
    </p:spTree>
    <p:extLst>
      <p:ext uri="{BB962C8B-B14F-4D97-AF65-F5344CB8AC3E}">
        <p14:creationId xmlns:p14="http://schemas.microsoft.com/office/powerpoint/2010/main" val="191349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2391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Calculate how many books and in which year each author was published
</a:t>
            </a:r>
            <a:endParaRPr lang="lv-LV" dirty="0"/>
          </a:p>
          <a:p>
            <a:pPr marL="0" indent="0">
              <a:buNone/>
            </a:pPr>
            <a:r>
              <a:rPr lang="en-US" sz="1800" b="1" dirty="0"/>
              <a:t>SELECT COUNT(</a:t>
            </a:r>
            <a:r>
              <a:rPr lang="en-US" sz="1800" b="1" dirty="0" err="1"/>
              <a:t>AuthorID</a:t>
            </a:r>
            <a:r>
              <a:rPr lang="en-US" sz="1800" b="1" dirty="0"/>
              <a:t>) AS `Number of books`, </a:t>
            </a:r>
            <a:r>
              <a:rPr lang="en-US" sz="1800" b="1" dirty="0" err="1"/>
              <a:t>AuthorID</a:t>
            </a:r>
            <a:r>
              <a:rPr lang="en-US" sz="1800" b="1" dirty="0"/>
              <a:t> AS `Author ID`, </a:t>
            </a:r>
            <a:r>
              <a:rPr lang="en-US" sz="1800" b="1" dirty="0" err="1"/>
              <a:t>YearOfPub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Title_page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GROUP BY </a:t>
            </a:r>
            <a:r>
              <a:rPr lang="en-US" sz="1800" b="1" dirty="0" err="1"/>
              <a:t>AuthorID</a:t>
            </a:r>
            <a:r>
              <a:rPr lang="en-US" sz="1800" b="1" dirty="0"/>
              <a:t>, </a:t>
            </a:r>
            <a:r>
              <a:rPr lang="en-US" sz="1800" b="1" dirty="0" err="1"/>
              <a:t>YearOfPub</a:t>
            </a:r>
            <a:r>
              <a:rPr lang="en-US" sz="1800" b="1" dirty="0"/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393" y="4740166"/>
            <a:ext cx="369964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This example shows that the GROUP BY statement contains 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AuthorID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column that takes the aggregate function and also the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YearOfPub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column, which is not an aggregate function argument. 
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CCDE5-53C1-2886-228B-8CE446731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605230"/>
            <a:ext cx="3048425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17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825625"/>
            <a:ext cx="8362949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Example: Calculate and display the librarian ID, how many readers it served each month and the month number.
</a:t>
            </a:r>
            <a:endParaRPr lang="lv-LV" dirty="0"/>
          </a:p>
          <a:p>
            <a:pPr marL="0" indent="0">
              <a:buNone/>
            </a:pPr>
            <a:r>
              <a:rPr lang="en-US" sz="1600" b="1" dirty="0"/>
              <a:t>SELECT </a:t>
            </a:r>
            <a:r>
              <a:rPr lang="en-US" sz="1600" b="1" dirty="0" err="1"/>
              <a:t>LibID</a:t>
            </a:r>
            <a:r>
              <a:rPr lang="en-US" sz="1600" b="1" dirty="0"/>
              <a:t> AS Librarian, MONTH(</a:t>
            </a:r>
            <a:r>
              <a:rPr lang="en-US" sz="1600" b="1" dirty="0" err="1"/>
              <a:t>SDate</a:t>
            </a:r>
            <a:r>
              <a:rPr lang="en-US" sz="1600" b="1" dirty="0"/>
              <a:t>) AS `Month`, COUNT(*) AS `Served readers`</a:t>
            </a:r>
          </a:p>
          <a:p>
            <a:pPr marL="0" indent="0">
              <a:buNone/>
            </a:pPr>
            <a:r>
              <a:rPr lang="en-US" sz="1600" b="1" dirty="0"/>
              <a:t>FROM Journal</a:t>
            </a:r>
          </a:p>
          <a:p>
            <a:pPr marL="0" indent="0">
              <a:buNone/>
            </a:pPr>
            <a:r>
              <a:rPr lang="en-US" sz="1600" b="1" dirty="0"/>
              <a:t>GROUP BY MONTH(</a:t>
            </a:r>
            <a:r>
              <a:rPr lang="en-US" sz="1600" b="1" dirty="0" err="1"/>
              <a:t>SDate</a:t>
            </a:r>
            <a:r>
              <a:rPr lang="en-US" sz="1600" b="1" dirty="0"/>
              <a:t>), </a:t>
            </a:r>
            <a:r>
              <a:rPr lang="en-US" sz="1600" b="1" dirty="0" err="1"/>
              <a:t>LibID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ORDER BY MONTH(</a:t>
            </a:r>
            <a:r>
              <a:rPr lang="en-US" sz="1600" b="1" dirty="0" err="1"/>
              <a:t>SDate</a:t>
            </a:r>
            <a:r>
              <a:rPr lang="en-US" sz="1600" b="1" dirty="0"/>
              <a:t>);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68713-6B5C-EEC9-D7E8-CE410E81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114" y="4394780"/>
            <a:ext cx="2705478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13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25" y="1825625"/>
            <a:ext cx="8248650" cy="4351338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From the Book table display the total number of books for each publisher.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From Readers table count number of readers from each town. Arrange data by town name in alphabetical order.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From </a:t>
            </a:r>
            <a:r>
              <a:rPr lang="en-US" dirty="0" err="1"/>
              <a:t>Books_taken</a:t>
            </a:r>
            <a:r>
              <a:rPr lang="en-US" dirty="0"/>
              <a:t> table count how many books took each reader.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From Journal table display how many and what kind of service was provided in each reading room in 2011.</a:t>
            </a:r>
          </a:p>
        </p:txBody>
      </p:sp>
    </p:spTree>
    <p:extLst>
      <p:ext uri="{BB962C8B-B14F-4D97-AF65-F5344CB8AC3E}">
        <p14:creationId xmlns:p14="http://schemas.microsoft.com/office/powerpoint/2010/main" val="7233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49" y="1690690"/>
            <a:ext cx="8785126" cy="50720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sz="1600" dirty="0"/>
              <a:t>1.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SELECT Publisher, S</a:t>
            </a:r>
            <a:r>
              <a:rPr lang="lv-LV" sz="1600" dirty="0"/>
              <a:t>UM</a:t>
            </a:r>
            <a:r>
              <a:rPr lang="en-US" sz="1600" dirty="0"/>
              <a:t>(</a:t>
            </a:r>
            <a:r>
              <a:rPr lang="en-US" sz="1600" dirty="0" err="1"/>
              <a:t>NumOfCopies</a:t>
            </a:r>
            <a:r>
              <a:rPr lang="en-US" sz="1600" dirty="0"/>
              <a:t>) AS </a:t>
            </a:r>
            <a:r>
              <a:rPr lang="lv-LV" sz="1600" dirty="0"/>
              <a:t>`</a:t>
            </a:r>
            <a:r>
              <a:rPr lang="en-US" sz="1600" dirty="0"/>
              <a:t>Number of books</a:t>
            </a:r>
            <a:r>
              <a:rPr lang="lv-LV" sz="1600" dirty="0"/>
              <a:t>`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FROM Books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GROUP BY Publisher;</a:t>
            </a:r>
            <a:endParaRPr lang="lv-LV" sz="1600" dirty="0"/>
          </a:p>
          <a:p>
            <a:pPr marL="0" indent="0">
              <a:buNone/>
            </a:pPr>
            <a:r>
              <a:rPr lang="lv-LV" sz="1600" dirty="0"/>
              <a:t>2.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SELECT Town, C</a:t>
            </a:r>
            <a:r>
              <a:rPr lang="lv-LV" sz="1600" dirty="0"/>
              <a:t>OUNT</a:t>
            </a:r>
            <a:r>
              <a:rPr lang="en-US" sz="1600" dirty="0"/>
              <a:t>(Town) AS </a:t>
            </a:r>
            <a:r>
              <a:rPr lang="lv-LV" sz="1600" dirty="0"/>
              <a:t>`</a:t>
            </a:r>
            <a:r>
              <a:rPr lang="en-US" sz="1600" dirty="0"/>
              <a:t>Number of readers</a:t>
            </a:r>
            <a:r>
              <a:rPr lang="lv-LV" sz="1600" dirty="0"/>
              <a:t>`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FROM Readers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GROUP BY Town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ORDER BY Town;</a:t>
            </a:r>
            <a:endParaRPr lang="lv-LV" sz="1600" dirty="0"/>
          </a:p>
          <a:p>
            <a:pPr marL="0" indent="0">
              <a:buNone/>
            </a:pPr>
            <a:r>
              <a:rPr lang="lv-LV" sz="1600" dirty="0"/>
              <a:t>3.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sz="1600" dirty="0"/>
              <a:t>SELECT </a:t>
            </a:r>
            <a:r>
              <a:rPr lang="lv-LV" sz="1600" dirty="0" err="1"/>
              <a:t>ReaderID</a:t>
            </a:r>
            <a:r>
              <a:rPr lang="lv-LV" sz="1600" dirty="0"/>
              <a:t>, COUNT(</a:t>
            </a:r>
            <a:r>
              <a:rPr lang="lv-LV" sz="1600" dirty="0" err="1"/>
              <a:t>ReaderID</a:t>
            </a:r>
            <a:r>
              <a:rPr lang="lv-LV" sz="1600" dirty="0"/>
              <a:t>) AS `</a:t>
            </a:r>
            <a:r>
              <a:rPr lang="en-US" sz="1600" dirty="0"/>
              <a:t>Number of books</a:t>
            </a:r>
            <a:r>
              <a:rPr lang="lv-LV" sz="1600" dirty="0"/>
              <a:t>`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sz="1600" dirty="0"/>
              <a:t>FROM </a:t>
            </a:r>
            <a:r>
              <a:rPr lang="en-US" sz="1600" dirty="0" err="1"/>
              <a:t>Books_taken</a:t>
            </a:r>
            <a:endParaRPr lang="lv-LV" sz="16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600" dirty="0"/>
              <a:t>GROUP BY </a:t>
            </a:r>
            <a:r>
              <a:rPr lang="lv-LV" sz="1600" dirty="0" err="1"/>
              <a:t>ReaderID</a:t>
            </a:r>
            <a:r>
              <a:rPr lang="lv-LV" sz="1600" dirty="0"/>
              <a:t>;</a:t>
            </a:r>
          </a:p>
          <a:p>
            <a:pPr marL="0" indent="0">
              <a:buNone/>
            </a:pPr>
            <a:r>
              <a:rPr lang="lv-LV" sz="1600" dirty="0"/>
              <a:t>4.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SELECT </a:t>
            </a:r>
            <a:r>
              <a:rPr lang="en-US" sz="1600" dirty="0" err="1"/>
              <a:t>ReaderID</a:t>
            </a:r>
            <a:r>
              <a:rPr lang="en-US" sz="1600" dirty="0"/>
              <a:t> AS `Reading room`, </a:t>
            </a:r>
            <a:r>
              <a:rPr lang="en-US" sz="1600" dirty="0" err="1"/>
              <a:t>ServiceID</a:t>
            </a:r>
            <a:r>
              <a:rPr lang="en-US" sz="1600" dirty="0"/>
              <a:t> AS `Services`, COUNT(</a:t>
            </a:r>
            <a:r>
              <a:rPr lang="en-US" sz="1600" dirty="0" err="1"/>
              <a:t>ServiceID</a:t>
            </a:r>
            <a:r>
              <a:rPr lang="en-US" sz="1600" dirty="0"/>
              <a:t>) AS `Number of services`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FROM Journal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WHERE YEAR(</a:t>
            </a:r>
            <a:r>
              <a:rPr lang="en-US" sz="1600" dirty="0" err="1"/>
              <a:t>SDate</a:t>
            </a:r>
            <a:r>
              <a:rPr lang="en-US" sz="1600" dirty="0"/>
              <a:t>) = 2011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GROUP BY </a:t>
            </a:r>
            <a:r>
              <a:rPr lang="en-US" sz="1600" dirty="0" err="1"/>
              <a:t>ReaderID</a:t>
            </a:r>
            <a:r>
              <a:rPr lang="en-US" sz="1600" dirty="0"/>
              <a:t>, </a:t>
            </a:r>
            <a:r>
              <a:rPr lang="en-US" sz="1600" dirty="0" err="1"/>
              <a:t>ServiceID</a:t>
            </a:r>
            <a:r>
              <a:rPr lang="en-US" sz="1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55396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</a:t>
            </a:r>
            <a:r>
              <a:rPr lang="lv-LV" dirty="0"/>
              <a:t> </a:t>
            </a:r>
            <a:r>
              <a:rPr lang="lv-LV" dirty="0" err="1"/>
              <a:t>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The HAVING clause is used to select groups.</a:t>
            </a:r>
          </a:p>
          <a:p>
            <a:pPr algn="just"/>
            <a:r>
              <a:rPr lang="en-US" dirty="0"/>
              <a:t>HAVING limits the number of groups that were created according to the GROUP BY statement, just as the WHERE statement limits the number of rows from the SELECT statement.</a:t>
            </a:r>
          </a:p>
          <a:p>
            <a:pPr algn="just"/>
            <a:r>
              <a:rPr lang="en-US" dirty="0"/>
              <a:t>Only columns that are formed in a GROUP BY sentence can be specified in the HAVING sentence.</a:t>
            </a:r>
          </a:p>
          <a:p>
            <a:pPr algn="just"/>
            <a:r>
              <a:rPr lang="en-US" dirty="0"/>
              <a:t>The HAVING clause was added to SQL because the WHERE keyword could not be used with aggregate functions.</a:t>
            </a:r>
          </a:p>
        </p:txBody>
      </p:sp>
    </p:spTree>
    <p:extLst>
      <p:ext uri="{BB962C8B-B14F-4D97-AF65-F5344CB8AC3E}">
        <p14:creationId xmlns:p14="http://schemas.microsoft.com/office/powerpoint/2010/main" val="1432266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</a:t>
            </a:r>
            <a:r>
              <a:rPr lang="lv-LV" dirty="0"/>
              <a:t> </a:t>
            </a:r>
            <a:r>
              <a:rPr lang="lv-LV" dirty="0" err="1"/>
              <a:t>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If you look at how the SELECT command executes, if it contains both WHERE and HAVING clauses, then WHERE executes before grouping, and HAVING - after grouping.</a:t>
            </a:r>
          </a:p>
          <a:p>
            <a:pPr marL="0" indent="0" algn="just">
              <a:buNone/>
            </a:pPr>
            <a:r>
              <a:rPr lang="en-US" dirty="0"/>
              <a:t>The HAVING clause can contain aggregate functions, and the HAVING statement can refer to any column that is included in the SELECT statement</a:t>
            </a:r>
            <a:r>
              <a:rPr lang="lv-LV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731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</a:t>
            </a:r>
            <a:r>
              <a:rPr lang="lv-LV" dirty="0"/>
              <a:t> </a:t>
            </a:r>
            <a:r>
              <a:rPr lang="lv-LV" dirty="0" err="1"/>
              <a:t>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lv-LV" i="1" dirty="0"/>
              <a:t>SELECT	</a:t>
            </a:r>
            <a:r>
              <a:rPr lang="lv-LV" i="1" dirty="0" err="1"/>
              <a:t>columns</a:t>
            </a:r>
            <a:r>
              <a:rPr lang="lv-LV" i="1" dirty="0"/>
              <a:t>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i="1" dirty="0"/>
              <a:t>FROM		</a:t>
            </a:r>
            <a:r>
              <a:rPr lang="lv-LV" i="1" dirty="0" err="1"/>
              <a:t>table</a:t>
            </a:r>
            <a:r>
              <a:rPr lang="lv-LV" i="1" dirty="0"/>
              <a:t>					</a:t>
            </a:r>
            <a:endParaRPr lang="en-US" i="1" dirty="0"/>
          </a:p>
          <a:p>
            <a:pPr marL="0" indent="0">
              <a:spcBef>
                <a:spcPts val="0"/>
              </a:spcBef>
              <a:buNone/>
            </a:pPr>
            <a:r>
              <a:rPr lang="lv-LV" i="1" dirty="0"/>
              <a:t>[WHERE	</a:t>
            </a:r>
            <a:r>
              <a:rPr lang="lv-LV" i="1" dirty="0" err="1"/>
              <a:t>condition</a:t>
            </a:r>
            <a:r>
              <a:rPr lang="lv-LV" i="1" dirty="0"/>
              <a:t>]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i="1" dirty="0"/>
              <a:t>GROUP BY	</a:t>
            </a:r>
            <a:r>
              <a:rPr lang="lv-LV" i="1" dirty="0" err="1"/>
              <a:t>columns</a:t>
            </a:r>
            <a:r>
              <a:rPr lang="lv-LV" i="1" dirty="0"/>
              <a:t>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i="1" dirty="0"/>
              <a:t>HAVING	</a:t>
            </a:r>
            <a:r>
              <a:rPr lang="en-US" i="1" dirty="0"/>
              <a:t>group condition</a:t>
            </a:r>
            <a:r>
              <a:rPr lang="lv-LV" i="1" dirty="0"/>
              <a:t>				 [ORDER BY </a:t>
            </a:r>
            <a:r>
              <a:rPr lang="en-US" i="1" dirty="0"/>
              <a:t>  sorting columns</a:t>
            </a:r>
            <a:r>
              <a:rPr lang="lv-LV" i="1" dirty="0"/>
              <a:t>];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31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</a:t>
            </a:r>
            <a:r>
              <a:rPr lang="lv-LV" dirty="0"/>
              <a:t> </a:t>
            </a:r>
            <a:r>
              <a:rPr lang="lv-LV" dirty="0" err="1"/>
              <a:t>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825625"/>
            <a:ext cx="8362949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Example: display the librarian's code, month, and number of readers served by the librarian. This information should be displayed for those librarians who served at least 2 readers.</a:t>
            </a:r>
          </a:p>
          <a:p>
            <a:pPr marL="0" indent="0" algn="just">
              <a:buNone/>
            </a:pPr>
            <a:endParaRPr lang="lv-LV" dirty="0"/>
          </a:p>
          <a:p>
            <a:pPr marL="0" indent="0">
              <a:buNone/>
            </a:pPr>
            <a:r>
              <a:rPr lang="en-US" sz="1600" b="1" dirty="0"/>
              <a:t>SELECT </a:t>
            </a:r>
            <a:r>
              <a:rPr lang="en-US" sz="1600" b="1" dirty="0" err="1"/>
              <a:t>LibID</a:t>
            </a:r>
            <a:r>
              <a:rPr lang="en-US" sz="1600" b="1" dirty="0"/>
              <a:t> AS Librarian, MONTH(</a:t>
            </a:r>
            <a:r>
              <a:rPr lang="en-US" sz="1600" b="1" dirty="0" err="1"/>
              <a:t>SDate</a:t>
            </a:r>
            <a:r>
              <a:rPr lang="en-US" sz="1600" b="1" dirty="0"/>
              <a:t>) AS `Month`, COUNT(*) AS `Readers served`</a:t>
            </a:r>
          </a:p>
          <a:p>
            <a:pPr marL="0" indent="0">
              <a:buNone/>
            </a:pPr>
            <a:r>
              <a:rPr lang="en-US" sz="1600" b="1" dirty="0"/>
              <a:t>FROM Journal</a:t>
            </a:r>
          </a:p>
          <a:p>
            <a:pPr marL="0" indent="0">
              <a:buNone/>
            </a:pPr>
            <a:r>
              <a:rPr lang="en-US" sz="1600" b="1" dirty="0"/>
              <a:t>GROUP BY MONTH(</a:t>
            </a:r>
            <a:r>
              <a:rPr lang="en-US" sz="1600" b="1" dirty="0" err="1"/>
              <a:t>SDate</a:t>
            </a:r>
            <a:r>
              <a:rPr lang="en-US" sz="1600" b="1" dirty="0"/>
              <a:t>), </a:t>
            </a:r>
            <a:r>
              <a:rPr lang="en-US" sz="1600" b="1" dirty="0" err="1"/>
              <a:t>LibID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HAVING COUNT(*) &gt;= 2</a:t>
            </a:r>
          </a:p>
          <a:p>
            <a:pPr marL="0" indent="0">
              <a:buNone/>
            </a:pPr>
            <a:r>
              <a:rPr lang="en-US" sz="1600" b="1" dirty="0"/>
              <a:t>ORDER BY MONTH(</a:t>
            </a:r>
            <a:r>
              <a:rPr lang="en-US" sz="1600" b="1" dirty="0" err="1"/>
              <a:t>SDate</a:t>
            </a:r>
            <a:r>
              <a:rPr lang="en-US" sz="1600" b="1" dirty="0"/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09A2A-66A3-97BB-BC9A-99DB636B8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676" y="4649499"/>
            <a:ext cx="3098261" cy="152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05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Group</a:t>
            </a:r>
            <a:r>
              <a:rPr lang="lv-LV" dirty="0"/>
              <a:t> </a:t>
            </a:r>
            <a:r>
              <a:rPr lang="lv-LV" dirty="0" err="1"/>
              <a:t>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825625"/>
            <a:ext cx="8362949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Example: Display how many and what kind of services were provided by librarians whose codes begins at 1 in October. Sort by service number.</a:t>
            </a:r>
          </a:p>
          <a:p>
            <a:pPr marL="0" indent="0" algn="just">
              <a:buNone/>
            </a:pPr>
            <a:endParaRPr lang="lv-LV" dirty="0"/>
          </a:p>
          <a:p>
            <a:pPr marL="0" indent="0">
              <a:buNone/>
            </a:pPr>
            <a:r>
              <a:rPr lang="en-US" sz="1600" b="1" dirty="0"/>
              <a:t>SELECT </a:t>
            </a:r>
            <a:r>
              <a:rPr lang="en-US" sz="1600" b="1" dirty="0" err="1"/>
              <a:t>LibID</a:t>
            </a:r>
            <a:r>
              <a:rPr lang="en-US" sz="1600" b="1" dirty="0"/>
              <a:t> AS Librarian, COUNT(*) AS `Number of services`, </a:t>
            </a:r>
            <a:r>
              <a:rPr lang="en-US" sz="1600" b="1" dirty="0" err="1"/>
              <a:t>ServiceID</a:t>
            </a:r>
            <a:r>
              <a:rPr lang="en-US" sz="1600" b="1" dirty="0"/>
              <a:t> AS `Service ID`</a:t>
            </a:r>
          </a:p>
          <a:p>
            <a:pPr marL="0" indent="0">
              <a:buNone/>
            </a:pPr>
            <a:r>
              <a:rPr lang="en-US" sz="1600" b="1" dirty="0"/>
              <a:t>FROM Journal</a:t>
            </a:r>
          </a:p>
          <a:p>
            <a:pPr marL="0" indent="0">
              <a:buNone/>
            </a:pPr>
            <a:r>
              <a:rPr lang="en-US" sz="1600" b="1" dirty="0"/>
              <a:t>WHERE MONTH(</a:t>
            </a:r>
            <a:r>
              <a:rPr lang="en-US" sz="1600" b="1" dirty="0" err="1"/>
              <a:t>SDate</a:t>
            </a:r>
            <a:r>
              <a:rPr lang="en-US" sz="1600" b="1" dirty="0"/>
              <a:t>) = 10</a:t>
            </a:r>
          </a:p>
          <a:p>
            <a:pPr marL="0" indent="0">
              <a:buNone/>
            </a:pPr>
            <a:r>
              <a:rPr lang="en-US" sz="1600" b="1" dirty="0"/>
              <a:t>GROUP BY </a:t>
            </a:r>
            <a:r>
              <a:rPr lang="en-US" sz="1600" b="1" dirty="0" err="1"/>
              <a:t>LibID</a:t>
            </a:r>
            <a:r>
              <a:rPr lang="en-US" sz="1600" b="1" dirty="0"/>
              <a:t>, </a:t>
            </a:r>
            <a:r>
              <a:rPr lang="en-US" sz="1600" b="1" dirty="0" err="1"/>
              <a:t>ServiceID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HAVING </a:t>
            </a:r>
            <a:r>
              <a:rPr lang="en-US" sz="1600" b="1" dirty="0" err="1"/>
              <a:t>LibID</a:t>
            </a:r>
            <a:r>
              <a:rPr lang="en-US" sz="1600" b="1" dirty="0"/>
              <a:t> LIKE '1%'</a:t>
            </a:r>
          </a:p>
          <a:p>
            <a:pPr marL="0" indent="0">
              <a:buNone/>
            </a:pPr>
            <a:r>
              <a:rPr lang="en-US" sz="1600" b="1" dirty="0"/>
              <a:t>ORDER BY </a:t>
            </a:r>
            <a:r>
              <a:rPr lang="en-US" sz="1600" b="1" dirty="0" err="1"/>
              <a:t>ServiceID</a:t>
            </a:r>
            <a:r>
              <a:rPr lang="en-US" sz="1600" b="1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66F70-F33B-08F8-792A-104C0E385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432" y="5433909"/>
            <a:ext cx="3238952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19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25" y="1825624"/>
            <a:ext cx="8248650" cy="4491093"/>
          </a:xfrm>
        </p:spPr>
        <p:txBody>
          <a:bodyPr>
            <a:normAutofit fontScale="925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From the Readers table count number of readers from each town.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From the Readers table count number of readers from each town. Display only results where the number of readers is &gt; 3. Arrange by town in alphabetical order.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From the Journal table display how many and what kind of service was provided in each reading room in 2011. Display only results from the 1st reading room.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From the Books table display the total number of books from each publisher. Only select publishers whose names ends with 'a' and whose book count is&gt; 6.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205426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275" y="1690690"/>
            <a:ext cx="8686799" cy="507206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lv-LV" sz="1600" dirty="0"/>
              <a:t>1.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SELECT </a:t>
            </a:r>
            <a:r>
              <a:rPr lang="lv-LV" sz="1600" dirty="0" err="1"/>
              <a:t>Town</a:t>
            </a:r>
            <a:r>
              <a:rPr lang="lv-LV" sz="1600" dirty="0"/>
              <a:t>, COUNT(</a:t>
            </a:r>
            <a:r>
              <a:rPr lang="lv-LV" sz="1600" dirty="0" err="1"/>
              <a:t>Town</a:t>
            </a:r>
            <a:r>
              <a:rPr lang="lv-LV" sz="1600" dirty="0"/>
              <a:t>) AS `</a:t>
            </a:r>
            <a:r>
              <a:rPr lang="lv-LV" sz="1600" dirty="0" err="1"/>
              <a:t>Number</a:t>
            </a:r>
            <a:r>
              <a:rPr lang="lv-LV" sz="1600" dirty="0"/>
              <a:t> </a:t>
            </a:r>
            <a:r>
              <a:rPr lang="lv-LV" sz="1600" dirty="0" err="1"/>
              <a:t>of</a:t>
            </a:r>
            <a:r>
              <a:rPr lang="lv-LV" sz="1600" dirty="0"/>
              <a:t> </a:t>
            </a:r>
            <a:r>
              <a:rPr lang="lv-LV" sz="1600" dirty="0" err="1"/>
              <a:t>readers</a:t>
            </a:r>
            <a:r>
              <a:rPr lang="lv-LV" sz="1600" dirty="0"/>
              <a:t>`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FROM </a:t>
            </a:r>
            <a:r>
              <a:rPr lang="lv-LV" sz="1600" dirty="0" err="1"/>
              <a:t>Readers</a:t>
            </a:r>
            <a:endParaRPr lang="lv-LV" sz="1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GROUP BY </a:t>
            </a:r>
            <a:r>
              <a:rPr lang="lv-LV" sz="1600" dirty="0" err="1"/>
              <a:t>Town</a:t>
            </a:r>
            <a:r>
              <a:rPr lang="lv-LV" sz="1600" dirty="0"/>
              <a:t>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lv-LV" sz="1600" dirty="0"/>
              <a:t>2.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SELECT Town, C</a:t>
            </a:r>
            <a:r>
              <a:rPr lang="lv-LV" sz="1600" dirty="0"/>
              <a:t>OUNT</a:t>
            </a:r>
            <a:r>
              <a:rPr lang="en-US" sz="1600" dirty="0"/>
              <a:t>(Town) AS </a:t>
            </a:r>
            <a:r>
              <a:rPr lang="lv-LV" sz="1600" dirty="0"/>
              <a:t>`</a:t>
            </a:r>
            <a:r>
              <a:rPr lang="en-US" sz="1600" dirty="0"/>
              <a:t>Number of readers</a:t>
            </a:r>
            <a:r>
              <a:rPr lang="lv-LV" sz="1600" dirty="0"/>
              <a:t>`</a:t>
            </a:r>
            <a:endParaRPr lang="en-US" sz="1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FROM Readers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GROUP BY Town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HAVING </a:t>
            </a:r>
            <a:r>
              <a:rPr lang="lv-LV" sz="1600" dirty="0"/>
              <a:t>COUNT</a:t>
            </a:r>
            <a:r>
              <a:rPr lang="en-US" sz="1600" dirty="0"/>
              <a:t>t(Town) &gt; 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ORDER BY Town;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lv-LV" sz="1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3.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SELECT </a:t>
            </a:r>
            <a:r>
              <a:rPr lang="en-US" sz="1600" dirty="0" err="1"/>
              <a:t>RoomID</a:t>
            </a:r>
            <a:r>
              <a:rPr lang="en-US" sz="1600" dirty="0"/>
              <a:t> AS `Reading room`, </a:t>
            </a:r>
            <a:r>
              <a:rPr lang="en-US" sz="1600" dirty="0" err="1"/>
              <a:t>ServiceID</a:t>
            </a:r>
            <a:r>
              <a:rPr lang="en-US" sz="1600" dirty="0"/>
              <a:t> AS `Service ID`, COUNT(</a:t>
            </a:r>
            <a:r>
              <a:rPr lang="en-US" sz="1600" dirty="0" err="1"/>
              <a:t>ServiceID</a:t>
            </a:r>
            <a:r>
              <a:rPr lang="en-US" sz="1600" dirty="0"/>
              <a:t>) AS `Number of services`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FROM Journal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WHERE YEAR(</a:t>
            </a:r>
            <a:r>
              <a:rPr lang="en-US" sz="1600" dirty="0" err="1"/>
              <a:t>SDate</a:t>
            </a:r>
            <a:r>
              <a:rPr lang="en-US" sz="1600" dirty="0"/>
              <a:t>) = 2011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GROUP BY </a:t>
            </a:r>
            <a:r>
              <a:rPr lang="en-US" sz="1600" dirty="0" err="1"/>
              <a:t>RoomID</a:t>
            </a:r>
            <a:r>
              <a:rPr lang="en-US" sz="1600" dirty="0"/>
              <a:t>, </a:t>
            </a:r>
            <a:r>
              <a:rPr lang="en-US" sz="1600" dirty="0" err="1"/>
              <a:t>ServiceID</a:t>
            </a:r>
            <a:endParaRPr lang="en-US" sz="1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/>
              <a:t>HAVING </a:t>
            </a:r>
            <a:r>
              <a:rPr lang="en-US" sz="1600" dirty="0" err="1"/>
              <a:t>RoomID</a:t>
            </a:r>
            <a:r>
              <a:rPr lang="en-US" sz="1600" dirty="0"/>
              <a:t> = 1;</a:t>
            </a:r>
            <a:endParaRPr lang="lv-LV" sz="1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lv-LV" sz="1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4.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SELECT Publisher, SUM(</a:t>
            </a:r>
            <a:r>
              <a:rPr lang="lv-LV" sz="1600" dirty="0" err="1"/>
              <a:t>NumOfCopies</a:t>
            </a:r>
            <a:r>
              <a:rPr lang="lv-LV" sz="1600" dirty="0"/>
              <a:t>) AS `</a:t>
            </a:r>
            <a:r>
              <a:rPr lang="lv-LV" sz="1600" dirty="0" err="1"/>
              <a:t>Number</a:t>
            </a:r>
            <a:r>
              <a:rPr lang="lv-LV" sz="1600" dirty="0"/>
              <a:t> </a:t>
            </a:r>
            <a:r>
              <a:rPr lang="lv-LV" sz="1600" dirty="0" err="1"/>
              <a:t>of</a:t>
            </a:r>
            <a:r>
              <a:rPr lang="lv-LV" sz="1600" dirty="0"/>
              <a:t> </a:t>
            </a:r>
            <a:r>
              <a:rPr lang="lv-LV" sz="1600" dirty="0" err="1"/>
              <a:t>books</a:t>
            </a:r>
            <a:r>
              <a:rPr lang="lv-LV" sz="1600" dirty="0"/>
              <a:t>`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FROM </a:t>
            </a:r>
            <a:r>
              <a:rPr lang="lv-LV" sz="1600" dirty="0" err="1"/>
              <a:t>Books</a:t>
            </a:r>
            <a:endParaRPr lang="lv-LV" sz="16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WHERE Publisher LIKE '</a:t>
            </a:r>
            <a:r>
              <a:rPr lang="en-US" sz="1600" dirty="0"/>
              <a:t>%</a:t>
            </a:r>
            <a:r>
              <a:rPr lang="lv-LV" sz="1600" dirty="0"/>
              <a:t>a'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GROUP BY Publisher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lv-LV" sz="1600" dirty="0"/>
              <a:t>HAVING SUM(</a:t>
            </a:r>
            <a:r>
              <a:rPr lang="lv-LV" sz="1600" dirty="0" err="1"/>
              <a:t>NumOfCopies</a:t>
            </a:r>
            <a:r>
              <a:rPr lang="lv-LV" sz="1600" dirty="0"/>
              <a:t>) &gt; 6;</a:t>
            </a:r>
          </a:p>
        </p:txBody>
      </p:sp>
    </p:spTree>
    <p:extLst>
      <p:ext uri="{BB962C8B-B14F-4D97-AF65-F5344CB8AC3E}">
        <p14:creationId xmlns:p14="http://schemas.microsoft.com/office/powerpoint/2010/main" val="1002424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2256</TotalTime>
  <Words>1552</Words>
  <Application>Microsoft Office PowerPoint</Application>
  <PresentationFormat>On-screen Show (4:3)</PresentationFormat>
  <Paragraphs>182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SQL</vt:lpstr>
      <vt:lpstr>Aggregate Functions</vt:lpstr>
      <vt:lpstr>Aggregate Functions</vt:lpstr>
      <vt:lpstr>Aggregate Functions</vt:lpstr>
      <vt:lpstr>Aggregate Functions</vt:lpstr>
      <vt:lpstr>Aggregate Functions</vt:lpstr>
      <vt:lpstr>Aggregate Functions</vt:lpstr>
      <vt:lpstr>Practice</vt:lpstr>
      <vt:lpstr>Answers</vt:lpstr>
      <vt:lpstr>Grouping</vt:lpstr>
      <vt:lpstr>Grouping</vt:lpstr>
      <vt:lpstr>Grouping</vt:lpstr>
      <vt:lpstr>Grouping</vt:lpstr>
      <vt:lpstr>Grouping</vt:lpstr>
      <vt:lpstr>Grouping</vt:lpstr>
      <vt:lpstr>Practice</vt:lpstr>
      <vt:lpstr>Answers</vt:lpstr>
      <vt:lpstr>Group conditions</vt:lpstr>
      <vt:lpstr>Group conditions</vt:lpstr>
      <vt:lpstr>Group conditions</vt:lpstr>
      <vt:lpstr>Group conditions</vt:lpstr>
      <vt:lpstr>Group conditions</vt:lpstr>
      <vt:lpstr>Practice</vt:lpstr>
      <vt:lpstr>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Lipa</dc:creator>
  <cp:lastModifiedBy>Andrejs Liepiņš</cp:lastModifiedBy>
  <cp:revision>93</cp:revision>
  <dcterms:created xsi:type="dcterms:W3CDTF">2017-03-05T14:59:40Z</dcterms:created>
  <dcterms:modified xsi:type="dcterms:W3CDTF">2025-02-24T17:11:37Z</dcterms:modified>
</cp:coreProperties>
</file>