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75" r:id="rId4"/>
    <p:sldId id="276" r:id="rId5"/>
    <p:sldId id="277" r:id="rId6"/>
    <p:sldId id="278" r:id="rId7"/>
    <p:sldId id="279" r:id="rId8"/>
    <p:sldId id="282" r:id="rId9"/>
    <p:sldId id="283" r:id="rId10"/>
    <p:sldId id="284" r:id="rId11"/>
    <p:sldId id="292" r:id="rId12"/>
    <p:sldId id="293" r:id="rId13"/>
    <p:sldId id="280" r:id="rId14"/>
    <p:sldId id="285" r:id="rId15"/>
    <p:sldId id="286" r:id="rId16"/>
    <p:sldId id="287" r:id="rId17"/>
    <p:sldId id="281" r:id="rId18"/>
    <p:sldId id="288" r:id="rId19"/>
    <p:sldId id="289" r:id="rId20"/>
    <p:sldId id="290" r:id="rId21"/>
    <p:sldId id="29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8" autoAdjust="0"/>
    <p:restoredTop sz="94660"/>
  </p:normalViewPr>
  <p:slideViewPr>
    <p:cSldViewPr snapToGrid="0">
      <p:cViewPr varScale="1">
        <p:scale>
          <a:sx n="83" d="100"/>
          <a:sy n="83" d="100"/>
        </p:scale>
        <p:origin x="124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276926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246089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4253692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C23E0B-6B96-4089-8AEB-3E64D57FBC2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3394985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C23E0B-6B96-4089-8AEB-3E64D57FBC2E}" type="datetimeFigureOut">
              <a:rPr lang="en-US" smtClean="0"/>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1839635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C23E0B-6B96-4089-8AEB-3E64D57FBC2E}" type="datetimeFigureOut">
              <a:rPr lang="en-US" smtClean="0"/>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1909511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C23E0B-6B96-4089-8AEB-3E64D57FBC2E}" type="datetimeFigureOut">
              <a:rPr lang="en-US" smtClean="0"/>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947374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C23E0B-6B96-4089-8AEB-3E64D57FBC2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3890335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C23E0B-6B96-4089-8AEB-3E64D57FBC2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3617272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17407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954136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C23E0B-6B96-4089-8AEB-3E64D57FBC2E}" type="datetimeFigureOut">
              <a:rPr lang="en-US" smtClean="0"/>
              <a:t>2/28/2025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E90A85-DE47-429F-8797-38D7F2F69045}" type="slidenum">
              <a:rPr lang="en-US" smtClean="0"/>
              <a:t>‹#›</a:t>
            </a:fld>
            <a:endParaRPr lang="en-US"/>
          </a:p>
        </p:txBody>
      </p:sp>
    </p:spTree>
    <p:extLst>
      <p:ext uri="{BB962C8B-B14F-4D97-AF65-F5344CB8AC3E}">
        <p14:creationId xmlns:p14="http://schemas.microsoft.com/office/powerpoint/2010/main" val="5088319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a:t>
            </a:r>
            <a:br>
              <a:rPr lang="en-US" dirty="0"/>
            </a:br>
            <a:r>
              <a:rPr lang="en-US" dirty="0"/>
              <a:t>Data operations</a:t>
            </a:r>
          </a:p>
        </p:txBody>
      </p:sp>
    </p:spTree>
    <p:extLst>
      <p:ext uri="{BB962C8B-B14F-4D97-AF65-F5344CB8AC3E}">
        <p14:creationId xmlns:p14="http://schemas.microsoft.com/office/powerpoint/2010/main" val="4160554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Commands for adding, deleting, and updating data</a:t>
            </a:r>
          </a:p>
        </p:txBody>
      </p:sp>
      <p:sp>
        <p:nvSpPr>
          <p:cNvPr id="3" name="Content Placeholder 2"/>
          <p:cNvSpPr>
            <a:spLocks noGrp="1"/>
          </p:cNvSpPr>
          <p:nvPr>
            <p:ph idx="1"/>
          </p:nvPr>
        </p:nvSpPr>
        <p:spPr/>
        <p:txBody>
          <a:bodyPr/>
          <a:lstStyle/>
          <a:p>
            <a:pPr marL="0" indent="0" algn="just">
              <a:buNone/>
            </a:pPr>
            <a:r>
              <a:rPr lang="en-US" dirty="0"/>
              <a:t>SQL language is not only used to select data, it can also be used to modify DB content. The commands that allow you to modify DB content are follows:</a:t>
            </a:r>
          </a:p>
          <a:p>
            <a:pPr algn="just"/>
            <a:r>
              <a:rPr lang="en-US" dirty="0"/>
              <a:t>Insert - Adds new data
Update - Changes the table data
Delete deletes rows from the table</a:t>
            </a:r>
          </a:p>
        </p:txBody>
      </p:sp>
    </p:spTree>
    <p:extLst>
      <p:ext uri="{BB962C8B-B14F-4D97-AF65-F5344CB8AC3E}">
        <p14:creationId xmlns:p14="http://schemas.microsoft.com/office/powerpoint/2010/main" val="1557299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49" y="1825624"/>
            <a:ext cx="8128851" cy="4879975"/>
          </a:xfrm>
        </p:spPr>
        <p:txBody>
          <a:bodyPr>
            <a:normAutofit fontScale="62500" lnSpcReduction="20000"/>
          </a:bodyPr>
          <a:lstStyle/>
          <a:p>
            <a:pPr marL="0" indent="0" algn="just">
              <a:lnSpc>
                <a:spcPct val="120000"/>
              </a:lnSpc>
              <a:buNone/>
            </a:pPr>
            <a:r>
              <a:rPr lang="en-US" dirty="0"/>
              <a:t>These commands do not display any result but return an information about how successful the command was. Unlike the Select command, the Insert, Delete, and Update commands change DB data. Therefore, the DB administrator may not allow it.</a:t>
            </a:r>
          </a:p>
          <a:p>
            <a:pPr marL="0" indent="0" algn="just">
              <a:lnSpc>
                <a:spcPct val="120000"/>
              </a:lnSpc>
              <a:buNone/>
            </a:pPr>
            <a:r>
              <a:rPr lang="en-US" dirty="0"/>
              <a:t>To use the Insert, Delete, and Update commands, you need to know the following information about the columns in the table:</a:t>
            </a:r>
          </a:p>
          <a:p>
            <a:pPr algn="just">
              <a:lnSpc>
                <a:spcPct val="120000"/>
              </a:lnSpc>
            </a:pPr>
            <a:r>
              <a:rPr lang="en-US" dirty="0"/>
              <a:t>column names</a:t>
            </a:r>
          </a:p>
          <a:p>
            <a:pPr algn="just">
              <a:lnSpc>
                <a:spcPct val="120000"/>
              </a:lnSpc>
            </a:pPr>
            <a:r>
              <a:rPr lang="en-US" dirty="0"/>
              <a:t>column order</a:t>
            </a:r>
          </a:p>
          <a:p>
            <a:pPr algn="just">
              <a:lnSpc>
                <a:spcPct val="120000"/>
              </a:lnSpc>
            </a:pPr>
            <a:r>
              <a:rPr lang="en-US" dirty="0"/>
              <a:t>column data types</a:t>
            </a:r>
          </a:p>
          <a:p>
            <a:pPr algn="just">
              <a:lnSpc>
                <a:spcPct val="120000"/>
              </a:lnSpc>
            </a:pPr>
            <a:r>
              <a:rPr lang="en-US" dirty="0"/>
              <a:t>primary key columns</a:t>
            </a:r>
          </a:p>
          <a:p>
            <a:pPr algn="just">
              <a:lnSpc>
                <a:spcPct val="120000"/>
              </a:lnSpc>
            </a:pPr>
            <a:r>
              <a:rPr lang="en-US" dirty="0"/>
              <a:t>whether the column values ​​must be unique</a:t>
            </a:r>
          </a:p>
          <a:p>
            <a:pPr algn="just">
              <a:lnSpc>
                <a:spcPct val="120000"/>
              </a:lnSpc>
            </a:pPr>
            <a:r>
              <a:rPr lang="en-US" dirty="0"/>
              <a:t>whether a NULL value in the columns is allowed</a:t>
            </a:r>
          </a:p>
          <a:p>
            <a:pPr algn="just">
              <a:lnSpc>
                <a:spcPct val="120000"/>
              </a:lnSpc>
            </a:pPr>
            <a:r>
              <a:rPr lang="en-US" dirty="0"/>
              <a:t>column value by default</a:t>
            </a:r>
          </a:p>
        </p:txBody>
      </p:sp>
    </p:spTree>
    <p:extLst>
      <p:ext uri="{BB962C8B-B14F-4D97-AF65-F5344CB8AC3E}">
        <p14:creationId xmlns:p14="http://schemas.microsoft.com/office/powerpoint/2010/main" val="580646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t>INSERT</a:t>
            </a:r>
            <a:endParaRPr lang="en-US" dirty="0"/>
          </a:p>
        </p:txBody>
      </p:sp>
      <p:sp>
        <p:nvSpPr>
          <p:cNvPr id="3" name="Content Placeholder 2"/>
          <p:cNvSpPr>
            <a:spLocks noGrp="1"/>
          </p:cNvSpPr>
          <p:nvPr>
            <p:ph idx="1"/>
          </p:nvPr>
        </p:nvSpPr>
        <p:spPr/>
        <p:txBody>
          <a:bodyPr/>
          <a:lstStyle/>
          <a:p>
            <a:pPr marL="0" indent="0" algn="just">
              <a:buNone/>
            </a:pPr>
            <a:r>
              <a:rPr lang="en-US" dirty="0"/>
              <a:t>The command adds new rows to the table. This command can be used:</a:t>
            </a:r>
          </a:p>
          <a:p>
            <a:pPr algn="just"/>
            <a:r>
              <a:rPr lang="en-US" dirty="0"/>
              <a:t>to insert a row using a column order (Insert Values ​​format)</a:t>
            </a:r>
          </a:p>
          <a:p>
            <a:pPr algn="just"/>
            <a:r>
              <a:rPr lang="en-US" dirty="0"/>
              <a:t>to insert a row using column names (Insert </a:t>
            </a:r>
            <a:r>
              <a:rPr lang="en-US" dirty="0" err="1"/>
              <a:t>ColumnNames</a:t>
            </a:r>
            <a:r>
              <a:rPr lang="en-US" dirty="0"/>
              <a:t> Values ​​format)</a:t>
            </a:r>
          </a:p>
          <a:p>
            <a:pPr algn="just"/>
            <a:r>
              <a:rPr lang="en-US" dirty="0"/>
              <a:t>to insert rows from another table (Insert Select format)</a:t>
            </a:r>
          </a:p>
        </p:txBody>
      </p:sp>
    </p:spTree>
    <p:extLst>
      <p:ext uri="{BB962C8B-B14F-4D97-AF65-F5344CB8AC3E}">
        <p14:creationId xmlns:p14="http://schemas.microsoft.com/office/powerpoint/2010/main" val="2190972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t>INSERT</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Add rows using a column order</a:t>
            </a:r>
          </a:p>
          <a:p>
            <a:pPr marL="0" indent="0" algn="just">
              <a:buNone/>
            </a:pPr>
            <a:r>
              <a:rPr lang="en-US" dirty="0"/>
              <a:t>Format:</a:t>
            </a:r>
          </a:p>
          <a:p>
            <a:pPr marL="0" indent="0" algn="just">
              <a:buNone/>
            </a:pPr>
            <a:r>
              <a:rPr lang="en-US" dirty="0"/>
              <a:t>INSERT INTO table VALUES (value1, ..., value n);</a:t>
            </a:r>
          </a:p>
          <a:p>
            <a:pPr marL="0" indent="0" algn="just">
              <a:buNone/>
            </a:pPr>
            <a:endParaRPr lang="en-US" dirty="0"/>
          </a:p>
          <a:p>
            <a:pPr marL="0" indent="0" algn="just">
              <a:buNone/>
            </a:pPr>
            <a:r>
              <a:rPr lang="en-US" dirty="0"/>
              <a:t>In this case, the number of values ​​is equal to the number of columns, and the values order need to correspond the column names order ​​in the table. The value data types must be the same as the table column data types.</a:t>
            </a:r>
          </a:p>
        </p:txBody>
      </p:sp>
    </p:spTree>
    <p:extLst>
      <p:ext uri="{BB962C8B-B14F-4D97-AF65-F5344CB8AC3E}">
        <p14:creationId xmlns:p14="http://schemas.microsoft.com/office/powerpoint/2010/main" val="1999953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t>INSERT</a:t>
            </a:r>
            <a:endParaRPr lang="en-US" dirty="0"/>
          </a:p>
        </p:txBody>
      </p:sp>
      <p:sp>
        <p:nvSpPr>
          <p:cNvPr id="3" name="Content Placeholder 2"/>
          <p:cNvSpPr>
            <a:spLocks noGrp="1"/>
          </p:cNvSpPr>
          <p:nvPr>
            <p:ph idx="1"/>
          </p:nvPr>
        </p:nvSpPr>
        <p:spPr>
          <a:xfrm>
            <a:off x="293913" y="1825624"/>
            <a:ext cx="8512629" cy="4814661"/>
          </a:xfrm>
        </p:spPr>
        <p:txBody>
          <a:bodyPr>
            <a:normAutofit/>
          </a:bodyPr>
          <a:lstStyle/>
          <a:p>
            <a:pPr marL="0" indent="0" algn="just">
              <a:buNone/>
            </a:pPr>
            <a:r>
              <a:rPr lang="en-US" dirty="0"/>
              <a:t>Add rows by using column names
Format:
INSERT INTO (column name1, ..., column name n)
VALUES (value1, ..., value n);
The number of values must be the same as the number of column names. Values order must be the same as column name order. You can type column names in arbitrary order. If a column name is omitted, its value becomes NULL.</a:t>
            </a:r>
          </a:p>
        </p:txBody>
      </p:sp>
    </p:spTree>
    <p:extLst>
      <p:ext uri="{BB962C8B-B14F-4D97-AF65-F5344CB8AC3E}">
        <p14:creationId xmlns:p14="http://schemas.microsoft.com/office/powerpoint/2010/main" val="1718690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t>INSERT</a:t>
            </a:r>
            <a:endParaRPr lang="en-US" dirty="0"/>
          </a:p>
        </p:txBody>
      </p:sp>
      <p:sp>
        <p:nvSpPr>
          <p:cNvPr id="3" name="Content Placeholder 2"/>
          <p:cNvSpPr>
            <a:spLocks noGrp="1"/>
          </p:cNvSpPr>
          <p:nvPr>
            <p:ph idx="1"/>
          </p:nvPr>
        </p:nvSpPr>
        <p:spPr>
          <a:xfrm>
            <a:off x="293913" y="1825624"/>
            <a:ext cx="8512629" cy="4923968"/>
          </a:xfrm>
        </p:spPr>
        <p:txBody>
          <a:bodyPr>
            <a:normAutofit/>
          </a:bodyPr>
          <a:lstStyle/>
          <a:p>
            <a:pPr marL="0" indent="0">
              <a:buNone/>
            </a:pPr>
            <a:r>
              <a:rPr lang="en-US" dirty="0"/>
              <a:t>Add rows from another table
Format:
INSERT INTO [(column name1, ..., column name n)]
SELECT statement;
The number of columns in the Select statement must be the same as the number of columns in the table, or the number of columns in the list that follows the INTO keyword. If the column name is not in the list, its value becomes NULL.</a:t>
            </a:r>
          </a:p>
        </p:txBody>
      </p:sp>
    </p:spTree>
    <p:extLst>
      <p:ext uri="{BB962C8B-B14F-4D97-AF65-F5344CB8AC3E}">
        <p14:creationId xmlns:p14="http://schemas.microsoft.com/office/powerpoint/2010/main" val="75434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50" y="1825625"/>
            <a:ext cx="7886700" cy="4368346"/>
          </a:xfrm>
        </p:spPr>
        <p:txBody>
          <a:bodyPr/>
          <a:lstStyle/>
          <a:p>
            <a:pPr marL="0" indent="0" algn="just">
              <a:buNone/>
            </a:pPr>
            <a:r>
              <a:rPr lang="en-US" dirty="0"/>
              <a:t>Examples:
Add a new row to Books by using the column order
</a:t>
            </a:r>
            <a:r>
              <a:rPr lang="lv-LV" sz="2400" b="1" dirty="0"/>
              <a:t>INSERT INTO </a:t>
            </a:r>
            <a:r>
              <a:rPr lang="en-US" sz="2400" b="1" dirty="0"/>
              <a:t>Books</a:t>
            </a:r>
            <a:r>
              <a:rPr lang="lv-LV" sz="2400" b="1" dirty="0"/>
              <a:t> VALUES (59, 'Jauna', 'Jaunums', 5);</a:t>
            </a:r>
          </a:p>
          <a:p>
            <a:pPr marL="0" indent="0" algn="just">
              <a:buNone/>
            </a:pPr>
            <a:endParaRPr lang="lv-LV" sz="2400" b="1" dirty="0"/>
          </a:p>
          <a:p>
            <a:pPr marL="0" indent="0" algn="just">
              <a:buNone/>
            </a:pPr>
            <a:r>
              <a:rPr lang="en-US" dirty="0"/>
              <a:t>Add a new row to the Readers table by using column names
</a:t>
            </a:r>
            <a:r>
              <a:rPr lang="en-US" sz="2400" b="1" dirty="0"/>
              <a:t>INSERT INTO Readers (</a:t>
            </a:r>
            <a:r>
              <a:rPr lang="en-US" sz="2400" b="1" dirty="0" err="1"/>
              <a:t>ReaderID</a:t>
            </a:r>
            <a:r>
              <a:rPr lang="en-US" sz="2400" b="1" dirty="0"/>
              <a:t>, </a:t>
            </a:r>
            <a:r>
              <a:rPr lang="en-US" sz="2400" b="1" dirty="0" err="1"/>
              <a:t>ReaderSur</a:t>
            </a:r>
            <a:r>
              <a:rPr lang="en-US" sz="2400" b="1" dirty="0"/>
              <a:t>, </a:t>
            </a:r>
            <a:r>
              <a:rPr lang="en-US" sz="2400" b="1" dirty="0" err="1"/>
              <a:t>ReaderName</a:t>
            </a:r>
            <a:r>
              <a:rPr lang="en-US" sz="2400" b="1" dirty="0"/>
              <a:t>) VALUES ('2222/22', '</a:t>
            </a:r>
            <a:r>
              <a:rPr lang="en-US" sz="2400" b="1" dirty="0" err="1"/>
              <a:t>Jauns</a:t>
            </a:r>
            <a:r>
              <a:rPr lang="en-US" sz="2400" b="1" dirty="0"/>
              <a:t>', 'Janis');</a:t>
            </a:r>
          </a:p>
        </p:txBody>
      </p:sp>
    </p:spTree>
    <p:extLst>
      <p:ext uri="{BB962C8B-B14F-4D97-AF65-F5344CB8AC3E}">
        <p14:creationId xmlns:p14="http://schemas.microsoft.com/office/powerpoint/2010/main" val="2215610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50" y="1825624"/>
            <a:ext cx="7886700" cy="5032375"/>
          </a:xfrm>
        </p:spPr>
        <p:txBody>
          <a:bodyPr>
            <a:normAutofit/>
          </a:bodyPr>
          <a:lstStyle/>
          <a:p>
            <a:pPr marL="0" indent="0" algn="just">
              <a:buNone/>
            </a:pPr>
            <a:r>
              <a:rPr lang="en-US" dirty="0"/>
              <a:t>Examples:
Add a new row to Books table by using column names
</a:t>
            </a:r>
            <a:r>
              <a:rPr lang="en-US" sz="2400" b="1" dirty="0"/>
              <a:t>INSERT INTO Books (Title, </a:t>
            </a:r>
            <a:r>
              <a:rPr lang="en-US" sz="2400" b="1" dirty="0" err="1"/>
              <a:t>BookId</a:t>
            </a:r>
            <a:r>
              <a:rPr lang="en-US" sz="2400" b="1" dirty="0"/>
              <a:t>) </a:t>
            </a:r>
            <a:endParaRPr lang="lv-LV" sz="2400" b="1" dirty="0"/>
          </a:p>
          <a:p>
            <a:pPr marL="0" indent="0" algn="just">
              <a:buNone/>
            </a:pPr>
            <a:r>
              <a:rPr lang="en-US" sz="2400" b="1" dirty="0"/>
              <a:t>VALUES ('</a:t>
            </a:r>
            <a:r>
              <a:rPr lang="en-US" sz="2400" b="1" dirty="0" err="1"/>
              <a:t>Otrais</a:t>
            </a:r>
            <a:r>
              <a:rPr lang="en-US" sz="2400" b="1" dirty="0"/>
              <a:t> </a:t>
            </a:r>
            <a:r>
              <a:rPr lang="en-US" sz="2400" b="1" dirty="0" err="1"/>
              <a:t>jaunums</a:t>
            </a:r>
            <a:r>
              <a:rPr lang="en-US" sz="2400" b="1" dirty="0"/>
              <a:t>', 56);</a:t>
            </a:r>
            <a:endParaRPr lang="lv-LV" sz="2400" b="1" dirty="0"/>
          </a:p>
          <a:p>
            <a:pPr marL="0" indent="0" algn="just">
              <a:buNone/>
            </a:pPr>
            <a:endParaRPr lang="lv-LV" sz="2400" b="1" dirty="0"/>
          </a:p>
          <a:p>
            <a:pPr marL="0" indent="0" algn="just">
              <a:buNone/>
            </a:pPr>
            <a:endParaRPr lang="lv-LV" sz="2400" b="1" dirty="0"/>
          </a:p>
          <a:p>
            <a:pPr marL="0" indent="0" algn="just">
              <a:buNone/>
            </a:pPr>
            <a:endParaRPr lang="en-US" sz="2400" b="1" dirty="0"/>
          </a:p>
          <a:p>
            <a:pPr marL="0" indent="0" algn="just">
              <a:buNone/>
            </a:pPr>
            <a:endParaRPr lang="en-US" sz="2400" b="1" dirty="0"/>
          </a:p>
          <a:p>
            <a:pPr marL="0" indent="0" algn="just">
              <a:buNone/>
            </a:pPr>
            <a:endParaRPr lang="lv-LV" sz="2400" b="1" dirty="0"/>
          </a:p>
          <a:p>
            <a:pPr marL="0" indent="0" algn="just">
              <a:buNone/>
            </a:pPr>
            <a:r>
              <a:rPr lang="lv-LV" sz="2400" b="1" dirty="0"/>
              <a:t>???</a:t>
            </a:r>
            <a:endParaRPr lang="en-US" sz="2400" b="1" dirty="0"/>
          </a:p>
        </p:txBody>
      </p:sp>
      <p:pic>
        <p:nvPicPr>
          <p:cNvPr id="8" name="Picture 7">
            <a:extLst>
              <a:ext uri="{FF2B5EF4-FFF2-40B4-BE49-F238E27FC236}">
                <a16:creationId xmlns:a16="http://schemas.microsoft.com/office/drawing/2014/main" id="{EF776EDE-712E-2DD8-1162-6F4174E3811D}"/>
              </a:ext>
            </a:extLst>
          </p:cNvPr>
          <p:cNvPicPr>
            <a:picLocks noChangeAspect="1"/>
          </p:cNvPicPr>
          <p:nvPr/>
        </p:nvPicPr>
        <p:blipFill>
          <a:blip r:embed="rId2"/>
          <a:stretch>
            <a:fillRect/>
          </a:stretch>
        </p:blipFill>
        <p:spPr>
          <a:xfrm>
            <a:off x="2854036" y="4195857"/>
            <a:ext cx="3071780" cy="2539973"/>
          </a:xfrm>
          <a:prstGeom prst="rect">
            <a:avLst/>
          </a:prstGeom>
        </p:spPr>
      </p:pic>
    </p:spTree>
    <p:extLst>
      <p:ext uri="{BB962C8B-B14F-4D97-AF65-F5344CB8AC3E}">
        <p14:creationId xmlns:p14="http://schemas.microsoft.com/office/powerpoint/2010/main" val="3785901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49" y="1825625"/>
            <a:ext cx="8090477" cy="3508375"/>
          </a:xfrm>
        </p:spPr>
        <p:txBody>
          <a:bodyPr/>
          <a:lstStyle/>
          <a:p>
            <a:pPr marL="0" indent="0" algn="just">
              <a:buNone/>
            </a:pPr>
            <a:r>
              <a:rPr lang="en-US" dirty="0"/>
              <a:t>Examples:
Give a specific reader a new books (1)
</a:t>
            </a:r>
            <a:endParaRPr lang="lv-LV" dirty="0"/>
          </a:p>
          <a:p>
            <a:pPr marL="0" indent="0" algn="just">
              <a:buNone/>
            </a:pPr>
            <a:r>
              <a:rPr lang="en-US" sz="2000" b="1" dirty="0"/>
              <a:t>INSERT INTO </a:t>
            </a:r>
            <a:r>
              <a:rPr lang="en-US" sz="2000" b="1" dirty="0" err="1"/>
              <a:t>Books_taken</a:t>
            </a:r>
            <a:r>
              <a:rPr lang="en-US" sz="2000" b="1" dirty="0"/>
              <a:t> (</a:t>
            </a:r>
            <a:r>
              <a:rPr lang="en-US" sz="2000" b="1" dirty="0" err="1"/>
              <a:t>BookId</a:t>
            </a:r>
            <a:r>
              <a:rPr lang="en-US" sz="2000" b="1" dirty="0"/>
              <a:t>, </a:t>
            </a:r>
            <a:r>
              <a:rPr lang="en-US" sz="2000" b="1" dirty="0" err="1"/>
              <a:t>ReaderID</a:t>
            </a:r>
            <a:r>
              <a:rPr lang="en-US" sz="2000" b="1" dirty="0"/>
              <a:t>, </a:t>
            </a:r>
            <a:r>
              <a:rPr lang="en-US" sz="2000" b="1" dirty="0" err="1"/>
              <a:t>ReturnDate</a:t>
            </a:r>
            <a:r>
              <a:rPr lang="en-US" sz="2000" b="1" dirty="0"/>
              <a:t>)</a:t>
            </a:r>
          </a:p>
          <a:p>
            <a:pPr marL="0" indent="0" algn="just">
              <a:buNone/>
            </a:pPr>
            <a:r>
              <a:rPr lang="en-US" sz="2000" b="1" dirty="0"/>
              <a:t>SELECT </a:t>
            </a:r>
            <a:r>
              <a:rPr lang="en-US" sz="2000" b="1" dirty="0" err="1"/>
              <a:t>b.BookId</a:t>
            </a:r>
            <a:r>
              <a:rPr lang="en-US" sz="2000" b="1" dirty="0"/>
              <a:t>, </a:t>
            </a:r>
            <a:r>
              <a:rPr lang="en-US" sz="2000" b="1" dirty="0" err="1"/>
              <a:t>r.ReaderID</a:t>
            </a:r>
            <a:r>
              <a:rPr lang="en-US" sz="2000" b="1" dirty="0"/>
              <a:t>, DATE_ADD(CURDATE(), INTERVAL 14 DAY)</a:t>
            </a:r>
          </a:p>
          <a:p>
            <a:pPr marL="0" indent="0" algn="just">
              <a:buNone/>
            </a:pPr>
            <a:r>
              <a:rPr lang="en-US" sz="2000" b="1" dirty="0">
                <a:highlight>
                  <a:srgbClr val="FFFF00"/>
                </a:highlight>
              </a:rPr>
              <a:t>FROM Books b CROSS JOIN Readers r </a:t>
            </a:r>
          </a:p>
          <a:p>
            <a:pPr marL="0" indent="0" algn="just">
              <a:buNone/>
            </a:pPr>
            <a:r>
              <a:rPr lang="en-US" sz="2000" b="1" dirty="0"/>
              <a:t>WHERE (Title LIKE '</a:t>
            </a:r>
            <a:r>
              <a:rPr lang="en-US" sz="2000" b="1" dirty="0" err="1">
                <a:highlight>
                  <a:srgbClr val="FFFF00"/>
                </a:highlight>
              </a:rPr>
              <a:t>Jauna</a:t>
            </a:r>
            <a:r>
              <a:rPr lang="en-US" sz="2000" b="1" dirty="0"/>
              <a:t>') AND (</a:t>
            </a:r>
            <a:r>
              <a:rPr lang="en-US" sz="2000" b="1" dirty="0" err="1"/>
              <a:t>ReaderSur</a:t>
            </a:r>
            <a:r>
              <a:rPr lang="en-US" sz="2000" b="1" dirty="0"/>
              <a:t> LIKE '</a:t>
            </a:r>
            <a:r>
              <a:rPr lang="en-US" sz="2000" b="1" dirty="0" err="1">
                <a:highlight>
                  <a:srgbClr val="FFFF00"/>
                </a:highlight>
              </a:rPr>
              <a:t>Jauns</a:t>
            </a:r>
            <a:r>
              <a:rPr lang="en-US" sz="2000" b="1" dirty="0"/>
              <a:t>');</a:t>
            </a:r>
          </a:p>
        </p:txBody>
      </p:sp>
      <p:sp>
        <p:nvSpPr>
          <p:cNvPr id="4" name="Rectangle 3"/>
          <p:cNvSpPr/>
          <p:nvPr/>
        </p:nvSpPr>
        <p:spPr>
          <a:xfrm>
            <a:off x="628650" y="5671848"/>
            <a:ext cx="7535636" cy="646331"/>
          </a:xfrm>
          <a:prstGeom prst="rect">
            <a:avLst/>
          </a:prstGeom>
        </p:spPr>
        <p:txBody>
          <a:bodyPr wrap="square">
            <a:spAutoFit/>
          </a:bodyPr>
          <a:lstStyle/>
          <a:p>
            <a:pPr algn="just"/>
            <a:r>
              <a:rPr lang="en-US" b="1" dirty="0"/>
              <a:t>INTERVAL 14 DAY </a:t>
            </a:r>
            <a:r>
              <a:rPr lang="lv-LV" b="1" dirty="0"/>
              <a:t>		</a:t>
            </a:r>
            <a:r>
              <a:rPr lang="en-US" dirty="0"/>
              <a:t>Today's date and time + 14 days</a:t>
            </a:r>
            <a:endParaRPr lang="lv-LV" dirty="0"/>
          </a:p>
          <a:p>
            <a:pPr algn="just"/>
            <a:endParaRPr lang="en-US" b="1" dirty="0"/>
          </a:p>
        </p:txBody>
      </p:sp>
    </p:spTree>
    <p:extLst>
      <p:ext uri="{BB962C8B-B14F-4D97-AF65-F5344CB8AC3E}">
        <p14:creationId xmlns:p14="http://schemas.microsoft.com/office/powerpoint/2010/main" val="2487660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6A525-20BA-D15F-6145-8816D45FF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2BF60-693C-7AAC-9D29-8E3FD9B93BEC}"/>
              </a:ext>
            </a:extLst>
          </p:cNvPr>
          <p:cNvSpPr>
            <a:spLocks noGrp="1"/>
          </p:cNvSpPr>
          <p:nvPr>
            <p:ph type="title"/>
          </p:nvPr>
        </p:nvSpPr>
        <p:spPr/>
        <p:txBody>
          <a:bodyPr/>
          <a:lstStyle/>
          <a:p>
            <a:pPr algn="ctr"/>
            <a:r>
              <a:rPr lang="en-US" dirty="0"/>
              <a:t>Commands for adding, deleting, and updating data</a:t>
            </a:r>
          </a:p>
        </p:txBody>
      </p:sp>
      <p:sp>
        <p:nvSpPr>
          <p:cNvPr id="3" name="Content Placeholder 2">
            <a:extLst>
              <a:ext uri="{FF2B5EF4-FFF2-40B4-BE49-F238E27FC236}">
                <a16:creationId xmlns:a16="http://schemas.microsoft.com/office/drawing/2014/main" id="{64B59B57-BE82-A3E9-7396-8599638D51EB}"/>
              </a:ext>
            </a:extLst>
          </p:cNvPr>
          <p:cNvSpPr>
            <a:spLocks noGrp="1"/>
          </p:cNvSpPr>
          <p:nvPr>
            <p:ph idx="1"/>
          </p:nvPr>
        </p:nvSpPr>
        <p:spPr>
          <a:xfrm>
            <a:off x="628649" y="1825625"/>
            <a:ext cx="8090477" cy="3508375"/>
          </a:xfrm>
        </p:spPr>
        <p:txBody>
          <a:bodyPr/>
          <a:lstStyle/>
          <a:p>
            <a:pPr marL="0" indent="0" algn="just">
              <a:buNone/>
            </a:pPr>
            <a:r>
              <a:rPr lang="en-US" dirty="0"/>
              <a:t>Examples:
Give a specific reader a new books (2)
</a:t>
            </a:r>
            <a:endParaRPr lang="lv-LV" dirty="0"/>
          </a:p>
          <a:p>
            <a:pPr marL="0" indent="0" algn="just">
              <a:buNone/>
            </a:pPr>
            <a:r>
              <a:rPr lang="en-US" sz="2000" b="1" dirty="0"/>
              <a:t>INSERT INTO </a:t>
            </a:r>
            <a:r>
              <a:rPr lang="en-US" sz="2000" b="1" dirty="0" err="1"/>
              <a:t>Books_taken</a:t>
            </a:r>
            <a:r>
              <a:rPr lang="en-US" sz="2000" b="1" dirty="0"/>
              <a:t> (</a:t>
            </a:r>
            <a:r>
              <a:rPr lang="en-US" sz="2000" b="1" dirty="0" err="1"/>
              <a:t>BookId</a:t>
            </a:r>
            <a:r>
              <a:rPr lang="en-US" sz="2000" b="1" dirty="0"/>
              <a:t>, </a:t>
            </a:r>
            <a:r>
              <a:rPr lang="en-US" sz="2000" b="1" dirty="0" err="1"/>
              <a:t>ReaderID</a:t>
            </a:r>
            <a:r>
              <a:rPr lang="en-US" sz="2000" b="1" dirty="0"/>
              <a:t>, </a:t>
            </a:r>
            <a:r>
              <a:rPr lang="en-US" sz="2000" b="1" dirty="0" err="1"/>
              <a:t>ReturnDate</a:t>
            </a:r>
            <a:r>
              <a:rPr lang="en-US" sz="2000" b="1" dirty="0"/>
              <a:t>)</a:t>
            </a:r>
          </a:p>
          <a:p>
            <a:pPr marL="0" indent="0" algn="just">
              <a:buNone/>
            </a:pPr>
            <a:r>
              <a:rPr lang="en-US" sz="2000" b="1" dirty="0"/>
              <a:t>SELECT </a:t>
            </a:r>
            <a:r>
              <a:rPr lang="en-US" sz="2000" b="1" dirty="0" err="1"/>
              <a:t>b.BookId</a:t>
            </a:r>
            <a:r>
              <a:rPr lang="en-US" sz="2000" b="1" dirty="0"/>
              <a:t>, </a:t>
            </a:r>
            <a:r>
              <a:rPr lang="en-US" sz="2000" b="1" dirty="0" err="1"/>
              <a:t>r.ReaderID</a:t>
            </a:r>
            <a:r>
              <a:rPr lang="en-US" sz="2000" b="1" dirty="0"/>
              <a:t>, DATE_ADD(CURDATE(), INTERVAL 14 DAY)</a:t>
            </a:r>
          </a:p>
          <a:p>
            <a:pPr marL="0" indent="0" algn="just">
              <a:buNone/>
            </a:pPr>
            <a:r>
              <a:rPr lang="en-US" sz="2000" b="1" dirty="0">
                <a:highlight>
                  <a:srgbClr val="FFFF00"/>
                </a:highlight>
              </a:rPr>
              <a:t>FROM Books b, Readers r </a:t>
            </a:r>
          </a:p>
          <a:p>
            <a:pPr marL="0" indent="0" algn="just">
              <a:buNone/>
            </a:pPr>
            <a:r>
              <a:rPr lang="en-US" sz="2000" b="1" dirty="0"/>
              <a:t>WHERE (Title LIKE '</a:t>
            </a:r>
            <a:r>
              <a:rPr lang="en-US" sz="2000" b="1" dirty="0" err="1">
                <a:highlight>
                  <a:srgbClr val="FFFF00"/>
                </a:highlight>
              </a:rPr>
              <a:t>Jauna</a:t>
            </a:r>
            <a:r>
              <a:rPr lang="en-US" sz="2000" b="1" dirty="0"/>
              <a:t>') AND (</a:t>
            </a:r>
            <a:r>
              <a:rPr lang="en-US" sz="2000" b="1" dirty="0" err="1"/>
              <a:t>ReaderSur</a:t>
            </a:r>
            <a:r>
              <a:rPr lang="en-US" sz="2000" b="1" dirty="0"/>
              <a:t> LIKE '</a:t>
            </a:r>
            <a:r>
              <a:rPr lang="en-US" sz="2000" b="1" dirty="0" err="1">
                <a:highlight>
                  <a:srgbClr val="FFFF00"/>
                </a:highlight>
              </a:rPr>
              <a:t>Jauns</a:t>
            </a:r>
            <a:r>
              <a:rPr lang="en-US" sz="2000" b="1" dirty="0"/>
              <a:t>');</a:t>
            </a:r>
          </a:p>
        </p:txBody>
      </p:sp>
      <p:sp>
        <p:nvSpPr>
          <p:cNvPr id="4" name="Rectangle 3">
            <a:extLst>
              <a:ext uri="{FF2B5EF4-FFF2-40B4-BE49-F238E27FC236}">
                <a16:creationId xmlns:a16="http://schemas.microsoft.com/office/drawing/2014/main" id="{E5BF2A16-439A-DC45-D80B-77BC96A53F51}"/>
              </a:ext>
            </a:extLst>
          </p:cNvPr>
          <p:cNvSpPr/>
          <p:nvPr/>
        </p:nvSpPr>
        <p:spPr>
          <a:xfrm>
            <a:off x="628650" y="5671848"/>
            <a:ext cx="7535636" cy="646331"/>
          </a:xfrm>
          <a:prstGeom prst="rect">
            <a:avLst/>
          </a:prstGeom>
        </p:spPr>
        <p:txBody>
          <a:bodyPr wrap="square">
            <a:spAutoFit/>
          </a:bodyPr>
          <a:lstStyle/>
          <a:p>
            <a:pPr algn="just"/>
            <a:r>
              <a:rPr lang="en-US" b="1" dirty="0"/>
              <a:t>INTERVAL 14 DAY </a:t>
            </a:r>
            <a:r>
              <a:rPr lang="lv-LV" b="1" dirty="0"/>
              <a:t>		</a:t>
            </a:r>
            <a:r>
              <a:rPr lang="en-US" dirty="0"/>
              <a:t>Today's date and time + 14 days</a:t>
            </a:r>
            <a:endParaRPr lang="lv-LV" dirty="0"/>
          </a:p>
          <a:p>
            <a:pPr algn="just"/>
            <a:endParaRPr lang="en-US" b="1" dirty="0"/>
          </a:p>
        </p:txBody>
      </p:sp>
    </p:spTree>
    <p:extLst>
      <p:ext uri="{BB962C8B-B14F-4D97-AF65-F5344CB8AC3E}">
        <p14:creationId xmlns:p14="http://schemas.microsoft.com/office/powerpoint/2010/main" val="1461727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8D228-443C-50CD-EAFA-1EFD1F50D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9F405-20F7-5055-2FD6-8927004E4B51}"/>
              </a:ext>
            </a:extLst>
          </p:cNvPr>
          <p:cNvSpPr>
            <a:spLocks noGrp="1"/>
          </p:cNvSpPr>
          <p:nvPr>
            <p:ph type="title"/>
          </p:nvPr>
        </p:nvSpPr>
        <p:spPr/>
        <p:txBody>
          <a:bodyPr/>
          <a:lstStyle/>
          <a:p>
            <a:pPr algn="ctr"/>
            <a:r>
              <a:rPr lang="en-US" dirty="0"/>
              <a:t>Commands for adding, deleting, and updating data</a:t>
            </a:r>
          </a:p>
        </p:txBody>
      </p:sp>
      <p:sp>
        <p:nvSpPr>
          <p:cNvPr id="3" name="Content Placeholder 2">
            <a:extLst>
              <a:ext uri="{FF2B5EF4-FFF2-40B4-BE49-F238E27FC236}">
                <a16:creationId xmlns:a16="http://schemas.microsoft.com/office/drawing/2014/main" id="{84283D72-1D52-214C-ACCA-10FDCFAD511D}"/>
              </a:ext>
            </a:extLst>
          </p:cNvPr>
          <p:cNvSpPr>
            <a:spLocks noGrp="1"/>
          </p:cNvSpPr>
          <p:nvPr>
            <p:ph idx="1"/>
          </p:nvPr>
        </p:nvSpPr>
        <p:spPr>
          <a:xfrm>
            <a:off x="628649" y="1825625"/>
            <a:ext cx="8090477" cy="3508375"/>
          </a:xfrm>
        </p:spPr>
        <p:txBody>
          <a:bodyPr/>
          <a:lstStyle/>
          <a:p>
            <a:pPr marL="0" indent="0" algn="just">
              <a:buNone/>
            </a:pPr>
            <a:r>
              <a:rPr lang="en-US" dirty="0"/>
              <a:t>Examples:
Give a specific reader a new books (3)
</a:t>
            </a:r>
            <a:endParaRPr lang="lv-LV" dirty="0"/>
          </a:p>
          <a:p>
            <a:pPr marL="0" indent="0" algn="just">
              <a:buNone/>
            </a:pPr>
            <a:r>
              <a:rPr lang="en-US" sz="2000" b="1" dirty="0"/>
              <a:t>INSERT INTO </a:t>
            </a:r>
            <a:r>
              <a:rPr lang="en-US" sz="2000" b="1" dirty="0" err="1"/>
              <a:t>Books_taken</a:t>
            </a:r>
            <a:r>
              <a:rPr lang="en-US" sz="2000" b="1" dirty="0"/>
              <a:t> (</a:t>
            </a:r>
            <a:r>
              <a:rPr lang="en-US" sz="2000" b="1" dirty="0" err="1"/>
              <a:t>BookId</a:t>
            </a:r>
            <a:r>
              <a:rPr lang="en-US" sz="2000" b="1" dirty="0"/>
              <a:t>, </a:t>
            </a:r>
            <a:r>
              <a:rPr lang="en-US" sz="2000" b="1" dirty="0" err="1"/>
              <a:t>ReaderID</a:t>
            </a:r>
            <a:r>
              <a:rPr lang="en-US" sz="2000" b="1" dirty="0"/>
              <a:t>, </a:t>
            </a:r>
            <a:r>
              <a:rPr lang="en-US" sz="2000" b="1" dirty="0" err="1"/>
              <a:t>ReturnDate</a:t>
            </a:r>
            <a:r>
              <a:rPr lang="en-US" sz="2000" b="1" dirty="0"/>
              <a:t>)</a:t>
            </a:r>
          </a:p>
          <a:p>
            <a:pPr marL="0" indent="0" algn="just">
              <a:buNone/>
            </a:pPr>
            <a:r>
              <a:rPr lang="en-US" sz="2000" b="1" dirty="0"/>
              <a:t>SELECT </a:t>
            </a:r>
            <a:r>
              <a:rPr lang="en-US" sz="2000" b="1" dirty="0" err="1"/>
              <a:t>b.BookId</a:t>
            </a:r>
            <a:r>
              <a:rPr lang="en-US" sz="2000" b="1" dirty="0"/>
              <a:t>, </a:t>
            </a:r>
            <a:r>
              <a:rPr lang="en-US" sz="2000" b="1" dirty="0" err="1"/>
              <a:t>r.ReaderID</a:t>
            </a:r>
            <a:r>
              <a:rPr lang="en-US" sz="2000" b="1" dirty="0"/>
              <a:t>, DATE_ADD(CURDATE(), INTERVAL 14 DAY)</a:t>
            </a:r>
          </a:p>
          <a:p>
            <a:pPr marL="0" indent="0" algn="just">
              <a:buNone/>
            </a:pPr>
            <a:r>
              <a:rPr lang="en-US" sz="2000" b="1" dirty="0">
                <a:highlight>
                  <a:srgbClr val="FFFF00"/>
                </a:highlight>
              </a:rPr>
              <a:t>FROM Books b INNER JOIN Readers r ON 1=1</a:t>
            </a:r>
          </a:p>
          <a:p>
            <a:pPr marL="0" indent="0" algn="just">
              <a:buNone/>
            </a:pPr>
            <a:r>
              <a:rPr lang="en-US" sz="2000" b="1" dirty="0"/>
              <a:t>WHERE (Title LIKE '</a:t>
            </a:r>
            <a:r>
              <a:rPr lang="en-US" sz="2000" b="1" dirty="0" err="1">
                <a:highlight>
                  <a:srgbClr val="FFFF00"/>
                </a:highlight>
              </a:rPr>
              <a:t>Jauna</a:t>
            </a:r>
            <a:r>
              <a:rPr lang="en-US" sz="2000" b="1" dirty="0"/>
              <a:t>') AND (</a:t>
            </a:r>
            <a:r>
              <a:rPr lang="en-US" sz="2000" b="1" dirty="0" err="1"/>
              <a:t>ReaderSur</a:t>
            </a:r>
            <a:r>
              <a:rPr lang="en-US" sz="2000" b="1" dirty="0"/>
              <a:t> LIKE '</a:t>
            </a:r>
            <a:r>
              <a:rPr lang="en-US" sz="2000" b="1" dirty="0" err="1">
                <a:highlight>
                  <a:srgbClr val="FFFF00"/>
                </a:highlight>
              </a:rPr>
              <a:t>Jauns</a:t>
            </a:r>
            <a:r>
              <a:rPr lang="en-US" sz="2000" b="1" dirty="0"/>
              <a:t>');</a:t>
            </a:r>
          </a:p>
        </p:txBody>
      </p:sp>
      <p:sp>
        <p:nvSpPr>
          <p:cNvPr id="4" name="Rectangle 3">
            <a:extLst>
              <a:ext uri="{FF2B5EF4-FFF2-40B4-BE49-F238E27FC236}">
                <a16:creationId xmlns:a16="http://schemas.microsoft.com/office/drawing/2014/main" id="{833F6725-6A35-1F12-A15A-0DD80854B3AD}"/>
              </a:ext>
            </a:extLst>
          </p:cNvPr>
          <p:cNvSpPr/>
          <p:nvPr/>
        </p:nvSpPr>
        <p:spPr>
          <a:xfrm>
            <a:off x="628650" y="5671848"/>
            <a:ext cx="7535636" cy="646331"/>
          </a:xfrm>
          <a:prstGeom prst="rect">
            <a:avLst/>
          </a:prstGeom>
        </p:spPr>
        <p:txBody>
          <a:bodyPr wrap="square">
            <a:spAutoFit/>
          </a:bodyPr>
          <a:lstStyle/>
          <a:p>
            <a:pPr algn="just"/>
            <a:r>
              <a:rPr lang="en-US" b="1" dirty="0"/>
              <a:t>INTERVAL 14 DAY </a:t>
            </a:r>
            <a:r>
              <a:rPr lang="lv-LV" b="1" dirty="0"/>
              <a:t>		</a:t>
            </a:r>
            <a:r>
              <a:rPr lang="en-US" dirty="0"/>
              <a:t>Today's date and time + 14 days</a:t>
            </a:r>
            <a:endParaRPr lang="lv-LV" dirty="0"/>
          </a:p>
          <a:p>
            <a:pPr algn="just"/>
            <a:endParaRPr lang="en-US" b="1" dirty="0"/>
          </a:p>
        </p:txBody>
      </p:sp>
    </p:spTree>
    <p:extLst>
      <p:ext uri="{BB962C8B-B14F-4D97-AF65-F5344CB8AC3E}">
        <p14:creationId xmlns:p14="http://schemas.microsoft.com/office/powerpoint/2010/main" val="3041468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t>DELETE</a:t>
            </a:r>
            <a:endParaRPr lang="en-US" dirty="0"/>
          </a:p>
        </p:txBody>
      </p:sp>
      <p:sp>
        <p:nvSpPr>
          <p:cNvPr id="3" name="Content Placeholder 2"/>
          <p:cNvSpPr>
            <a:spLocks noGrp="1"/>
          </p:cNvSpPr>
          <p:nvPr>
            <p:ph idx="1"/>
          </p:nvPr>
        </p:nvSpPr>
        <p:spPr/>
        <p:txBody>
          <a:bodyPr>
            <a:normAutofit fontScale="92500"/>
          </a:bodyPr>
          <a:lstStyle/>
          <a:p>
            <a:pPr marL="0" indent="0" algn="just">
              <a:buNone/>
            </a:pPr>
            <a:r>
              <a:rPr lang="en-US" dirty="0"/>
              <a:t>With the Delete command, you can delete:
- all the rows in the table
- individual rows in a table
The Delete command does not delete the table itself. You can delete the table by using the Drop Table command.
Format:
DELETE FROM table [WHERE condition];</a:t>
            </a:r>
          </a:p>
        </p:txBody>
      </p:sp>
    </p:spTree>
    <p:extLst>
      <p:ext uri="{BB962C8B-B14F-4D97-AF65-F5344CB8AC3E}">
        <p14:creationId xmlns:p14="http://schemas.microsoft.com/office/powerpoint/2010/main" val="385746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50" y="1825625"/>
            <a:ext cx="7886700" cy="4912632"/>
          </a:xfrm>
        </p:spPr>
        <p:txBody>
          <a:bodyPr>
            <a:normAutofit fontScale="92500" lnSpcReduction="20000"/>
          </a:bodyPr>
          <a:lstStyle/>
          <a:p>
            <a:pPr marL="0" indent="0" algn="just">
              <a:buNone/>
            </a:pPr>
            <a:r>
              <a:rPr lang="en-US" dirty="0"/>
              <a:t>Examples: Delete books taken by a specific reader</a:t>
            </a:r>
          </a:p>
          <a:p>
            <a:pPr marL="0" indent="0" algn="just">
              <a:buNone/>
            </a:pPr>
            <a:endParaRPr lang="lv-LV" sz="2000" b="1" dirty="0"/>
          </a:p>
          <a:p>
            <a:pPr marL="0" indent="0" algn="just">
              <a:buNone/>
            </a:pPr>
            <a:r>
              <a:rPr lang="en-US" sz="2000" b="1" dirty="0"/>
              <a:t>DELETE *</a:t>
            </a:r>
          </a:p>
          <a:p>
            <a:pPr marL="0" indent="0" algn="just">
              <a:buNone/>
            </a:pPr>
            <a:r>
              <a:rPr lang="en-US" sz="2000" b="1" dirty="0"/>
              <a:t>FROM </a:t>
            </a:r>
            <a:r>
              <a:rPr lang="en-US" sz="2000" b="1" dirty="0" err="1"/>
              <a:t>Books_taken</a:t>
            </a:r>
            <a:endParaRPr lang="en-US" sz="2000" b="1" dirty="0"/>
          </a:p>
          <a:p>
            <a:pPr marL="0" indent="0" algn="just">
              <a:buNone/>
            </a:pPr>
            <a:r>
              <a:rPr lang="en-US" sz="2000" b="1" dirty="0"/>
              <a:t>WHERE </a:t>
            </a:r>
            <a:r>
              <a:rPr lang="en-US" sz="2000" b="1" dirty="0" err="1"/>
              <a:t>ReaderID</a:t>
            </a:r>
            <a:r>
              <a:rPr lang="en-US" sz="2000" b="1" dirty="0"/>
              <a:t> LIKE '3524/8r';</a:t>
            </a:r>
            <a:endParaRPr lang="lv-LV" sz="2000" b="1" dirty="0"/>
          </a:p>
          <a:p>
            <a:pPr marL="0" indent="0" algn="just">
              <a:buNone/>
            </a:pPr>
            <a:r>
              <a:rPr lang="en-US" sz="2000" dirty="0"/>
              <a:t>or</a:t>
            </a:r>
            <a:endParaRPr lang="lv-LV" sz="2000" dirty="0"/>
          </a:p>
          <a:p>
            <a:pPr marL="0" indent="0" algn="just">
              <a:buNone/>
            </a:pPr>
            <a:endParaRPr lang="lv-LV" sz="2000" b="1" dirty="0"/>
          </a:p>
          <a:p>
            <a:pPr marL="0" indent="0" algn="just">
              <a:buNone/>
            </a:pPr>
            <a:r>
              <a:rPr lang="en-US" sz="2000" b="1" dirty="0"/>
              <a:t>DELETE *</a:t>
            </a:r>
          </a:p>
          <a:p>
            <a:pPr marL="0" indent="0" algn="just">
              <a:buNone/>
            </a:pPr>
            <a:r>
              <a:rPr lang="en-US" sz="2000" b="1" dirty="0"/>
              <a:t>FROM </a:t>
            </a:r>
            <a:r>
              <a:rPr lang="en-US" sz="2000" b="1" dirty="0" err="1"/>
              <a:t>Books_taken</a:t>
            </a:r>
            <a:endParaRPr lang="en-US" sz="2000" b="1" dirty="0"/>
          </a:p>
          <a:p>
            <a:pPr marL="0" indent="0" algn="just">
              <a:buNone/>
            </a:pPr>
            <a:r>
              <a:rPr lang="en-US" sz="2000" b="1" dirty="0"/>
              <a:t>WHERE </a:t>
            </a:r>
            <a:r>
              <a:rPr lang="en-US" sz="2000" b="1" dirty="0" err="1"/>
              <a:t>ReaderID</a:t>
            </a:r>
            <a:r>
              <a:rPr lang="en-US" sz="2000" b="1" dirty="0"/>
              <a:t> = (</a:t>
            </a:r>
          </a:p>
          <a:p>
            <a:pPr marL="0" indent="0" algn="just">
              <a:buNone/>
            </a:pPr>
            <a:r>
              <a:rPr lang="en-US" sz="2000" b="1" dirty="0"/>
              <a:t>   SELECT </a:t>
            </a:r>
            <a:r>
              <a:rPr lang="en-US" sz="2000" b="1" dirty="0" err="1"/>
              <a:t>ReaderID</a:t>
            </a:r>
            <a:endParaRPr lang="en-US" sz="2000" b="1" dirty="0"/>
          </a:p>
          <a:p>
            <a:pPr marL="0" indent="0" algn="just">
              <a:buNone/>
            </a:pPr>
            <a:r>
              <a:rPr lang="en-US" sz="2000" b="1" dirty="0"/>
              <a:t>   FROM Readers</a:t>
            </a:r>
          </a:p>
          <a:p>
            <a:pPr marL="0" indent="0" algn="just">
              <a:buNone/>
            </a:pPr>
            <a:r>
              <a:rPr lang="en-US" sz="2000" b="1" dirty="0"/>
              <a:t>   WHERE (</a:t>
            </a:r>
            <a:r>
              <a:rPr lang="en-US" sz="2000" b="1" dirty="0" err="1"/>
              <a:t>ReaderSur</a:t>
            </a:r>
            <a:r>
              <a:rPr lang="en-US" sz="2000" b="1" dirty="0"/>
              <a:t> LIKE '</a:t>
            </a:r>
            <a:r>
              <a:rPr lang="en-US" sz="2000" b="1" dirty="0" err="1"/>
              <a:t>Jauns</a:t>
            </a:r>
            <a:r>
              <a:rPr lang="en-US" sz="2000" b="1" dirty="0"/>
              <a:t>')</a:t>
            </a:r>
          </a:p>
          <a:p>
            <a:pPr marL="0" indent="0" algn="just">
              <a:buNone/>
            </a:pPr>
            <a:r>
              <a:rPr lang="en-US" sz="2000" b="1" dirty="0"/>
              <a:t>);</a:t>
            </a:r>
          </a:p>
        </p:txBody>
      </p:sp>
    </p:spTree>
    <p:extLst>
      <p:ext uri="{BB962C8B-B14F-4D97-AF65-F5344CB8AC3E}">
        <p14:creationId xmlns:p14="http://schemas.microsoft.com/office/powerpoint/2010/main" val="3601720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50" y="1825625"/>
            <a:ext cx="7886700" cy="4912632"/>
          </a:xfrm>
        </p:spPr>
        <p:txBody>
          <a:bodyPr>
            <a:normAutofit/>
          </a:bodyPr>
          <a:lstStyle/>
          <a:p>
            <a:pPr marL="0" indent="0" algn="just">
              <a:buNone/>
            </a:pPr>
            <a:r>
              <a:rPr lang="lv-LV" dirty="0" err="1"/>
              <a:t>Examples</a:t>
            </a:r>
            <a:r>
              <a:rPr lang="lv-LV" dirty="0"/>
              <a:t>: </a:t>
            </a:r>
            <a:r>
              <a:rPr lang="lv-LV" dirty="0" err="1"/>
              <a:t>Delete</a:t>
            </a:r>
            <a:r>
              <a:rPr lang="lv-LV" dirty="0"/>
              <a:t> </a:t>
            </a:r>
            <a:r>
              <a:rPr lang="en-US" dirty="0"/>
              <a:t>r</a:t>
            </a:r>
            <a:r>
              <a:rPr lang="lv-LV" dirty="0" err="1"/>
              <a:t>eader</a:t>
            </a:r>
            <a:r>
              <a:rPr lang="lv-LV" dirty="0"/>
              <a:t>
</a:t>
            </a:r>
            <a:endParaRPr lang="lv-LV" sz="2000" b="1" dirty="0"/>
          </a:p>
          <a:p>
            <a:pPr marL="0" indent="0" algn="just">
              <a:buNone/>
            </a:pPr>
            <a:r>
              <a:rPr lang="en-US" sz="2000" b="1" dirty="0"/>
              <a:t>DELETE *</a:t>
            </a:r>
          </a:p>
          <a:p>
            <a:pPr marL="0" indent="0" algn="just">
              <a:buNone/>
            </a:pPr>
            <a:r>
              <a:rPr lang="en-US" sz="2000" b="1" dirty="0"/>
              <a:t>FROM Readers</a:t>
            </a:r>
          </a:p>
          <a:p>
            <a:pPr marL="0" indent="0" algn="just">
              <a:buNone/>
            </a:pPr>
            <a:r>
              <a:rPr lang="en-US" sz="2000" b="1" dirty="0"/>
              <a:t>WHERE </a:t>
            </a:r>
            <a:r>
              <a:rPr lang="en-US" sz="2000" b="1" dirty="0" err="1"/>
              <a:t>ReaderID</a:t>
            </a:r>
            <a:r>
              <a:rPr lang="en-US" sz="2000" b="1" dirty="0"/>
              <a:t> LIKE '8462/8t';</a:t>
            </a:r>
            <a:endParaRPr lang="lv-LV" sz="2000" b="1" dirty="0"/>
          </a:p>
          <a:p>
            <a:pPr marL="0" indent="0" algn="just">
              <a:buNone/>
            </a:pPr>
            <a:endParaRPr lang="lv-LV" sz="2000" b="1" dirty="0"/>
          </a:p>
          <a:p>
            <a:pPr marL="0" indent="0" algn="just">
              <a:buNone/>
            </a:pPr>
            <a:endParaRPr lang="lv-LV" sz="2000" b="1" dirty="0"/>
          </a:p>
          <a:p>
            <a:pPr marL="0" indent="0" algn="just">
              <a:buNone/>
            </a:pPr>
            <a:endParaRPr lang="lv-LV" sz="2000" b="1" dirty="0"/>
          </a:p>
          <a:p>
            <a:pPr marL="0" indent="0" algn="just">
              <a:buNone/>
            </a:pPr>
            <a:endParaRPr lang="lv-LV" sz="2000" b="1" dirty="0"/>
          </a:p>
          <a:p>
            <a:pPr marL="0" indent="0" algn="just">
              <a:buNone/>
            </a:pPr>
            <a:endParaRPr lang="en-US" sz="2000" b="1" dirty="0"/>
          </a:p>
        </p:txBody>
      </p:sp>
      <p:pic>
        <p:nvPicPr>
          <p:cNvPr id="7" name="Picture 6">
            <a:extLst>
              <a:ext uri="{FF2B5EF4-FFF2-40B4-BE49-F238E27FC236}">
                <a16:creationId xmlns:a16="http://schemas.microsoft.com/office/drawing/2014/main" id="{9C7EE8EA-8CFB-A21C-EAEC-96EBA564BEF5}"/>
              </a:ext>
            </a:extLst>
          </p:cNvPr>
          <p:cNvPicPr>
            <a:picLocks noChangeAspect="1"/>
          </p:cNvPicPr>
          <p:nvPr/>
        </p:nvPicPr>
        <p:blipFill>
          <a:blip r:embed="rId2"/>
          <a:stretch>
            <a:fillRect/>
          </a:stretch>
        </p:blipFill>
        <p:spPr>
          <a:xfrm>
            <a:off x="4927199" y="2434658"/>
            <a:ext cx="3667637" cy="4058216"/>
          </a:xfrm>
          <a:prstGeom prst="rect">
            <a:avLst/>
          </a:prstGeom>
        </p:spPr>
      </p:pic>
    </p:spTree>
    <p:extLst>
      <p:ext uri="{BB962C8B-B14F-4D97-AF65-F5344CB8AC3E}">
        <p14:creationId xmlns:p14="http://schemas.microsoft.com/office/powerpoint/2010/main" val="3415787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50" y="1825625"/>
            <a:ext cx="7886700" cy="4912632"/>
          </a:xfrm>
        </p:spPr>
        <p:txBody>
          <a:bodyPr>
            <a:normAutofit/>
          </a:bodyPr>
          <a:lstStyle/>
          <a:p>
            <a:pPr marL="0" indent="0" algn="just">
              <a:buNone/>
            </a:pPr>
            <a:r>
              <a:rPr lang="lv-LV" dirty="0" err="1"/>
              <a:t>Examples</a:t>
            </a:r>
            <a:r>
              <a:rPr lang="lv-LV" dirty="0"/>
              <a:t>: </a:t>
            </a:r>
            <a:r>
              <a:rPr lang="lv-LV" dirty="0" err="1"/>
              <a:t>Delete</a:t>
            </a:r>
            <a:r>
              <a:rPr lang="lv-LV" dirty="0"/>
              <a:t> </a:t>
            </a:r>
            <a:r>
              <a:rPr lang="en-US" dirty="0"/>
              <a:t>r</a:t>
            </a:r>
            <a:r>
              <a:rPr lang="lv-LV" dirty="0" err="1"/>
              <a:t>eader</a:t>
            </a:r>
            <a:r>
              <a:rPr lang="lv-LV" dirty="0"/>
              <a:t>
</a:t>
            </a:r>
            <a:endParaRPr lang="lv-LV" sz="2000" b="1" dirty="0"/>
          </a:p>
          <a:p>
            <a:pPr marL="0" indent="0" algn="just">
              <a:buNone/>
            </a:pPr>
            <a:r>
              <a:rPr lang="lv-LV" sz="2000" b="1" dirty="0"/>
              <a:t>DELETE</a:t>
            </a:r>
            <a:r>
              <a:rPr lang="en-US" sz="2000" b="1" dirty="0"/>
              <a:t> *</a:t>
            </a:r>
            <a:endParaRPr lang="lv-LV" sz="2000" b="1" dirty="0"/>
          </a:p>
          <a:p>
            <a:pPr marL="0" indent="0" algn="just">
              <a:buNone/>
            </a:pPr>
            <a:r>
              <a:rPr lang="lv-LV" sz="2000" b="1" dirty="0"/>
              <a:t>FROM </a:t>
            </a:r>
            <a:r>
              <a:rPr lang="lv-LV" sz="2000" b="1" dirty="0" err="1"/>
              <a:t>Books_taken</a:t>
            </a:r>
            <a:endParaRPr lang="lv-LV" sz="2000" b="1" dirty="0"/>
          </a:p>
          <a:p>
            <a:pPr marL="0" indent="0" algn="just">
              <a:buNone/>
            </a:pPr>
            <a:r>
              <a:rPr lang="lv-LV" sz="2000" b="1" dirty="0"/>
              <a:t>WHERE </a:t>
            </a:r>
            <a:r>
              <a:rPr lang="lv-LV" sz="2000" b="1" dirty="0" err="1"/>
              <a:t>ReaderID</a:t>
            </a:r>
            <a:r>
              <a:rPr lang="lv-LV" sz="2000" b="1" dirty="0"/>
              <a:t> LIKE '8462/8t';</a:t>
            </a:r>
          </a:p>
          <a:p>
            <a:pPr marL="0" indent="0" algn="just">
              <a:buNone/>
            </a:pPr>
            <a:endParaRPr lang="lv-LV" sz="2000" b="1" dirty="0"/>
          </a:p>
          <a:p>
            <a:pPr marL="0" indent="0" algn="just">
              <a:buNone/>
            </a:pPr>
            <a:r>
              <a:rPr lang="en-US" sz="2000" b="1" dirty="0"/>
              <a:t>DELETE *</a:t>
            </a:r>
          </a:p>
          <a:p>
            <a:pPr marL="0" indent="0" algn="just">
              <a:buNone/>
            </a:pPr>
            <a:r>
              <a:rPr lang="en-US" sz="2000" b="1" dirty="0"/>
              <a:t>FROM Readers</a:t>
            </a:r>
          </a:p>
          <a:p>
            <a:pPr marL="0" indent="0" algn="just">
              <a:buNone/>
            </a:pPr>
            <a:r>
              <a:rPr lang="en-US" sz="2000" b="1" dirty="0"/>
              <a:t>WHERE </a:t>
            </a:r>
            <a:r>
              <a:rPr lang="en-US" sz="2000" b="1" dirty="0" err="1"/>
              <a:t>ReaderID</a:t>
            </a:r>
            <a:r>
              <a:rPr lang="en-US" sz="2000" b="1" dirty="0"/>
              <a:t> LIKE '8462/8t';</a:t>
            </a:r>
            <a:endParaRPr lang="lv-LV" sz="2000" b="1" dirty="0"/>
          </a:p>
          <a:p>
            <a:pPr marL="0" indent="0" algn="just">
              <a:buNone/>
            </a:pPr>
            <a:endParaRPr lang="lv-LV" sz="2000" b="1" dirty="0"/>
          </a:p>
          <a:p>
            <a:pPr marL="0" indent="0" algn="just">
              <a:buNone/>
            </a:pPr>
            <a:endParaRPr lang="lv-LV" sz="2000" b="1" dirty="0"/>
          </a:p>
          <a:p>
            <a:pPr marL="0" indent="0" algn="just">
              <a:buNone/>
            </a:pPr>
            <a:endParaRPr lang="lv-LV" sz="2000" b="1" dirty="0"/>
          </a:p>
          <a:p>
            <a:pPr marL="0" indent="0" algn="just">
              <a:buNone/>
            </a:pPr>
            <a:endParaRPr lang="lv-LV" sz="2000" b="1" dirty="0"/>
          </a:p>
          <a:p>
            <a:pPr marL="0" indent="0" algn="just">
              <a:buNone/>
            </a:pPr>
            <a:endParaRPr lang="en-US" sz="2000" b="1" dirty="0"/>
          </a:p>
        </p:txBody>
      </p:sp>
    </p:spTree>
    <p:extLst>
      <p:ext uri="{BB962C8B-B14F-4D97-AF65-F5344CB8AC3E}">
        <p14:creationId xmlns:p14="http://schemas.microsoft.com/office/powerpoint/2010/main" val="2135626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a:t>UPDATE</a:t>
            </a:r>
            <a:endParaRPr lang="en-US" dirty="0"/>
          </a:p>
        </p:txBody>
      </p:sp>
      <p:sp>
        <p:nvSpPr>
          <p:cNvPr id="3" name="Content Placeholder 2"/>
          <p:cNvSpPr>
            <a:spLocks noGrp="1"/>
          </p:cNvSpPr>
          <p:nvPr>
            <p:ph idx="1"/>
          </p:nvPr>
        </p:nvSpPr>
        <p:spPr>
          <a:xfrm>
            <a:off x="358219" y="1825625"/>
            <a:ext cx="8459209" cy="4351338"/>
          </a:xfrm>
        </p:spPr>
        <p:txBody>
          <a:bodyPr>
            <a:normAutofit/>
          </a:bodyPr>
          <a:lstStyle/>
          <a:p>
            <a:pPr marL="0" indent="0">
              <a:buNone/>
            </a:pPr>
            <a:r>
              <a:rPr lang="en-US" dirty="0"/>
              <a:t>Update command updates:
- all the row values in the table
- individual rows in a table
Format:
UPDATE table SET column1=value1, ..., column n=value n
[WHERE condition];
</a:t>
            </a:r>
            <a:endParaRPr lang="en-US" sz="2400" dirty="0"/>
          </a:p>
        </p:txBody>
      </p:sp>
    </p:spTree>
    <p:extLst>
      <p:ext uri="{BB962C8B-B14F-4D97-AF65-F5344CB8AC3E}">
        <p14:creationId xmlns:p14="http://schemas.microsoft.com/office/powerpoint/2010/main" val="3960211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Commands for adding, deleting, and updating data</a:t>
            </a:r>
          </a:p>
        </p:txBody>
      </p:sp>
      <p:sp>
        <p:nvSpPr>
          <p:cNvPr id="3" name="Content Placeholder 2"/>
          <p:cNvSpPr>
            <a:spLocks noGrp="1"/>
          </p:cNvSpPr>
          <p:nvPr>
            <p:ph idx="1"/>
          </p:nvPr>
        </p:nvSpPr>
        <p:spPr>
          <a:xfrm>
            <a:off x="628650" y="1825625"/>
            <a:ext cx="7886700" cy="4912632"/>
          </a:xfrm>
        </p:spPr>
        <p:txBody>
          <a:bodyPr>
            <a:normAutofit/>
          </a:bodyPr>
          <a:lstStyle/>
          <a:p>
            <a:pPr marL="0" indent="0" algn="just">
              <a:buNone/>
            </a:pPr>
            <a:r>
              <a:rPr lang="lv-LV" dirty="0" err="1"/>
              <a:t>Examples</a:t>
            </a:r>
            <a:r>
              <a:rPr lang="lv-LV" dirty="0"/>
              <a:t>: </a:t>
            </a:r>
            <a:r>
              <a:rPr lang="lv-LV" dirty="0" err="1"/>
              <a:t>Change</a:t>
            </a:r>
            <a:r>
              <a:rPr lang="lv-LV" dirty="0"/>
              <a:t> </a:t>
            </a:r>
            <a:r>
              <a:rPr lang="lv-LV" dirty="0" err="1"/>
              <a:t>reader's</a:t>
            </a:r>
            <a:r>
              <a:rPr lang="lv-LV" dirty="0"/>
              <a:t> </a:t>
            </a:r>
            <a:r>
              <a:rPr lang="lv-LV" dirty="0" err="1"/>
              <a:t>address</a:t>
            </a:r>
            <a:r>
              <a:rPr lang="lv-LV" dirty="0"/>
              <a:t>
</a:t>
            </a:r>
            <a:endParaRPr lang="lv-LV" sz="2000" b="1" dirty="0"/>
          </a:p>
          <a:p>
            <a:pPr marL="0" indent="0" algn="just">
              <a:buNone/>
            </a:pPr>
            <a:r>
              <a:rPr lang="lv-LV" sz="2000" b="1" dirty="0"/>
              <a:t>UPDATE </a:t>
            </a:r>
            <a:r>
              <a:rPr lang="lv-LV" sz="2000" b="1" dirty="0" err="1"/>
              <a:t>Readers</a:t>
            </a:r>
            <a:endParaRPr lang="lv-LV" sz="2000" b="1" dirty="0"/>
          </a:p>
          <a:p>
            <a:pPr marL="0" indent="0" algn="just">
              <a:buNone/>
            </a:pPr>
            <a:r>
              <a:rPr lang="lv-LV" sz="2000" b="1" dirty="0"/>
              <a:t>SET </a:t>
            </a:r>
            <a:r>
              <a:rPr lang="lv-LV" sz="2000" b="1" dirty="0" err="1"/>
              <a:t>Town</a:t>
            </a:r>
            <a:r>
              <a:rPr lang="lv-LV" sz="2000" b="1" dirty="0"/>
              <a:t>='</a:t>
            </a:r>
            <a:r>
              <a:rPr lang="lv-LV" sz="2000" b="1" dirty="0" err="1"/>
              <a:t>Riga</a:t>
            </a:r>
            <a:r>
              <a:rPr lang="lv-LV" sz="2000" b="1" dirty="0"/>
              <a:t>', </a:t>
            </a:r>
            <a:r>
              <a:rPr lang="lv-LV" sz="2000" b="1" dirty="0" err="1"/>
              <a:t>Street</a:t>
            </a:r>
            <a:r>
              <a:rPr lang="lv-LV" sz="2000" b="1" dirty="0"/>
              <a:t>='Dzirnavu', </a:t>
            </a:r>
            <a:r>
              <a:rPr lang="lv-LV" sz="2000" b="1" dirty="0" err="1"/>
              <a:t>House</a:t>
            </a:r>
            <a:r>
              <a:rPr lang="lv-LV" sz="2000" b="1" dirty="0"/>
              <a:t>='25', </a:t>
            </a:r>
            <a:r>
              <a:rPr lang="lv-LV" sz="2000" b="1" dirty="0" err="1"/>
              <a:t>Flat</a:t>
            </a:r>
            <a:r>
              <a:rPr lang="lv-LV" sz="2000" b="1" dirty="0"/>
              <a:t>='17', </a:t>
            </a:r>
            <a:r>
              <a:rPr lang="lv-LV" sz="2000" b="1" dirty="0" err="1"/>
              <a:t>PhoneNum</a:t>
            </a:r>
            <a:r>
              <a:rPr lang="lv-LV" sz="2000" b="1" dirty="0"/>
              <a:t>='12345678'</a:t>
            </a:r>
          </a:p>
          <a:p>
            <a:pPr marL="0" indent="0" algn="just">
              <a:buNone/>
            </a:pPr>
            <a:r>
              <a:rPr lang="lv-LV" sz="2000" b="1" dirty="0"/>
              <a:t>WHERE </a:t>
            </a:r>
            <a:r>
              <a:rPr lang="lv-LV" sz="2000" b="1" dirty="0" err="1"/>
              <a:t>ReaderID</a:t>
            </a:r>
            <a:r>
              <a:rPr lang="lv-LV" sz="2000" b="1" dirty="0"/>
              <a:t> LIKE '2222/22';</a:t>
            </a:r>
          </a:p>
          <a:p>
            <a:pPr marL="0" indent="0" algn="just">
              <a:buNone/>
            </a:pPr>
            <a:endParaRPr lang="lv-LV" sz="2000" b="1" dirty="0"/>
          </a:p>
          <a:p>
            <a:pPr marL="0" indent="0" algn="just">
              <a:buNone/>
            </a:pPr>
            <a:endParaRPr lang="lv-LV" sz="2000" b="1" dirty="0"/>
          </a:p>
          <a:p>
            <a:pPr marL="0" indent="0" algn="just">
              <a:buNone/>
            </a:pPr>
            <a:endParaRPr lang="lv-LV" sz="2000" b="1" dirty="0"/>
          </a:p>
          <a:p>
            <a:pPr marL="0" indent="0" algn="just">
              <a:buNone/>
            </a:pPr>
            <a:endParaRPr lang="en-US" sz="2000" b="1" dirty="0"/>
          </a:p>
        </p:txBody>
      </p:sp>
    </p:spTree>
    <p:extLst>
      <p:ext uri="{BB962C8B-B14F-4D97-AF65-F5344CB8AC3E}">
        <p14:creationId xmlns:p14="http://schemas.microsoft.com/office/powerpoint/2010/main" val="3514734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p:txBody>
          <a:bodyPr/>
          <a:lstStyle/>
          <a:p>
            <a:pPr marL="514350" indent="-514350">
              <a:buAutoNum type="arabicPeriod"/>
            </a:pPr>
            <a:r>
              <a:rPr lang="en-US" dirty="0"/>
              <a:t>Delete Librarian '</a:t>
            </a:r>
            <a:r>
              <a:rPr lang="lv-LV" dirty="0"/>
              <a:t> Linda Pa</a:t>
            </a:r>
            <a:r>
              <a:rPr lang="en-US" dirty="0"/>
              <a:t>c</a:t>
            </a:r>
            <a:r>
              <a:rPr lang="lv-LV" dirty="0" err="1"/>
              <a:t>uka</a:t>
            </a:r>
            <a:r>
              <a:rPr lang="lv-LV" dirty="0"/>
              <a:t> </a:t>
            </a:r>
            <a:r>
              <a:rPr lang="en-US" dirty="0"/>
              <a:t>'
Delete librarians who did not provide any services (it will be 'Agafonova').
Increase the number of copies by 3, for books the number of copies of which &lt;3.
To all readers from Riga (to whom it has not yet been issued) issue (INSERT) a book "</a:t>
            </a:r>
            <a:r>
              <a:rPr lang="en-US" dirty="0" err="1"/>
              <a:t>Nogalinat</a:t>
            </a:r>
            <a:r>
              <a:rPr lang="en-US" dirty="0"/>
              <a:t> </a:t>
            </a:r>
            <a:r>
              <a:rPr lang="en-US" dirty="0" err="1"/>
              <a:t>lakstigalu</a:t>
            </a:r>
            <a:r>
              <a:rPr lang="en-US" dirty="0"/>
              <a:t>" "</a:t>
            </a:r>
            <a:r>
              <a:rPr lang="en-US" dirty="0" err="1"/>
              <a:t>Liesma</a:t>
            </a:r>
            <a:r>
              <a:rPr lang="en-US" dirty="0"/>
              <a:t>"</a:t>
            </a:r>
          </a:p>
        </p:txBody>
      </p:sp>
    </p:spTree>
    <p:extLst>
      <p:ext uri="{BB962C8B-B14F-4D97-AF65-F5344CB8AC3E}">
        <p14:creationId xmlns:p14="http://schemas.microsoft.com/office/powerpoint/2010/main" val="778135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628650" y="1825624"/>
            <a:ext cx="3507921" cy="4803775"/>
          </a:xfrm>
        </p:spPr>
        <p:txBody>
          <a:bodyPr>
            <a:normAutofit fontScale="92500" lnSpcReduction="20000"/>
          </a:bodyPr>
          <a:lstStyle/>
          <a:p>
            <a:pPr marL="0" indent="0">
              <a:buNone/>
            </a:pPr>
            <a:r>
              <a:rPr lang="lv-LV" sz="2000" dirty="0"/>
              <a:t>1</a:t>
            </a:r>
            <a:r>
              <a:rPr lang="en-US" sz="2000" dirty="0"/>
              <a:t>.</a:t>
            </a:r>
            <a:endParaRPr lang="lv-LV" sz="2000" dirty="0"/>
          </a:p>
          <a:p>
            <a:pPr marL="0" indent="0">
              <a:buNone/>
            </a:pPr>
            <a:r>
              <a:rPr lang="lv-LV" sz="2000" dirty="0"/>
              <a:t>1.1.</a:t>
            </a:r>
          </a:p>
          <a:p>
            <a:pPr marL="0" indent="0">
              <a:buNone/>
            </a:pPr>
            <a:r>
              <a:rPr lang="en-US" sz="2000" dirty="0"/>
              <a:t>DELETE *</a:t>
            </a:r>
          </a:p>
          <a:p>
            <a:pPr marL="0" indent="0">
              <a:buNone/>
            </a:pPr>
            <a:r>
              <a:rPr lang="en-US" sz="2000" dirty="0"/>
              <a:t>FROM Journal</a:t>
            </a:r>
          </a:p>
          <a:p>
            <a:pPr marL="0" indent="0">
              <a:buNone/>
            </a:pPr>
            <a:r>
              <a:rPr lang="en-US" sz="2000" dirty="0"/>
              <a:t>WHERE </a:t>
            </a:r>
            <a:r>
              <a:rPr lang="en-US" sz="2000" dirty="0" err="1"/>
              <a:t>LibId</a:t>
            </a:r>
            <a:r>
              <a:rPr lang="en-US" sz="2000" dirty="0"/>
              <a:t> LIKE (</a:t>
            </a:r>
          </a:p>
          <a:p>
            <a:pPr marL="0" indent="0">
              <a:buNone/>
            </a:pPr>
            <a:r>
              <a:rPr lang="en-US" sz="2000" dirty="0"/>
              <a:t>   SELECT </a:t>
            </a:r>
            <a:r>
              <a:rPr lang="en-US" sz="2000" dirty="0" err="1"/>
              <a:t>LibId</a:t>
            </a:r>
            <a:endParaRPr lang="en-US" sz="2000" dirty="0"/>
          </a:p>
          <a:p>
            <a:pPr marL="0" indent="0">
              <a:buNone/>
            </a:pPr>
            <a:r>
              <a:rPr lang="en-US" sz="2000" dirty="0"/>
              <a:t>   FROM Librarians</a:t>
            </a:r>
          </a:p>
          <a:p>
            <a:pPr marL="0" indent="0">
              <a:buNone/>
            </a:pPr>
            <a:r>
              <a:rPr lang="en-US" sz="2000" dirty="0"/>
              <a:t>   WHERE </a:t>
            </a:r>
            <a:r>
              <a:rPr lang="en-US" sz="2000" dirty="0" err="1"/>
              <a:t>LSur</a:t>
            </a:r>
            <a:r>
              <a:rPr lang="en-US" sz="2000" dirty="0"/>
              <a:t> = '</a:t>
            </a:r>
            <a:r>
              <a:rPr lang="en-US" sz="2000" dirty="0" err="1"/>
              <a:t>Pacuka</a:t>
            </a:r>
            <a:r>
              <a:rPr lang="en-US" sz="2000" dirty="0"/>
              <a:t>'</a:t>
            </a:r>
          </a:p>
          <a:p>
            <a:pPr marL="0" indent="0">
              <a:buNone/>
            </a:pPr>
            <a:r>
              <a:rPr lang="en-US" sz="2000" dirty="0"/>
              <a:t>);</a:t>
            </a:r>
          </a:p>
          <a:p>
            <a:pPr marL="0" indent="0">
              <a:buNone/>
            </a:pPr>
            <a:endParaRPr lang="lv-LV" sz="2000" dirty="0"/>
          </a:p>
          <a:p>
            <a:pPr marL="0" indent="0">
              <a:buNone/>
            </a:pPr>
            <a:r>
              <a:rPr lang="lv-LV" sz="2000" dirty="0"/>
              <a:t>1.2.</a:t>
            </a:r>
            <a:endParaRPr lang="en-US" sz="2000" dirty="0"/>
          </a:p>
          <a:p>
            <a:pPr marL="0" indent="0">
              <a:buNone/>
            </a:pPr>
            <a:r>
              <a:rPr lang="en-US" sz="2000" dirty="0"/>
              <a:t>DELETE *</a:t>
            </a:r>
          </a:p>
          <a:p>
            <a:pPr marL="0" indent="0">
              <a:buNone/>
            </a:pPr>
            <a:r>
              <a:rPr lang="en-US" sz="2000" dirty="0"/>
              <a:t>FROM Librarians</a:t>
            </a:r>
          </a:p>
          <a:p>
            <a:pPr marL="0" indent="0">
              <a:buNone/>
            </a:pPr>
            <a:r>
              <a:rPr lang="en-US" sz="2000" dirty="0"/>
              <a:t>WHERE </a:t>
            </a:r>
            <a:r>
              <a:rPr lang="en-US" sz="2000" dirty="0" err="1"/>
              <a:t>LSur</a:t>
            </a:r>
            <a:r>
              <a:rPr lang="en-US" sz="2000" dirty="0"/>
              <a:t> LIKE '</a:t>
            </a:r>
            <a:r>
              <a:rPr lang="en-US" sz="2000" dirty="0" err="1"/>
              <a:t>Pacuka</a:t>
            </a:r>
            <a:r>
              <a:rPr lang="en-US" sz="2000" dirty="0"/>
              <a:t>';</a:t>
            </a:r>
          </a:p>
          <a:p>
            <a:pPr marL="0" indent="0">
              <a:buNone/>
            </a:pPr>
            <a:endParaRPr lang="en-US" sz="2000" dirty="0"/>
          </a:p>
          <a:p>
            <a:pPr marL="0" indent="0">
              <a:spcBef>
                <a:spcPts val="0"/>
              </a:spcBef>
              <a:buNone/>
            </a:pPr>
            <a:endParaRPr lang="lv-LV" sz="1200" dirty="0"/>
          </a:p>
          <a:p>
            <a:pPr marL="0" indent="0">
              <a:spcBef>
                <a:spcPts val="0"/>
              </a:spcBef>
              <a:buNone/>
            </a:pPr>
            <a:endParaRPr lang="lv-LV" sz="1200" dirty="0"/>
          </a:p>
        </p:txBody>
      </p:sp>
      <p:sp>
        <p:nvSpPr>
          <p:cNvPr id="4" name="Content Placeholder 2"/>
          <p:cNvSpPr txBox="1">
            <a:spLocks/>
          </p:cNvSpPr>
          <p:nvPr/>
        </p:nvSpPr>
        <p:spPr>
          <a:xfrm>
            <a:off x="4572000" y="1901824"/>
            <a:ext cx="3507921" cy="4803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lv-LV" sz="2000" dirty="0"/>
              <a:t>2</a:t>
            </a:r>
            <a:r>
              <a:rPr lang="en-US" sz="2000" dirty="0"/>
              <a:t>.</a:t>
            </a:r>
            <a:endParaRPr lang="lv-LV" sz="2000" dirty="0"/>
          </a:p>
          <a:p>
            <a:pPr marL="0" indent="0">
              <a:buNone/>
            </a:pPr>
            <a:r>
              <a:rPr lang="lv-LV" sz="2000" dirty="0"/>
              <a:t>DELETE </a:t>
            </a:r>
            <a:r>
              <a:rPr lang="en-US" sz="2000" dirty="0"/>
              <a:t>*</a:t>
            </a:r>
            <a:endParaRPr lang="lv-LV" sz="2000" dirty="0"/>
          </a:p>
          <a:p>
            <a:pPr marL="0" indent="0">
              <a:buNone/>
            </a:pPr>
            <a:r>
              <a:rPr lang="lv-LV" sz="2000" dirty="0"/>
              <a:t>FROM </a:t>
            </a:r>
            <a:r>
              <a:rPr lang="lv-LV" sz="2000" dirty="0" err="1"/>
              <a:t>Librarians</a:t>
            </a:r>
            <a:r>
              <a:rPr lang="lv-LV" sz="2000" dirty="0"/>
              <a:t> </a:t>
            </a:r>
            <a:r>
              <a:rPr lang="en-US" sz="2000" dirty="0"/>
              <a:t>l</a:t>
            </a:r>
            <a:endParaRPr lang="lv-LV" sz="2000" dirty="0"/>
          </a:p>
          <a:p>
            <a:pPr marL="0" indent="0">
              <a:buNone/>
            </a:pPr>
            <a:r>
              <a:rPr lang="lv-LV" sz="2000" dirty="0"/>
              <a:t>WHERE NOT EXISTS ( </a:t>
            </a:r>
          </a:p>
          <a:p>
            <a:pPr marL="0" indent="0">
              <a:buNone/>
            </a:pPr>
            <a:r>
              <a:rPr lang="lv-LV" sz="2000" dirty="0"/>
              <a:t>    SELECT *</a:t>
            </a:r>
          </a:p>
          <a:p>
            <a:pPr marL="0" indent="0">
              <a:buNone/>
            </a:pPr>
            <a:r>
              <a:rPr lang="lv-LV" sz="2000" dirty="0"/>
              <a:t>    FROM </a:t>
            </a:r>
            <a:r>
              <a:rPr lang="lv-LV" sz="2000" dirty="0" err="1"/>
              <a:t>Journal</a:t>
            </a:r>
            <a:r>
              <a:rPr lang="lv-LV" sz="2000" dirty="0"/>
              <a:t> </a:t>
            </a:r>
            <a:r>
              <a:rPr lang="en-US" sz="2000" dirty="0"/>
              <a:t>j</a:t>
            </a:r>
            <a:endParaRPr lang="lv-LV" sz="2000" dirty="0"/>
          </a:p>
          <a:p>
            <a:pPr marL="0" indent="0">
              <a:buNone/>
            </a:pPr>
            <a:r>
              <a:rPr lang="lv-LV" sz="2000" dirty="0"/>
              <a:t>    WHERE </a:t>
            </a:r>
            <a:r>
              <a:rPr lang="en-US" sz="2000" dirty="0"/>
              <a:t>l</a:t>
            </a:r>
            <a:r>
              <a:rPr lang="lv-LV" sz="2000" dirty="0"/>
              <a:t>.</a:t>
            </a:r>
            <a:r>
              <a:rPr lang="lv-LV" sz="2000" dirty="0" err="1"/>
              <a:t>LibId</a:t>
            </a:r>
            <a:r>
              <a:rPr lang="lv-LV" sz="2000" dirty="0"/>
              <a:t> = </a:t>
            </a:r>
            <a:r>
              <a:rPr lang="en-US" sz="2000" dirty="0"/>
              <a:t>j</a:t>
            </a:r>
            <a:r>
              <a:rPr lang="lv-LV" sz="2000" dirty="0"/>
              <a:t>.</a:t>
            </a:r>
            <a:r>
              <a:rPr lang="lv-LV" sz="2000" dirty="0" err="1"/>
              <a:t>LibId</a:t>
            </a:r>
            <a:endParaRPr lang="lv-LV" sz="2000" dirty="0"/>
          </a:p>
          <a:p>
            <a:pPr marL="0" indent="0">
              <a:buNone/>
            </a:pPr>
            <a:r>
              <a:rPr lang="lv-LV" sz="2000" dirty="0"/>
              <a:t>);</a:t>
            </a:r>
            <a:endParaRPr lang="en-US" sz="2000" dirty="0"/>
          </a:p>
          <a:p>
            <a:pPr marL="0" indent="0">
              <a:spcBef>
                <a:spcPts val="0"/>
              </a:spcBef>
              <a:buFont typeface="Arial" panose="020B0604020202020204" pitchFamily="34" charset="0"/>
              <a:buNone/>
            </a:pPr>
            <a:endParaRPr lang="lv-LV" sz="1200" dirty="0"/>
          </a:p>
          <a:p>
            <a:pPr marL="0" indent="0">
              <a:spcBef>
                <a:spcPts val="0"/>
              </a:spcBef>
              <a:buFont typeface="Arial" panose="020B0604020202020204" pitchFamily="34" charset="0"/>
              <a:buNone/>
            </a:pPr>
            <a:endParaRPr lang="lv-LV" sz="1200" dirty="0"/>
          </a:p>
        </p:txBody>
      </p:sp>
    </p:spTree>
    <p:extLst>
      <p:ext uri="{BB962C8B-B14F-4D97-AF65-F5344CB8AC3E}">
        <p14:creationId xmlns:p14="http://schemas.microsoft.com/office/powerpoint/2010/main" val="3138766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628650" y="1825624"/>
            <a:ext cx="7886700" cy="4803775"/>
          </a:xfrm>
        </p:spPr>
        <p:txBody>
          <a:bodyPr>
            <a:normAutofit fontScale="92500" lnSpcReduction="20000"/>
          </a:bodyPr>
          <a:lstStyle/>
          <a:p>
            <a:pPr marL="0" indent="0">
              <a:buNone/>
            </a:pPr>
            <a:r>
              <a:rPr lang="lv-LV" sz="2000" dirty="0"/>
              <a:t>3.</a:t>
            </a:r>
          </a:p>
          <a:p>
            <a:pPr marL="0" indent="0">
              <a:buNone/>
            </a:pPr>
            <a:r>
              <a:rPr lang="en-US" sz="2000" dirty="0"/>
              <a:t>UPDATE Books</a:t>
            </a:r>
          </a:p>
          <a:p>
            <a:pPr marL="0" indent="0">
              <a:buNone/>
            </a:pPr>
            <a:r>
              <a:rPr lang="en-US" sz="2000" dirty="0"/>
              <a:t>SET </a:t>
            </a:r>
            <a:r>
              <a:rPr lang="en-US" sz="2000" dirty="0" err="1"/>
              <a:t>NUmOfCopies</a:t>
            </a:r>
            <a:r>
              <a:rPr lang="en-US" sz="2000" dirty="0"/>
              <a:t> = </a:t>
            </a:r>
            <a:r>
              <a:rPr lang="en-US" sz="2000" dirty="0" err="1"/>
              <a:t>NUmOfCopies</a:t>
            </a:r>
            <a:r>
              <a:rPr lang="en-US" sz="2000" dirty="0"/>
              <a:t> + 3</a:t>
            </a:r>
          </a:p>
          <a:p>
            <a:pPr marL="0" indent="0">
              <a:buNone/>
            </a:pPr>
            <a:r>
              <a:rPr lang="en-US" sz="2000" dirty="0"/>
              <a:t>WHERE </a:t>
            </a:r>
            <a:r>
              <a:rPr lang="en-US" sz="2000" dirty="0" err="1"/>
              <a:t>NUmOfCopies</a:t>
            </a:r>
            <a:r>
              <a:rPr lang="en-US" sz="2000" dirty="0"/>
              <a:t> &lt; 3;</a:t>
            </a:r>
            <a:endParaRPr lang="lv-LV" sz="2000" dirty="0"/>
          </a:p>
          <a:p>
            <a:pPr marL="0" indent="0">
              <a:buNone/>
            </a:pPr>
            <a:endParaRPr lang="lv-LV" sz="2000" dirty="0"/>
          </a:p>
          <a:p>
            <a:pPr marL="0" indent="0">
              <a:buNone/>
            </a:pPr>
            <a:r>
              <a:rPr lang="lv-LV" sz="2000" dirty="0"/>
              <a:t>4.</a:t>
            </a:r>
            <a:endParaRPr lang="en-US" sz="2000" dirty="0"/>
          </a:p>
          <a:p>
            <a:pPr marL="0" indent="0">
              <a:buNone/>
            </a:pPr>
            <a:r>
              <a:rPr lang="en-US" sz="2000" dirty="0"/>
              <a:t>INSERT INTO </a:t>
            </a:r>
            <a:r>
              <a:rPr lang="en-US" sz="2000" dirty="0" err="1"/>
              <a:t>Books_taken</a:t>
            </a:r>
            <a:r>
              <a:rPr lang="en-US" sz="2000" dirty="0"/>
              <a:t> (</a:t>
            </a:r>
            <a:r>
              <a:rPr lang="en-US" sz="2000" dirty="0" err="1"/>
              <a:t>ReaderID</a:t>
            </a:r>
            <a:r>
              <a:rPr lang="en-US" sz="2000" dirty="0"/>
              <a:t>, </a:t>
            </a:r>
            <a:r>
              <a:rPr lang="en-US" sz="2000" dirty="0" err="1"/>
              <a:t>BookId</a:t>
            </a:r>
            <a:r>
              <a:rPr lang="en-US" sz="2000" dirty="0"/>
              <a:t>, </a:t>
            </a:r>
            <a:r>
              <a:rPr lang="en-US" sz="2000" dirty="0" err="1"/>
              <a:t>ReturnDate</a:t>
            </a:r>
            <a:r>
              <a:rPr lang="en-US" sz="2000" dirty="0"/>
              <a:t>)</a:t>
            </a:r>
          </a:p>
          <a:p>
            <a:pPr marL="0" indent="0">
              <a:buNone/>
            </a:pPr>
            <a:r>
              <a:rPr lang="en-US" sz="2000" dirty="0"/>
              <a:t>SELECT </a:t>
            </a:r>
            <a:r>
              <a:rPr lang="en-US" sz="2000" dirty="0" err="1"/>
              <a:t>r.ReaderID</a:t>
            </a:r>
            <a:r>
              <a:rPr lang="en-US" sz="2000" dirty="0"/>
              <a:t>, </a:t>
            </a:r>
            <a:r>
              <a:rPr lang="en-US" sz="2000" dirty="0" err="1"/>
              <a:t>b.BookId</a:t>
            </a:r>
            <a:r>
              <a:rPr lang="en-US" sz="2000" dirty="0"/>
              <a:t>, DATE_ADD(CURDATE(), INTERVAL 14 DAY)</a:t>
            </a:r>
          </a:p>
          <a:p>
            <a:pPr marL="0" indent="0">
              <a:buNone/>
            </a:pPr>
            <a:r>
              <a:rPr lang="en-US" sz="2000" dirty="0"/>
              <a:t>FROM Books b, Readers r </a:t>
            </a:r>
          </a:p>
          <a:p>
            <a:pPr marL="0" indent="0">
              <a:buNone/>
            </a:pPr>
            <a:r>
              <a:rPr lang="en-US" sz="2000" dirty="0"/>
              <a:t>WHERE </a:t>
            </a:r>
            <a:r>
              <a:rPr lang="en-US" sz="2000" dirty="0" err="1"/>
              <a:t>r.Town</a:t>
            </a:r>
            <a:r>
              <a:rPr lang="en-US" sz="2000" dirty="0"/>
              <a:t> = </a:t>
            </a:r>
            <a:r>
              <a:rPr lang="en-US" sz="2000"/>
              <a:t>"Riga</a:t>
            </a:r>
            <a:r>
              <a:rPr lang="en-US" sz="2000" dirty="0"/>
              <a:t>" AND </a:t>
            </a:r>
            <a:r>
              <a:rPr lang="en-US" sz="2000" dirty="0" err="1"/>
              <a:t>b.BookId</a:t>
            </a:r>
            <a:r>
              <a:rPr lang="en-US" sz="2000" dirty="0"/>
              <a:t> = 62 AND NOT EXISTS (</a:t>
            </a:r>
          </a:p>
          <a:p>
            <a:pPr marL="0" indent="0">
              <a:buNone/>
            </a:pPr>
            <a:r>
              <a:rPr lang="en-US" sz="2000" dirty="0"/>
              <a:t>   SELECT 1</a:t>
            </a:r>
          </a:p>
          <a:p>
            <a:pPr marL="0" indent="0">
              <a:buNone/>
            </a:pPr>
            <a:r>
              <a:rPr lang="en-US" sz="2000" dirty="0"/>
              <a:t>   FROM </a:t>
            </a:r>
            <a:r>
              <a:rPr lang="en-US" sz="2000" dirty="0" err="1"/>
              <a:t>Books_taken</a:t>
            </a:r>
            <a:r>
              <a:rPr lang="en-US" sz="2000" dirty="0"/>
              <a:t> </a:t>
            </a:r>
            <a:r>
              <a:rPr lang="en-US" sz="2000" dirty="0" err="1"/>
              <a:t>bt</a:t>
            </a:r>
            <a:endParaRPr lang="en-US" sz="2000" dirty="0"/>
          </a:p>
          <a:p>
            <a:pPr marL="0" indent="0">
              <a:buNone/>
            </a:pPr>
            <a:r>
              <a:rPr lang="en-US" sz="2000" dirty="0"/>
              <a:t>   WHERE </a:t>
            </a:r>
            <a:r>
              <a:rPr lang="en-US" sz="2000" dirty="0" err="1"/>
              <a:t>bt.BookId</a:t>
            </a:r>
            <a:r>
              <a:rPr lang="en-US" sz="2000" dirty="0"/>
              <a:t> = 62 AND </a:t>
            </a:r>
            <a:r>
              <a:rPr lang="en-US" sz="2000" dirty="0" err="1"/>
              <a:t>bt.ReaderID</a:t>
            </a:r>
            <a:r>
              <a:rPr lang="en-US" sz="2000" dirty="0"/>
              <a:t> = </a:t>
            </a:r>
            <a:r>
              <a:rPr lang="en-US" sz="2000" dirty="0" err="1"/>
              <a:t>r.ReaderID</a:t>
            </a:r>
            <a:endParaRPr lang="en-US" sz="2000" dirty="0"/>
          </a:p>
          <a:p>
            <a:pPr marL="0" indent="0">
              <a:buNone/>
            </a:pPr>
            <a:r>
              <a:rPr lang="en-US" sz="2000" dirty="0"/>
              <a:t>);</a:t>
            </a:r>
          </a:p>
        </p:txBody>
      </p:sp>
    </p:spTree>
    <p:extLst>
      <p:ext uri="{BB962C8B-B14F-4D97-AF65-F5344CB8AC3E}">
        <p14:creationId xmlns:p14="http://schemas.microsoft.com/office/powerpoint/2010/main" val="18404337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3695</TotalTime>
  <Words>1321</Words>
  <Application>Microsoft Office PowerPoint</Application>
  <PresentationFormat>On-screen Show (4:3)</PresentationFormat>
  <Paragraphs>150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SQL Data operations</vt:lpstr>
      <vt:lpstr>Commands for adding, deleting, and updating data</vt:lpstr>
      <vt:lpstr>Commands for adding, deleting, and updating data</vt:lpstr>
      <vt:lpstr>INSERT</vt:lpstr>
      <vt:lpstr>INSERT</vt:lpstr>
      <vt:lpstr>INSERT</vt:lpstr>
      <vt:lpstr>INSERT</vt:lpstr>
      <vt:lpstr>Commands for adding, deleting, and updating data</vt:lpstr>
      <vt:lpstr>Commands for adding, deleting, and updating data</vt:lpstr>
      <vt:lpstr>Commands for adding, deleting, and updating data</vt:lpstr>
      <vt:lpstr>Commands for adding, deleting, and updating data</vt:lpstr>
      <vt:lpstr>Commands for adding, deleting, and updating data</vt:lpstr>
      <vt:lpstr>DELETE</vt:lpstr>
      <vt:lpstr>Commands for adding, deleting, and updating data</vt:lpstr>
      <vt:lpstr>Commands for adding, deleting, and updating data</vt:lpstr>
      <vt:lpstr>Commands for adding, deleting, and updating data</vt:lpstr>
      <vt:lpstr>UPDATE</vt:lpstr>
      <vt:lpstr>Commands for adding, deleting, and updating data</vt:lpstr>
      <vt:lpstr>Practice</vt:lpstr>
      <vt:lpstr>Answers</vt:lpstr>
      <vt:lpstr>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Lipa</dc:creator>
  <cp:lastModifiedBy>Andrejs Liepiņš</cp:lastModifiedBy>
  <cp:revision>78</cp:revision>
  <dcterms:created xsi:type="dcterms:W3CDTF">2017-03-08T13:27:06Z</dcterms:created>
  <dcterms:modified xsi:type="dcterms:W3CDTF">2025-02-28T13:31:16Z</dcterms:modified>
</cp:coreProperties>
</file>