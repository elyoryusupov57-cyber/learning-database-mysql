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92" r:id="rId3"/>
    <p:sldId id="293" r:id="rId4"/>
    <p:sldId id="294" r:id="rId5"/>
    <p:sldId id="324" r:id="rId6"/>
    <p:sldId id="296" r:id="rId7"/>
    <p:sldId id="297" r:id="rId8"/>
    <p:sldId id="299" r:id="rId9"/>
    <p:sldId id="298" r:id="rId10"/>
    <p:sldId id="300" r:id="rId11"/>
    <p:sldId id="301" r:id="rId12"/>
    <p:sldId id="302" r:id="rId13"/>
    <p:sldId id="303" r:id="rId14"/>
    <p:sldId id="309" r:id="rId15"/>
    <p:sldId id="310" r:id="rId16"/>
    <p:sldId id="311" r:id="rId17"/>
    <p:sldId id="312" r:id="rId18"/>
    <p:sldId id="313" r:id="rId19"/>
    <p:sldId id="304" r:id="rId20"/>
    <p:sldId id="305" r:id="rId21"/>
    <p:sldId id="306" r:id="rId22"/>
    <p:sldId id="307" r:id="rId23"/>
    <p:sldId id="322" r:id="rId24"/>
    <p:sldId id="315" r:id="rId25"/>
    <p:sldId id="319" r:id="rId26"/>
    <p:sldId id="316" r:id="rId27"/>
    <p:sldId id="317" r:id="rId28"/>
    <p:sldId id="31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8" autoAdjust="0"/>
    <p:restoredTop sz="94660"/>
  </p:normalViewPr>
  <p:slideViewPr>
    <p:cSldViewPr snapToGrid="0">
      <p:cViewPr>
        <p:scale>
          <a:sx n="75" d="100"/>
          <a:sy n="75" d="100"/>
        </p:scale>
        <p:origin x="146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3E0B-6B96-4089-8AEB-3E64D57FBC2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0A85-DE47-429F-8797-38D7F2F6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26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3E0B-6B96-4089-8AEB-3E64D57FBC2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0A85-DE47-429F-8797-38D7F2F6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9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3E0B-6B96-4089-8AEB-3E64D57FBC2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0A85-DE47-429F-8797-38D7F2F6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92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3E0B-6B96-4089-8AEB-3E64D57FBC2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0A85-DE47-429F-8797-38D7F2F6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85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3E0B-6B96-4089-8AEB-3E64D57FBC2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0A85-DE47-429F-8797-38D7F2F6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635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3E0B-6B96-4089-8AEB-3E64D57FBC2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0A85-DE47-429F-8797-38D7F2F6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11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3E0B-6B96-4089-8AEB-3E64D57FBC2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0A85-DE47-429F-8797-38D7F2F6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374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3E0B-6B96-4089-8AEB-3E64D57FBC2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0A85-DE47-429F-8797-38D7F2F6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35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3E0B-6B96-4089-8AEB-3E64D57FBC2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0A85-DE47-429F-8797-38D7F2F6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272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3E0B-6B96-4089-8AEB-3E64D57FBC2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0A85-DE47-429F-8797-38D7F2F6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90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3E0B-6B96-4089-8AEB-3E64D57FBC2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0A85-DE47-429F-8797-38D7F2F6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36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C23E0B-6B96-4089-8AEB-3E64D57FBC2E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90A85-DE47-429F-8797-38D7F2F6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831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sql/sql_datatypes.asp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2"/>
            <a:ext cx="7772400" cy="3060531"/>
          </a:xfrm>
        </p:spPr>
        <p:txBody>
          <a:bodyPr>
            <a:normAutofit fontScale="90000"/>
          </a:bodyPr>
          <a:lstStyle/>
          <a:p>
            <a:r>
              <a:rPr lang="en-US" dirty="0"/>
              <a:t>SQL</a:t>
            </a:r>
            <a:br>
              <a:rPr lang="en-US" dirty="0"/>
            </a:br>
            <a:r>
              <a:rPr lang="en-US" dirty="0"/>
              <a:t>DDL</a:t>
            </a:r>
            <a:br>
              <a:rPr lang="ru-RU" dirty="0"/>
            </a:br>
            <a:r>
              <a:rPr lang="en-US" dirty="0"/>
              <a:t>(Data Definition Language)</a:t>
            </a:r>
          </a:p>
        </p:txBody>
      </p:sp>
    </p:spTree>
    <p:extLst>
      <p:ext uri="{BB962C8B-B14F-4D97-AF65-F5344CB8AC3E}">
        <p14:creationId xmlns:p14="http://schemas.microsoft.com/office/powerpoint/2010/main" val="4160554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DDL language - a part of SQL language that allows you to create, delete and modify various database objects.</a:t>
            </a:r>
          </a:p>
        </p:txBody>
      </p:sp>
    </p:spTree>
    <p:extLst>
      <p:ext uri="{BB962C8B-B14F-4D97-AF65-F5344CB8AC3E}">
        <p14:creationId xmlns:p14="http://schemas.microsoft.com/office/powerpoint/2010/main" val="687910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Table</a:t>
            </a:r>
            <a:r>
              <a:rPr lang="lv-LV" dirty="0"/>
              <a:t>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Operations with tables:</a:t>
            </a:r>
            <a:endParaRPr lang="lv-LV" dirty="0"/>
          </a:p>
          <a:p>
            <a:pPr algn="just"/>
            <a:r>
              <a:rPr lang="en-US" dirty="0"/>
              <a:t>Create Table command - Creates a new table
Select Into command - Creates a new table from an existing
Alter Table Command - Changes the table structure
Drop Table Command - Deletes table and all table data</a:t>
            </a:r>
          </a:p>
        </p:txBody>
      </p:sp>
    </p:spTree>
    <p:extLst>
      <p:ext uri="{BB962C8B-B14F-4D97-AF65-F5344CB8AC3E}">
        <p14:creationId xmlns:p14="http://schemas.microsoft.com/office/powerpoint/2010/main" val="3405740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New</a:t>
            </a:r>
            <a:r>
              <a:rPr lang="lv-LV" dirty="0"/>
              <a:t> </a:t>
            </a:r>
            <a:r>
              <a:rPr lang="lv-LV" dirty="0" err="1"/>
              <a:t>table</a:t>
            </a:r>
            <a:r>
              <a:rPr lang="lv-LV" dirty="0"/>
              <a:t> </a:t>
            </a:r>
            <a:r>
              <a:rPr lang="lv-LV" dirty="0" err="1"/>
              <a:t>creation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To create a table, you must specify:</a:t>
            </a:r>
            <a:endParaRPr lang="lv-LV" dirty="0"/>
          </a:p>
          <a:p>
            <a:r>
              <a:rPr lang="en-US" dirty="0"/>
              <a:t>the name of the table
the column names of the table
the data types of fields (columns)
[</a:t>
            </a:r>
            <a:r>
              <a:rPr lang="lv-LV" dirty="0" err="1"/>
              <a:t>constraints</a:t>
            </a:r>
            <a:r>
              <a:rPr lang="en-US" dirty="0"/>
              <a:t>]</a:t>
            </a:r>
            <a:endParaRPr lang="lv-LV" dirty="0"/>
          </a:p>
          <a:p>
            <a:pPr marL="0" indent="0">
              <a:buNone/>
            </a:pPr>
            <a:r>
              <a:rPr lang="en-US" dirty="0"/>
              <a:t>
Command format:
CREATE TABLE </a:t>
            </a:r>
            <a:r>
              <a:rPr lang="en-US" dirty="0" err="1"/>
              <a:t>Table</a:t>
            </a:r>
            <a:r>
              <a:rPr lang="en-US" dirty="0"/>
              <a:t> Name	
(column 1 type 1 [</a:t>
            </a:r>
            <a:r>
              <a:rPr lang="lv-LV" dirty="0" err="1"/>
              <a:t>constraints</a:t>
            </a:r>
            <a:r>
              <a:rPr lang="en-US" dirty="0"/>
              <a:t>], ..., 
column n type n [constraints], [table constraints]);
</a:t>
            </a:r>
          </a:p>
        </p:txBody>
      </p:sp>
    </p:spTree>
    <p:extLst>
      <p:ext uri="{BB962C8B-B14F-4D97-AF65-F5344CB8AC3E}">
        <p14:creationId xmlns:p14="http://schemas.microsoft.com/office/powerpoint/2010/main" val="1566290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MySQL Data types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B22D62-D78D-30FA-7DC9-6E2EEF32BFA5}"/>
              </a:ext>
            </a:extLst>
          </p:cNvPr>
          <p:cNvSpPr txBox="1"/>
          <p:nvPr/>
        </p:nvSpPr>
        <p:spPr>
          <a:xfrm>
            <a:off x="1036320" y="3105835"/>
            <a:ext cx="6438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v-LV" dirty="0">
                <a:hlinkClick r:id="rId2"/>
              </a:rPr>
              <a:t>https://www.w3schools.com/sql/sql_datatypes.asp</a:t>
            </a:r>
            <a:endParaRPr lang="en-US" dirty="0"/>
          </a:p>
          <a:p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1004745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New</a:t>
            </a:r>
            <a:r>
              <a:rPr lang="lv-LV" dirty="0"/>
              <a:t> </a:t>
            </a:r>
            <a:r>
              <a:rPr lang="lv-LV" dirty="0" err="1"/>
              <a:t>table</a:t>
            </a:r>
            <a:r>
              <a:rPr lang="lv-LV" dirty="0"/>
              <a:t> </a:t>
            </a:r>
            <a:r>
              <a:rPr lang="lv-LV" dirty="0" err="1"/>
              <a:t>creation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754289"/>
          </a:xfrm>
        </p:spPr>
        <p:txBody>
          <a:bodyPr/>
          <a:lstStyle/>
          <a:p>
            <a:pPr marL="0" indent="0">
              <a:buNone/>
            </a:pPr>
            <a:r>
              <a:rPr lang="lv-LV" dirty="0"/>
              <a:t>SQL </a:t>
            </a:r>
            <a:r>
              <a:rPr lang="lv-LV" dirty="0" err="1"/>
              <a:t>constraints</a:t>
            </a:r>
            <a:endParaRPr lang="en-US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232311"/>
              </p:ext>
            </p:extLst>
          </p:nvPr>
        </p:nvGraphicFramePr>
        <p:xfrm>
          <a:off x="628651" y="2714849"/>
          <a:ext cx="8036378" cy="2336124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753208">
                  <a:extLst>
                    <a:ext uri="{9D8B030D-6E8A-4147-A177-3AD203B41FA5}">
                      <a16:colId xmlns:a16="http://schemas.microsoft.com/office/drawing/2014/main" val="1257112541"/>
                    </a:ext>
                  </a:extLst>
                </a:gridCol>
                <a:gridCol w="6283170">
                  <a:extLst>
                    <a:ext uri="{9D8B030D-6E8A-4147-A177-3AD203B41FA5}">
                      <a16:colId xmlns:a16="http://schemas.microsoft.com/office/drawing/2014/main" val="3398209902"/>
                    </a:ext>
                  </a:extLst>
                </a:gridCol>
              </a:tblGrid>
              <a:tr h="3337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lv-LV" sz="18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Constraint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lv-LV" sz="18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Description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9573798"/>
                  </a:ext>
                </a:extLst>
              </a:tr>
              <a:tr h="3337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lv-LV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 Null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lv-LV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Restricts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the use of NULL values ​​in a table field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8210722"/>
                  </a:ext>
                </a:extLst>
              </a:tr>
              <a:tr h="3337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lv-LV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Default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Defines the value of a table field (column) by default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424839"/>
                  </a:ext>
                </a:extLst>
              </a:tr>
              <a:tr h="3337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lv-LV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Primary Key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Defines the primary key fields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8774153"/>
                  </a:ext>
                </a:extLst>
              </a:tr>
              <a:tr h="3337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lv-LV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Foreign Key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lv-LV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Defines</a:t>
                      </a:r>
                      <a:r>
                        <a:rPr lang="lv-LV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lv-LV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foreign</a:t>
                      </a:r>
                      <a:r>
                        <a:rPr lang="lv-LV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lv-LV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key</a:t>
                      </a:r>
                      <a:r>
                        <a:rPr lang="lv-LV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lv-LV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fields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985966"/>
                  </a:ext>
                </a:extLst>
              </a:tr>
              <a:tr h="3337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lv-LV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Unique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lv-LV" sz="18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Restricts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adding duplicate table field values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144234"/>
                  </a:ext>
                </a:extLst>
              </a:tr>
              <a:tr h="3337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lv-LV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Check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Limits table field values by logical expressions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869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718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New</a:t>
            </a:r>
            <a:r>
              <a:rPr lang="lv-LV" dirty="0"/>
              <a:t> </a:t>
            </a:r>
            <a:r>
              <a:rPr lang="lv-LV" dirty="0" err="1"/>
              <a:t>table</a:t>
            </a:r>
            <a:r>
              <a:rPr lang="lv-LV" dirty="0"/>
              <a:t> </a:t>
            </a:r>
            <a:r>
              <a:rPr lang="lv-LV" dirty="0" err="1"/>
              <a:t>creation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945289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dirty="0"/>
              <a:t>The </a:t>
            </a:r>
            <a:r>
              <a:rPr lang="lv-LV" dirty="0" err="1"/>
              <a:t>constraint</a:t>
            </a:r>
            <a:r>
              <a:rPr lang="en-US" dirty="0"/>
              <a:t> can be described as a</a:t>
            </a:r>
            <a:r>
              <a:rPr lang="lv-LV" dirty="0"/>
              <a:t>:</a:t>
            </a:r>
            <a:endParaRPr lang="en-US" dirty="0"/>
          </a:p>
          <a:p>
            <a:pPr lvl="0" algn="just"/>
            <a:r>
              <a:rPr lang="en-US" dirty="0"/>
              <a:t>table constraint - this constraint may affect some table fields</a:t>
            </a:r>
          </a:p>
          <a:p>
            <a:pPr lvl="0" algn="just"/>
            <a:r>
              <a:rPr lang="en-US" dirty="0"/>
              <a:t>column constraint - this constraint only affects a specific table column</a:t>
            </a:r>
          </a:p>
          <a:p>
            <a:pPr marL="0" indent="0" algn="just">
              <a:buNone/>
            </a:pPr>
            <a:r>
              <a:rPr lang="lv-LV" dirty="0"/>
              <a:t> 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You can assign multiple constraints to a single table column.
The choice of constraint type depends on the context. For example, if a primary key consists of a single table field, you can describe it as a column constraint and also as a table constraint; If the primary key consists of several table fields, it can only be described as a table constraint. 
You can name constraints using the format</a:t>
            </a:r>
            <a:r>
              <a:rPr lang="lv-LV" dirty="0"/>
              <a:t>:</a:t>
            </a:r>
            <a:endParaRPr lang="en-US" dirty="0"/>
          </a:p>
          <a:p>
            <a:pPr marL="0" indent="0" algn="just">
              <a:buNone/>
            </a:pPr>
            <a:r>
              <a:rPr lang="lv-LV" b="1" i="1" dirty="0"/>
              <a:t>CONSTRAINT	n</a:t>
            </a:r>
            <a:r>
              <a:rPr lang="en-US" b="1" i="1" dirty="0" err="1"/>
              <a:t>ame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6603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N</a:t>
            </a:r>
            <a:r>
              <a:rPr lang="lv-LV" dirty="0"/>
              <a:t>OT</a:t>
            </a:r>
            <a:r>
              <a:rPr lang="ru-RU" dirty="0"/>
              <a:t> N</a:t>
            </a:r>
            <a:r>
              <a:rPr lang="lv-LV" dirty="0"/>
              <a:t>ULL</a:t>
            </a:r>
            <a:r>
              <a:rPr lang="ru-RU" dirty="0"/>
              <a:t> </a:t>
            </a:r>
            <a:r>
              <a:rPr lang="en-US" dirty="0"/>
              <a:t>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dirty="0"/>
              <a:t>When defining this constraint, it is necessary to take into consideration such factors as</a:t>
            </a:r>
            <a:r>
              <a:rPr lang="lv-LV" dirty="0"/>
              <a:t>:</a:t>
            </a:r>
            <a:endParaRPr lang="en-US" dirty="0"/>
          </a:p>
          <a:p>
            <a:pPr marL="0" indent="0" algn="just">
              <a:buNone/>
            </a:pPr>
            <a:r>
              <a:rPr lang="lv-LV" dirty="0"/>
              <a:t> </a:t>
            </a:r>
            <a:endParaRPr lang="en-US" dirty="0"/>
          </a:p>
          <a:p>
            <a:pPr algn="just"/>
            <a:r>
              <a:rPr lang="en-US" dirty="0"/>
              <a:t>Not Null is a column constraint</a:t>
            </a:r>
          </a:p>
          <a:p>
            <a:pPr algn="just"/>
            <a:r>
              <a:rPr lang="en-US" dirty="0"/>
              <a:t>This constraint is specified by the keyword NULL or NOT NULL</a:t>
            </a:r>
          </a:p>
          <a:p>
            <a:pPr algn="just"/>
            <a:r>
              <a:rPr lang="en-US" dirty="0"/>
              <a:t>Preferably use NULL constraint as little as possible</a:t>
            </a:r>
          </a:p>
          <a:p>
            <a:pPr algn="just"/>
            <a:r>
              <a:rPr lang="en-US" dirty="0"/>
              <a:t>The primary key must not contain NULL values</a:t>
            </a:r>
          </a:p>
          <a:p>
            <a:pPr algn="just"/>
            <a:r>
              <a:rPr lang="en-US" dirty="0"/>
              <a:t>By default, the constraint is NULL.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lv-LV" dirty="0" err="1"/>
              <a:t>Format</a:t>
            </a:r>
            <a:r>
              <a:rPr lang="lv-LV" dirty="0"/>
              <a:t>:</a:t>
            </a:r>
            <a:endParaRPr lang="en-US" dirty="0"/>
          </a:p>
          <a:p>
            <a:pPr marL="0" indent="0" algn="just">
              <a:buNone/>
            </a:pPr>
            <a:r>
              <a:rPr lang="lv-LV" i="1" dirty="0"/>
              <a:t>	[CONSTRAINT	n</a:t>
            </a:r>
            <a:r>
              <a:rPr lang="en-US" i="1" dirty="0" err="1"/>
              <a:t>ame</a:t>
            </a:r>
            <a:r>
              <a:rPr lang="lv-LV" i="1" dirty="0"/>
              <a:t>]</a:t>
            </a:r>
            <a:endParaRPr lang="en-US" dirty="0"/>
          </a:p>
          <a:p>
            <a:pPr marL="0" indent="0" algn="just">
              <a:buNone/>
            </a:pPr>
            <a:r>
              <a:rPr lang="lv-LV" i="1" dirty="0"/>
              <a:t>	[NOT] NULL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988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/>
              <a:t>DEFAULT </a:t>
            </a:r>
            <a:r>
              <a:rPr lang="en-US" dirty="0"/>
              <a:t>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dirty="0"/>
              <a:t>This constraint assigns a default value to a table column.
Format:
</a:t>
            </a:r>
          </a:p>
          <a:p>
            <a:pPr marL="0" indent="0" algn="just">
              <a:buNone/>
            </a:pPr>
            <a:r>
              <a:rPr lang="lv-LV" i="1" dirty="0"/>
              <a:t>	[CONSTRAINT	</a:t>
            </a:r>
            <a:r>
              <a:rPr lang="en-US" i="1" dirty="0"/>
              <a:t>name</a:t>
            </a:r>
            <a:r>
              <a:rPr lang="lv-LV" i="1" dirty="0"/>
              <a:t>]</a:t>
            </a:r>
            <a:endParaRPr lang="en-US" dirty="0"/>
          </a:p>
          <a:p>
            <a:pPr marL="0" indent="0" algn="just">
              <a:buNone/>
            </a:pPr>
            <a:r>
              <a:rPr lang="lv-LV" i="1" dirty="0"/>
              <a:t>	</a:t>
            </a:r>
            <a:r>
              <a:rPr lang="lv-LV" i="1" dirty="0" err="1"/>
              <a:t>Default</a:t>
            </a:r>
            <a:r>
              <a:rPr lang="lv-LV" i="1" dirty="0"/>
              <a:t>	</a:t>
            </a:r>
            <a:r>
              <a:rPr lang="en-US" i="1" dirty="0"/>
              <a:t>e</a:t>
            </a:r>
            <a:r>
              <a:rPr lang="lv-LV" i="1" dirty="0" err="1"/>
              <a:t>xpression</a:t>
            </a:r>
            <a:r>
              <a:rPr lang="lv-LV" i="1" dirty="0"/>
              <a:t>
</a:t>
            </a:r>
            <a:r>
              <a:rPr lang="lv-LV" dirty="0"/>
              <a:t> 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Where expression can be:</a:t>
            </a:r>
          </a:p>
          <a:p>
            <a:pPr algn="just"/>
            <a:r>
              <a:rPr lang="en-US" dirty="0"/>
              <a:t>a digit</a:t>
            </a:r>
          </a:p>
          <a:p>
            <a:pPr algn="just"/>
            <a:r>
              <a:rPr lang="en-US" dirty="0"/>
              <a:t>a combination of symbols, or a symbol</a:t>
            </a:r>
          </a:p>
          <a:p>
            <a:pPr algn="just"/>
            <a:r>
              <a:rPr lang="en-US" dirty="0"/>
              <a:t>a function</a:t>
            </a:r>
          </a:p>
          <a:p>
            <a:pPr algn="just"/>
            <a:r>
              <a:rPr lang="en-US" dirty="0"/>
              <a:t>a mathematical expression</a:t>
            </a:r>
          </a:p>
          <a:p>
            <a:pPr algn="just"/>
            <a:r>
              <a:rPr lang="en-US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1082674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Defining a primary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lv-LV" dirty="0" err="1"/>
              <a:t>Form</a:t>
            </a:r>
            <a:r>
              <a:rPr lang="en-US" dirty="0"/>
              <a:t>at</a:t>
            </a:r>
            <a:r>
              <a:rPr lang="lv-LV" dirty="0"/>
              <a:t>:</a:t>
            </a:r>
            <a:endParaRPr lang="en-US" dirty="0"/>
          </a:p>
          <a:p>
            <a:pPr marL="0" lvl="0" indent="0">
              <a:buNone/>
            </a:pPr>
            <a:r>
              <a:rPr lang="lv-LV" dirty="0" err="1"/>
              <a:t>column</a:t>
            </a:r>
            <a:r>
              <a:rPr lang="lv-LV" dirty="0"/>
              <a:t> </a:t>
            </a:r>
            <a:r>
              <a:rPr lang="en-US" dirty="0"/>
              <a:t>statement</a:t>
            </a:r>
            <a:r>
              <a:rPr lang="lv-LV" dirty="0"/>
              <a:t>:</a:t>
            </a:r>
            <a:endParaRPr lang="en-US" dirty="0"/>
          </a:p>
          <a:p>
            <a:pPr marL="0" indent="0">
              <a:buNone/>
            </a:pPr>
            <a:r>
              <a:rPr lang="lv-LV" dirty="0"/>
              <a:t> </a:t>
            </a:r>
            <a:endParaRPr lang="en-US" dirty="0"/>
          </a:p>
          <a:p>
            <a:pPr marL="0" indent="0">
              <a:buNone/>
            </a:pPr>
            <a:r>
              <a:rPr lang="lv-LV" i="1" dirty="0"/>
              <a:t>	[CONSTRAINT	n</a:t>
            </a:r>
            <a:r>
              <a:rPr lang="en-US" i="1" dirty="0" err="1"/>
              <a:t>ame</a:t>
            </a:r>
            <a:r>
              <a:rPr lang="lv-LV" i="1" dirty="0"/>
              <a:t>] </a:t>
            </a:r>
            <a:endParaRPr lang="en-US" dirty="0"/>
          </a:p>
          <a:p>
            <a:pPr marL="0" indent="0">
              <a:buNone/>
            </a:pPr>
            <a:r>
              <a:rPr lang="lv-LV" i="1" dirty="0"/>
              <a:t>	</a:t>
            </a:r>
            <a:r>
              <a:rPr lang="lv-LV" i="1" dirty="0" err="1"/>
              <a:t>Primary</a:t>
            </a:r>
            <a:r>
              <a:rPr lang="lv-LV" i="1" dirty="0"/>
              <a:t> </a:t>
            </a:r>
            <a:r>
              <a:rPr lang="lv-LV" i="1" dirty="0" err="1"/>
              <a:t>Key</a:t>
            </a:r>
            <a:endParaRPr lang="en-US" dirty="0"/>
          </a:p>
          <a:p>
            <a:pPr marL="0" indent="0">
              <a:buNone/>
            </a:pPr>
            <a:r>
              <a:rPr lang="lv-LV" dirty="0"/>
              <a:t> </a:t>
            </a:r>
            <a:endParaRPr lang="en-US" dirty="0"/>
          </a:p>
          <a:p>
            <a:pPr marL="0" lvl="0" indent="0">
              <a:buNone/>
            </a:pPr>
            <a:r>
              <a:rPr lang="lv-LV" dirty="0" err="1"/>
              <a:t>table</a:t>
            </a:r>
            <a:r>
              <a:rPr lang="lv-LV" dirty="0"/>
              <a:t> </a:t>
            </a:r>
            <a:r>
              <a:rPr lang="lv-LV" dirty="0" err="1"/>
              <a:t>constraint</a:t>
            </a:r>
            <a:r>
              <a:rPr lang="lv-LV" dirty="0"/>
              <a:t>:</a:t>
            </a:r>
            <a:endParaRPr lang="en-US" dirty="0"/>
          </a:p>
          <a:p>
            <a:pPr marL="0" indent="0">
              <a:buNone/>
            </a:pPr>
            <a:r>
              <a:rPr lang="lv-LV" dirty="0"/>
              <a:t> </a:t>
            </a:r>
            <a:endParaRPr lang="en-US" dirty="0"/>
          </a:p>
          <a:p>
            <a:pPr marL="0" indent="0">
              <a:buNone/>
            </a:pPr>
            <a:r>
              <a:rPr lang="lv-LV" i="1" dirty="0"/>
              <a:t>	[CONSTRAINT	n</a:t>
            </a:r>
            <a:r>
              <a:rPr lang="en-US" i="1" dirty="0" err="1"/>
              <a:t>ame</a:t>
            </a:r>
            <a:r>
              <a:rPr lang="lv-LV" i="1" dirty="0"/>
              <a:t>]				</a:t>
            </a:r>
            <a:r>
              <a:rPr lang="lv-LV" i="1" dirty="0" err="1"/>
              <a:t>Primary</a:t>
            </a:r>
            <a:r>
              <a:rPr lang="lv-LV" i="1" dirty="0"/>
              <a:t> </a:t>
            </a:r>
            <a:r>
              <a:rPr lang="lv-LV" i="1" dirty="0" err="1"/>
              <a:t>Key</a:t>
            </a:r>
            <a:r>
              <a:rPr lang="lv-LV" i="1" dirty="0"/>
              <a:t>	(</a:t>
            </a:r>
            <a:r>
              <a:rPr lang="lv-LV" i="1" dirty="0" err="1"/>
              <a:t>column</a:t>
            </a:r>
            <a:r>
              <a:rPr lang="lv-LV" i="1" dirty="0"/>
              <a:t> </a:t>
            </a:r>
            <a:r>
              <a:rPr lang="lv-LV" i="1" dirty="0" err="1"/>
              <a:t>names</a:t>
            </a:r>
            <a:r>
              <a:rPr lang="lv-LV" i="1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076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Defining a</a:t>
            </a:r>
            <a:r>
              <a:rPr lang="ru-RU" dirty="0"/>
              <a:t> </a:t>
            </a:r>
            <a:r>
              <a:rPr lang="en-US" dirty="0"/>
              <a:t>foreign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5"/>
            <a:ext cx="823232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Form</a:t>
            </a:r>
            <a:r>
              <a:rPr lang="en-US" dirty="0"/>
              <a:t>at:</a:t>
            </a:r>
          </a:p>
          <a:p>
            <a:pPr marL="0" lvl="0" indent="0">
              <a:buNone/>
            </a:pPr>
            <a:r>
              <a:rPr lang="en-US" dirty="0"/>
              <a:t>column constraint
</a:t>
            </a:r>
            <a:r>
              <a:rPr lang="en-US" sz="2400" i="1" dirty="0"/>
              <a:t>[CONSTRAINT name]
REFERENCES main table name (primary key field)</a:t>
            </a:r>
            <a:r>
              <a:rPr lang="en-US" dirty="0"/>
              <a:t>
</a:t>
            </a:r>
            <a:r>
              <a:rPr lang="lv-LV" dirty="0"/>
              <a:t> </a:t>
            </a:r>
            <a:endParaRPr lang="en-US" dirty="0"/>
          </a:p>
          <a:p>
            <a:pPr marL="0" lvl="0" indent="0">
              <a:buNone/>
            </a:pPr>
            <a:r>
              <a:rPr lang="lv-LV" dirty="0" err="1"/>
              <a:t>table</a:t>
            </a:r>
            <a:r>
              <a:rPr lang="lv-LV" dirty="0"/>
              <a:t> </a:t>
            </a:r>
            <a:r>
              <a:rPr lang="lv-LV" dirty="0" err="1"/>
              <a:t>constraint</a:t>
            </a:r>
            <a:r>
              <a:rPr lang="lv-LV" dirty="0"/>
              <a:t>
</a:t>
            </a:r>
            <a:r>
              <a:rPr lang="en-US" sz="2400" i="1" dirty="0"/>
              <a:t>[CONSTRAINT name]
Foreign Key (columns)
REFERENCES main table name (primary key fields)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49180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/>
              <a:t>Unique</a:t>
            </a:r>
            <a:r>
              <a:rPr lang="ru-RU" dirty="0"/>
              <a:t> </a:t>
            </a:r>
            <a:r>
              <a:rPr lang="en-US" dirty="0"/>
              <a:t>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4"/>
            <a:ext cx="8232321" cy="4822825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4400" dirty="0"/>
              <a:t>This limit sets a requirement that column values do not repeat. Unique constraint does not deny NULL values.
</a:t>
            </a:r>
            <a:r>
              <a:rPr lang="lv-LV" sz="4400" dirty="0"/>
              <a:t> </a:t>
            </a:r>
            <a:endParaRPr lang="en-US" sz="4400" dirty="0"/>
          </a:p>
          <a:p>
            <a:pPr marL="0" indent="0" algn="just">
              <a:buNone/>
            </a:pPr>
            <a:r>
              <a:rPr lang="fr-FR" sz="4400" dirty="0"/>
              <a:t>Format:
</a:t>
            </a:r>
            <a:r>
              <a:rPr lang="fr-FR" sz="4400" dirty="0" err="1"/>
              <a:t>column</a:t>
            </a:r>
            <a:r>
              <a:rPr lang="fr-FR" sz="4400" dirty="0"/>
              <a:t> </a:t>
            </a:r>
            <a:r>
              <a:rPr lang="fr-FR" sz="4400" dirty="0" err="1"/>
              <a:t>constraint</a:t>
            </a:r>
            <a:r>
              <a:rPr lang="fr-FR" sz="4400" dirty="0"/>
              <a:t>
	[CONSTRAINT </a:t>
            </a:r>
            <a:r>
              <a:rPr lang="fr-FR" sz="4400" dirty="0" err="1"/>
              <a:t>name</a:t>
            </a:r>
            <a:r>
              <a:rPr lang="fr-FR" sz="4400" dirty="0"/>
              <a:t>]
	Unique
table </a:t>
            </a:r>
            <a:r>
              <a:rPr lang="fr-FR" sz="4400" dirty="0" err="1"/>
              <a:t>constraint</a:t>
            </a:r>
            <a:r>
              <a:rPr lang="fr-FR" sz="4400" dirty="0"/>
              <a:t>
	[CONSTRAINT </a:t>
            </a:r>
            <a:r>
              <a:rPr lang="fr-FR" sz="4400" dirty="0" err="1"/>
              <a:t>name</a:t>
            </a:r>
            <a:r>
              <a:rPr lang="fr-FR" sz="4400" dirty="0"/>
              <a:t>]
	Unique (</a:t>
            </a:r>
            <a:r>
              <a:rPr lang="fr-FR" sz="4400" dirty="0" err="1"/>
              <a:t>Columns</a:t>
            </a:r>
            <a:r>
              <a:rPr lang="fr-FR" sz="4400" dirty="0"/>
              <a:t>)</a:t>
            </a:r>
            <a:r>
              <a:rPr lang="fr-FR" dirty="0"/>
              <a:t>
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41158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/>
              <a:t>Check</a:t>
            </a:r>
            <a:r>
              <a:rPr lang="ru-RU" dirty="0"/>
              <a:t> </a:t>
            </a:r>
            <a:r>
              <a:rPr lang="en-US" dirty="0"/>
              <a:t>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5"/>
            <a:ext cx="823232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check constraint defines additional conditions to values ​​that will be stored in the table field (column).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Format:</a:t>
            </a:r>
          </a:p>
          <a:p>
            <a:pPr marL="0" indent="0">
              <a:buNone/>
            </a:pPr>
            <a:r>
              <a:rPr lang="en-US" dirty="0"/>
              <a:t>[CONSTRAINT name]</a:t>
            </a:r>
          </a:p>
          <a:p>
            <a:pPr marL="0" indent="0">
              <a:buNone/>
            </a:pPr>
            <a:r>
              <a:rPr lang="en-US" dirty="0"/>
              <a:t>CHECK (condition)</a:t>
            </a:r>
          </a:p>
        </p:txBody>
      </p:sp>
    </p:spTree>
    <p:extLst>
      <p:ext uri="{BB962C8B-B14F-4D97-AF65-F5344CB8AC3E}">
        <p14:creationId xmlns:p14="http://schemas.microsoft.com/office/powerpoint/2010/main" val="19169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New tables creation using data from another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The Select Into command creates a new table and fills it in with the result of executing the Select command. This command is used for:
</a:t>
            </a:r>
          </a:p>
          <a:p>
            <a:pPr lvl="1" algn="just"/>
            <a:r>
              <a:rPr lang="en-US" dirty="0"/>
              <a:t>for archiving individual rows</a:t>
            </a:r>
          </a:p>
          <a:p>
            <a:pPr lvl="1" algn="just"/>
            <a:r>
              <a:rPr lang="en-US" dirty="0"/>
              <a:t>to create a backup</a:t>
            </a:r>
          </a:p>
          <a:p>
            <a:pPr lvl="1" algn="just"/>
            <a:r>
              <a:rPr lang="en-US" dirty="0"/>
              <a:t>to create copies of the table</a:t>
            </a:r>
          </a:p>
          <a:p>
            <a:pPr lvl="1" algn="just"/>
            <a:r>
              <a:rPr lang="en-US" dirty="0"/>
              <a:t>for quick copying of the table structure</a:t>
            </a:r>
          </a:p>
          <a:p>
            <a:pPr lvl="1" algn="just"/>
            <a:r>
              <a:rPr lang="en-US" dirty="0"/>
              <a:t>to generate test data</a:t>
            </a:r>
          </a:p>
          <a:p>
            <a:pPr lvl="1" algn="just"/>
            <a:r>
              <a:rPr lang="en-US" dirty="0"/>
              <a:t>to copy a table to test the Insert, Update, and Delete commands.</a:t>
            </a:r>
          </a:p>
        </p:txBody>
      </p:sp>
    </p:spTree>
    <p:extLst>
      <p:ext uri="{BB962C8B-B14F-4D97-AF65-F5344CB8AC3E}">
        <p14:creationId xmlns:p14="http://schemas.microsoft.com/office/powerpoint/2010/main" val="1466498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New tables creation using data from another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2480" y="2292349"/>
            <a:ext cx="4481195" cy="3936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dirty="0" err="1"/>
              <a:t>Form</a:t>
            </a:r>
            <a:r>
              <a:rPr lang="en-US" dirty="0"/>
              <a:t>at</a:t>
            </a:r>
            <a:r>
              <a:rPr lang="lv-LV" dirty="0"/>
              <a:t>:</a:t>
            </a:r>
          </a:p>
          <a:p>
            <a:pPr marL="0" indent="0">
              <a:buNone/>
            </a:pPr>
            <a:r>
              <a:rPr lang="lv-LV" i="1" dirty="0"/>
              <a:t>CREATE TABLE </a:t>
            </a:r>
            <a:r>
              <a:rPr lang="lv-LV" i="1" dirty="0" err="1"/>
              <a:t>new_table</a:t>
            </a:r>
            <a:endParaRPr lang="en-US" i="1" dirty="0"/>
          </a:p>
          <a:p>
            <a:pPr marL="0" indent="0">
              <a:buNone/>
            </a:pPr>
            <a:r>
              <a:rPr lang="lv-LV" i="1" dirty="0"/>
              <a:t>AS </a:t>
            </a:r>
          </a:p>
          <a:p>
            <a:pPr marL="0" indent="0">
              <a:buNone/>
            </a:pPr>
            <a:r>
              <a:rPr lang="lv-LV" i="1" dirty="0"/>
              <a:t>SELECT </a:t>
            </a:r>
            <a:r>
              <a:rPr lang="en-US" i="1" dirty="0"/>
              <a:t>columns</a:t>
            </a:r>
            <a:endParaRPr lang="en-US" dirty="0"/>
          </a:p>
          <a:p>
            <a:pPr marL="0" indent="0">
              <a:buNone/>
            </a:pPr>
            <a:r>
              <a:rPr lang="lv-LV" i="1" dirty="0"/>
              <a:t>FROM </a:t>
            </a:r>
            <a:r>
              <a:rPr lang="lv-LV" i="1" dirty="0" err="1"/>
              <a:t>tab</a:t>
            </a:r>
            <a:r>
              <a:rPr lang="en-US" i="1" dirty="0"/>
              <a:t>le</a:t>
            </a:r>
            <a:endParaRPr lang="en-US" dirty="0"/>
          </a:p>
          <a:p>
            <a:pPr marL="0" indent="0">
              <a:buNone/>
            </a:pPr>
            <a:r>
              <a:rPr lang="lv-LV" i="1" dirty="0"/>
              <a:t>[WHERE </a:t>
            </a:r>
            <a:r>
              <a:rPr lang="en-US" i="1" dirty="0"/>
              <a:t>condition</a:t>
            </a:r>
            <a:r>
              <a:rPr lang="lv-LV" i="1" dirty="0"/>
              <a:t>];</a:t>
            </a:r>
            <a:endParaRPr lang="en-US" dirty="0"/>
          </a:p>
          <a:p>
            <a:pPr marL="0" indent="0">
              <a:buNone/>
            </a:pP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2033433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New tables creation using data from another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Example: Create </a:t>
            </a:r>
            <a:r>
              <a:rPr lang="en-US" dirty="0" err="1"/>
              <a:t>Readers_from_Riga</a:t>
            </a:r>
            <a:r>
              <a:rPr lang="en-US" dirty="0"/>
              <a:t> table that contains readers living in Riga.
</a:t>
            </a:r>
            <a:endParaRPr lang="lv-LV" dirty="0"/>
          </a:p>
          <a:p>
            <a:pPr marL="0" indent="0" algn="just">
              <a:buNone/>
            </a:pPr>
            <a:endParaRPr lang="lv-LV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81EBBB-C510-47F5-BA59-B964D22D6C2B}"/>
              </a:ext>
            </a:extLst>
          </p:cNvPr>
          <p:cNvSpPr/>
          <p:nvPr/>
        </p:nvSpPr>
        <p:spPr>
          <a:xfrm>
            <a:off x="3271838" y="3089772"/>
            <a:ext cx="370522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lv-LV" b="1" dirty="0"/>
          </a:p>
          <a:p>
            <a:pPr algn="just"/>
            <a:r>
              <a:rPr lang="en-US" b="1" dirty="0"/>
              <a:t>CREATE TABLE </a:t>
            </a:r>
            <a:r>
              <a:rPr lang="en-US" b="1" dirty="0" err="1"/>
              <a:t>Readers_from_Riga</a:t>
            </a:r>
            <a:endParaRPr lang="en-US" b="1" dirty="0"/>
          </a:p>
          <a:p>
            <a:pPr algn="just"/>
            <a:r>
              <a:rPr lang="en-US" b="1" dirty="0"/>
              <a:t>AS </a:t>
            </a:r>
          </a:p>
          <a:p>
            <a:pPr algn="just"/>
            <a:r>
              <a:rPr lang="en-US" b="1" dirty="0"/>
              <a:t>   SELECT *</a:t>
            </a:r>
          </a:p>
          <a:p>
            <a:pPr algn="just"/>
            <a:r>
              <a:rPr lang="en-US" b="1" dirty="0"/>
              <a:t>   FROM Readers</a:t>
            </a:r>
          </a:p>
          <a:p>
            <a:pPr algn="just"/>
            <a:r>
              <a:rPr lang="en-US" b="1" dirty="0"/>
              <a:t>   WHERE Town LIKE 'R</a:t>
            </a:r>
            <a:r>
              <a:rPr lang="lv-LV" b="1" dirty="0"/>
              <a:t>ī</a:t>
            </a:r>
            <a:r>
              <a:rPr lang="en-US" b="1" dirty="0" err="1"/>
              <a:t>ga</a:t>
            </a:r>
            <a:r>
              <a:rPr lang="en-US" b="1" dirty="0"/>
              <a:t>'</a:t>
            </a:r>
          </a:p>
          <a:p>
            <a:pPr algn="just"/>
            <a:r>
              <a:rPr lang="en-US" b="1" dirty="0"/>
              <a:t>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B1B58E-F8E2-4E1D-9CAC-618508F49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79607"/>
            <a:ext cx="9144000" cy="78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813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Table structure modifying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The ALTER TABLE command is used to change, delete, and add table columns and constraints. This command:</a:t>
            </a:r>
          </a:p>
          <a:p>
            <a:pPr lvl="1" algn="just"/>
            <a:r>
              <a:rPr lang="en-US" dirty="0"/>
              <a:t>adds or deletes a column
changes the data type of the column
adds or deletes the constraint
renames the column</a:t>
            </a:r>
          </a:p>
        </p:txBody>
      </p:sp>
    </p:spTree>
    <p:extLst>
      <p:ext uri="{BB962C8B-B14F-4D97-AF65-F5344CB8AC3E}">
        <p14:creationId xmlns:p14="http://schemas.microsoft.com/office/powerpoint/2010/main" val="25023289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Table structure modifying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78472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lv-LV" dirty="0" err="1"/>
              <a:t>Form</a:t>
            </a:r>
            <a:r>
              <a:rPr lang="en-US" dirty="0"/>
              <a:t>at</a:t>
            </a:r>
            <a:r>
              <a:rPr lang="lv-LV" dirty="0"/>
              <a:t>:</a:t>
            </a:r>
            <a:endParaRPr lang="en-US" dirty="0"/>
          </a:p>
          <a:p>
            <a:pPr marL="0" indent="0" algn="just">
              <a:buNone/>
            </a:pPr>
            <a:r>
              <a:rPr lang="lv-LV" i="1" dirty="0"/>
              <a:t>ALTER TABLE	</a:t>
            </a:r>
            <a:r>
              <a:rPr lang="lv-LV" i="1" dirty="0" err="1"/>
              <a:t>tab</a:t>
            </a:r>
            <a:r>
              <a:rPr lang="en-US" i="1" dirty="0"/>
              <a:t>le a</a:t>
            </a:r>
            <a:r>
              <a:rPr lang="lv-LV" i="1" dirty="0" err="1"/>
              <a:t>ctions</a:t>
            </a:r>
            <a:r>
              <a:rPr lang="lv-LV" i="1" dirty="0"/>
              <a:t>;</a:t>
            </a:r>
            <a:endParaRPr lang="en-US" dirty="0"/>
          </a:p>
          <a:p>
            <a:pPr marL="0" indent="0" algn="just">
              <a:buNone/>
            </a:pPr>
            <a:r>
              <a:rPr lang="lv-LV" dirty="0"/>
              <a:t> 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Where the action occurs with a table column, or a constraint, and contains the following operations:
ADD – add, DROP – Delete, MODIFY – modify. </a:t>
            </a:r>
          </a:p>
          <a:p>
            <a:pPr marL="0" indent="0" algn="just">
              <a:buNone/>
            </a:pPr>
            <a:r>
              <a:rPr lang="en-US" dirty="0"/>
              <a:t>For example</a:t>
            </a:r>
            <a:r>
              <a:rPr lang="lv-LV" dirty="0"/>
              <a:t>:</a:t>
            </a:r>
            <a:endParaRPr lang="en-US" dirty="0"/>
          </a:p>
          <a:p>
            <a:pPr lvl="1" algn="just"/>
            <a:r>
              <a:rPr lang="lv-LV" dirty="0"/>
              <a:t>ADD </a:t>
            </a:r>
            <a:r>
              <a:rPr lang="lv-LV" dirty="0" err="1"/>
              <a:t>column</a:t>
            </a:r>
            <a:r>
              <a:rPr lang="lv-LV" dirty="0"/>
              <a:t> </a:t>
            </a:r>
            <a:r>
              <a:rPr lang="lv-LV" dirty="0" err="1"/>
              <a:t>data</a:t>
            </a:r>
            <a:r>
              <a:rPr lang="en-US" dirty="0"/>
              <a:t>_</a:t>
            </a:r>
            <a:r>
              <a:rPr lang="lv-LV" dirty="0" err="1"/>
              <a:t>type</a:t>
            </a:r>
            <a:r>
              <a:rPr lang="lv-LV" dirty="0"/>
              <a:t>,
DROP </a:t>
            </a:r>
            <a:r>
              <a:rPr lang="en-US" dirty="0"/>
              <a:t>c</a:t>
            </a:r>
            <a:r>
              <a:rPr lang="lv-LV" dirty="0" err="1"/>
              <a:t>olumn</a:t>
            </a:r>
            <a:r>
              <a:rPr lang="lv-LV" dirty="0"/>
              <a:t>
ADD </a:t>
            </a:r>
            <a:r>
              <a:rPr lang="en-US" dirty="0"/>
              <a:t>constraint</a:t>
            </a:r>
            <a:r>
              <a:rPr lang="lv-LV" dirty="0"/>
              <a:t>,
DROP </a:t>
            </a:r>
            <a:r>
              <a:rPr lang="en-US" dirty="0"/>
              <a:t>c</a:t>
            </a:r>
            <a:r>
              <a:rPr lang="lv-LV" dirty="0" err="1"/>
              <a:t>onstraint</a:t>
            </a:r>
            <a:r>
              <a:rPr lang="lv-LV" dirty="0"/>
              <a:t> </a:t>
            </a:r>
            <a:r>
              <a:rPr lang="lv-LV" dirty="0" err="1"/>
              <a:t>constraint</a:t>
            </a:r>
            <a:r>
              <a:rPr lang="en-US" dirty="0"/>
              <a:t>_</a:t>
            </a:r>
            <a:r>
              <a:rPr lang="lv-LV" dirty="0" err="1"/>
              <a:t>name</a:t>
            </a:r>
            <a:r>
              <a:rPr lang="lv-LV" dirty="0"/>
              <a:t>.
MODIFY </a:t>
            </a:r>
            <a:r>
              <a:rPr lang="en-US" dirty="0"/>
              <a:t>c</a:t>
            </a:r>
            <a:r>
              <a:rPr lang="lv-LV" dirty="0" err="1"/>
              <a:t>olumn</a:t>
            </a:r>
            <a:r>
              <a:rPr lang="lv-LV" dirty="0"/>
              <a:t> </a:t>
            </a:r>
            <a:r>
              <a:rPr lang="lv-LV" dirty="0" err="1"/>
              <a:t>da</a:t>
            </a:r>
            <a:r>
              <a:rPr lang="en-US" dirty="0" err="1"/>
              <a:t>ta_type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085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Our</a:t>
            </a:r>
            <a:r>
              <a:rPr lang="lv-LV" dirty="0"/>
              <a:t> DB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Example</a:t>
            </a:r>
            <a:r>
              <a:rPr lang="lv-LV" i="1" dirty="0"/>
              <a:t>:</a:t>
            </a:r>
          </a:p>
          <a:p>
            <a:pPr marL="0" indent="0">
              <a:buNone/>
            </a:pPr>
            <a:r>
              <a:rPr lang="en-US" dirty="0" err="1"/>
              <a:t>Library_script.sql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766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-634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11580"/>
            <a:ext cx="7886700" cy="54863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lv-LV" dirty="0" err="1"/>
              <a:t>Create</a:t>
            </a:r>
            <a:r>
              <a:rPr lang="lv-LV" dirty="0"/>
              <a:t> </a:t>
            </a:r>
            <a:r>
              <a:rPr lang="lv-LV" dirty="0" err="1"/>
              <a:t>three</a:t>
            </a:r>
            <a:r>
              <a:rPr lang="lv-LV" dirty="0"/>
              <a:t> </a:t>
            </a:r>
            <a:r>
              <a:rPr lang="lv-LV" dirty="0" err="1"/>
              <a:t>related</a:t>
            </a:r>
            <a:r>
              <a:rPr lang="lv-LV" dirty="0"/>
              <a:t> </a:t>
            </a:r>
            <a:r>
              <a:rPr lang="lv-LV" dirty="0" err="1"/>
              <a:t>tables</a:t>
            </a:r>
            <a:r>
              <a:rPr lang="lv-LV" dirty="0"/>
              <a:t>
</a:t>
            </a:r>
          </a:p>
          <a:p>
            <a:pPr marL="0" indent="0">
              <a:buNone/>
            </a:pPr>
            <a:endParaRPr lang="lv-LV" dirty="0"/>
          </a:p>
          <a:p>
            <a:pPr marL="0" indent="0">
              <a:buNone/>
            </a:pPr>
            <a:endParaRPr lang="lv-LV" dirty="0"/>
          </a:p>
          <a:p>
            <a:pPr marL="0" indent="0">
              <a:buNone/>
            </a:pPr>
            <a:endParaRPr lang="lv-LV" dirty="0"/>
          </a:p>
          <a:p>
            <a:pPr marL="0" indent="0">
              <a:buNone/>
            </a:pPr>
            <a:endParaRPr lang="lv-LV" dirty="0"/>
          </a:p>
          <a:p>
            <a:pPr marL="0" indent="0">
              <a:buNone/>
            </a:pPr>
            <a:endParaRPr lang="lv-LV" dirty="0"/>
          </a:p>
          <a:p>
            <a:pPr marL="0" indent="0">
              <a:buNone/>
            </a:pPr>
            <a:endParaRPr lang="lv-LV" sz="2400" dirty="0"/>
          </a:p>
          <a:p>
            <a:pPr marL="0" indent="0">
              <a:buNone/>
            </a:pPr>
            <a:endParaRPr lang="lv-LV" sz="2400" dirty="0"/>
          </a:p>
          <a:p>
            <a:pPr marL="0" indent="0">
              <a:buNone/>
            </a:pPr>
            <a:r>
              <a:rPr lang="en-US" dirty="0"/>
              <a:t>Conditions:</a:t>
            </a:r>
          </a:p>
          <a:p>
            <a:pPr marL="0" indent="0">
              <a:buNone/>
            </a:pPr>
            <a:r>
              <a:rPr lang="en-US" dirty="0"/>
              <a:t>Student 's year of birth &gt;1900 and &lt;2021</a:t>
            </a:r>
          </a:p>
          <a:p>
            <a:pPr marL="0" indent="0">
              <a:buNone/>
            </a:pPr>
            <a:r>
              <a:rPr lang="lv-LV" dirty="0" err="1"/>
              <a:t>Grades</a:t>
            </a:r>
            <a:r>
              <a:rPr lang="en-US" dirty="0"/>
              <a:t> &gt;0 and &lt;=10</a:t>
            </a:r>
            <a:endParaRPr lang="lv-LV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DE3FECF0-AC28-4F42-A192-DFC4FA57D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30" y="1826316"/>
            <a:ext cx="6922340" cy="320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340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Answers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5" y="1825624"/>
            <a:ext cx="8658225" cy="48037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lv-LV" sz="2000" dirty="0"/>
              <a:t>CREATE TABLE Students (</a:t>
            </a:r>
          </a:p>
          <a:p>
            <a:pPr marL="0" indent="0">
              <a:buNone/>
            </a:pPr>
            <a:r>
              <a:rPr lang="lv-LV" sz="2000" dirty="0"/>
              <a:t>          </a:t>
            </a:r>
            <a:r>
              <a:rPr lang="en-US" sz="2000" dirty="0"/>
              <a:t>	  </a:t>
            </a:r>
            <a:r>
              <a:rPr lang="lv-LV" sz="2000" dirty="0" err="1"/>
              <a:t>GroupID</a:t>
            </a:r>
            <a:r>
              <a:rPr lang="lv-LV" sz="2000" dirty="0"/>
              <a:t> varchar2(3) NOT NULL,</a:t>
            </a:r>
          </a:p>
          <a:p>
            <a:pPr marL="0" indent="0">
              <a:buNone/>
            </a:pPr>
            <a:r>
              <a:rPr lang="lv-LV" sz="2000" dirty="0"/>
              <a:t>	  </a:t>
            </a:r>
            <a:r>
              <a:rPr lang="lv-LV" sz="2000" dirty="0" err="1"/>
              <a:t>StudentID</a:t>
            </a:r>
            <a:r>
              <a:rPr lang="lv-LV" sz="2000" dirty="0"/>
              <a:t> varchar2(2) NOT NULL,</a:t>
            </a:r>
          </a:p>
          <a:p>
            <a:pPr marL="0" indent="0">
              <a:buNone/>
            </a:pPr>
            <a:r>
              <a:rPr lang="lv-LV" sz="2000" dirty="0"/>
              <a:t>	  </a:t>
            </a:r>
            <a:r>
              <a:rPr lang="lv-LV" sz="2000" dirty="0" err="1"/>
              <a:t>Surname</a:t>
            </a:r>
            <a:r>
              <a:rPr lang="lv-LV" sz="2000" dirty="0"/>
              <a:t> varchar2(20) NOT NULL,</a:t>
            </a:r>
          </a:p>
          <a:p>
            <a:pPr marL="0" indent="0">
              <a:buNone/>
            </a:pPr>
            <a:r>
              <a:rPr lang="lv-LV" sz="2000" dirty="0"/>
              <a:t> 	  </a:t>
            </a:r>
            <a:r>
              <a:rPr lang="lv-LV" sz="2000" dirty="0" err="1"/>
              <a:t>Name</a:t>
            </a:r>
            <a:r>
              <a:rPr lang="lv-LV" sz="2000" dirty="0"/>
              <a:t> varchar2(15),</a:t>
            </a:r>
          </a:p>
          <a:p>
            <a:pPr marL="0" indent="0">
              <a:buNone/>
            </a:pPr>
            <a:r>
              <a:rPr lang="lv-LV" sz="2000" dirty="0"/>
              <a:t>	  </a:t>
            </a:r>
            <a:r>
              <a:rPr lang="lv-LV" sz="2000" dirty="0" err="1"/>
              <a:t>YearOfBirth</a:t>
            </a:r>
            <a:r>
              <a:rPr lang="lv-LV" sz="2000" dirty="0"/>
              <a:t> </a:t>
            </a:r>
            <a:r>
              <a:rPr lang="lv-LV" sz="2000" dirty="0" err="1"/>
              <a:t>Number</a:t>
            </a:r>
            <a:r>
              <a:rPr lang="lv-LV" sz="2000" dirty="0"/>
              <a:t>(4) NOT NULL </a:t>
            </a:r>
            <a:r>
              <a:rPr lang="lv-LV" sz="2000" dirty="0" err="1"/>
              <a:t>Check</a:t>
            </a:r>
            <a:r>
              <a:rPr lang="lv-LV" sz="2000" dirty="0"/>
              <a:t> (</a:t>
            </a:r>
            <a:r>
              <a:rPr lang="lv-LV" sz="2000" dirty="0" err="1"/>
              <a:t>YearOfBirth</a:t>
            </a:r>
            <a:r>
              <a:rPr lang="lv-LV" sz="2000" dirty="0"/>
              <a:t>&gt;1900 </a:t>
            </a:r>
            <a:r>
              <a:rPr lang="lv-LV" sz="2000" dirty="0" err="1"/>
              <a:t>and</a:t>
            </a:r>
            <a:r>
              <a:rPr lang="lv-LV" sz="2000" dirty="0"/>
              <a:t> </a:t>
            </a:r>
            <a:r>
              <a:rPr lang="lv-LV" sz="2000" dirty="0" err="1"/>
              <a:t>YearOfBirth</a:t>
            </a:r>
            <a:r>
              <a:rPr lang="lv-LV" sz="2000" dirty="0"/>
              <a:t>&lt;20</a:t>
            </a:r>
            <a:r>
              <a:rPr lang="en-US" sz="2000" dirty="0"/>
              <a:t>21</a:t>
            </a:r>
            <a:r>
              <a:rPr lang="lv-LV" sz="2000" dirty="0"/>
              <a:t>),</a:t>
            </a:r>
          </a:p>
          <a:p>
            <a:pPr marL="0" indent="0">
              <a:buNone/>
            </a:pPr>
            <a:r>
              <a:rPr lang="lv-LV" sz="2000" dirty="0"/>
              <a:t>	  </a:t>
            </a:r>
            <a:r>
              <a:rPr lang="lv-LV" sz="2000" dirty="0" err="1"/>
              <a:t>Street</a:t>
            </a:r>
            <a:r>
              <a:rPr lang="lv-LV" sz="2000" dirty="0"/>
              <a:t> varchar2(50) NOT NULL,</a:t>
            </a:r>
          </a:p>
          <a:p>
            <a:pPr marL="0" indent="0">
              <a:buNone/>
            </a:pPr>
            <a:r>
              <a:rPr lang="lv-LV" sz="2000" dirty="0"/>
              <a:t>	  </a:t>
            </a:r>
            <a:r>
              <a:rPr lang="lv-LV" sz="2000" dirty="0" err="1"/>
              <a:t>House</a:t>
            </a:r>
            <a:r>
              <a:rPr lang="lv-LV" sz="2000" dirty="0"/>
              <a:t> varchar2(8) NOT NULL,</a:t>
            </a:r>
          </a:p>
          <a:p>
            <a:pPr marL="0" indent="0">
              <a:buNone/>
            </a:pPr>
            <a:r>
              <a:rPr lang="lv-LV" sz="2000" dirty="0"/>
              <a:t>	  </a:t>
            </a:r>
            <a:r>
              <a:rPr lang="lv-LV" sz="2000" dirty="0" err="1"/>
              <a:t>FlatNumber</a:t>
            </a:r>
            <a:r>
              <a:rPr lang="lv-LV" sz="2000" dirty="0"/>
              <a:t> varchar2(4) NULL,</a:t>
            </a:r>
          </a:p>
          <a:p>
            <a:pPr marL="0" indent="0">
              <a:buNone/>
            </a:pPr>
            <a:r>
              <a:rPr lang="lv-LV" sz="2000" dirty="0"/>
              <a:t>	  </a:t>
            </a:r>
            <a:r>
              <a:rPr lang="lv-LV" sz="2000" dirty="0" err="1"/>
              <a:t>Town</a:t>
            </a:r>
            <a:r>
              <a:rPr lang="lv-LV" sz="2000" dirty="0"/>
              <a:t> varchar2(40) NOT NULL,</a:t>
            </a:r>
          </a:p>
          <a:p>
            <a:pPr marL="0" indent="0">
              <a:buNone/>
            </a:pPr>
            <a:r>
              <a:rPr lang="lv-LV" sz="2000" dirty="0"/>
              <a:t>	  </a:t>
            </a:r>
            <a:r>
              <a:rPr lang="lv-LV" sz="2000" dirty="0" err="1"/>
              <a:t>District</a:t>
            </a:r>
            <a:r>
              <a:rPr lang="lv-LV" sz="2000" dirty="0"/>
              <a:t> varchar2 (75) NULL,</a:t>
            </a:r>
          </a:p>
          <a:p>
            <a:pPr marL="0" indent="0">
              <a:buNone/>
            </a:pPr>
            <a:r>
              <a:rPr lang="lv-LV" sz="2000" dirty="0"/>
              <a:t>	  </a:t>
            </a:r>
            <a:r>
              <a:rPr lang="lv-LV" sz="2000" dirty="0" err="1"/>
              <a:t>PostCode</a:t>
            </a:r>
            <a:r>
              <a:rPr lang="lv-LV" sz="2000" dirty="0"/>
              <a:t> varchar2(7),</a:t>
            </a:r>
          </a:p>
          <a:p>
            <a:pPr marL="0" indent="0">
              <a:buNone/>
            </a:pPr>
            <a:r>
              <a:rPr lang="lv-LV" sz="2000" dirty="0"/>
              <a:t>	  CONSTRAINT </a:t>
            </a:r>
            <a:r>
              <a:rPr lang="lv-LV" sz="2000" dirty="0" err="1"/>
              <a:t>Students_pk</a:t>
            </a:r>
            <a:endParaRPr lang="lv-LV" sz="2000" dirty="0"/>
          </a:p>
          <a:p>
            <a:pPr marL="0" indent="0">
              <a:buNone/>
            </a:pPr>
            <a:r>
              <a:rPr lang="lv-LV" sz="2000" dirty="0"/>
              <a:t>	  PRIMARY KEY (</a:t>
            </a:r>
            <a:r>
              <a:rPr lang="lv-LV" sz="2000" dirty="0" err="1"/>
              <a:t>GroupID</a:t>
            </a:r>
            <a:r>
              <a:rPr lang="lv-LV" sz="2000" dirty="0"/>
              <a:t>, </a:t>
            </a:r>
            <a:r>
              <a:rPr lang="lv-LV" sz="2000" dirty="0" err="1"/>
              <a:t>StudentID</a:t>
            </a:r>
            <a:r>
              <a:rPr lang="lv-LV" sz="2000" dirty="0"/>
              <a:t>)</a:t>
            </a:r>
          </a:p>
          <a:p>
            <a:pPr marL="0" indent="0">
              <a:buNone/>
            </a:pPr>
            <a:r>
              <a:rPr lang="lv-LV" sz="2000" dirty="0"/>
              <a:t>);</a:t>
            </a:r>
            <a:endParaRPr lang="lv-LV" sz="1200" dirty="0"/>
          </a:p>
        </p:txBody>
      </p:sp>
    </p:spTree>
    <p:extLst>
      <p:ext uri="{BB962C8B-B14F-4D97-AF65-F5344CB8AC3E}">
        <p14:creationId xmlns:p14="http://schemas.microsoft.com/office/powerpoint/2010/main" val="4292336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Answers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974" y="1825624"/>
            <a:ext cx="8387715" cy="4803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sz="2000" dirty="0"/>
              <a:t>CREATE TABLE </a:t>
            </a:r>
            <a:r>
              <a:rPr lang="lv-LV" sz="2000" dirty="0" err="1"/>
              <a:t>Lectures</a:t>
            </a:r>
            <a:r>
              <a:rPr lang="lv-LV" sz="2000" dirty="0"/>
              <a:t> (</a:t>
            </a:r>
          </a:p>
          <a:p>
            <a:pPr marL="0" indent="0">
              <a:buNone/>
            </a:pPr>
            <a:r>
              <a:rPr lang="lv-LV" sz="2000" dirty="0"/>
              <a:t>          </a:t>
            </a:r>
            <a:r>
              <a:rPr lang="lv-LV" sz="2000" dirty="0" err="1"/>
              <a:t>GroupID</a:t>
            </a:r>
            <a:r>
              <a:rPr lang="lv-LV" sz="2000" dirty="0"/>
              <a:t> varchar2(3) NOT NULL,</a:t>
            </a:r>
          </a:p>
          <a:p>
            <a:pPr marL="0" indent="0">
              <a:buNone/>
            </a:pPr>
            <a:r>
              <a:rPr lang="lv-LV" sz="2000" dirty="0"/>
              <a:t>          </a:t>
            </a:r>
            <a:r>
              <a:rPr lang="lv-LV" sz="2000" dirty="0" err="1"/>
              <a:t>CourseID</a:t>
            </a:r>
            <a:r>
              <a:rPr lang="lv-LV" sz="2000" dirty="0"/>
              <a:t> varchar2(2) NOT NULL,</a:t>
            </a:r>
          </a:p>
          <a:p>
            <a:pPr marL="0" indent="0">
              <a:buNone/>
            </a:pPr>
            <a:r>
              <a:rPr lang="lv-LV" sz="2000" dirty="0"/>
              <a:t>          </a:t>
            </a:r>
            <a:r>
              <a:rPr lang="lv-LV" sz="2000" dirty="0" err="1"/>
              <a:t>CourseType</a:t>
            </a:r>
            <a:r>
              <a:rPr lang="lv-LV" sz="2000" dirty="0"/>
              <a:t> varchar2(3) NOT NULL,</a:t>
            </a:r>
          </a:p>
          <a:p>
            <a:pPr marL="0" indent="0">
              <a:buNone/>
            </a:pPr>
            <a:r>
              <a:rPr lang="lv-LV" sz="2000" dirty="0"/>
              <a:t>          </a:t>
            </a:r>
            <a:r>
              <a:rPr lang="lv-LV" sz="2000" dirty="0" err="1"/>
              <a:t>Hours</a:t>
            </a:r>
            <a:r>
              <a:rPr lang="lv-LV" sz="2000" dirty="0"/>
              <a:t> </a:t>
            </a:r>
            <a:r>
              <a:rPr lang="lv-LV" sz="2000" dirty="0" err="1"/>
              <a:t>number</a:t>
            </a:r>
            <a:r>
              <a:rPr lang="lv-LV" sz="2000" dirty="0"/>
              <a:t>(3) NOT NULL,</a:t>
            </a:r>
          </a:p>
          <a:p>
            <a:pPr marL="0" indent="0">
              <a:buNone/>
            </a:pPr>
            <a:r>
              <a:rPr lang="lv-LV" sz="2000" dirty="0"/>
              <a:t>          CONSTRAINT </a:t>
            </a:r>
            <a:r>
              <a:rPr lang="lv-LV" sz="2000" dirty="0" err="1"/>
              <a:t>Lectures_pk</a:t>
            </a:r>
            <a:endParaRPr lang="lv-LV" sz="2000" dirty="0"/>
          </a:p>
          <a:p>
            <a:pPr marL="0" indent="0">
              <a:buNone/>
            </a:pPr>
            <a:r>
              <a:rPr lang="lv-LV" sz="2000" dirty="0"/>
              <a:t>          PRIMARY KEY (</a:t>
            </a:r>
            <a:r>
              <a:rPr lang="lv-LV" sz="2000" dirty="0" err="1"/>
              <a:t>GroupID</a:t>
            </a:r>
            <a:r>
              <a:rPr lang="lv-LV" sz="2000" dirty="0"/>
              <a:t>, </a:t>
            </a:r>
            <a:r>
              <a:rPr lang="lv-LV" sz="2000" dirty="0" err="1"/>
              <a:t>CourseID</a:t>
            </a:r>
            <a:r>
              <a:rPr lang="lv-LV" sz="2000" dirty="0"/>
              <a:t>, </a:t>
            </a:r>
            <a:r>
              <a:rPr lang="lv-LV" sz="2000" dirty="0" err="1"/>
              <a:t>CourseType</a:t>
            </a:r>
            <a:r>
              <a:rPr lang="lv-LV" sz="2000" dirty="0"/>
              <a:t>)</a:t>
            </a:r>
          </a:p>
          <a:p>
            <a:pPr marL="0" indent="0">
              <a:buNone/>
            </a:pPr>
            <a:r>
              <a:rPr lang="lv-LV" sz="20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835134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Answers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874" y="1825624"/>
            <a:ext cx="8425815" cy="48037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lv-LV" sz="2000" dirty="0"/>
              <a:t>CREATE TABLE </a:t>
            </a:r>
            <a:r>
              <a:rPr lang="lv-LV" sz="2000" dirty="0" err="1"/>
              <a:t>StudentGrades</a:t>
            </a:r>
            <a:r>
              <a:rPr lang="lv-LV" sz="2000" dirty="0"/>
              <a:t> (</a:t>
            </a:r>
          </a:p>
          <a:p>
            <a:pPr marL="0" indent="0">
              <a:buNone/>
            </a:pPr>
            <a:r>
              <a:rPr lang="lv-LV" sz="2000" dirty="0"/>
              <a:t>          </a:t>
            </a:r>
            <a:r>
              <a:rPr lang="lv-LV" sz="2000" dirty="0" err="1"/>
              <a:t>GroupID</a:t>
            </a:r>
            <a:r>
              <a:rPr lang="lv-LV" sz="2000" dirty="0"/>
              <a:t> varchar2(3) NOT NULL,</a:t>
            </a:r>
          </a:p>
          <a:p>
            <a:pPr marL="0" indent="0">
              <a:buNone/>
            </a:pPr>
            <a:r>
              <a:rPr lang="lv-LV" sz="2000" dirty="0"/>
              <a:t>          </a:t>
            </a:r>
            <a:r>
              <a:rPr lang="lv-LV" sz="2000" dirty="0" err="1"/>
              <a:t>StudentID</a:t>
            </a:r>
            <a:r>
              <a:rPr lang="lv-LV" sz="2000" dirty="0"/>
              <a:t> varchar2(2) NOT NULL,</a:t>
            </a:r>
          </a:p>
          <a:p>
            <a:pPr marL="0" indent="0">
              <a:buNone/>
            </a:pPr>
            <a:r>
              <a:rPr lang="lv-LV" sz="2000" dirty="0"/>
              <a:t>          </a:t>
            </a:r>
            <a:r>
              <a:rPr lang="lv-LV" sz="2000" dirty="0" err="1"/>
              <a:t>CourseID</a:t>
            </a:r>
            <a:r>
              <a:rPr lang="lv-LV" sz="2000" dirty="0"/>
              <a:t> varchar2(2) NOT NULL,</a:t>
            </a:r>
          </a:p>
          <a:p>
            <a:pPr marL="0" indent="0">
              <a:buNone/>
            </a:pPr>
            <a:r>
              <a:rPr lang="lv-LV" sz="2000" dirty="0"/>
              <a:t>          </a:t>
            </a:r>
            <a:r>
              <a:rPr lang="lv-LV" sz="2000" dirty="0" err="1"/>
              <a:t>CourseType</a:t>
            </a:r>
            <a:r>
              <a:rPr lang="lv-LV" sz="2000" dirty="0"/>
              <a:t> varchar2(3) NOT NULL,</a:t>
            </a:r>
          </a:p>
          <a:p>
            <a:pPr marL="0" indent="0">
              <a:buNone/>
            </a:pPr>
            <a:r>
              <a:rPr lang="lv-LV" sz="2000" dirty="0"/>
              <a:t>          </a:t>
            </a:r>
            <a:r>
              <a:rPr lang="lv-LV" sz="2000" dirty="0" err="1"/>
              <a:t>Grade</a:t>
            </a:r>
            <a:r>
              <a:rPr lang="lv-LV" sz="2000" dirty="0"/>
              <a:t> </a:t>
            </a:r>
            <a:r>
              <a:rPr lang="lv-LV" sz="2000" dirty="0" err="1"/>
              <a:t>number</a:t>
            </a:r>
            <a:r>
              <a:rPr lang="lv-LV" sz="2000" dirty="0"/>
              <a:t>(2) NOT NULL </a:t>
            </a:r>
            <a:r>
              <a:rPr lang="lv-LV" sz="2000" dirty="0" err="1"/>
              <a:t>Check</a:t>
            </a:r>
            <a:r>
              <a:rPr lang="lv-LV" sz="2000" dirty="0"/>
              <a:t> (</a:t>
            </a:r>
            <a:r>
              <a:rPr lang="lv-LV" sz="2000" dirty="0" err="1"/>
              <a:t>Grade</a:t>
            </a:r>
            <a:r>
              <a:rPr lang="lv-LV" sz="2000" dirty="0"/>
              <a:t>&gt;0 </a:t>
            </a:r>
            <a:r>
              <a:rPr lang="lv-LV" sz="2000" dirty="0" err="1"/>
              <a:t>and</a:t>
            </a:r>
            <a:r>
              <a:rPr lang="lv-LV" sz="2000" dirty="0"/>
              <a:t> </a:t>
            </a:r>
            <a:r>
              <a:rPr lang="lv-LV" sz="2000" dirty="0" err="1"/>
              <a:t>Grade</a:t>
            </a:r>
            <a:r>
              <a:rPr lang="lv-LV" sz="2000" dirty="0"/>
              <a:t>&lt;=10),</a:t>
            </a:r>
          </a:p>
          <a:p>
            <a:pPr marL="0" indent="0">
              <a:buNone/>
            </a:pPr>
            <a:r>
              <a:rPr lang="lv-LV" sz="2000" dirty="0"/>
              <a:t>          CONSTRAINT </a:t>
            </a:r>
            <a:r>
              <a:rPr lang="lv-LV" sz="2000" dirty="0" err="1"/>
              <a:t>StudentGrades_pk</a:t>
            </a:r>
            <a:endParaRPr lang="lv-LV" sz="2000" dirty="0"/>
          </a:p>
          <a:p>
            <a:pPr marL="0" indent="0">
              <a:buNone/>
            </a:pPr>
            <a:r>
              <a:rPr lang="lv-LV" sz="2000" dirty="0"/>
              <a:t>             PRIMARY KEY (</a:t>
            </a:r>
            <a:r>
              <a:rPr lang="lv-LV" sz="2000" dirty="0" err="1"/>
              <a:t>GroupID</a:t>
            </a:r>
            <a:r>
              <a:rPr lang="lv-LV" sz="2000" dirty="0"/>
              <a:t>, </a:t>
            </a:r>
            <a:r>
              <a:rPr lang="lv-LV" sz="2000" dirty="0" err="1"/>
              <a:t>StudentID</a:t>
            </a:r>
            <a:r>
              <a:rPr lang="lv-LV" sz="2000" dirty="0"/>
              <a:t>, </a:t>
            </a:r>
            <a:r>
              <a:rPr lang="lv-LV" sz="2000" dirty="0" err="1"/>
              <a:t>CourseID</a:t>
            </a:r>
            <a:r>
              <a:rPr lang="lv-LV" sz="2000" dirty="0"/>
              <a:t>, </a:t>
            </a:r>
            <a:r>
              <a:rPr lang="lv-LV" sz="2000" dirty="0" err="1"/>
              <a:t>CourseType</a:t>
            </a:r>
            <a:r>
              <a:rPr lang="lv-LV" sz="2000" dirty="0"/>
              <a:t>),</a:t>
            </a:r>
          </a:p>
          <a:p>
            <a:pPr marL="0" indent="0">
              <a:buNone/>
            </a:pPr>
            <a:r>
              <a:rPr lang="lv-LV" sz="2000" dirty="0"/>
              <a:t>         CONSTRAINT </a:t>
            </a:r>
            <a:r>
              <a:rPr lang="lv-LV" sz="2000" dirty="0" err="1"/>
              <a:t>StudentGrades_Students_fk</a:t>
            </a:r>
            <a:endParaRPr lang="lv-LV" sz="2000" dirty="0"/>
          </a:p>
          <a:p>
            <a:pPr marL="0" indent="0">
              <a:buNone/>
            </a:pPr>
            <a:r>
              <a:rPr lang="lv-LV" sz="2000" dirty="0"/>
              <a:t>             FOREIGN KEY (</a:t>
            </a:r>
            <a:r>
              <a:rPr lang="lv-LV" sz="2000" dirty="0" err="1"/>
              <a:t>GroupID</a:t>
            </a:r>
            <a:r>
              <a:rPr lang="lv-LV" sz="2000" dirty="0"/>
              <a:t>, </a:t>
            </a:r>
            <a:r>
              <a:rPr lang="lv-LV" sz="2000" dirty="0" err="1"/>
              <a:t>StudentID</a:t>
            </a:r>
            <a:r>
              <a:rPr lang="lv-LV" sz="2000" dirty="0"/>
              <a:t>)</a:t>
            </a:r>
          </a:p>
          <a:p>
            <a:pPr marL="0" indent="0">
              <a:buNone/>
            </a:pPr>
            <a:r>
              <a:rPr lang="lv-LV" sz="2000" dirty="0"/>
              <a:t>             REFERENCES Students (</a:t>
            </a:r>
            <a:r>
              <a:rPr lang="lv-LV" sz="2000" dirty="0" err="1"/>
              <a:t>GroupID</a:t>
            </a:r>
            <a:r>
              <a:rPr lang="lv-LV" sz="2000" dirty="0"/>
              <a:t>, </a:t>
            </a:r>
            <a:r>
              <a:rPr lang="lv-LV" sz="2000" dirty="0" err="1"/>
              <a:t>StudentID</a:t>
            </a:r>
            <a:r>
              <a:rPr lang="lv-LV" sz="2000" dirty="0"/>
              <a:t>),</a:t>
            </a:r>
          </a:p>
          <a:p>
            <a:pPr marL="0" indent="0">
              <a:buNone/>
            </a:pPr>
            <a:r>
              <a:rPr lang="lv-LV" sz="2000" dirty="0"/>
              <a:t>         CONSTRAINT </a:t>
            </a:r>
            <a:r>
              <a:rPr lang="lv-LV" sz="2000" dirty="0" err="1"/>
              <a:t>StudentGrades_Lectures_fk</a:t>
            </a:r>
            <a:endParaRPr lang="lv-LV" sz="2000" dirty="0"/>
          </a:p>
          <a:p>
            <a:pPr marL="0" indent="0">
              <a:buNone/>
            </a:pPr>
            <a:r>
              <a:rPr lang="lv-LV" sz="2000" dirty="0"/>
              <a:t>             FOREIGN KEY (</a:t>
            </a:r>
            <a:r>
              <a:rPr lang="lv-LV" sz="2000" dirty="0" err="1"/>
              <a:t>GroupID</a:t>
            </a:r>
            <a:r>
              <a:rPr lang="lv-LV" sz="2000" dirty="0"/>
              <a:t>, </a:t>
            </a:r>
            <a:r>
              <a:rPr lang="lv-LV" sz="2000" dirty="0" err="1"/>
              <a:t>CourseID</a:t>
            </a:r>
            <a:r>
              <a:rPr lang="lv-LV" sz="2000" dirty="0"/>
              <a:t>, </a:t>
            </a:r>
            <a:r>
              <a:rPr lang="lv-LV" sz="2000" dirty="0" err="1"/>
              <a:t>CourseType</a:t>
            </a:r>
            <a:r>
              <a:rPr lang="lv-LV" sz="2000" dirty="0"/>
              <a:t>)</a:t>
            </a:r>
          </a:p>
          <a:p>
            <a:pPr marL="0" indent="0">
              <a:buNone/>
            </a:pPr>
            <a:r>
              <a:rPr lang="lv-LV" sz="2000" dirty="0"/>
              <a:t>              REFERENCES </a:t>
            </a:r>
            <a:r>
              <a:rPr lang="lv-LV" sz="2000" dirty="0" err="1"/>
              <a:t>Lectures</a:t>
            </a:r>
            <a:r>
              <a:rPr lang="lv-LV" sz="2000" dirty="0"/>
              <a:t> (</a:t>
            </a:r>
            <a:r>
              <a:rPr lang="lv-LV" sz="2000" dirty="0" err="1"/>
              <a:t>GroupID</a:t>
            </a:r>
            <a:r>
              <a:rPr lang="lv-LV" sz="2000" dirty="0"/>
              <a:t>, </a:t>
            </a:r>
            <a:r>
              <a:rPr lang="lv-LV" sz="2000" dirty="0" err="1"/>
              <a:t>CourseID</a:t>
            </a:r>
            <a:r>
              <a:rPr lang="lv-LV" sz="2000" dirty="0"/>
              <a:t>, </a:t>
            </a:r>
            <a:r>
              <a:rPr lang="lv-LV" sz="2000" dirty="0" err="1"/>
              <a:t>CourseType</a:t>
            </a:r>
            <a:r>
              <a:rPr lang="lv-LV" sz="2000" dirty="0"/>
              <a:t>)</a:t>
            </a:r>
          </a:p>
          <a:p>
            <a:pPr marL="0" indent="0">
              <a:buNone/>
            </a:pPr>
            <a:r>
              <a:rPr lang="lv-LV" sz="20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970130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Table deletion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lv-LV" dirty="0" err="1"/>
              <a:t>Form</a:t>
            </a:r>
            <a:r>
              <a:rPr lang="en-US" dirty="0"/>
              <a:t>at</a:t>
            </a:r>
            <a:r>
              <a:rPr lang="lv-LV" dirty="0"/>
              <a:t>:</a:t>
            </a:r>
            <a:endParaRPr lang="en-US" dirty="0"/>
          </a:p>
          <a:p>
            <a:pPr marL="0" indent="0">
              <a:buNone/>
            </a:pPr>
            <a:r>
              <a:rPr lang="lv-LV" i="1" dirty="0"/>
              <a:t>	DROP TABLE	</a:t>
            </a:r>
            <a:r>
              <a:rPr lang="en-US" i="1" dirty="0"/>
              <a:t> </a:t>
            </a:r>
            <a:r>
              <a:rPr lang="en-US" i="1" dirty="0" err="1"/>
              <a:t>table_name</a:t>
            </a:r>
            <a:r>
              <a:rPr lang="lv-LV" i="1" dirty="0"/>
              <a:t>;</a:t>
            </a:r>
          </a:p>
          <a:p>
            <a:pPr marL="0" indent="0">
              <a:buNone/>
            </a:pPr>
            <a:endParaRPr lang="lv-LV" i="1" dirty="0"/>
          </a:p>
          <a:p>
            <a:pPr marL="0" indent="0">
              <a:buNone/>
            </a:pPr>
            <a:r>
              <a:rPr lang="en-US" i="1" dirty="0"/>
              <a:t>Example</a:t>
            </a:r>
            <a:r>
              <a:rPr lang="lv-LV" i="1" dirty="0"/>
              <a:t>:</a:t>
            </a:r>
          </a:p>
          <a:p>
            <a:pPr marL="0" indent="0">
              <a:buNone/>
            </a:pPr>
            <a:r>
              <a:rPr lang="en-US" dirty="0" err="1"/>
              <a:t>Del_Library_script.sql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506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Table deletion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Example</a:t>
            </a:r>
            <a:r>
              <a:rPr lang="lv-LV" i="1" dirty="0"/>
              <a:t>:</a:t>
            </a:r>
          </a:p>
          <a:p>
            <a:pPr marL="0" indent="0">
              <a:buNone/>
            </a:pPr>
            <a:endParaRPr lang="lv-LV" i="1" dirty="0"/>
          </a:p>
          <a:p>
            <a:pPr marL="0" indent="0">
              <a:buNone/>
            </a:pPr>
            <a:r>
              <a:rPr lang="lv-LV" i="1" dirty="0"/>
              <a:t>DROP TABLE </a:t>
            </a:r>
            <a:r>
              <a:rPr lang="lv-LV" i="1" dirty="0" err="1"/>
              <a:t>Readers</a:t>
            </a:r>
            <a:r>
              <a:rPr lang="lv-LV" i="1" dirty="0"/>
              <a:t>;</a:t>
            </a:r>
          </a:p>
          <a:p>
            <a:pPr marL="0" indent="0">
              <a:buNone/>
            </a:pPr>
            <a:endParaRPr lang="lv-LV" i="1" dirty="0"/>
          </a:p>
          <a:p>
            <a:pPr marL="0" indent="0">
              <a:buNone/>
            </a:pPr>
            <a:endParaRPr lang="lv-LV" i="1" dirty="0"/>
          </a:p>
          <a:p>
            <a:pPr marL="0" indent="0">
              <a:buNone/>
            </a:pPr>
            <a:endParaRPr lang="lv-LV" i="1" dirty="0"/>
          </a:p>
          <a:p>
            <a:pPr marL="0" indent="0">
              <a:buNone/>
            </a:pPr>
            <a:endParaRPr lang="lv-LV" i="1" dirty="0"/>
          </a:p>
          <a:p>
            <a:pPr marL="0" indent="0">
              <a:buNone/>
            </a:pPr>
            <a:endParaRPr lang="lv-LV" i="1" dirty="0"/>
          </a:p>
          <a:p>
            <a:pPr marL="0" indent="0">
              <a:buNone/>
            </a:pPr>
            <a:endParaRPr lang="lv-LV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2F0ACE-2F5D-F2FB-9A6D-F79B96924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692" y="3429000"/>
            <a:ext cx="3696216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559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 algn="just">
              <a:buAutoNum type="arabicPeriod"/>
            </a:pPr>
            <a:r>
              <a:rPr lang="en-US" dirty="0"/>
              <a:t>Move Journal table data that is older than 2011 to the </a:t>
            </a:r>
            <a:r>
              <a:rPr lang="en-US" dirty="0" err="1"/>
              <a:t>JournalBackup</a:t>
            </a:r>
            <a:r>
              <a:rPr lang="en-US" dirty="0"/>
              <a:t> table.</a:t>
            </a:r>
          </a:p>
          <a:p>
            <a:pPr marL="514350" indent="-514350" algn="just">
              <a:buAutoNum type="arabicPeriod"/>
            </a:pPr>
            <a:r>
              <a:rPr lang="en-US" dirty="0"/>
              <a:t>Define the primary key for the </a:t>
            </a:r>
            <a:r>
              <a:rPr lang="en-US" dirty="0" err="1"/>
              <a:t>JournalBackup</a:t>
            </a:r>
            <a:r>
              <a:rPr lang="en-US" dirty="0"/>
              <a:t> table.</a:t>
            </a:r>
          </a:p>
          <a:p>
            <a:pPr marL="514350" indent="-514350" algn="just">
              <a:buAutoNum type="arabicPeriod"/>
            </a:pPr>
            <a:r>
              <a:rPr lang="en-US" dirty="0"/>
              <a:t>Delete the </a:t>
            </a:r>
            <a:r>
              <a:rPr lang="en-US" dirty="0" err="1"/>
              <a:t>NumOfCopies</a:t>
            </a:r>
            <a:r>
              <a:rPr lang="en-US" dirty="0"/>
              <a:t> field from the </a:t>
            </a:r>
            <a:r>
              <a:rPr lang="en-US" dirty="0" err="1"/>
              <a:t>JournalBackup</a:t>
            </a:r>
            <a:r>
              <a:rPr lang="en-US" dirty="0"/>
              <a:t> table.</a:t>
            </a:r>
          </a:p>
          <a:p>
            <a:pPr marL="514350" indent="-514350" algn="just">
              <a:buAutoNum type="arabicPeriod"/>
            </a:pPr>
            <a:r>
              <a:rPr lang="en-US" dirty="0"/>
              <a:t>Add the </a:t>
            </a:r>
            <a:r>
              <a:rPr lang="en-US" dirty="0" err="1"/>
              <a:t>NumOfCopies</a:t>
            </a:r>
            <a:r>
              <a:rPr lang="en-US" dirty="0"/>
              <a:t> field to the </a:t>
            </a:r>
            <a:r>
              <a:rPr lang="en-US" dirty="0" err="1"/>
              <a:t>JournalBackup</a:t>
            </a:r>
            <a:r>
              <a:rPr lang="en-US" dirty="0"/>
              <a:t> table.</a:t>
            </a:r>
          </a:p>
          <a:p>
            <a:pPr marL="514350" indent="-514350" algn="just">
              <a:buAutoNum type="arabicPeriod"/>
            </a:pPr>
            <a:r>
              <a:rPr lang="en-US" dirty="0"/>
              <a:t>Change </a:t>
            </a:r>
            <a:r>
              <a:rPr lang="en-US" dirty="0" err="1"/>
              <a:t>JournalBackup</a:t>
            </a:r>
            <a:r>
              <a:rPr lang="en-US" dirty="0"/>
              <a:t> table </a:t>
            </a:r>
            <a:r>
              <a:rPr lang="en-US" dirty="0" err="1"/>
              <a:t>NumOfCopies</a:t>
            </a:r>
            <a:r>
              <a:rPr lang="en-US" dirty="0"/>
              <a:t> field type to text.</a:t>
            </a:r>
          </a:p>
          <a:p>
            <a:pPr marL="514350" indent="-514350" algn="just">
              <a:buAutoNum type="arabicPeriod"/>
            </a:pPr>
            <a:r>
              <a:rPr lang="en-US" dirty="0"/>
              <a:t>Delete the </a:t>
            </a:r>
            <a:r>
              <a:rPr lang="en-US" dirty="0" err="1"/>
              <a:t>JournalBackup</a:t>
            </a:r>
            <a:r>
              <a:rPr lang="en-US" dirty="0"/>
              <a:t> table.</a:t>
            </a:r>
          </a:p>
        </p:txBody>
      </p:sp>
    </p:spTree>
    <p:extLst>
      <p:ext uri="{BB962C8B-B14F-4D97-AF65-F5344CB8AC3E}">
        <p14:creationId xmlns:p14="http://schemas.microsoft.com/office/powerpoint/2010/main" val="12116158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1508760"/>
            <a:ext cx="8835390" cy="51206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lv-LV" sz="2000" dirty="0"/>
              <a:t>1.1.</a:t>
            </a:r>
          </a:p>
          <a:p>
            <a:pPr marL="0" indent="0">
              <a:buNone/>
            </a:pPr>
            <a:r>
              <a:rPr lang="en-US" sz="1400" dirty="0"/>
              <a:t>CREATE TABLE </a:t>
            </a:r>
            <a:r>
              <a:rPr lang="en-US" sz="1400" dirty="0" err="1"/>
              <a:t>JournalBackup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AS </a:t>
            </a:r>
          </a:p>
          <a:p>
            <a:pPr marL="0" indent="0">
              <a:buNone/>
            </a:pPr>
            <a:r>
              <a:rPr lang="en-US" sz="1400" dirty="0"/>
              <a:t>   SELECT *</a:t>
            </a:r>
          </a:p>
          <a:p>
            <a:pPr marL="0" indent="0">
              <a:buNone/>
            </a:pPr>
            <a:r>
              <a:rPr lang="en-US" sz="1400" dirty="0"/>
              <a:t>   FROM Journal</a:t>
            </a:r>
          </a:p>
          <a:p>
            <a:pPr marL="0" indent="0">
              <a:buNone/>
            </a:pPr>
            <a:r>
              <a:rPr lang="en-US" sz="1400" dirty="0"/>
              <a:t>   WHERE YEAR(Datums) &lt; 2011</a:t>
            </a:r>
          </a:p>
          <a:p>
            <a:pPr marL="0" indent="0">
              <a:buNone/>
            </a:pPr>
            <a:r>
              <a:rPr lang="en-US" sz="1400" dirty="0"/>
              <a:t>;</a:t>
            </a:r>
            <a:endParaRPr lang="lv-LV" sz="1400" dirty="0"/>
          </a:p>
          <a:p>
            <a:pPr marL="0" indent="0">
              <a:buNone/>
            </a:pPr>
            <a:endParaRPr lang="lv-LV" sz="1400" dirty="0"/>
          </a:p>
          <a:p>
            <a:pPr marL="0" indent="0">
              <a:buNone/>
            </a:pPr>
            <a:r>
              <a:rPr lang="lv-LV" sz="2000" dirty="0"/>
              <a:t>1.2.</a:t>
            </a:r>
            <a:endParaRPr lang="lv-LV" sz="1300" dirty="0"/>
          </a:p>
          <a:p>
            <a:pPr marL="0" indent="0">
              <a:buNone/>
            </a:pPr>
            <a:r>
              <a:rPr lang="en-US" sz="1400" dirty="0"/>
              <a:t>DELETE *</a:t>
            </a:r>
          </a:p>
          <a:p>
            <a:pPr marL="0" indent="0">
              <a:buNone/>
            </a:pPr>
            <a:r>
              <a:rPr lang="en-US" sz="1400" dirty="0"/>
              <a:t>FROM Journal</a:t>
            </a:r>
          </a:p>
          <a:p>
            <a:pPr marL="0" indent="0">
              <a:buNone/>
            </a:pPr>
            <a:r>
              <a:rPr lang="en-US" sz="1400" dirty="0"/>
              <a:t>WHERE YEAR(Datums) &lt; 2011;</a:t>
            </a:r>
            <a:endParaRPr lang="lv-LV" sz="1400" dirty="0"/>
          </a:p>
          <a:p>
            <a:pPr marL="0" indent="0">
              <a:buNone/>
            </a:pPr>
            <a:endParaRPr lang="lv-LV" sz="1400" dirty="0"/>
          </a:p>
          <a:p>
            <a:pPr marL="0" indent="0">
              <a:buNone/>
            </a:pPr>
            <a:r>
              <a:rPr lang="lv-LV" sz="2000" dirty="0"/>
              <a:t>2.</a:t>
            </a:r>
          </a:p>
          <a:p>
            <a:pPr marL="0" indent="0">
              <a:buNone/>
            </a:pPr>
            <a:r>
              <a:rPr lang="en-US" sz="1400" dirty="0"/>
              <a:t>ALTER TABLE </a:t>
            </a:r>
            <a:r>
              <a:rPr lang="en-US" sz="1400" dirty="0" err="1"/>
              <a:t>JournalBackup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ADD PRIMARY KEY (</a:t>
            </a:r>
            <a:r>
              <a:rPr lang="en-US" sz="1400" dirty="0" err="1"/>
              <a:t>RoomID</a:t>
            </a:r>
            <a:r>
              <a:rPr lang="en-US" sz="1400" dirty="0"/>
              <a:t>, </a:t>
            </a:r>
            <a:r>
              <a:rPr lang="en-US" sz="1400" dirty="0" err="1"/>
              <a:t>ServiceID</a:t>
            </a:r>
            <a:r>
              <a:rPr lang="en-US" sz="1400" dirty="0"/>
              <a:t>, </a:t>
            </a:r>
            <a:r>
              <a:rPr lang="en-US" sz="1400" dirty="0" err="1"/>
              <a:t>ReaderID</a:t>
            </a:r>
            <a:r>
              <a:rPr lang="en-US" sz="1400" dirty="0"/>
              <a:t>, </a:t>
            </a:r>
            <a:r>
              <a:rPr lang="en-US" sz="1400" dirty="0" err="1"/>
              <a:t>LibID</a:t>
            </a:r>
            <a:r>
              <a:rPr lang="en-US" sz="1400" dirty="0"/>
              <a:t>, </a:t>
            </a:r>
            <a:r>
              <a:rPr lang="en-US" sz="1400" dirty="0" err="1"/>
              <a:t>SDate</a:t>
            </a:r>
            <a:r>
              <a:rPr lang="en-US" sz="1400" dirty="0"/>
              <a:t>, </a:t>
            </a:r>
            <a:r>
              <a:rPr lang="en-US" sz="1400" dirty="0" err="1"/>
              <a:t>SStartTime</a:t>
            </a:r>
            <a:r>
              <a:rPr lang="en-US" sz="1400" dirty="0"/>
              <a:t>);</a:t>
            </a:r>
          </a:p>
          <a:p>
            <a:pPr marL="0" indent="0">
              <a:buNone/>
            </a:pPr>
            <a:endParaRPr lang="lv-LV" sz="2000" dirty="0"/>
          </a:p>
        </p:txBody>
      </p:sp>
    </p:spTree>
    <p:extLst>
      <p:ext uri="{BB962C8B-B14F-4D97-AF65-F5344CB8AC3E}">
        <p14:creationId xmlns:p14="http://schemas.microsoft.com/office/powerpoint/2010/main" val="11726008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1508760"/>
            <a:ext cx="2981325" cy="51206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sz="2000" dirty="0"/>
              <a:t>3.</a:t>
            </a:r>
          </a:p>
          <a:p>
            <a:pPr marL="0" indent="0">
              <a:buNone/>
            </a:pPr>
            <a:r>
              <a:rPr lang="de-DE" sz="1400" dirty="0"/>
              <a:t>ALTER TABLE </a:t>
            </a:r>
            <a:r>
              <a:rPr lang="de-DE" sz="1400" dirty="0" err="1"/>
              <a:t>JournalBackup</a:t>
            </a:r>
            <a:endParaRPr lang="de-DE" sz="1400" dirty="0"/>
          </a:p>
          <a:p>
            <a:pPr marL="0" indent="0">
              <a:buNone/>
            </a:pPr>
            <a:r>
              <a:rPr lang="de-DE" sz="1400" dirty="0"/>
              <a:t>DROP (</a:t>
            </a:r>
            <a:r>
              <a:rPr lang="de-DE" sz="1400" dirty="0" err="1"/>
              <a:t>NumOfCopies</a:t>
            </a:r>
            <a:r>
              <a:rPr lang="de-DE" sz="1400" dirty="0"/>
              <a:t>);</a:t>
            </a:r>
            <a:endParaRPr lang="lv-LV" sz="1400" dirty="0"/>
          </a:p>
          <a:p>
            <a:pPr marL="0" indent="0">
              <a:buNone/>
            </a:pPr>
            <a:endParaRPr lang="lv-LV" sz="1400" dirty="0"/>
          </a:p>
          <a:p>
            <a:pPr marL="0" indent="0">
              <a:buNone/>
            </a:pPr>
            <a:r>
              <a:rPr lang="lv-LV" sz="2000" dirty="0"/>
              <a:t>4.</a:t>
            </a:r>
            <a:endParaRPr lang="lv-LV" sz="1300" dirty="0"/>
          </a:p>
          <a:p>
            <a:pPr marL="0" indent="0">
              <a:buNone/>
            </a:pPr>
            <a:r>
              <a:rPr lang="en-US" sz="1400" dirty="0"/>
              <a:t>ALTER TABLE </a:t>
            </a:r>
            <a:r>
              <a:rPr lang="en-US" sz="1400" dirty="0" err="1"/>
              <a:t>JournalBackup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ADD </a:t>
            </a:r>
            <a:r>
              <a:rPr lang="en-US" sz="1400" dirty="0" err="1"/>
              <a:t>NumOfCopies</a:t>
            </a:r>
            <a:r>
              <a:rPr lang="en-US" sz="1400" dirty="0"/>
              <a:t> int(3);</a:t>
            </a:r>
            <a:endParaRPr lang="lv-LV" sz="1400" dirty="0"/>
          </a:p>
          <a:p>
            <a:pPr marL="0" indent="0">
              <a:buNone/>
            </a:pPr>
            <a:endParaRPr lang="lv-LV" sz="1400" dirty="0"/>
          </a:p>
          <a:p>
            <a:pPr marL="0" indent="0">
              <a:buNone/>
            </a:pPr>
            <a:r>
              <a:rPr lang="lv-LV" sz="2000" dirty="0"/>
              <a:t>5.</a:t>
            </a:r>
          </a:p>
          <a:p>
            <a:pPr marL="0" indent="0">
              <a:buNone/>
            </a:pPr>
            <a:r>
              <a:rPr lang="en-US" sz="1400" dirty="0"/>
              <a:t>ALTER TABLE </a:t>
            </a:r>
            <a:r>
              <a:rPr lang="en-US" sz="1400" dirty="0" err="1"/>
              <a:t>JournalBackup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MODIFY </a:t>
            </a:r>
            <a:r>
              <a:rPr lang="en-US" sz="1400" dirty="0" err="1"/>
              <a:t>NumOfCopies</a:t>
            </a:r>
            <a:r>
              <a:rPr lang="en-US" sz="1400" dirty="0"/>
              <a:t> varchar(3);</a:t>
            </a:r>
            <a:endParaRPr lang="lv-LV" sz="1400" dirty="0"/>
          </a:p>
          <a:p>
            <a:pPr marL="0" indent="0">
              <a:buNone/>
            </a:pPr>
            <a:endParaRPr lang="lv-LV" sz="1400" dirty="0"/>
          </a:p>
          <a:p>
            <a:pPr marL="0" indent="0">
              <a:buNone/>
            </a:pPr>
            <a:r>
              <a:rPr lang="lv-LV" sz="2000" dirty="0"/>
              <a:t>6.</a:t>
            </a:r>
          </a:p>
          <a:p>
            <a:pPr marL="0" indent="0">
              <a:buNone/>
            </a:pPr>
            <a:r>
              <a:rPr lang="lv-LV" sz="1400" dirty="0"/>
              <a:t>DROP TABLE </a:t>
            </a:r>
            <a:r>
              <a:rPr lang="lv-LV" sz="1400" dirty="0" err="1"/>
              <a:t>JournalBackup</a:t>
            </a:r>
            <a:r>
              <a:rPr lang="lv-LV" sz="1400" dirty="0"/>
              <a:t>;</a:t>
            </a:r>
          </a:p>
          <a:p>
            <a:pPr marL="0" indent="0">
              <a:buNone/>
            </a:pPr>
            <a:endParaRPr lang="lv-LV" sz="2000" dirty="0"/>
          </a:p>
        </p:txBody>
      </p:sp>
    </p:spTree>
    <p:extLst>
      <p:ext uri="{BB962C8B-B14F-4D97-AF65-F5344CB8AC3E}">
        <p14:creationId xmlns:p14="http://schemas.microsoft.com/office/powerpoint/2010/main" val="2416566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1703</TotalTime>
  <Words>1433</Words>
  <Application>Microsoft Office PowerPoint</Application>
  <PresentationFormat>On-screen Show (4:3)</PresentationFormat>
  <Paragraphs>226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Times New Roman</vt:lpstr>
      <vt:lpstr>Office Theme</vt:lpstr>
      <vt:lpstr>SQL DDL (Data Definition Language)</vt:lpstr>
      <vt:lpstr>Data Definition</vt:lpstr>
      <vt:lpstr>Tables</vt:lpstr>
      <vt:lpstr>New table creation</vt:lpstr>
      <vt:lpstr>MySQL Data types</vt:lpstr>
      <vt:lpstr>New table creation</vt:lpstr>
      <vt:lpstr>New table creation</vt:lpstr>
      <vt:lpstr>NOT NULL constraint</vt:lpstr>
      <vt:lpstr>DEFAULT constraint</vt:lpstr>
      <vt:lpstr>Defining a primary key</vt:lpstr>
      <vt:lpstr>Defining a foreign key</vt:lpstr>
      <vt:lpstr>Unique constraint</vt:lpstr>
      <vt:lpstr>Check constraint</vt:lpstr>
      <vt:lpstr>New tables creation using data from another table</vt:lpstr>
      <vt:lpstr>New tables creation using data from another table</vt:lpstr>
      <vt:lpstr>New tables creation using data from another table</vt:lpstr>
      <vt:lpstr>Table structure modifying</vt:lpstr>
      <vt:lpstr>Table structure modifying</vt:lpstr>
      <vt:lpstr>Example</vt:lpstr>
      <vt:lpstr>Practice</vt:lpstr>
      <vt:lpstr>Answers</vt:lpstr>
      <vt:lpstr>Answers</vt:lpstr>
      <vt:lpstr>Answers</vt:lpstr>
      <vt:lpstr>Table deletion</vt:lpstr>
      <vt:lpstr>Table deletion</vt:lpstr>
      <vt:lpstr>Practice</vt:lpstr>
      <vt:lpstr>Answers</vt:lpstr>
      <vt:lpstr>Answers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</dc:title>
  <dc:creator>Lipa</dc:creator>
  <cp:lastModifiedBy>Andrejs Liepiņš</cp:lastModifiedBy>
  <cp:revision>84</cp:revision>
  <dcterms:created xsi:type="dcterms:W3CDTF">2017-03-08T13:27:06Z</dcterms:created>
  <dcterms:modified xsi:type="dcterms:W3CDTF">2025-02-28T13:44:54Z</dcterms:modified>
</cp:coreProperties>
</file>