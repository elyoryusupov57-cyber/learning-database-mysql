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7" r:id="rId3"/>
    <p:sldId id="258" r:id="rId4"/>
    <p:sldId id="259" r:id="rId5"/>
    <p:sldId id="260" r:id="rId6"/>
    <p:sldId id="263" r:id="rId7"/>
    <p:sldId id="261" r:id="rId8"/>
    <p:sldId id="262" r:id="rId9"/>
    <p:sldId id="264" r:id="rId10"/>
    <p:sldId id="265" r:id="rId11"/>
    <p:sldId id="266" r:id="rId12"/>
    <p:sldId id="267" r:id="rId13"/>
    <p:sldId id="268" r:id="rId14"/>
    <p:sldId id="269" r:id="rId15"/>
    <p:sldId id="296" r:id="rId16"/>
    <p:sldId id="271" r:id="rId17"/>
    <p:sldId id="272" r:id="rId18"/>
    <p:sldId id="270" r:id="rId19"/>
    <p:sldId id="273" r:id="rId20"/>
    <p:sldId id="274" r:id="rId21"/>
    <p:sldId id="275" r:id="rId22"/>
    <p:sldId id="277" r:id="rId23"/>
    <p:sldId id="278" r:id="rId24"/>
    <p:sldId id="279" r:id="rId25"/>
    <p:sldId id="280" r:id="rId26"/>
    <p:sldId id="281" r:id="rId27"/>
    <p:sldId id="282" r:id="rId28"/>
    <p:sldId id="283" r:id="rId29"/>
    <p:sldId id="297" r:id="rId30"/>
    <p:sldId id="284" r:id="rId31"/>
    <p:sldId id="285" r:id="rId32"/>
    <p:sldId id="286" r:id="rId33"/>
    <p:sldId id="287" r:id="rId34"/>
    <p:sldId id="288" r:id="rId35"/>
    <p:sldId id="289" r:id="rId36"/>
    <p:sldId id="293" r:id="rId37"/>
    <p:sldId id="294"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78" y="4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4F6489-84B7-4DBB-9F4D-EDB2945B4C42}" type="datetimeFigureOut">
              <a:rPr lang="en-US" smtClean="0"/>
              <a:t>3/31/2021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6A1804-0466-4E55-90AE-18177D75C759}" type="slidenum">
              <a:rPr lang="en-US" smtClean="0"/>
              <a:t>‹#›</a:t>
            </a:fld>
            <a:endParaRPr lang="en-US"/>
          </a:p>
        </p:txBody>
      </p:sp>
    </p:spTree>
    <p:extLst>
      <p:ext uri="{BB962C8B-B14F-4D97-AF65-F5344CB8AC3E}">
        <p14:creationId xmlns:p14="http://schemas.microsoft.com/office/powerpoint/2010/main" val="2924863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6A1804-0466-4E55-90AE-18177D75C759}" type="slidenum">
              <a:rPr lang="en-US" smtClean="0"/>
              <a:t>16</a:t>
            </a:fld>
            <a:endParaRPr lang="en-US"/>
          </a:p>
        </p:txBody>
      </p:sp>
    </p:spTree>
    <p:extLst>
      <p:ext uri="{BB962C8B-B14F-4D97-AF65-F5344CB8AC3E}">
        <p14:creationId xmlns:p14="http://schemas.microsoft.com/office/powerpoint/2010/main" val="1200843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6A1804-0466-4E55-90AE-18177D75C759}" type="slidenum">
              <a:rPr lang="en-US" smtClean="0"/>
              <a:t>17</a:t>
            </a:fld>
            <a:endParaRPr lang="en-US"/>
          </a:p>
        </p:txBody>
      </p:sp>
    </p:spTree>
    <p:extLst>
      <p:ext uri="{BB962C8B-B14F-4D97-AF65-F5344CB8AC3E}">
        <p14:creationId xmlns:p14="http://schemas.microsoft.com/office/powerpoint/2010/main" val="1297475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6A1804-0466-4E55-90AE-18177D75C759}" type="slidenum">
              <a:rPr lang="en-US" smtClean="0"/>
              <a:t>34</a:t>
            </a:fld>
            <a:endParaRPr lang="en-US"/>
          </a:p>
        </p:txBody>
      </p:sp>
    </p:spTree>
    <p:extLst>
      <p:ext uri="{BB962C8B-B14F-4D97-AF65-F5344CB8AC3E}">
        <p14:creationId xmlns:p14="http://schemas.microsoft.com/office/powerpoint/2010/main" val="2388536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506DD6-6056-472A-BB9A-59911920C653}" type="datetimeFigureOut">
              <a:rPr lang="en-US" smtClean="0"/>
              <a:t>3/31/2021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35186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06DD6-6056-472A-BB9A-59911920C653}" type="datetimeFigureOut">
              <a:rPr lang="en-US" smtClean="0"/>
              <a:t>3/31/2021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3059425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506DD6-6056-472A-BB9A-59911920C653}" type="datetimeFigureOut">
              <a:rPr lang="en-US" smtClean="0"/>
              <a:t>3/31/2021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3989869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506DD6-6056-472A-BB9A-59911920C653}" type="datetimeFigureOut">
              <a:rPr lang="en-US" smtClean="0"/>
              <a:t>3/31/2021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470130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506DD6-6056-472A-BB9A-59911920C653}" type="datetimeFigureOut">
              <a:rPr lang="en-US" smtClean="0"/>
              <a:t>3/31/2021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3836480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506DD6-6056-472A-BB9A-59911920C653}" type="datetimeFigureOut">
              <a:rPr lang="en-US" smtClean="0"/>
              <a:t>3/31/2021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4138771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506DD6-6056-472A-BB9A-59911920C653}" type="datetimeFigureOut">
              <a:rPr lang="en-US" smtClean="0"/>
              <a:t>3/31/2021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1938922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8506DD6-6056-472A-BB9A-59911920C653}" type="datetimeFigureOut">
              <a:rPr lang="en-US" smtClean="0"/>
              <a:t>3/31/2021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997483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8506DD6-6056-472A-BB9A-59911920C653}" type="datetimeFigureOut">
              <a:rPr lang="en-US" smtClean="0"/>
              <a:t>3/31/2021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4119302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06DD6-6056-472A-BB9A-59911920C653}" type="datetimeFigureOut">
              <a:rPr lang="en-US" smtClean="0"/>
              <a:t>3/31/2021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688321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06DD6-6056-472A-BB9A-59911920C653}" type="datetimeFigureOut">
              <a:rPr lang="en-US" smtClean="0"/>
              <a:t>3/31/2021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C47CDB-9772-4D57-8AFE-3E019E8A4E82}" type="slidenum">
              <a:rPr lang="en-US" smtClean="0"/>
              <a:t>‹#›</a:t>
            </a:fld>
            <a:endParaRPr lang="en-US"/>
          </a:p>
        </p:txBody>
      </p:sp>
    </p:spTree>
    <p:extLst>
      <p:ext uri="{BB962C8B-B14F-4D97-AF65-F5344CB8AC3E}">
        <p14:creationId xmlns:p14="http://schemas.microsoft.com/office/powerpoint/2010/main" val="966081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06DD6-6056-472A-BB9A-59911920C653}" type="datetimeFigureOut">
              <a:rPr lang="en-US" smtClean="0"/>
              <a:t>3/31/2021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C47CDB-9772-4D57-8AFE-3E019E8A4E82}" type="slidenum">
              <a:rPr lang="en-US" smtClean="0"/>
              <a:t>‹#›</a:t>
            </a:fld>
            <a:endParaRPr lang="en-US"/>
          </a:p>
        </p:txBody>
      </p:sp>
    </p:spTree>
    <p:extLst>
      <p:ext uri="{BB962C8B-B14F-4D97-AF65-F5344CB8AC3E}">
        <p14:creationId xmlns:p14="http://schemas.microsoft.com/office/powerpoint/2010/main" val="952505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usbwebserver.net/webserver/"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3.tmp"/></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412FF-30D3-4EEF-A683-9280498E6AB2}"/>
              </a:ext>
            </a:extLst>
          </p:cNvPr>
          <p:cNvSpPr>
            <a:spLocks noGrp="1"/>
          </p:cNvSpPr>
          <p:nvPr>
            <p:ph type="ctrTitle"/>
          </p:nvPr>
        </p:nvSpPr>
        <p:spPr/>
        <p:txBody>
          <a:bodyPr/>
          <a:lstStyle/>
          <a:p>
            <a:r>
              <a:rPr lang="en-US" dirty="0"/>
              <a:t>MySQL</a:t>
            </a:r>
          </a:p>
        </p:txBody>
      </p:sp>
    </p:spTree>
    <p:extLst>
      <p:ext uri="{BB962C8B-B14F-4D97-AF65-F5344CB8AC3E}">
        <p14:creationId xmlns:p14="http://schemas.microsoft.com/office/powerpoint/2010/main" val="9720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F1E30-D29D-424B-B8CB-C7DB4096FD3B}"/>
              </a:ext>
            </a:extLst>
          </p:cNvPr>
          <p:cNvSpPr>
            <a:spLocks noGrp="1"/>
          </p:cNvSpPr>
          <p:nvPr>
            <p:ph type="title"/>
          </p:nvPr>
        </p:nvSpPr>
        <p:spPr/>
        <p:txBody>
          <a:bodyPr/>
          <a:lstStyle/>
          <a:p>
            <a:pPr algn="ctr"/>
            <a:r>
              <a:rPr lang="en-US" dirty="0"/>
              <a:t>MySQL</a:t>
            </a:r>
          </a:p>
        </p:txBody>
      </p:sp>
      <p:sp>
        <p:nvSpPr>
          <p:cNvPr id="3" name="Content Placeholder 2">
            <a:extLst>
              <a:ext uri="{FF2B5EF4-FFF2-40B4-BE49-F238E27FC236}">
                <a16:creationId xmlns:a16="http://schemas.microsoft.com/office/drawing/2014/main" id="{A24E4ABD-AFEE-4BD7-AC65-07E4F7680EC9}"/>
              </a:ext>
            </a:extLst>
          </p:cNvPr>
          <p:cNvSpPr>
            <a:spLocks noGrp="1"/>
          </p:cNvSpPr>
          <p:nvPr>
            <p:ph idx="1"/>
          </p:nvPr>
        </p:nvSpPr>
        <p:spPr/>
        <p:txBody>
          <a:bodyPr/>
          <a:lstStyle/>
          <a:p>
            <a:pPr marL="0" indent="0" algn="just">
              <a:buNone/>
            </a:pPr>
            <a:r>
              <a:rPr lang="en-US" dirty="0"/>
              <a:t>MySQL is a relational database management system. MySQL is a solution for small and medium DB applications. MySQL is typically used as a server accessed by local or remote clients.</a:t>
            </a:r>
          </a:p>
        </p:txBody>
      </p:sp>
    </p:spTree>
    <p:extLst>
      <p:ext uri="{BB962C8B-B14F-4D97-AF65-F5344CB8AC3E}">
        <p14:creationId xmlns:p14="http://schemas.microsoft.com/office/powerpoint/2010/main" val="259978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8692-64DA-472A-AEC2-99CB65278C80}"/>
              </a:ext>
            </a:extLst>
          </p:cNvPr>
          <p:cNvSpPr>
            <a:spLocks noGrp="1"/>
          </p:cNvSpPr>
          <p:nvPr>
            <p:ph type="title"/>
          </p:nvPr>
        </p:nvSpPr>
        <p:spPr/>
        <p:txBody>
          <a:bodyPr/>
          <a:lstStyle/>
          <a:p>
            <a:pPr algn="ctr"/>
            <a:r>
              <a:rPr lang="en-US" dirty="0"/>
              <a:t>Apache</a:t>
            </a:r>
          </a:p>
        </p:txBody>
      </p:sp>
      <p:sp>
        <p:nvSpPr>
          <p:cNvPr id="3" name="Content Placeholder 2">
            <a:extLst>
              <a:ext uri="{FF2B5EF4-FFF2-40B4-BE49-F238E27FC236}">
                <a16:creationId xmlns:a16="http://schemas.microsoft.com/office/drawing/2014/main" id="{83B455A6-3DAA-4430-9D92-D15108F85906}"/>
              </a:ext>
            </a:extLst>
          </p:cNvPr>
          <p:cNvSpPr>
            <a:spLocks noGrp="1"/>
          </p:cNvSpPr>
          <p:nvPr>
            <p:ph idx="1"/>
          </p:nvPr>
        </p:nvSpPr>
        <p:spPr/>
        <p:txBody>
          <a:bodyPr/>
          <a:lstStyle/>
          <a:p>
            <a:pPr marL="0" indent="0" algn="just">
              <a:buNone/>
            </a:pPr>
            <a:r>
              <a:rPr lang="en-US" dirty="0"/>
              <a:t>Apache HTTP Server is a free, open source web server that can run on Unix a</a:t>
            </a:r>
            <a:r>
              <a:rPr lang="lv-LV" dirty="0" err="1"/>
              <a:t>nd</a:t>
            </a:r>
            <a:r>
              <a:rPr lang="en-US" dirty="0"/>
              <a:t> Windows operating systems. Apache is currently the most popular HTTP server on the </a:t>
            </a:r>
            <a:r>
              <a:rPr lang="lv-LV" dirty="0"/>
              <a:t>internet</a:t>
            </a:r>
            <a:r>
              <a:rPr lang="en-US" dirty="0"/>
              <a:t>.</a:t>
            </a:r>
          </a:p>
        </p:txBody>
      </p:sp>
    </p:spTree>
    <p:extLst>
      <p:ext uri="{BB962C8B-B14F-4D97-AF65-F5344CB8AC3E}">
        <p14:creationId xmlns:p14="http://schemas.microsoft.com/office/powerpoint/2010/main" val="1217374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D395-5C2B-418D-BE09-434E63D7EF7E}"/>
              </a:ext>
            </a:extLst>
          </p:cNvPr>
          <p:cNvSpPr>
            <a:spLocks noGrp="1"/>
          </p:cNvSpPr>
          <p:nvPr>
            <p:ph type="title"/>
          </p:nvPr>
        </p:nvSpPr>
        <p:spPr/>
        <p:txBody>
          <a:bodyPr/>
          <a:lstStyle/>
          <a:p>
            <a:pPr algn="ctr"/>
            <a:r>
              <a:rPr lang="lv-LV" dirty="0" err="1"/>
              <a:t>USBWebServer</a:t>
            </a:r>
            <a:endParaRPr lang="en-US" dirty="0"/>
          </a:p>
        </p:txBody>
      </p:sp>
      <p:sp>
        <p:nvSpPr>
          <p:cNvPr id="3" name="Content Placeholder 2">
            <a:extLst>
              <a:ext uri="{FF2B5EF4-FFF2-40B4-BE49-F238E27FC236}">
                <a16:creationId xmlns:a16="http://schemas.microsoft.com/office/drawing/2014/main" id="{CC977D1D-8699-44E8-BF9F-4D18AEF4CF63}"/>
              </a:ext>
            </a:extLst>
          </p:cNvPr>
          <p:cNvSpPr>
            <a:spLocks noGrp="1"/>
          </p:cNvSpPr>
          <p:nvPr>
            <p:ph idx="1"/>
          </p:nvPr>
        </p:nvSpPr>
        <p:spPr>
          <a:xfrm>
            <a:off x="628650" y="1825625"/>
            <a:ext cx="7886700" cy="4351338"/>
          </a:xfrm>
        </p:spPr>
        <p:txBody>
          <a:bodyPr/>
          <a:lstStyle/>
          <a:p>
            <a:pPr marL="0" indent="0" algn="just">
              <a:buNone/>
            </a:pPr>
            <a:r>
              <a:rPr lang="en-US" dirty="0"/>
              <a:t>A program that combines MySQL and Apache servers, allowing them to be started and configured quickly.</a:t>
            </a:r>
            <a:endParaRPr lang="lv-LV" dirty="0"/>
          </a:p>
          <a:p>
            <a:pPr marL="0" indent="0" algn="just">
              <a:buNone/>
            </a:pPr>
            <a:r>
              <a:rPr lang="en-US" dirty="0">
                <a:hlinkClick r:id="rId2"/>
              </a:rPr>
              <a:t>http://www.usbwebserver.net/webserver/</a:t>
            </a:r>
            <a:endParaRPr lang="lv-LV" dirty="0"/>
          </a:p>
          <a:p>
            <a:pPr marL="0" indent="0" algn="just">
              <a:buNone/>
            </a:pPr>
            <a:endParaRPr lang="en-US" dirty="0"/>
          </a:p>
        </p:txBody>
      </p:sp>
      <p:pic>
        <p:nvPicPr>
          <p:cNvPr id="1026" name="Picture 1">
            <a:extLst>
              <a:ext uri="{FF2B5EF4-FFF2-40B4-BE49-F238E27FC236}">
                <a16:creationId xmlns:a16="http://schemas.microsoft.com/office/drawing/2014/main" id="{240CA3E2-BC07-4ED8-B40D-20787D5A6E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7015" y="4103521"/>
            <a:ext cx="3973680" cy="198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2973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Let's look at the process of creating a small DB (guestbook):</a:t>
            </a:r>
          </a:p>
          <a:p>
            <a:pPr algn="just"/>
            <a:r>
              <a:rPr lang="lv-LV" dirty="0"/>
              <a:t>C</a:t>
            </a:r>
            <a:r>
              <a:rPr lang="en-US" dirty="0" err="1"/>
              <a:t>reat</a:t>
            </a:r>
            <a:r>
              <a:rPr lang="lv-LV" dirty="0" err="1"/>
              <a:t>ing</a:t>
            </a:r>
            <a:r>
              <a:rPr lang="en-US" dirty="0"/>
              <a:t> a DB</a:t>
            </a:r>
          </a:p>
          <a:p>
            <a:pPr algn="just"/>
            <a:r>
              <a:rPr lang="lv-LV" dirty="0"/>
              <a:t>C</a:t>
            </a:r>
            <a:r>
              <a:rPr lang="en-US" dirty="0" err="1"/>
              <a:t>reat</a:t>
            </a:r>
            <a:r>
              <a:rPr lang="lv-LV" dirty="0" err="1"/>
              <a:t>ing</a:t>
            </a:r>
            <a:r>
              <a:rPr lang="en-US" dirty="0"/>
              <a:t> a Web interface for connecting to a DB server</a:t>
            </a:r>
          </a:p>
        </p:txBody>
      </p:sp>
    </p:spTree>
    <p:extLst>
      <p:ext uri="{BB962C8B-B14F-4D97-AF65-F5344CB8AC3E}">
        <p14:creationId xmlns:p14="http://schemas.microsoft.com/office/powerpoint/2010/main" val="3757708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To be able to administer your database you need to execute </a:t>
            </a:r>
            <a:r>
              <a:rPr lang="lv-LV" dirty="0" err="1"/>
              <a:t>an</a:t>
            </a:r>
            <a:r>
              <a:rPr lang="en-US" dirty="0"/>
              <a:t> </a:t>
            </a:r>
            <a:r>
              <a:rPr lang="en-US" dirty="0" err="1"/>
              <a:t>USBWebServer</a:t>
            </a:r>
            <a:r>
              <a:rPr lang="en-US" dirty="0"/>
              <a:t> and open </a:t>
            </a:r>
            <a:r>
              <a:rPr lang="en-US" dirty="0" err="1"/>
              <a:t>PHPMyAdmin</a:t>
            </a:r>
            <a:r>
              <a:rPr lang="en-US" dirty="0"/>
              <a:t>. Enter username and password.</a:t>
            </a:r>
          </a:p>
        </p:txBody>
      </p:sp>
      <p:pic>
        <p:nvPicPr>
          <p:cNvPr id="2050" name="Picture 1">
            <a:extLst>
              <a:ext uri="{FF2B5EF4-FFF2-40B4-BE49-F238E27FC236}">
                <a16:creationId xmlns:a16="http://schemas.microsoft.com/office/drawing/2014/main" id="{16076217-D67A-49B0-8D72-E03132E1F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3057" y="3644816"/>
            <a:ext cx="3907756" cy="1953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8125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In the Databases section create a new database – "</a:t>
            </a:r>
            <a:r>
              <a:rPr lang="en-US" dirty="0" err="1"/>
              <a:t>guest_book</a:t>
            </a:r>
            <a:r>
              <a:rPr lang="en-US" dirty="0"/>
              <a:t>". "Collation" should be changed to "utf8_bin".
</a:t>
            </a:r>
          </a:p>
        </p:txBody>
      </p:sp>
      <p:pic>
        <p:nvPicPr>
          <p:cNvPr id="5" name="Picture 4" descr="Graphical user interface, application&#10;&#10;Description automatically generated">
            <a:extLst>
              <a:ext uri="{FF2B5EF4-FFF2-40B4-BE49-F238E27FC236}">
                <a16:creationId xmlns:a16="http://schemas.microsoft.com/office/drawing/2014/main" id="{6052FA86-EFC0-49E2-88FF-36572121FA9B}"/>
              </a:ext>
            </a:extLst>
          </p:cNvPr>
          <p:cNvPicPr>
            <a:picLocks noChangeAspect="1"/>
          </p:cNvPicPr>
          <p:nvPr/>
        </p:nvPicPr>
        <p:blipFill rotWithShape="1">
          <a:blip r:embed="rId2">
            <a:extLst>
              <a:ext uri="{28A0092B-C50C-407E-A947-70E740481C1C}">
                <a14:useLocalDpi xmlns:a14="http://schemas.microsoft.com/office/drawing/2010/main" val="0"/>
              </a:ext>
            </a:extLst>
          </a:blip>
          <a:srcRect b="42262"/>
          <a:stretch/>
        </p:blipFill>
        <p:spPr>
          <a:xfrm>
            <a:off x="794905" y="3429000"/>
            <a:ext cx="7278116" cy="2414632"/>
          </a:xfrm>
          <a:prstGeom prst="rect">
            <a:avLst/>
          </a:prstGeom>
        </p:spPr>
      </p:pic>
    </p:spTree>
    <p:extLst>
      <p:ext uri="{BB962C8B-B14F-4D97-AF65-F5344CB8AC3E}">
        <p14:creationId xmlns:p14="http://schemas.microsoft.com/office/powerpoint/2010/main" val="278695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Then you can create new tables in it. First, let's create a GUESTS table with three columns or fields.
</a:t>
            </a:r>
          </a:p>
        </p:txBody>
      </p:sp>
      <p:pic>
        <p:nvPicPr>
          <p:cNvPr id="5" name="Picture 4" descr="Graphical user interface, text, application&#10;&#10;Description automatically generated">
            <a:extLst>
              <a:ext uri="{FF2B5EF4-FFF2-40B4-BE49-F238E27FC236}">
                <a16:creationId xmlns:a16="http://schemas.microsoft.com/office/drawing/2014/main" id="{4ED0A506-0212-47F5-AEFD-073216A27A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320" y="3429000"/>
            <a:ext cx="7363853" cy="2210108"/>
          </a:xfrm>
          <a:prstGeom prst="rect">
            <a:avLst/>
          </a:prstGeom>
        </p:spPr>
      </p:pic>
    </p:spTree>
    <p:extLst>
      <p:ext uri="{BB962C8B-B14F-4D97-AF65-F5344CB8AC3E}">
        <p14:creationId xmlns:p14="http://schemas.microsoft.com/office/powerpoint/2010/main" val="2985688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You must define each field or column in the table by specifying the name and type of the field. One of the fields must be unique, or key field, so that you can unambiguously find everything in the table.
</a:t>
            </a:r>
          </a:p>
        </p:txBody>
      </p:sp>
      <p:grpSp>
        <p:nvGrpSpPr>
          <p:cNvPr id="8" name="Group 7">
            <a:extLst>
              <a:ext uri="{FF2B5EF4-FFF2-40B4-BE49-F238E27FC236}">
                <a16:creationId xmlns:a16="http://schemas.microsoft.com/office/drawing/2014/main" id="{1F022DF6-A956-426D-B310-2AEF2634E1D4}"/>
              </a:ext>
            </a:extLst>
          </p:cNvPr>
          <p:cNvGrpSpPr/>
          <p:nvPr/>
        </p:nvGrpSpPr>
        <p:grpSpPr>
          <a:xfrm>
            <a:off x="0" y="4235667"/>
            <a:ext cx="9144000" cy="1711757"/>
            <a:chOff x="0" y="4235667"/>
            <a:chExt cx="9144000" cy="1711757"/>
          </a:xfrm>
        </p:grpSpPr>
        <p:pic>
          <p:nvPicPr>
            <p:cNvPr id="5" name="Picture 4" descr="Graphical user interface&#10;&#10;Description automatically generated">
              <a:extLst>
                <a:ext uri="{FF2B5EF4-FFF2-40B4-BE49-F238E27FC236}">
                  <a16:creationId xmlns:a16="http://schemas.microsoft.com/office/drawing/2014/main" id="{BF4E3308-5F63-4DE2-9355-1E45BAF1E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35667"/>
              <a:ext cx="9144000" cy="1711757"/>
            </a:xfrm>
            <a:prstGeom prst="rect">
              <a:avLst/>
            </a:prstGeom>
          </p:spPr>
        </p:pic>
        <p:pic>
          <p:nvPicPr>
            <p:cNvPr id="7" name="Picture 6" descr="Graphical user interface, application&#10;&#10;Description automatically generated">
              <a:extLst>
                <a:ext uri="{FF2B5EF4-FFF2-40B4-BE49-F238E27FC236}">
                  <a16:creationId xmlns:a16="http://schemas.microsoft.com/office/drawing/2014/main" id="{057EFC03-256D-4D9C-9B16-4BE63724934C}"/>
                </a:ext>
              </a:extLst>
            </p:cNvPr>
            <p:cNvPicPr>
              <a:picLocks noChangeAspect="1"/>
            </p:cNvPicPr>
            <p:nvPr/>
          </p:nvPicPr>
          <p:blipFill rotWithShape="1">
            <a:blip r:embed="rId3">
              <a:extLst>
                <a:ext uri="{28A0092B-C50C-407E-A947-70E740481C1C}">
                  <a14:useLocalDpi xmlns:a14="http://schemas.microsoft.com/office/drawing/2010/main" val="0"/>
                </a:ext>
              </a:extLst>
            </a:blip>
            <a:srcRect l="1562" t="74258" r="90208" b="14787"/>
            <a:stretch/>
          </p:blipFill>
          <p:spPr>
            <a:xfrm>
              <a:off x="123825" y="5314950"/>
              <a:ext cx="752476" cy="133351"/>
            </a:xfrm>
            <a:prstGeom prst="rect">
              <a:avLst/>
            </a:prstGeom>
          </p:spPr>
        </p:pic>
      </p:grpSp>
    </p:spTree>
    <p:extLst>
      <p:ext uri="{BB962C8B-B14F-4D97-AF65-F5344CB8AC3E}">
        <p14:creationId xmlns:p14="http://schemas.microsoft.com/office/powerpoint/2010/main" val="1878987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If we think we need another field or column, we can add it. Let's add a date field of using </a:t>
            </a:r>
            <a:r>
              <a:rPr lang="en-US" i="1" dirty="0"/>
              <a:t>date</a:t>
            </a:r>
            <a:r>
              <a:rPr lang="en-US" dirty="0"/>
              <a:t> type after comment. 
</a:t>
            </a:r>
            <a:r>
              <a:rPr lang="en-US" i="1" dirty="0"/>
              <a:t> </a:t>
            </a:r>
            <a:endParaRPr lang="en-US" dirty="0"/>
          </a:p>
        </p:txBody>
      </p:sp>
      <p:grpSp>
        <p:nvGrpSpPr>
          <p:cNvPr id="7" name="Group 6">
            <a:extLst>
              <a:ext uri="{FF2B5EF4-FFF2-40B4-BE49-F238E27FC236}">
                <a16:creationId xmlns:a16="http://schemas.microsoft.com/office/drawing/2014/main" id="{A2B1287F-04A3-42D5-8A39-88EEE7DF654E}"/>
              </a:ext>
            </a:extLst>
          </p:cNvPr>
          <p:cNvGrpSpPr/>
          <p:nvPr/>
        </p:nvGrpSpPr>
        <p:grpSpPr>
          <a:xfrm>
            <a:off x="0" y="3967265"/>
            <a:ext cx="9144000" cy="2159227"/>
            <a:chOff x="0" y="3967265"/>
            <a:chExt cx="9144000" cy="2159227"/>
          </a:xfrm>
        </p:grpSpPr>
        <p:pic>
          <p:nvPicPr>
            <p:cNvPr id="5" name="Picture 4" descr="Graphical user interface, text, application, chat or text message&#10;&#10;Description automatically generated">
              <a:extLst>
                <a:ext uri="{FF2B5EF4-FFF2-40B4-BE49-F238E27FC236}">
                  <a16:creationId xmlns:a16="http://schemas.microsoft.com/office/drawing/2014/main" id="{1CE64E45-1582-40FC-85DB-449D67CB6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67265"/>
              <a:ext cx="9144000" cy="2159227"/>
            </a:xfrm>
            <a:prstGeom prst="rect">
              <a:avLst/>
            </a:prstGeom>
          </p:spPr>
        </p:pic>
        <p:pic>
          <p:nvPicPr>
            <p:cNvPr id="9" name="Picture 8" descr="Graphical user interface, application&#10;&#10;Description automatically generated">
              <a:extLst>
                <a:ext uri="{FF2B5EF4-FFF2-40B4-BE49-F238E27FC236}">
                  <a16:creationId xmlns:a16="http://schemas.microsoft.com/office/drawing/2014/main" id="{0A33F6BF-C8F7-437D-9559-28225C00A54C}"/>
                </a:ext>
              </a:extLst>
            </p:cNvPr>
            <p:cNvPicPr>
              <a:picLocks noChangeAspect="1"/>
            </p:cNvPicPr>
            <p:nvPr/>
          </p:nvPicPr>
          <p:blipFill rotWithShape="1">
            <a:blip r:embed="rId3">
              <a:extLst>
                <a:ext uri="{28A0092B-C50C-407E-A947-70E740481C1C}">
                  <a14:useLocalDpi xmlns:a14="http://schemas.microsoft.com/office/drawing/2010/main" val="0"/>
                </a:ext>
              </a:extLst>
            </a:blip>
            <a:srcRect l="4556" t="57205" r="90111" b="27423"/>
            <a:stretch/>
          </p:blipFill>
          <p:spPr>
            <a:xfrm>
              <a:off x="436880" y="4843678"/>
              <a:ext cx="487680" cy="223520"/>
            </a:xfrm>
            <a:prstGeom prst="rect">
              <a:avLst/>
            </a:prstGeom>
          </p:spPr>
        </p:pic>
      </p:grpSp>
      <p:sp>
        <p:nvSpPr>
          <p:cNvPr id="6" name="TextBox 5">
            <a:extLst>
              <a:ext uri="{FF2B5EF4-FFF2-40B4-BE49-F238E27FC236}">
                <a16:creationId xmlns:a16="http://schemas.microsoft.com/office/drawing/2014/main" id="{77E218D8-4BAF-48B9-8B29-87FE548BA553}"/>
              </a:ext>
            </a:extLst>
          </p:cNvPr>
          <p:cNvSpPr txBox="1"/>
          <p:nvPr/>
        </p:nvSpPr>
        <p:spPr>
          <a:xfrm>
            <a:off x="0" y="5767853"/>
            <a:ext cx="2470068" cy="415636"/>
          </a:xfrm>
          <a:prstGeom prst="rect">
            <a:avLst/>
          </a:prstGeom>
          <a:noFill/>
          <a:ln w="57150">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2308691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As a result, the table should look like this:  
</a:t>
            </a:r>
          </a:p>
        </p:txBody>
      </p:sp>
      <p:pic>
        <p:nvPicPr>
          <p:cNvPr id="9" name="Picture 8" descr="Graphical user interface, application&#10;&#10;Description automatically generated">
            <a:extLst>
              <a:ext uri="{FF2B5EF4-FFF2-40B4-BE49-F238E27FC236}">
                <a16:creationId xmlns:a16="http://schemas.microsoft.com/office/drawing/2014/main" id="{A4E434D5-F5B2-436D-9611-5E2855FAF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29000"/>
            <a:ext cx="9144000" cy="1454167"/>
          </a:xfrm>
          <a:prstGeom prst="rect">
            <a:avLst/>
          </a:prstGeom>
        </p:spPr>
      </p:pic>
    </p:spTree>
    <p:extLst>
      <p:ext uri="{BB962C8B-B14F-4D97-AF65-F5344CB8AC3E}">
        <p14:creationId xmlns:p14="http://schemas.microsoft.com/office/powerpoint/2010/main" val="265343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Graphical user interface, text&#10;&#10;Description automatically generated">
            <a:extLst>
              <a:ext uri="{FF2B5EF4-FFF2-40B4-BE49-F238E27FC236}">
                <a16:creationId xmlns:a16="http://schemas.microsoft.com/office/drawing/2014/main" id="{9520D01F-78B4-4190-A22B-F0B47EED1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370" y="3027528"/>
            <a:ext cx="5604315" cy="3830472"/>
          </a:xfrm>
          <a:prstGeom prst="rect">
            <a:avLst/>
          </a:prstGeom>
        </p:spPr>
      </p:pic>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Press Insert to add data to the newly created table. No need to enter </a:t>
            </a:r>
            <a:r>
              <a:rPr lang="en-US" i="1" dirty="0"/>
              <a:t>nr</a:t>
            </a:r>
            <a:r>
              <a:rPr lang="en-US" dirty="0"/>
              <a:t>, due to </a:t>
            </a:r>
            <a:r>
              <a:rPr lang="en-US" dirty="0" err="1"/>
              <a:t>AutoIncrement</a:t>
            </a:r>
            <a:r>
              <a:rPr lang="en-US" dirty="0"/>
              <a:t> DB will do it automatically.  
</a:t>
            </a:r>
          </a:p>
        </p:txBody>
      </p:sp>
      <p:sp>
        <p:nvSpPr>
          <p:cNvPr id="7" name="TextBox 6">
            <a:extLst>
              <a:ext uri="{FF2B5EF4-FFF2-40B4-BE49-F238E27FC236}">
                <a16:creationId xmlns:a16="http://schemas.microsoft.com/office/drawing/2014/main" id="{C300A4A2-75E2-4233-AB46-5ED731B7E54C}"/>
              </a:ext>
            </a:extLst>
          </p:cNvPr>
          <p:cNvSpPr txBox="1"/>
          <p:nvPr/>
        </p:nvSpPr>
        <p:spPr>
          <a:xfrm>
            <a:off x="4667002" y="3221182"/>
            <a:ext cx="831273" cy="415636"/>
          </a:xfrm>
          <a:prstGeom prst="rect">
            <a:avLst/>
          </a:prstGeom>
          <a:noFill/>
          <a:ln w="57150">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004038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lstStyle/>
          <a:p>
            <a:pPr marL="0" indent="0" algn="just">
              <a:buNone/>
            </a:pPr>
            <a:r>
              <a:rPr lang="en-US" dirty="0"/>
              <a:t>If we wish, we can also allow other people to enter data into this database. We will not tell them our password, but we will create a web form on the Internet through which the data can be entered and then sent to the database. </a:t>
            </a:r>
            <a:r>
              <a:rPr lang="en-US" i="1" dirty="0"/>
              <a:t>  </a:t>
            </a:r>
            <a:endParaRPr lang="en-US" dirty="0"/>
          </a:p>
        </p:txBody>
      </p:sp>
      <p:pic>
        <p:nvPicPr>
          <p:cNvPr id="5" name="Picture 4" descr="Table&#10;&#10;Description automatically generated with low confidence">
            <a:extLst>
              <a:ext uri="{FF2B5EF4-FFF2-40B4-BE49-F238E27FC236}">
                <a16:creationId xmlns:a16="http://schemas.microsoft.com/office/drawing/2014/main" id="{6662F3A0-5FE0-4078-ACC6-FB69A22E34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1447" y="4294661"/>
            <a:ext cx="4058457" cy="1488623"/>
          </a:xfrm>
          <a:prstGeom prst="rect">
            <a:avLst/>
          </a:prstGeom>
        </p:spPr>
      </p:pic>
    </p:spTree>
    <p:extLst>
      <p:ext uri="{BB962C8B-B14F-4D97-AF65-F5344CB8AC3E}">
        <p14:creationId xmlns:p14="http://schemas.microsoft.com/office/powerpoint/2010/main" val="4182996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24000"/>
            <a:ext cx="7886700" cy="5237747"/>
          </a:xfrm>
        </p:spPr>
        <p:txBody>
          <a:bodyPr>
            <a:normAutofit fontScale="85000" lnSpcReduction="20000"/>
          </a:bodyPr>
          <a:lstStyle/>
          <a:p>
            <a:pPr marL="0" indent="0" algn="just">
              <a:buNone/>
            </a:pPr>
            <a:r>
              <a:rPr lang="en-US" dirty="0"/>
              <a:t>Let's create a </a:t>
            </a:r>
            <a:r>
              <a:rPr lang="en-US" i="1" dirty="0"/>
              <a:t>CommentForm.html </a:t>
            </a:r>
            <a:r>
              <a:rPr lang="en-US" dirty="0"/>
              <a:t>document in the "Root </a:t>
            </a:r>
            <a:r>
              <a:rPr lang="en-US" dirty="0" err="1"/>
              <a:t>dir</a:t>
            </a:r>
            <a:r>
              <a:rPr lang="en-US" dirty="0"/>
              <a:t>" folder. </a:t>
            </a:r>
            <a:endParaRPr lang="lv-LV" dirty="0"/>
          </a:p>
          <a:p>
            <a:pPr marL="0" indent="0" algn="just">
              <a:buNone/>
            </a:pPr>
            <a:endParaRPr lang="lv-LV" i="1" dirty="0"/>
          </a:p>
          <a:p>
            <a:pPr marL="0" indent="0" algn="just">
              <a:buNone/>
            </a:pPr>
            <a:endParaRPr lang="lv-LV" i="1" dirty="0"/>
          </a:p>
          <a:p>
            <a:pPr marL="0" indent="0" algn="just">
              <a:buNone/>
            </a:pPr>
            <a:endParaRPr lang="lv-LV" i="1" dirty="0"/>
          </a:p>
          <a:p>
            <a:pPr marL="0" indent="0" algn="just">
              <a:buNone/>
            </a:pPr>
            <a:endParaRPr lang="lv-LV" i="1" dirty="0"/>
          </a:p>
          <a:p>
            <a:pPr marL="0" indent="0" algn="just">
              <a:buNone/>
            </a:pPr>
            <a:endParaRPr lang="en-US" dirty="0"/>
          </a:p>
          <a:p>
            <a:pPr marL="0" indent="0" algn="just">
              <a:buNone/>
            </a:pPr>
            <a:r>
              <a:rPr lang="en-US" dirty="0"/>
              <a:t>Create a form called </a:t>
            </a:r>
            <a:r>
              <a:rPr lang="en-US" dirty="0" err="1"/>
              <a:t>guestForm</a:t>
            </a:r>
            <a:r>
              <a:rPr lang="en-US" dirty="0"/>
              <a:t>, specify the method - POST and Action </a:t>
            </a:r>
            <a:r>
              <a:rPr lang="en-US" dirty="0" err="1"/>
              <a:t>Url</a:t>
            </a:r>
            <a:r>
              <a:rPr lang="en-US" dirty="0"/>
              <a:t> - </a:t>
            </a:r>
            <a:r>
              <a:rPr lang="en-US" dirty="0" err="1"/>
              <a:t>toDB.php</a:t>
            </a:r>
            <a:r>
              <a:rPr lang="en-US" dirty="0"/>
              <a:t>. There are two more text fields in the form called </a:t>
            </a:r>
            <a:r>
              <a:rPr lang="en-US" i="1" dirty="0"/>
              <a:t>name</a:t>
            </a:r>
            <a:r>
              <a:rPr lang="en-US" dirty="0"/>
              <a:t> and </a:t>
            </a:r>
            <a:r>
              <a:rPr lang="en-US" i="1" dirty="0"/>
              <a:t>comment</a:t>
            </a:r>
            <a:r>
              <a:rPr lang="en-US" dirty="0"/>
              <a:t>.</a:t>
            </a:r>
          </a:p>
          <a:p>
            <a:pPr marL="0" indent="0" algn="just">
              <a:buNone/>
            </a:pPr>
            <a:endParaRPr lang="en-US" dirty="0"/>
          </a:p>
          <a:p>
            <a:pPr marL="0" indent="0" algn="just">
              <a:buNone/>
            </a:pPr>
            <a:r>
              <a:rPr lang="en-US" dirty="0"/>
              <a:t>The code from </a:t>
            </a:r>
            <a:r>
              <a:rPr lang="en-US" dirty="0" err="1"/>
              <a:t>toDB.php</a:t>
            </a:r>
            <a:r>
              <a:rPr lang="en-US" dirty="0"/>
              <a:t>, will send data to the database, it must also be copied to the "Root </a:t>
            </a:r>
            <a:r>
              <a:rPr lang="en-US" dirty="0" err="1"/>
              <a:t>dir</a:t>
            </a:r>
            <a:r>
              <a:rPr lang="en-US" dirty="0"/>
              <a:t>" folder. You need to make changes to the program text - enter your database name, username and password.</a:t>
            </a:r>
            <a:endParaRPr lang="lv-LV" dirty="0"/>
          </a:p>
        </p:txBody>
      </p:sp>
      <p:pic>
        <p:nvPicPr>
          <p:cNvPr id="10242" name="Picture 2">
            <a:extLst>
              <a:ext uri="{FF2B5EF4-FFF2-40B4-BE49-F238E27FC236}">
                <a16:creationId xmlns:a16="http://schemas.microsoft.com/office/drawing/2014/main" id="{537AC5DE-2384-4B78-A12A-6BD239C2BF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405" y="2186490"/>
            <a:ext cx="3524250"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3969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p:txBody>
          <a:bodyPr>
            <a:normAutofit/>
          </a:bodyPr>
          <a:lstStyle/>
          <a:p>
            <a:pPr marL="0" indent="0" algn="just">
              <a:buNone/>
            </a:pPr>
            <a:r>
              <a:rPr lang="en-US" sz="1600" dirty="0"/>
              <a:t>&lt;html&gt;</a:t>
            </a:r>
          </a:p>
          <a:p>
            <a:pPr marL="0" indent="0" algn="just">
              <a:buNone/>
            </a:pPr>
            <a:r>
              <a:rPr lang="en-US" sz="1600" dirty="0"/>
              <a:t>&lt;head&gt;</a:t>
            </a:r>
          </a:p>
          <a:p>
            <a:pPr marL="0" indent="0" algn="just">
              <a:buNone/>
            </a:pPr>
            <a:r>
              <a:rPr lang="en-US" sz="1600" dirty="0"/>
              <a:t>&lt;/head&gt;</a:t>
            </a:r>
          </a:p>
          <a:p>
            <a:pPr marL="0" indent="0" algn="just">
              <a:buNone/>
            </a:pPr>
            <a:r>
              <a:rPr lang="en-US" sz="1600" dirty="0"/>
              <a:t>&lt;body&gt;</a:t>
            </a:r>
          </a:p>
          <a:p>
            <a:pPr marL="0" indent="0" algn="just">
              <a:buNone/>
            </a:pPr>
            <a:r>
              <a:rPr lang="en-US" sz="1600" dirty="0"/>
              <a:t>	Welcome to my Guestbook!</a:t>
            </a:r>
          </a:p>
          <a:p>
            <a:pPr marL="0" indent="0" algn="just">
              <a:buNone/>
            </a:pPr>
            <a:r>
              <a:rPr lang="en-US" sz="1600" dirty="0"/>
              <a:t>	&lt;form method="post" action="</a:t>
            </a:r>
            <a:r>
              <a:rPr lang="en-US" sz="1600" dirty="0" err="1"/>
              <a:t>toDB.php</a:t>
            </a:r>
            <a:r>
              <a:rPr lang="en-US" sz="1600" dirty="0"/>
              <a:t>" name="</a:t>
            </a:r>
            <a:r>
              <a:rPr lang="en-US" sz="1600" dirty="0" err="1"/>
              <a:t>guestform</a:t>
            </a:r>
            <a:r>
              <a:rPr lang="en-US" sz="1600" dirty="0"/>
              <a:t>"&gt;</a:t>
            </a:r>
          </a:p>
          <a:p>
            <a:pPr marL="0" indent="0" algn="just">
              <a:buNone/>
            </a:pPr>
            <a:r>
              <a:rPr lang="en-US" sz="1600" dirty="0"/>
              <a:t>		Name &lt;input name=“name"&gt;&lt;</a:t>
            </a:r>
            <a:r>
              <a:rPr lang="en-US" sz="1600" dirty="0" err="1"/>
              <a:t>br</a:t>
            </a:r>
            <a:r>
              <a:rPr lang="en-US" sz="1600" dirty="0"/>
              <a:t>&gt;</a:t>
            </a:r>
          </a:p>
          <a:p>
            <a:pPr marL="0" indent="0" algn="just">
              <a:buNone/>
            </a:pPr>
            <a:r>
              <a:rPr lang="en-US" sz="1600" dirty="0"/>
              <a:t>		Comment &lt;input name="comment"&gt;&lt;</a:t>
            </a:r>
            <a:r>
              <a:rPr lang="en-US" sz="1600" dirty="0" err="1"/>
              <a:t>br</a:t>
            </a:r>
            <a:r>
              <a:rPr lang="en-US" sz="1600" dirty="0"/>
              <a:t>&gt;</a:t>
            </a:r>
          </a:p>
          <a:p>
            <a:pPr marL="0" indent="0" algn="just">
              <a:buNone/>
            </a:pPr>
            <a:r>
              <a:rPr lang="en-US" sz="1600" dirty="0"/>
              <a:t>		&lt;input name="submit" value="Add comment" type="submit"&gt;&lt;</a:t>
            </a:r>
            <a:r>
              <a:rPr lang="en-US" sz="1600" dirty="0" err="1"/>
              <a:t>br</a:t>
            </a:r>
            <a:r>
              <a:rPr lang="en-US" sz="1600" dirty="0"/>
              <a:t>&gt;</a:t>
            </a:r>
          </a:p>
          <a:p>
            <a:pPr marL="0" indent="0" algn="just">
              <a:buNone/>
            </a:pPr>
            <a:r>
              <a:rPr lang="en-US" sz="1600" dirty="0"/>
              <a:t>	&lt;/form&gt;</a:t>
            </a:r>
          </a:p>
          <a:p>
            <a:pPr marL="0" indent="0" algn="just">
              <a:buNone/>
            </a:pPr>
            <a:r>
              <a:rPr lang="en-US" sz="1600" dirty="0"/>
              <a:t>&lt;/body&gt;</a:t>
            </a:r>
          </a:p>
          <a:p>
            <a:pPr marL="0" indent="0" algn="just">
              <a:buNone/>
            </a:pPr>
            <a:r>
              <a:rPr lang="en-US" sz="1600" dirty="0"/>
              <a:t>&lt;/html&gt;</a:t>
            </a:r>
          </a:p>
        </p:txBody>
      </p:sp>
      <p:pic>
        <p:nvPicPr>
          <p:cNvPr id="5" name="Picture 4" descr="Table&#10;&#10;Description automatically generated with low confidence">
            <a:extLst>
              <a:ext uri="{FF2B5EF4-FFF2-40B4-BE49-F238E27FC236}">
                <a16:creationId xmlns:a16="http://schemas.microsoft.com/office/drawing/2014/main" id="{6662F3A0-5FE0-4078-ACC6-FB69A22E34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7367" y="1419381"/>
            <a:ext cx="4058457" cy="1488623"/>
          </a:xfrm>
          <a:prstGeom prst="rect">
            <a:avLst/>
          </a:prstGeom>
        </p:spPr>
      </p:pic>
    </p:spTree>
    <p:extLst>
      <p:ext uri="{BB962C8B-B14F-4D97-AF65-F5344CB8AC3E}">
        <p14:creationId xmlns:p14="http://schemas.microsoft.com/office/powerpoint/2010/main" val="4250452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39DA-11F0-46E3-A860-C9F536B133BF}"/>
              </a:ext>
            </a:extLst>
          </p:cNvPr>
          <p:cNvSpPr>
            <a:spLocks noGrp="1"/>
          </p:cNvSpPr>
          <p:nvPr>
            <p:ph type="title"/>
          </p:nvPr>
        </p:nvSpPr>
        <p:spPr/>
        <p:txBody>
          <a:bodyPr/>
          <a:lstStyle/>
          <a:p>
            <a:r>
              <a:rPr lang="en-US" dirty="0" err="1"/>
              <a:t>toDB.php</a:t>
            </a:r>
            <a:endParaRPr lang="en-US" dirty="0"/>
          </a:p>
        </p:txBody>
      </p:sp>
      <p:sp>
        <p:nvSpPr>
          <p:cNvPr id="3" name="Content Placeholder 2">
            <a:extLst>
              <a:ext uri="{FF2B5EF4-FFF2-40B4-BE49-F238E27FC236}">
                <a16:creationId xmlns:a16="http://schemas.microsoft.com/office/drawing/2014/main" id="{98B69029-A946-4E5B-BA9C-E54238B32916}"/>
              </a:ext>
            </a:extLst>
          </p:cNvPr>
          <p:cNvSpPr>
            <a:spLocks noGrp="1"/>
          </p:cNvSpPr>
          <p:nvPr>
            <p:ph idx="1"/>
          </p:nvPr>
        </p:nvSpPr>
        <p:spPr/>
        <p:txBody>
          <a:bodyPr>
            <a:normAutofit fontScale="62500" lnSpcReduction="20000"/>
          </a:bodyPr>
          <a:lstStyle/>
          <a:p>
            <a:pPr marL="0" indent="0">
              <a:buNone/>
            </a:pPr>
            <a:r>
              <a:rPr lang="en-US" dirty="0"/>
              <a:t>$_POST – connection to the form field</a:t>
            </a:r>
          </a:p>
          <a:p>
            <a:pPr marL="0" indent="0">
              <a:buNone/>
            </a:pPr>
            <a:r>
              <a:rPr lang="en-US" dirty="0"/>
              <a:t>$_POST['name']	name – form field name</a:t>
            </a:r>
          </a:p>
          <a:p>
            <a:pPr marL="0" indent="0">
              <a:buNone/>
            </a:pPr>
            <a:r>
              <a:rPr lang="en-US" dirty="0"/>
              <a:t>trim – deletes spaces from the beginning and end of a text string</a:t>
            </a:r>
          </a:p>
          <a:p>
            <a:pPr marL="0" indent="0">
              <a:buNone/>
            </a:pPr>
            <a:r>
              <a:rPr lang="en-US" dirty="0" err="1"/>
              <a:t>strip_tags</a:t>
            </a:r>
            <a:r>
              <a:rPr lang="en-US" dirty="0"/>
              <a:t> – deletes HTML and PHP tags from a text string</a:t>
            </a:r>
          </a:p>
          <a:p>
            <a:pPr marL="0" indent="0">
              <a:buNone/>
            </a:pPr>
            <a:r>
              <a:rPr lang="en-US" dirty="0" err="1"/>
              <a:t>htmlentities</a:t>
            </a:r>
            <a:r>
              <a:rPr lang="en-US" dirty="0"/>
              <a:t> – converts special symbols so that they can be stored in HTML code, such as</a:t>
            </a:r>
          </a:p>
          <a:p>
            <a:pPr marL="0" indent="0">
              <a:buNone/>
            </a:pPr>
            <a:r>
              <a:rPr lang="en-US" dirty="0"/>
              <a:t> '&amp;' to</a:t>
            </a:r>
            <a:r>
              <a:rPr lang="lv-LV" dirty="0"/>
              <a:t> </a:t>
            </a:r>
            <a:r>
              <a:rPr lang="en-US" dirty="0"/>
              <a:t>'&amp;amp;'</a:t>
            </a:r>
          </a:p>
          <a:p>
            <a:pPr marL="0" indent="0">
              <a:buNone/>
            </a:pPr>
            <a:r>
              <a:rPr lang="en-US" dirty="0"/>
              <a:t>'"' to '&amp;</a:t>
            </a:r>
            <a:r>
              <a:rPr lang="en-US" dirty="0" err="1"/>
              <a:t>quot</a:t>
            </a:r>
            <a:r>
              <a:rPr lang="en-US" dirty="0"/>
              <a:t>;' </a:t>
            </a:r>
          </a:p>
          <a:p>
            <a:pPr marL="0" indent="0">
              <a:buNone/>
            </a:pPr>
            <a:r>
              <a:rPr lang="ru-RU" dirty="0"/>
              <a:t>''' </a:t>
            </a:r>
            <a:r>
              <a:rPr lang="en-US" dirty="0"/>
              <a:t>to</a:t>
            </a:r>
            <a:r>
              <a:rPr lang="ru-RU" dirty="0"/>
              <a:t> '&amp;#039;' </a:t>
            </a:r>
            <a:endParaRPr lang="en-US" dirty="0"/>
          </a:p>
          <a:p>
            <a:pPr marL="0" indent="0">
              <a:buNone/>
            </a:pPr>
            <a:r>
              <a:rPr lang="en-US" dirty="0"/>
              <a:t>'&lt;' to</a:t>
            </a:r>
            <a:r>
              <a:rPr lang="lv-LV" dirty="0"/>
              <a:t> </a:t>
            </a:r>
            <a:r>
              <a:rPr lang="en-US" dirty="0"/>
              <a:t>'&amp;</a:t>
            </a:r>
            <a:r>
              <a:rPr lang="en-US" dirty="0" err="1"/>
              <a:t>lt</a:t>
            </a:r>
            <a:r>
              <a:rPr lang="en-US" dirty="0"/>
              <a:t>;'</a:t>
            </a:r>
          </a:p>
          <a:p>
            <a:pPr marL="0" indent="0">
              <a:buNone/>
            </a:pPr>
            <a:r>
              <a:rPr lang="en-US" dirty="0"/>
              <a:t>'&gt; to</a:t>
            </a:r>
            <a:r>
              <a:rPr lang="lv-LV" dirty="0"/>
              <a:t> </a:t>
            </a:r>
            <a:r>
              <a:rPr lang="en-US" dirty="0"/>
              <a:t>'&amp;</a:t>
            </a:r>
            <a:r>
              <a:rPr lang="en-US" dirty="0" err="1"/>
              <a:t>gt</a:t>
            </a:r>
            <a:r>
              <a:rPr lang="en-US" dirty="0"/>
              <a:t>;'</a:t>
            </a:r>
          </a:p>
          <a:p>
            <a:pPr marL="0" indent="0">
              <a:buNone/>
            </a:pPr>
            <a:r>
              <a:rPr lang="en-US" dirty="0"/>
              <a:t> </a:t>
            </a:r>
          </a:p>
          <a:p>
            <a:pPr marL="0" indent="0">
              <a:buNone/>
            </a:pPr>
            <a:r>
              <a:rPr lang="en-US" dirty="0" err="1"/>
              <a:t>mysql_connect</a:t>
            </a:r>
            <a:r>
              <a:rPr lang="en-US" dirty="0"/>
              <a:t>  function - Opens the connection with DB</a:t>
            </a:r>
          </a:p>
          <a:p>
            <a:pPr marL="0" indent="0">
              <a:buNone/>
            </a:pPr>
            <a:r>
              <a:rPr lang="en-US" dirty="0" err="1"/>
              <a:t>mysql_select_db</a:t>
            </a:r>
            <a:r>
              <a:rPr lang="en-US" dirty="0"/>
              <a:t> function - Selects a database</a:t>
            </a:r>
          </a:p>
          <a:p>
            <a:pPr marL="0" indent="0">
              <a:buNone/>
            </a:pPr>
            <a:endParaRPr lang="en-US" dirty="0"/>
          </a:p>
        </p:txBody>
      </p:sp>
    </p:spTree>
    <p:extLst>
      <p:ext uri="{BB962C8B-B14F-4D97-AF65-F5344CB8AC3E}">
        <p14:creationId xmlns:p14="http://schemas.microsoft.com/office/powerpoint/2010/main" val="2675333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39DA-11F0-46E3-A860-C9F536B133BF}"/>
              </a:ext>
            </a:extLst>
          </p:cNvPr>
          <p:cNvSpPr>
            <a:spLocks noGrp="1"/>
          </p:cNvSpPr>
          <p:nvPr>
            <p:ph type="title"/>
          </p:nvPr>
        </p:nvSpPr>
        <p:spPr/>
        <p:txBody>
          <a:bodyPr/>
          <a:lstStyle/>
          <a:p>
            <a:r>
              <a:rPr lang="en-US" dirty="0" err="1"/>
              <a:t>toDB.php</a:t>
            </a:r>
            <a:endParaRPr lang="en-US" dirty="0"/>
          </a:p>
        </p:txBody>
      </p:sp>
      <p:sp>
        <p:nvSpPr>
          <p:cNvPr id="3" name="Content Placeholder 2">
            <a:extLst>
              <a:ext uri="{FF2B5EF4-FFF2-40B4-BE49-F238E27FC236}">
                <a16:creationId xmlns:a16="http://schemas.microsoft.com/office/drawing/2014/main" id="{98B69029-A946-4E5B-BA9C-E54238B32916}"/>
              </a:ext>
            </a:extLst>
          </p:cNvPr>
          <p:cNvSpPr>
            <a:spLocks noGrp="1"/>
          </p:cNvSpPr>
          <p:nvPr>
            <p:ph idx="1"/>
          </p:nvPr>
        </p:nvSpPr>
        <p:spPr>
          <a:xfrm>
            <a:off x="628650" y="1825624"/>
            <a:ext cx="7886700" cy="4727575"/>
          </a:xfrm>
        </p:spPr>
        <p:txBody>
          <a:bodyPr>
            <a:normAutofit fontScale="62500" lnSpcReduction="20000"/>
          </a:bodyPr>
          <a:lstStyle/>
          <a:p>
            <a:pPr marL="0" indent="0">
              <a:lnSpc>
                <a:spcPct val="120000"/>
              </a:lnSpc>
              <a:buNone/>
            </a:pPr>
            <a:r>
              <a:rPr lang="en-US" dirty="0" err="1"/>
              <a:t>mysql_real_escape_string</a:t>
            </a:r>
            <a:r>
              <a:rPr lang="en-US" dirty="0"/>
              <a:t> </a:t>
            </a:r>
            <a:r>
              <a:rPr lang="lv-LV" dirty="0"/>
              <a:t>f</a:t>
            </a:r>
            <a:r>
              <a:rPr lang="en-US" dirty="0"/>
              <a:t>un</a:t>
            </a:r>
            <a:r>
              <a:rPr lang="lv-LV" dirty="0" err="1"/>
              <a:t>ction</a:t>
            </a:r>
            <a:r>
              <a:rPr lang="en-US" dirty="0"/>
              <a:t> - </a:t>
            </a:r>
            <a:r>
              <a:rPr lang="lv-LV" dirty="0"/>
              <a:t>p</a:t>
            </a:r>
            <a:r>
              <a:rPr lang="en-US" dirty="0" err="1"/>
              <a:t>rocesses</a:t>
            </a:r>
            <a:r>
              <a:rPr lang="en-US" dirty="0"/>
              <a:t> special symbols in a text string so that it can be used in a SQL-query. Such as:
</a:t>
            </a:r>
            <a:r>
              <a:rPr lang="en-US" dirty="0">
                <a:latin typeface="Courier New" panose="02070309020205020404" pitchFamily="49" charset="0"/>
                <a:cs typeface="Courier New" panose="02070309020205020404" pitchFamily="49" charset="0"/>
              </a:rPr>
              <a:t>&lt;?php</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$item = "Zak's and Derick's Laptop";</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escaped_item</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mysql_real_escape_string</a:t>
            </a:r>
            <a:r>
              <a:rPr lang="en-US" dirty="0">
                <a:latin typeface="Courier New" panose="02070309020205020404" pitchFamily="49" charset="0"/>
                <a:cs typeface="Courier New" panose="02070309020205020404" pitchFamily="49" charset="0"/>
              </a:rPr>
              <a:t>($item);</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 ("Escaped string: %s\n", $</a:t>
            </a:r>
            <a:r>
              <a:rPr lang="en-US" dirty="0" err="1">
                <a:latin typeface="Courier New" panose="02070309020205020404" pitchFamily="49" charset="0"/>
                <a:cs typeface="Courier New" panose="02070309020205020404" pitchFamily="49" charset="0"/>
              </a:rPr>
              <a:t>escaped_item</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?&gt;</a:t>
            </a:r>
          </a:p>
          <a:p>
            <a:pPr marL="0" indent="0">
              <a:lnSpc>
                <a:spcPct val="120000"/>
              </a:lnSpc>
              <a:buNone/>
            </a:pPr>
            <a:r>
              <a:rPr lang="en-US" dirty="0"/>
              <a:t>Will </a:t>
            </a:r>
            <a:r>
              <a:rPr lang="lv-LV" dirty="0" err="1"/>
              <a:t>display</a:t>
            </a:r>
            <a:r>
              <a:rPr lang="en-US" dirty="0"/>
              <a:t>
</a:t>
            </a:r>
            <a:r>
              <a:rPr lang="lv-LV" dirty="0" err="1"/>
              <a:t>Escaped</a:t>
            </a:r>
            <a:r>
              <a:rPr lang="lv-LV" dirty="0"/>
              <a:t> </a:t>
            </a:r>
            <a:r>
              <a:rPr lang="lv-LV" dirty="0" err="1"/>
              <a:t>string</a:t>
            </a:r>
            <a:r>
              <a:rPr lang="lv-LV" dirty="0"/>
              <a:t>: </a:t>
            </a:r>
            <a:r>
              <a:rPr lang="lv-LV" dirty="0" err="1"/>
              <a:t>Zak</a:t>
            </a:r>
            <a:r>
              <a:rPr lang="lv-LV" dirty="0"/>
              <a:t>\'s </a:t>
            </a:r>
            <a:r>
              <a:rPr lang="lv-LV" dirty="0" err="1"/>
              <a:t>and</a:t>
            </a:r>
            <a:r>
              <a:rPr lang="lv-LV" dirty="0"/>
              <a:t> </a:t>
            </a:r>
            <a:r>
              <a:rPr lang="lv-LV" dirty="0" err="1"/>
              <a:t>Derick</a:t>
            </a:r>
            <a:r>
              <a:rPr lang="lv-LV" dirty="0"/>
              <a:t>\'s </a:t>
            </a:r>
            <a:r>
              <a:rPr lang="lv-LV" dirty="0" err="1"/>
              <a:t>Laptop</a:t>
            </a:r>
            <a:endParaRPr lang="en-US" dirty="0"/>
          </a:p>
          <a:p>
            <a:pPr marL="0" indent="0">
              <a:lnSpc>
                <a:spcPct val="120000"/>
              </a:lnSpc>
              <a:buNone/>
            </a:pPr>
            <a:r>
              <a:rPr lang="lv-LV" dirty="0"/>
              <a:t> </a:t>
            </a:r>
            <a:endParaRPr lang="en-US" dirty="0"/>
          </a:p>
          <a:p>
            <a:pPr marL="0" indent="0">
              <a:lnSpc>
                <a:spcPct val="120000"/>
              </a:lnSpc>
              <a:buNone/>
            </a:pPr>
            <a:r>
              <a:rPr lang="en-US" dirty="0" err="1"/>
              <a:t>mysql_query</a:t>
            </a:r>
            <a:r>
              <a:rPr lang="en-US" dirty="0"/>
              <a:t> fun</a:t>
            </a:r>
            <a:r>
              <a:rPr lang="lv-LV" dirty="0" err="1"/>
              <a:t>ction</a:t>
            </a:r>
            <a:r>
              <a:rPr lang="en-US" dirty="0"/>
              <a:t> sends a query to the database server</a:t>
            </a:r>
          </a:p>
          <a:p>
            <a:pPr marL="0" indent="0">
              <a:lnSpc>
                <a:spcPct val="120000"/>
              </a:lnSpc>
              <a:buNone/>
            </a:pPr>
            <a:r>
              <a:rPr lang="en-US" dirty="0"/>
              <a:t> </a:t>
            </a:r>
          </a:p>
          <a:p>
            <a:pPr marL="0" indent="0">
              <a:lnSpc>
                <a:spcPct val="120000"/>
              </a:lnSpc>
              <a:buNone/>
            </a:pPr>
            <a:r>
              <a:rPr lang="en-US" dirty="0"/>
              <a:t>header("Location: CommentForm.html"); - go back to CommentForm.html</a:t>
            </a:r>
          </a:p>
        </p:txBody>
      </p:sp>
    </p:spTree>
    <p:extLst>
      <p:ext uri="{BB962C8B-B14F-4D97-AF65-F5344CB8AC3E}">
        <p14:creationId xmlns:p14="http://schemas.microsoft.com/office/powerpoint/2010/main" val="1920068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825624"/>
            <a:ext cx="7886700" cy="4667249"/>
          </a:xfrm>
        </p:spPr>
        <p:txBody>
          <a:bodyPr>
            <a:normAutofit fontScale="92500" lnSpcReduction="10000"/>
          </a:bodyPr>
          <a:lstStyle/>
          <a:p>
            <a:pPr marL="0" indent="0" algn="just">
              <a:buNone/>
            </a:pPr>
            <a:r>
              <a:rPr lang="en-US" dirty="0"/>
              <a:t>When both files are </a:t>
            </a:r>
            <a:r>
              <a:rPr lang="lv-LV" dirty="0" err="1"/>
              <a:t>ready</a:t>
            </a:r>
            <a:r>
              <a:rPr lang="en-US" dirty="0"/>
              <a:t> and saved</a:t>
            </a:r>
            <a:r>
              <a:rPr lang="lv-LV" dirty="0"/>
              <a:t> -</a:t>
            </a:r>
            <a:r>
              <a:rPr lang="en-US" dirty="0"/>
              <a:t> open "Localhost"
</a:t>
            </a:r>
            <a:endParaRPr lang="lv-LV" dirty="0"/>
          </a:p>
          <a:p>
            <a:pPr marL="0" indent="0" algn="just">
              <a:buNone/>
            </a:pPr>
            <a:endParaRPr lang="lv-LV" dirty="0"/>
          </a:p>
          <a:p>
            <a:pPr marL="0" indent="0" algn="just">
              <a:buNone/>
            </a:pPr>
            <a:endParaRPr lang="lv-LV" dirty="0"/>
          </a:p>
          <a:p>
            <a:pPr marL="0" indent="0" algn="just">
              <a:buNone/>
            </a:pPr>
            <a:endParaRPr lang="lv-LV" dirty="0"/>
          </a:p>
          <a:p>
            <a:pPr marL="0" indent="0">
              <a:buNone/>
            </a:pPr>
            <a:r>
              <a:rPr lang="en-US" dirty="0"/>
              <a:t>and change the address to:
http://localhost:8080/</a:t>
            </a:r>
            <a:r>
              <a:rPr lang="lv-LV" dirty="0" err="1"/>
              <a:t>Comment</a:t>
            </a:r>
            <a:r>
              <a:rPr lang="en-US" dirty="0"/>
              <a:t>Form.html. </a:t>
            </a:r>
          </a:p>
          <a:p>
            <a:pPr marL="0" indent="0">
              <a:buNone/>
            </a:pPr>
            <a:r>
              <a:rPr lang="lv-LV" dirty="0"/>
              <a:t>F</a:t>
            </a:r>
            <a:r>
              <a:rPr lang="en-US" dirty="0"/>
              <a:t>ill in the fields and send to the database. Then, </a:t>
            </a:r>
            <a:r>
              <a:rPr lang="lv-LV" dirty="0" err="1"/>
              <a:t>open</a:t>
            </a:r>
            <a:r>
              <a:rPr lang="en-US" dirty="0"/>
              <a:t> the phpMyAdmin, </a:t>
            </a:r>
            <a:r>
              <a:rPr lang="lv-LV" dirty="0" err="1"/>
              <a:t>and</a:t>
            </a:r>
            <a:r>
              <a:rPr lang="lv-LV" dirty="0"/>
              <a:t> </a:t>
            </a:r>
            <a:r>
              <a:rPr lang="lv-LV" dirty="0" err="1"/>
              <a:t>check</a:t>
            </a:r>
            <a:r>
              <a:rPr lang="en-US" dirty="0"/>
              <a:t> at the database – whether the data has reached the table.
</a:t>
            </a:r>
          </a:p>
          <a:p>
            <a:pPr marL="0" indent="0" algn="just">
              <a:buNone/>
            </a:pPr>
            <a:endParaRPr lang="en-US" dirty="0"/>
          </a:p>
        </p:txBody>
      </p:sp>
      <p:pic>
        <p:nvPicPr>
          <p:cNvPr id="11266" name="Picture 2">
            <a:extLst>
              <a:ext uri="{FF2B5EF4-FFF2-40B4-BE49-F238E27FC236}">
                <a16:creationId xmlns:a16="http://schemas.microsoft.com/office/drawing/2014/main" id="{038E9AA6-B5E1-4690-8C40-1738BDA6A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6615" y="2282742"/>
            <a:ext cx="36099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5955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491916"/>
            <a:ext cx="7886700" cy="4685047"/>
          </a:xfrm>
        </p:spPr>
        <p:txBody>
          <a:bodyPr/>
          <a:lstStyle/>
          <a:p>
            <a:pPr marL="0" indent="0" algn="just">
              <a:buNone/>
            </a:pPr>
            <a:r>
              <a:rPr lang="en-US" b="0" i="0" dirty="0">
                <a:solidFill>
                  <a:srgbClr val="202124"/>
                </a:solidFill>
                <a:effectLst/>
                <a:latin typeface="Google Sans"/>
              </a:rPr>
              <a:t>Queries can be created using the Search view, for example, to search only those guestbook entries made on March 30, 2021.</a:t>
            </a:r>
            <a:endParaRPr lang="en-US" dirty="0"/>
          </a:p>
        </p:txBody>
      </p:sp>
      <p:pic>
        <p:nvPicPr>
          <p:cNvPr id="5" name="Picture 4" descr="Graphical user interface&#10;&#10;Description automatically generated">
            <a:extLst>
              <a:ext uri="{FF2B5EF4-FFF2-40B4-BE49-F238E27FC236}">
                <a16:creationId xmlns:a16="http://schemas.microsoft.com/office/drawing/2014/main" id="{8F399C8E-D464-48A9-B3B6-4347C3297C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367" y="2820761"/>
            <a:ext cx="6771834" cy="3672113"/>
          </a:xfrm>
          <a:prstGeom prst="rect">
            <a:avLst/>
          </a:prstGeom>
        </p:spPr>
      </p:pic>
    </p:spTree>
    <p:extLst>
      <p:ext uri="{BB962C8B-B14F-4D97-AF65-F5344CB8AC3E}">
        <p14:creationId xmlns:p14="http://schemas.microsoft.com/office/powerpoint/2010/main" val="3516021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491916"/>
            <a:ext cx="7886700" cy="4685047"/>
          </a:xfrm>
        </p:spPr>
        <p:txBody>
          <a:bodyPr/>
          <a:lstStyle/>
          <a:p>
            <a:pPr marL="0" indent="0" algn="just">
              <a:buNone/>
            </a:pPr>
            <a:r>
              <a:rPr lang="en-US" dirty="0"/>
              <a:t>You can then find in the SQL view that the actions you made have been converted into SQL language  commands. SQL commands can also be written by hand, saved, edited, re-executed.</a:t>
            </a:r>
          </a:p>
        </p:txBody>
      </p:sp>
      <p:pic>
        <p:nvPicPr>
          <p:cNvPr id="6" name="Picture 5" descr="Graphical user interface, application&#10;&#10;Description automatically generated">
            <a:extLst>
              <a:ext uri="{FF2B5EF4-FFF2-40B4-BE49-F238E27FC236}">
                <a16:creationId xmlns:a16="http://schemas.microsoft.com/office/drawing/2014/main" id="{47F8E042-D5B5-4115-B365-6DCC555BE9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9811" y="3139606"/>
            <a:ext cx="5744377" cy="3353268"/>
          </a:xfrm>
          <a:prstGeom prst="rect">
            <a:avLst/>
          </a:prstGeom>
        </p:spPr>
      </p:pic>
    </p:spTree>
    <p:extLst>
      <p:ext uri="{BB962C8B-B14F-4D97-AF65-F5344CB8AC3E}">
        <p14:creationId xmlns:p14="http://schemas.microsoft.com/office/powerpoint/2010/main" val="3377369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0" indent="0" algn="just">
              <a:buNone/>
            </a:pPr>
            <a:r>
              <a:rPr lang="en-US" dirty="0"/>
              <a:t>If you have created a GUESTS table with the data shown in the picture, then we can request, for example, data about some specific author or some specific date.
</a:t>
            </a:r>
          </a:p>
        </p:txBody>
      </p:sp>
      <p:pic>
        <p:nvPicPr>
          <p:cNvPr id="5" name="Picture 4" descr="Graphical user interface, table&#10;&#10;Description automatically generated">
            <a:extLst>
              <a:ext uri="{FF2B5EF4-FFF2-40B4-BE49-F238E27FC236}">
                <a16:creationId xmlns:a16="http://schemas.microsoft.com/office/drawing/2014/main" id="{8C57BC16-5F74-44B1-AD37-A3D3F0B2B30E}"/>
              </a:ext>
            </a:extLst>
          </p:cNvPr>
          <p:cNvPicPr>
            <a:picLocks noChangeAspect="1"/>
          </p:cNvPicPr>
          <p:nvPr/>
        </p:nvPicPr>
        <p:blipFill rotWithShape="1">
          <a:blip r:embed="rId2">
            <a:extLst>
              <a:ext uri="{28A0092B-C50C-407E-A947-70E740481C1C}">
                <a14:useLocalDpi xmlns:a14="http://schemas.microsoft.com/office/drawing/2010/main" val="0"/>
              </a:ext>
            </a:extLst>
          </a:blip>
          <a:srcRect l="45291"/>
          <a:stretch/>
        </p:blipFill>
        <p:spPr>
          <a:xfrm>
            <a:off x="2577784" y="3886576"/>
            <a:ext cx="3725237" cy="1939027"/>
          </a:xfrm>
          <a:prstGeom prst="rect">
            <a:avLst/>
          </a:prstGeom>
        </p:spPr>
      </p:pic>
    </p:spTree>
    <p:extLst>
      <p:ext uri="{BB962C8B-B14F-4D97-AF65-F5344CB8AC3E}">
        <p14:creationId xmlns:p14="http://schemas.microsoft.com/office/powerpoint/2010/main" val="2427669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0" indent="0">
              <a:buNone/>
            </a:pPr>
            <a:r>
              <a:rPr lang="en-US" dirty="0"/>
              <a:t>In PhpMyAdmin, data queries can be made in SQL, Search, and Query sections.</a:t>
            </a:r>
          </a:p>
        </p:txBody>
      </p:sp>
      <p:pic>
        <p:nvPicPr>
          <p:cNvPr id="15364" name="Picture 4">
            <a:extLst>
              <a:ext uri="{FF2B5EF4-FFF2-40B4-BE49-F238E27FC236}">
                <a16:creationId xmlns:a16="http://schemas.microsoft.com/office/drawing/2014/main" id="{479E988B-C739-4671-AFCB-18FB2B80A3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2808"/>
          <a:stretch/>
        </p:blipFill>
        <p:spPr bwMode="auto">
          <a:xfrm>
            <a:off x="698728" y="2921753"/>
            <a:ext cx="7554532" cy="593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8745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0" indent="0" algn="just">
              <a:buNone/>
            </a:pPr>
            <a:r>
              <a:rPr lang="en-US" dirty="0"/>
              <a:t>Let's create a query based on a sample that selects all the author’s 'me' entries. By clicking </a:t>
            </a:r>
            <a:r>
              <a:rPr lang="en-US" i="1" dirty="0"/>
              <a:t>Query</a:t>
            </a:r>
            <a:r>
              <a:rPr lang="en-US" dirty="0"/>
              <a:t>, we select the data we want to see – name and comment. 
</a:t>
            </a:r>
            <a:r>
              <a:rPr lang="lv-LV" dirty="0"/>
              <a:t> </a:t>
            </a:r>
          </a:p>
        </p:txBody>
      </p:sp>
      <p:pic>
        <p:nvPicPr>
          <p:cNvPr id="5" name="Picture 4" descr="Graphical user interface&#10;&#10;Description automatically generated">
            <a:extLst>
              <a:ext uri="{FF2B5EF4-FFF2-40B4-BE49-F238E27FC236}">
                <a16:creationId xmlns:a16="http://schemas.microsoft.com/office/drawing/2014/main" id="{E51BE757-1554-42E2-AC48-B57E07A3EE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4853" y="3252020"/>
            <a:ext cx="6708667" cy="3422098"/>
          </a:xfrm>
          <a:prstGeom prst="rect">
            <a:avLst/>
          </a:prstGeom>
        </p:spPr>
      </p:pic>
    </p:spTree>
    <p:extLst>
      <p:ext uri="{BB962C8B-B14F-4D97-AF65-F5344CB8AC3E}">
        <p14:creationId xmlns:p14="http://schemas.microsoft.com/office/powerpoint/2010/main" val="2340051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152400" y="1690689"/>
            <a:ext cx="3943350" cy="4486274"/>
          </a:xfrm>
        </p:spPr>
        <p:txBody>
          <a:bodyPr>
            <a:normAutofit lnSpcReduction="10000"/>
          </a:bodyPr>
          <a:lstStyle/>
          <a:p>
            <a:pPr marL="0" indent="0" algn="just">
              <a:buNone/>
            </a:pPr>
            <a:r>
              <a:rPr lang="en-US" dirty="0"/>
              <a:t>When the required data is entered, click the "Update Query" button, which converts the query to SQL. When you press the Submit Query button, we will receive either a result or an error message. In case of error, press "Edit" and try to fix the query.
</a:t>
            </a:r>
          </a:p>
        </p:txBody>
      </p:sp>
      <p:pic>
        <p:nvPicPr>
          <p:cNvPr id="5" name="Picture 4" descr="Graphical user interface, application&#10;&#10;Description automatically generated">
            <a:extLst>
              <a:ext uri="{FF2B5EF4-FFF2-40B4-BE49-F238E27FC236}">
                <a16:creationId xmlns:a16="http://schemas.microsoft.com/office/drawing/2014/main" id="{FD3CA0B0-1294-41F9-B26E-AC2982EB054D}"/>
              </a:ext>
            </a:extLst>
          </p:cNvPr>
          <p:cNvPicPr>
            <a:picLocks noChangeAspect="1"/>
          </p:cNvPicPr>
          <p:nvPr/>
        </p:nvPicPr>
        <p:blipFill rotWithShape="1">
          <a:blip r:embed="rId2">
            <a:extLst>
              <a:ext uri="{28A0092B-C50C-407E-A947-70E740481C1C}">
                <a14:useLocalDpi xmlns:a14="http://schemas.microsoft.com/office/drawing/2010/main" val="0"/>
              </a:ext>
            </a:extLst>
          </a:blip>
          <a:srcRect r="3101"/>
          <a:stretch/>
        </p:blipFill>
        <p:spPr>
          <a:xfrm>
            <a:off x="4366657" y="1690689"/>
            <a:ext cx="4394675" cy="4616769"/>
          </a:xfrm>
          <a:prstGeom prst="rect">
            <a:avLst/>
          </a:prstGeom>
        </p:spPr>
      </p:pic>
      <p:pic>
        <p:nvPicPr>
          <p:cNvPr id="7" name="Picture 6" descr="Graphical user interface, application&#10;&#10;Description automatically generated">
            <a:extLst>
              <a:ext uri="{FF2B5EF4-FFF2-40B4-BE49-F238E27FC236}">
                <a16:creationId xmlns:a16="http://schemas.microsoft.com/office/drawing/2014/main" id="{47C27ABD-9F1B-4F07-A580-C38EDF3DEB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032" y="5665159"/>
            <a:ext cx="1295581" cy="543001"/>
          </a:xfrm>
          <a:prstGeom prst="rect">
            <a:avLst/>
          </a:prstGeom>
        </p:spPr>
      </p:pic>
    </p:spTree>
    <p:extLst>
      <p:ext uri="{BB962C8B-B14F-4D97-AF65-F5344CB8AC3E}">
        <p14:creationId xmlns:p14="http://schemas.microsoft.com/office/powerpoint/2010/main" val="2907966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en-US" dirty="0"/>
              <a:t>Practice</a:t>
            </a:r>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0" lvl="0" indent="0">
              <a:buNone/>
            </a:pPr>
            <a:r>
              <a:rPr lang="en-US" dirty="0"/>
              <a:t>Add to the database table records for January, April, July and September 2020.</a:t>
            </a:r>
          </a:p>
          <a:p>
            <a:pPr marL="0" lvl="0" indent="0">
              <a:buNone/>
            </a:pPr>
            <a:r>
              <a:rPr lang="en-US" dirty="0"/>
              <a:t>Create a query that displays only guestbook entries that are between April and July 2020.</a:t>
            </a:r>
          </a:p>
        </p:txBody>
      </p:sp>
    </p:spTree>
    <p:extLst>
      <p:ext uri="{BB962C8B-B14F-4D97-AF65-F5344CB8AC3E}">
        <p14:creationId xmlns:p14="http://schemas.microsoft.com/office/powerpoint/2010/main" val="200624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en-US" dirty="0"/>
              <a:t>Practice</a:t>
            </a:r>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0" indent="0">
              <a:buNone/>
            </a:pPr>
            <a:r>
              <a:rPr lang="en-US" dirty="0"/>
              <a:t>Answer</a:t>
            </a:r>
            <a:r>
              <a:rPr lang="lv-LV" dirty="0"/>
              <a:t>:</a:t>
            </a:r>
          </a:p>
        </p:txBody>
      </p:sp>
      <p:pic>
        <p:nvPicPr>
          <p:cNvPr id="7" name="Picture 6" descr="A picture containing text, screenshot, indoor&#10;&#10;Description automatically generated">
            <a:extLst>
              <a:ext uri="{FF2B5EF4-FFF2-40B4-BE49-F238E27FC236}">
                <a16:creationId xmlns:a16="http://schemas.microsoft.com/office/drawing/2014/main" id="{626E077F-AAFF-4E56-82D5-C0EC9EE7B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562" y="2170784"/>
            <a:ext cx="8802875" cy="3091027"/>
          </a:xfrm>
          <a:prstGeom prst="rect">
            <a:avLst/>
          </a:prstGeom>
        </p:spPr>
      </p:pic>
    </p:spTree>
    <p:extLst>
      <p:ext uri="{BB962C8B-B14F-4D97-AF65-F5344CB8AC3E}">
        <p14:creationId xmlns:p14="http://schemas.microsoft.com/office/powerpoint/2010/main" val="4032851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0" indent="0" algn="just">
              <a:buNone/>
            </a:pPr>
            <a:r>
              <a:rPr lang="en-US" b="1" dirty="0"/>
              <a:t>How do request data through a web page?
</a:t>
            </a:r>
            <a:r>
              <a:rPr lang="en-US" dirty="0"/>
              <a:t>You need to use some programming language, for instance php, that allows you to use </a:t>
            </a:r>
            <a:r>
              <a:rPr lang="en-US" dirty="0" err="1"/>
              <a:t>sql</a:t>
            </a:r>
            <a:r>
              <a:rPr lang="en-US" dirty="0"/>
              <a:t> constructions. An example is given in </a:t>
            </a:r>
            <a:r>
              <a:rPr lang="en-US" dirty="0" err="1"/>
              <a:t>fromDB.php</a:t>
            </a:r>
            <a:r>
              <a:rPr lang="en-US" dirty="0"/>
              <a:t>, which requests all data from the GUESTS table, but shows only two fields of data - name and comment.</a:t>
            </a:r>
          </a:p>
        </p:txBody>
      </p:sp>
    </p:spTree>
    <p:extLst>
      <p:ext uri="{BB962C8B-B14F-4D97-AF65-F5344CB8AC3E}">
        <p14:creationId xmlns:p14="http://schemas.microsoft.com/office/powerpoint/2010/main" val="2549114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612232"/>
            <a:ext cx="7886700" cy="5061284"/>
          </a:xfrm>
        </p:spPr>
        <p:txBody>
          <a:bodyPr>
            <a:normAutofit/>
          </a:bodyPr>
          <a:lstStyle/>
          <a:p>
            <a:pPr marL="514350" lvl="0" indent="-514350">
              <a:lnSpc>
                <a:spcPct val="120000"/>
              </a:lnSpc>
              <a:buFont typeface="+mj-lt"/>
              <a:buAutoNum type="arabicPeriod"/>
            </a:pPr>
            <a:r>
              <a:rPr lang="en-US" sz="2000" dirty="0"/>
              <a:t>Copy file </a:t>
            </a:r>
            <a:r>
              <a:rPr lang="en-US" sz="2000" dirty="0" err="1"/>
              <a:t>fromDB.php</a:t>
            </a:r>
            <a:r>
              <a:rPr lang="en-US" sz="2000" dirty="0"/>
              <a:t> from a given folder to your web folder (root). 
Make the necessary changes to the copied file to connect to the database (username, password, database name)</a:t>
            </a:r>
          </a:p>
          <a:p>
            <a:pPr marL="514350" lvl="0" indent="-514350">
              <a:lnSpc>
                <a:spcPct val="120000"/>
              </a:lnSpc>
              <a:buFont typeface="+mj-lt"/>
              <a:buAutoNum type="arabicPeriod"/>
            </a:pPr>
            <a:r>
              <a:rPr lang="en-US" sz="2000" dirty="0"/>
              <a:t>Check the result at </a:t>
            </a:r>
            <a:r>
              <a:rPr lang="en-US" sz="2000" i="1" dirty="0"/>
              <a:t>http://localhost:8080/fromDB.php</a:t>
            </a:r>
            <a:r>
              <a:rPr lang="en-US" sz="2000" dirty="0"/>
              <a:t>. All records in the database should be visible.</a:t>
            </a:r>
          </a:p>
        </p:txBody>
      </p:sp>
    </p:spTree>
    <p:extLst>
      <p:ext uri="{BB962C8B-B14F-4D97-AF65-F5344CB8AC3E}">
        <p14:creationId xmlns:p14="http://schemas.microsoft.com/office/powerpoint/2010/main" val="364412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r>
              <a:rPr lang="en-US" dirty="0"/>
              <a:t> - Practice</a:t>
            </a:r>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612232"/>
            <a:ext cx="7886700" cy="5061284"/>
          </a:xfrm>
        </p:spPr>
        <p:txBody>
          <a:bodyPr>
            <a:normAutofit/>
          </a:bodyPr>
          <a:lstStyle/>
          <a:p>
            <a:pPr marL="514350" lvl="0" indent="-514350">
              <a:lnSpc>
                <a:spcPct val="120000"/>
              </a:lnSpc>
              <a:buFont typeface="+mj-lt"/>
              <a:buAutoNum type="arabicPeriod"/>
            </a:pPr>
            <a:r>
              <a:rPr lang="en-US" sz="2000" dirty="0"/>
              <a:t>Change the </a:t>
            </a:r>
            <a:r>
              <a:rPr lang="en-US" sz="2000" dirty="0" err="1"/>
              <a:t>fromDB.php</a:t>
            </a:r>
            <a:r>
              <a:rPr lang="en-US" sz="2000" dirty="0"/>
              <a:t> file by replacing the existing </a:t>
            </a:r>
            <a:r>
              <a:rPr lang="en-US" sz="2000" dirty="0" err="1"/>
              <a:t>sql</a:t>
            </a:r>
            <a:r>
              <a:rPr lang="en-US" sz="2000" dirty="0"/>
              <a:t> query with the query that selects “me” author records.</a:t>
            </a:r>
            <a:r>
              <a:rPr lang="lv-LV" sz="2000" dirty="0"/>
              <a:t> </a:t>
            </a:r>
            <a:endParaRPr lang="en-US" sz="2000" dirty="0"/>
          </a:p>
          <a:p>
            <a:pPr marL="514350" lvl="0" indent="-514350">
              <a:lnSpc>
                <a:spcPct val="120000"/>
              </a:lnSpc>
              <a:buFont typeface="+mj-lt"/>
              <a:buAutoNum type="arabicPeriod"/>
            </a:pPr>
            <a:r>
              <a:rPr lang="en-US" sz="2000" dirty="0"/>
              <a:t>Check the result at </a:t>
            </a:r>
            <a:r>
              <a:rPr lang="en-US" sz="2000" i="1" dirty="0"/>
              <a:t>http://localhost:8080/fromDB.php</a:t>
            </a:r>
            <a:r>
              <a:rPr lang="en-US" sz="2000" dirty="0"/>
              <a:t>. Should be visible only database records that have the author name "me" .</a:t>
            </a:r>
          </a:p>
          <a:p>
            <a:pPr marL="514350" lvl="0" indent="-514350">
              <a:lnSpc>
                <a:spcPct val="120000"/>
              </a:lnSpc>
              <a:buFont typeface="+mj-lt"/>
              <a:buAutoNum type="arabicPeriod"/>
            </a:pPr>
            <a:r>
              <a:rPr lang="en-US" sz="2000" dirty="0"/>
              <a:t>Modify the </a:t>
            </a:r>
            <a:r>
              <a:rPr lang="en-US" sz="2000" dirty="0" err="1"/>
              <a:t>fromDB.php</a:t>
            </a:r>
            <a:r>
              <a:rPr lang="en-US" sz="2000" dirty="0"/>
              <a:t> file to display also a date field. Check the result at </a:t>
            </a:r>
            <a:r>
              <a:rPr lang="en-US" sz="2000" i="1" dirty="0"/>
              <a:t>http://localhost:8080/fromDB.php</a:t>
            </a:r>
            <a:endParaRPr lang="en-US" sz="2000" dirty="0"/>
          </a:p>
        </p:txBody>
      </p:sp>
    </p:spTree>
    <p:extLst>
      <p:ext uri="{BB962C8B-B14F-4D97-AF65-F5344CB8AC3E}">
        <p14:creationId xmlns:p14="http://schemas.microsoft.com/office/powerpoint/2010/main" val="2978759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0" indent="0" algn="just">
              <a:buNone/>
            </a:pPr>
            <a:r>
              <a:rPr lang="en-US" dirty="0"/>
              <a:t>It would be good not to have to edit the program code to be able to change the query parameter.</a:t>
            </a:r>
          </a:p>
          <a:p>
            <a:pPr marL="0" indent="0" algn="just">
              <a:buNone/>
            </a:pPr>
            <a:r>
              <a:rPr lang="en-US" dirty="0"/>
              <a:t>Therefore, let’s change the  </a:t>
            </a:r>
            <a:r>
              <a:rPr lang="en-US" dirty="0" err="1"/>
              <a:t>fromDB.php</a:t>
            </a:r>
            <a:r>
              <a:rPr lang="en-US" dirty="0"/>
              <a:t> file so that instead of the specific requested data there is a reference to the variable.</a:t>
            </a:r>
          </a:p>
          <a:p>
            <a:pPr marL="0" indent="0" algn="just">
              <a:buNone/>
            </a:pPr>
            <a:r>
              <a:rPr lang="en-US" dirty="0"/>
              <a:t>At place where we ask for WHERE ‘name’ like ‘me’, we will put WHERE ‘name’ like ‘$who’, but the value of the </a:t>
            </a:r>
            <a:r>
              <a:rPr lang="en-US" i="1" dirty="0"/>
              <a:t>$who </a:t>
            </a:r>
            <a:r>
              <a:rPr lang="en-US" dirty="0"/>
              <a:t>will be obtained by sending data from the web form.</a:t>
            </a:r>
          </a:p>
        </p:txBody>
      </p:sp>
    </p:spTree>
    <p:extLst>
      <p:ext uri="{BB962C8B-B14F-4D97-AF65-F5344CB8AC3E}">
        <p14:creationId xmlns:p14="http://schemas.microsoft.com/office/powerpoint/2010/main" val="15726598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a:xfrm>
            <a:off x="628650" y="172086"/>
            <a:ext cx="7886700" cy="1325563"/>
          </a:xfrm>
        </p:spPr>
        <p:txBody>
          <a:bodyPr/>
          <a:lstStyle/>
          <a:p>
            <a:pPr algn="ctr"/>
            <a:r>
              <a:rPr lang="lv-LV" dirty="0" err="1"/>
              <a:t>Web</a:t>
            </a:r>
            <a:r>
              <a:rPr lang="lv-LV" dirty="0"/>
              <a:t> Server - </a:t>
            </a:r>
            <a:r>
              <a:rPr lang="lv-LV" dirty="0" err="1"/>
              <a:t>Queries</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256632"/>
            <a:ext cx="7886700" cy="5061284"/>
          </a:xfrm>
        </p:spPr>
        <p:txBody>
          <a:bodyPr>
            <a:normAutofit/>
          </a:bodyPr>
          <a:lstStyle/>
          <a:p>
            <a:pPr marL="514350" lvl="0" indent="-514350">
              <a:lnSpc>
                <a:spcPct val="120000"/>
              </a:lnSpc>
              <a:buFont typeface="+mj-lt"/>
              <a:buAutoNum type="arabicPeriod"/>
            </a:pPr>
            <a:r>
              <a:rPr lang="en-US" sz="1800" dirty="0"/>
              <a:t>In your web folder (root) get a copy of </a:t>
            </a:r>
            <a:r>
              <a:rPr lang="en-US" sz="1800" i="1" dirty="0" err="1"/>
              <a:t>fromDB.php</a:t>
            </a:r>
            <a:r>
              <a:rPr lang="en-US" sz="1800" i="1" dirty="0"/>
              <a:t> </a:t>
            </a:r>
            <a:r>
              <a:rPr lang="en-US" sz="1800" dirty="0"/>
              <a:t>file, rename it to </a:t>
            </a:r>
            <a:r>
              <a:rPr lang="en-US" sz="1800" i="1" dirty="0" err="1"/>
              <a:t>fromDBfromForm.php</a:t>
            </a:r>
            <a:r>
              <a:rPr lang="en-US" sz="1800" dirty="0"/>
              <a:t>.</a:t>
            </a:r>
            <a:r>
              <a:rPr lang="lv-LV" sz="1800" dirty="0"/>
              <a:t> </a:t>
            </a:r>
            <a:endParaRPr lang="en-US" sz="1800" dirty="0"/>
          </a:p>
          <a:p>
            <a:pPr marL="514350" lvl="0" indent="-514350">
              <a:lnSpc>
                <a:spcPct val="120000"/>
              </a:lnSpc>
              <a:buFont typeface="+mj-lt"/>
              <a:buAutoNum type="arabicPeriod"/>
            </a:pPr>
            <a:r>
              <a:rPr lang="en-US" sz="1800" dirty="0"/>
              <a:t>In the  </a:t>
            </a:r>
            <a:r>
              <a:rPr lang="en-US" sz="1800" i="1" dirty="0" err="1"/>
              <a:t>fromDBfromForm.php</a:t>
            </a:r>
            <a:r>
              <a:rPr lang="en-US" sz="1800" i="1" dirty="0"/>
              <a:t> </a:t>
            </a:r>
            <a:r>
              <a:rPr lang="en-US" sz="1800" dirty="0"/>
              <a:t>file replace WHERE 'name' like 'me' with WHERE 'name' like '$who'.</a:t>
            </a:r>
          </a:p>
          <a:p>
            <a:pPr marL="514350" lvl="0" indent="-514350">
              <a:lnSpc>
                <a:spcPct val="120000"/>
              </a:lnSpc>
              <a:buFont typeface="+mj-lt"/>
              <a:buAutoNum type="arabicPeriod"/>
            </a:pPr>
            <a:r>
              <a:rPr lang="en-US" sz="1800" dirty="0"/>
              <a:t>Using a sample from the </a:t>
            </a:r>
            <a:r>
              <a:rPr lang="en-US" sz="1800" dirty="0" err="1"/>
              <a:t>toDB.php</a:t>
            </a:r>
            <a:r>
              <a:rPr lang="en-US" sz="1800" dirty="0"/>
              <a:t> file, add necessary code to the  </a:t>
            </a:r>
            <a:r>
              <a:rPr lang="en-US" sz="1800" i="1" dirty="0" err="1"/>
              <a:t>fromDBfromForm.php</a:t>
            </a:r>
            <a:r>
              <a:rPr lang="en-US" sz="1800" i="1" dirty="0"/>
              <a:t> </a:t>
            </a:r>
            <a:r>
              <a:rPr lang="en-US" sz="1800" dirty="0"/>
              <a:t>file, and using the POST method, request data from the DB using the input field 'who’ value.</a:t>
            </a:r>
          </a:p>
          <a:p>
            <a:pPr marL="514350" indent="-514350">
              <a:lnSpc>
                <a:spcPct val="120000"/>
              </a:lnSpc>
              <a:buFont typeface="+mj-lt"/>
              <a:buAutoNum type="arabicPeriod"/>
            </a:pPr>
            <a:r>
              <a:rPr lang="en-US" sz="1800" dirty="0"/>
              <a:t>Create the form shown in the example. Set the Action URL of the form parameter to </a:t>
            </a:r>
            <a:r>
              <a:rPr lang="en-US" sz="1800" i="1" dirty="0" err="1"/>
              <a:t>fromDBfromForm.php</a:t>
            </a:r>
            <a:r>
              <a:rPr lang="en-US" sz="1800" dirty="0"/>
              <a:t>, and the input field name to 'what'. Save the result to a web folder (root) using </a:t>
            </a:r>
            <a:r>
              <a:rPr lang="en-US" sz="1800" i="1" dirty="0"/>
              <a:t>QueryForm.html </a:t>
            </a:r>
            <a:r>
              <a:rPr lang="en-US" sz="1800" dirty="0"/>
              <a:t>name.</a:t>
            </a:r>
          </a:p>
          <a:p>
            <a:pPr marL="514350" indent="-514350">
              <a:lnSpc>
                <a:spcPct val="120000"/>
              </a:lnSpc>
              <a:buFont typeface="+mj-lt"/>
              <a:buAutoNum type="arabicPeriod"/>
            </a:pPr>
            <a:r>
              <a:rPr lang="en-US" sz="1800" dirty="0"/>
              <a:t>Check the result at </a:t>
            </a:r>
            <a:r>
              <a:rPr lang="en-US" sz="1800" i="1" dirty="0"/>
              <a:t>http://localhost:8080/</a:t>
            </a:r>
            <a:r>
              <a:rPr lang="lv-LV" sz="1800" i="1" dirty="0"/>
              <a:t>QueryForm.html</a:t>
            </a:r>
            <a:endParaRPr lang="en-US" sz="1800" dirty="0"/>
          </a:p>
        </p:txBody>
      </p:sp>
      <p:pic>
        <p:nvPicPr>
          <p:cNvPr id="5" name="Picture 4" descr="Graphical user interface, application, table&#10;&#10;Description automatically generated">
            <a:extLst>
              <a:ext uri="{FF2B5EF4-FFF2-40B4-BE49-F238E27FC236}">
                <a16:creationId xmlns:a16="http://schemas.microsoft.com/office/drawing/2014/main" id="{B56DDE04-2031-4624-8E78-69ADC3E438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5120" y="5445124"/>
            <a:ext cx="3367991" cy="1412876"/>
          </a:xfrm>
          <a:prstGeom prst="rect">
            <a:avLst/>
          </a:prstGeom>
        </p:spPr>
      </p:pic>
    </p:spTree>
    <p:extLst>
      <p:ext uri="{BB962C8B-B14F-4D97-AF65-F5344CB8AC3E}">
        <p14:creationId xmlns:p14="http://schemas.microsoft.com/office/powerpoint/2010/main" val="4267628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en-US" dirty="0"/>
              <a:t>Practice</a:t>
            </a:r>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514350" lvl="0" indent="-514350" algn="just">
              <a:buFont typeface="+mj-lt"/>
              <a:buAutoNum type="arabicPeriod"/>
            </a:pPr>
            <a:r>
              <a:rPr lang="en-US" dirty="0"/>
              <a:t>Copy your file </a:t>
            </a:r>
            <a:r>
              <a:rPr lang="en-US" i="1" dirty="0" err="1"/>
              <a:t>fromDBfromForm.php</a:t>
            </a:r>
            <a:r>
              <a:rPr lang="en-US" dirty="0"/>
              <a:t>, rename it to </a:t>
            </a:r>
            <a:r>
              <a:rPr lang="en-US" i="1" dirty="0" err="1"/>
              <a:t>fromDBdate.php</a:t>
            </a:r>
            <a:r>
              <a:rPr lang="en-US" i="1" dirty="0"/>
              <a:t> </a:t>
            </a:r>
            <a:r>
              <a:rPr lang="en-US" dirty="0"/>
              <a:t>and modify it to get the records between 2 dates. Start and end dates would be assigned as variables </a:t>
            </a:r>
            <a:r>
              <a:rPr lang="en-US" i="1" dirty="0"/>
              <a:t>$from </a:t>
            </a:r>
            <a:r>
              <a:rPr lang="en-US" dirty="0"/>
              <a:t>and </a:t>
            </a:r>
            <a:r>
              <a:rPr lang="en-US" i="1" dirty="0"/>
              <a:t>$to</a:t>
            </a:r>
            <a:r>
              <a:rPr lang="en-US" dirty="0"/>
              <a:t>.
Create a form with two input fields </a:t>
            </a:r>
            <a:r>
              <a:rPr lang="en-US" i="1" dirty="0"/>
              <a:t>from</a:t>
            </a:r>
            <a:r>
              <a:rPr lang="en-US" dirty="0"/>
              <a:t> and </a:t>
            </a:r>
            <a:r>
              <a:rPr lang="en-US" i="1" dirty="0"/>
              <a:t>to,</a:t>
            </a:r>
            <a:r>
              <a:rPr lang="en-US" dirty="0"/>
              <a:t> the start and end date entries. Attach to the form </a:t>
            </a:r>
            <a:r>
              <a:rPr lang="en-US" dirty="0" err="1"/>
              <a:t>fromDBdate.php</a:t>
            </a:r>
            <a:r>
              <a:rPr lang="en-US" dirty="0"/>
              <a:t> file.</a:t>
            </a:r>
          </a:p>
        </p:txBody>
      </p:sp>
    </p:spTree>
    <p:extLst>
      <p:ext uri="{BB962C8B-B14F-4D97-AF65-F5344CB8AC3E}">
        <p14:creationId xmlns:p14="http://schemas.microsoft.com/office/powerpoint/2010/main" val="3816236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lv-LV" dirty="0" err="1"/>
              <a:t>Data</a:t>
            </a:r>
            <a:r>
              <a:rPr lang="lv-LV" dirty="0"/>
              <a:t> import</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pPr marL="0" indent="0" algn="just">
              <a:buNone/>
            </a:pPr>
            <a:r>
              <a:rPr lang="en-US" dirty="0"/>
              <a:t>Create a new table </a:t>
            </a:r>
            <a:r>
              <a:rPr lang="lv-LV" dirty="0" err="1"/>
              <a:t>nameDay</a:t>
            </a:r>
            <a:r>
              <a:rPr lang="lv-LV" dirty="0"/>
              <a:t> </a:t>
            </a:r>
            <a:r>
              <a:rPr lang="en-US" dirty="0"/>
              <a:t>with 3 fields (name, </a:t>
            </a:r>
            <a:r>
              <a:rPr lang="en-US" dirty="0" err="1"/>
              <a:t>ndate</a:t>
            </a:r>
            <a:r>
              <a:rPr lang="en-US" dirty="0"/>
              <a:t>, </a:t>
            </a:r>
            <a:r>
              <a:rPr lang="en-US" dirty="0" err="1"/>
              <a:t>nmonth</a:t>
            </a:r>
            <a:r>
              <a:rPr lang="en-US" dirty="0"/>
              <a:t>) in your database. Set the </a:t>
            </a:r>
            <a:r>
              <a:rPr lang="en-US" i="1" dirty="0"/>
              <a:t>name</a:t>
            </a:r>
            <a:r>
              <a:rPr lang="en-US" dirty="0"/>
              <a:t> field by the unique key field.
</a:t>
            </a:r>
          </a:p>
        </p:txBody>
      </p:sp>
      <p:pic>
        <p:nvPicPr>
          <p:cNvPr id="5" name="Picture 4" descr="Graphical user interface&#10;&#10;Description automatically generated">
            <a:extLst>
              <a:ext uri="{FF2B5EF4-FFF2-40B4-BE49-F238E27FC236}">
                <a16:creationId xmlns:a16="http://schemas.microsoft.com/office/drawing/2014/main" id="{C6E73A1E-0277-4E42-86E4-2F9CE46D37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66538"/>
            <a:ext cx="9144000" cy="2682044"/>
          </a:xfrm>
          <a:prstGeom prst="rect">
            <a:avLst/>
          </a:prstGeom>
        </p:spPr>
      </p:pic>
    </p:spTree>
    <p:extLst>
      <p:ext uri="{BB962C8B-B14F-4D97-AF65-F5344CB8AC3E}">
        <p14:creationId xmlns:p14="http://schemas.microsoft.com/office/powerpoint/2010/main" val="37505368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a:xfrm>
            <a:off x="628650" y="60326"/>
            <a:ext cx="7886700" cy="1325563"/>
          </a:xfrm>
        </p:spPr>
        <p:txBody>
          <a:bodyPr/>
          <a:lstStyle/>
          <a:p>
            <a:pPr algn="ctr"/>
            <a:r>
              <a:rPr lang="lv-LV" dirty="0" err="1"/>
              <a:t>Data</a:t>
            </a:r>
            <a:r>
              <a:rPr lang="lv-LV" dirty="0"/>
              <a:t> import</a:t>
            </a:r>
            <a:endParaRPr lang="en-US" dirty="0"/>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277477" y="1596188"/>
            <a:ext cx="3460333" cy="4896685"/>
          </a:xfrm>
        </p:spPr>
        <p:txBody>
          <a:bodyPr>
            <a:normAutofit lnSpcReduction="10000"/>
          </a:bodyPr>
          <a:lstStyle/>
          <a:p>
            <a:r>
              <a:rPr lang="en-US" sz="2400" dirty="0"/>
              <a:t>Import data from the names.txt file located in the MySQL folder.</a:t>
            </a:r>
          </a:p>
          <a:p>
            <a:r>
              <a:rPr lang="en-US" sz="2400" dirty="0"/>
              <a:t>In the import window, choose the correct data Format (CSV), </a:t>
            </a:r>
            <a:r>
              <a:rPr lang="en-US" sz="2400" i="1" dirty="0"/>
              <a:t>data field separator </a:t>
            </a:r>
            <a:r>
              <a:rPr lang="en-US" sz="2400" dirty="0"/>
              <a:t>(comma), delete anything from </a:t>
            </a:r>
            <a:r>
              <a:rPr lang="en-US" sz="2400" i="1" dirty="0"/>
              <a:t>Columns enclosed with </a:t>
            </a:r>
            <a:r>
              <a:rPr lang="en-US" sz="2400" dirty="0"/>
              <a:t>field and set </a:t>
            </a:r>
            <a:r>
              <a:rPr lang="en-US" sz="2400" i="1" dirty="0"/>
              <a:t>Columns escaped with field </a:t>
            </a:r>
            <a:r>
              <a:rPr lang="en-US" sz="2400" dirty="0"/>
              <a:t>to \.</a:t>
            </a:r>
          </a:p>
          <a:p>
            <a:r>
              <a:rPr lang="en-US" sz="2400" dirty="0"/>
              <a:t>If the import completes successfully, you will see a message about 5095 added rows.</a:t>
            </a:r>
          </a:p>
        </p:txBody>
      </p:sp>
      <p:pic>
        <p:nvPicPr>
          <p:cNvPr id="5" name="Picture 4" descr="Graphical user interface, text, application, email&#10;&#10;Description automatically generated">
            <a:extLst>
              <a:ext uri="{FF2B5EF4-FFF2-40B4-BE49-F238E27FC236}">
                <a16:creationId xmlns:a16="http://schemas.microsoft.com/office/drawing/2014/main" id="{6120A2E5-04BE-45B7-A9D3-1E3E55DABE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627" y="1087120"/>
            <a:ext cx="5220373" cy="5374640"/>
          </a:xfrm>
          <a:prstGeom prst="rect">
            <a:avLst/>
          </a:prstGeom>
        </p:spPr>
      </p:pic>
      <p:pic>
        <p:nvPicPr>
          <p:cNvPr id="7" name="Picture 6">
            <a:extLst>
              <a:ext uri="{FF2B5EF4-FFF2-40B4-BE49-F238E27FC236}">
                <a16:creationId xmlns:a16="http://schemas.microsoft.com/office/drawing/2014/main" id="{F30D422D-1991-4E75-8008-544DE89B7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93" y="6421700"/>
            <a:ext cx="4591691" cy="390580"/>
          </a:xfrm>
          <a:prstGeom prst="rect">
            <a:avLst/>
          </a:prstGeom>
        </p:spPr>
      </p:pic>
    </p:spTree>
    <p:extLst>
      <p:ext uri="{BB962C8B-B14F-4D97-AF65-F5344CB8AC3E}">
        <p14:creationId xmlns:p14="http://schemas.microsoft.com/office/powerpoint/2010/main" val="4284380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en-US" dirty="0"/>
              <a:t>Practice</a:t>
            </a:r>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596189"/>
            <a:ext cx="7886700" cy="4580774"/>
          </a:xfrm>
        </p:spPr>
        <p:txBody>
          <a:bodyPr/>
          <a:lstStyle/>
          <a:p>
            <a:endParaRPr lang="en-US" dirty="0"/>
          </a:p>
          <a:p>
            <a:pPr marL="457200" indent="-457200">
              <a:buFont typeface="+mj-lt"/>
              <a:buAutoNum type="arabicPeriod"/>
            </a:pPr>
            <a:r>
              <a:rPr lang="en-US" dirty="0"/>
              <a:t>Search the </a:t>
            </a:r>
            <a:r>
              <a:rPr lang="en-US" i="1" dirty="0" err="1"/>
              <a:t>nameDay</a:t>
            </a:r>
            <a:r>
              <a:rPr lang="en-US" dirty="0"/>
              <a:t> table to find out when name day is celebrated by </a:t>
            </a:r>
            <a:r>
              <a:rPr lang="en-US" dirty="0" err="1"/>
              <a:t>Aiva</a:t>
            </a:r>
            <a:r>
              <a:rPr lang="en-US" dirty="0"/>
              <a:t>. 
Create a query that selects all names ending with ‘a’ (LIKE '%a' criterion).
Create a query that selects all women's names – names with endings ‘a’ or ‘e’.
Create a query that finds all women's names who have name day in March.</a:t>
            </a:r>
          </a:p>
        </p:txBody>
      </p:sp>
    </p:spTree>
    <p:extLst>
      <p:ext uri="{BB962C8B-B14F-4D97-AF65-F5344CB8AC3E}">
        <p14:creationId xmlns:p14="http://schemas.microsoft.com/office/powerpoint/2010/main" val="1334723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en-US" dirty="0"/>
              <a:t>Practice</a:t>
            </a:r>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957136"/>
            <a:ext cx="7886700" cy="4716379"/>
          </a:xfrm>
        </p:spPr>
        <p:txBody>
          <a:bodyPr>
            <a:normAutofit/>
          </a:bodyPr>
          <a:lstStyle/>
          <a:p>
            <a:pPr marL="0" lvl="0" indent="0">
              <a:buNone/>
            </a:pPr>
            <a:r>
              <a:rPr lang="en-US" dirty="0"/>
              <a:t>Create a form that allows you to request someone’s name day date through the Web:
</a:t>
            </a:r>
          </a:p>
        </p:txBody>
      </p:sp>
      <p:pic>
        <p:nvPicPr>
          <p:cNvPr id="5" name="Picture 4" descr="Graphical user interface, text, application&#10;&#10;Description automatically generated">
            <a:extLst>
              <a:ext uri="{FF2B5EF4-FFF2-40B4-BE49-F238E27FC236}">
                <a16:creationId xmlns:a16="http://schemas.microsoft.com/office/drawing/2014/main" id="{1C3FC1C8-DD84-4FBF-8E5D-A46DF30D3A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0255" y="3589161"/>
            <a:ext cx="5347401" cy="2130919"/>
          </a:xfrm>
          <a:prstGeom prst="rect">
            <a:avLst/>
          </a:prstGeom>
        </p:spPr>
      </p:pic>
    </p:spTree>
    <p:extLst>
      <p:ext uri="{BB962C8B-B14F-4D97-AF65-F5344CB8AC3E}">
        <p14:creationId xmlns:p14="http://schemas.microsoft.com/office/powerpoint/2010/main" val="3784055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D90-2E7A-4238-A262-624FFB57A48F}"/>
              </a:ext>
            </a:extLst>
          </p:cNvPr>
          <p:cNvSpPr>
            <a:spLocks noGrp="1"/>
          </p:cNvSpPr>
          <p:nvPr>
            <p:ph type="title"/>
          </p:nvPr>
        </p:nvSpPr>
        <p:spPr/>
        <p:txBody>
          <a:bodyPr/>
          <a:lstStyle/>
          <a:p>
            <a:pPr algn="ctr"/>
            <a:r>
              <a:rPr lang="en-US" dirty="0"/>
              <a:t>Practice</a:t>
            </a:r>
          </a:p>
        </p:txBody>
      </p:sp>
      <p:sp>
        <p:nvSpPr>
          <p:cNvPr id="3" name="Content Placeholder 2">
            <a:extLst>
              <a:ext uri="{FF2B5EF4-FFF2-40B4-BE49-F238E27FC236}">
                <a16:creationId xmlns:a16="http://schemas.microsoft.com/office/drawing/2014/main" id="{4A616149-BE37-4C9A-A650-EDB0352B8D81}"/>
              </a:ext>
            </a:extLst>
          </p:cNvPr>
          <p:cNvSpPr>
            <a:spLocks noGrp="1"/>
          </p:cNvSpPr>
          <p:nvPr>
            <p:ph idx="1"/>
          </p:nvPr>
        </p:nvSpPr>
        <p:spPr>
          <a:xfrm>
            <a:off x="628650" y="1836820"/>
            <a:ext cx="7886700" cy="4716379"/>
          </a:xfrm>
        </p:spPr>
        <p:txBody>
          <a:bodyPr>
            <a:normAutofit fontScale="85000" lnSpcReduction="20000"/>
          </a:bodyPr>
          <a:lstStyle/>
          <a:p>
            <a:endParaRPr lang="en-US" dirty="0"/>
          </a:p>
          <a:p>
            <a:pPr marL="457200" lvl="1" indent="-457200">
              <a:lnSpc>
                <a:spcPct val="120000"/>
              </a:lnSpc>
              <a:buFont typeface="+mj-lt"/>
              <a:buAutoNum type="arabicPeriod"/>
            </a:pPr>
            <a:r>
              <a:rPr lang="en-US" dirty="0"/>
              <a:t>Make a copy from</a:t>
            </a:r>
            <a:r>
              <a:rPr lang="lv-LV" dirty="0"/>
              <a:t> </a:t>
            </a:r>
            <a:r>
              <a:rPr lang="lv-LV" i="1" dirty="0" err="1"/>
              <a:t>fromDBfromForm.php</a:t>
            </a:r>
            <a:r>
              <a:rPr lang="en-US" i="1" dirty="0"/>
              <a:t> </a:t>
            </a:r>
            <a:r>
              <a:rPr lang="en-US" dirty="0"/>
              <a:t>file</a:t>
            </a:r>
            <a:r>
              <a:rPr lang="lv-LV" dirty="0"/>
              <a:t>, </a:t>
            </a:r>
            <a:r>
              <a:rPr lang="en-US" dirty="0"/>
              <a:t>rename it to </a:t>
            </a:r>
            <a:r>
              <a:rPr lang="lv-LV" i="1" dirty="0"/>
              <a:t> </a:t>
            </a:r>
            <a:r>
              <a:rPr lang="en-US" i="1" dirty="0" err="1"/>
              <a:t>fromDBname</a:t>
            </a:r>
            <a:r>
              <a:rPr lang="lv-LV" i="1" dirty="0"/>
              <a:t>.</a:t>
            </a:r>
            <a:r>
              <a:rPr lang="lv-LV" i="1" dirty="0" err="1"/>
              <a:t>php</a:t>
            </a:r>
            <a:endParaRPr lang="en-US" dirty="0"/>
          </a:p>
          <a:p>
            <a:pPr marL="457200" lvl="1" indent="-457200">
              <a:lnSpc>
                <a:spcPct val="120000"/>
              </a:lnSpc>
              <a:buFont typeface="+mj-lt"/>
              <a:buAutoNum type="arabicPeriod"/>
            </a:pPr>
            <a:r>
              <a:rPr lang="en-US" dirty="0"/>
              <a:t>Make changes in</a:t>
            </a:r>
            <a:r>
              <a:rPr lang="lv-LV" dirty="0"/>
              <a:t> </a:t>
            </a:r>
            <a:r>
              <a:rPr lang="en-US" i="1" dirty="0" err="1"/>
              <a:t>fromDBname</a:t>
            </a:r>
            <a:r>
              <a:rPr lang="lv-LV" dirty="0"/>
              <a:t>.</a:t>
            </a:r>
            <a:r>
              <a:rPr lang="lv-LV" i="1" dirty="0" err="1"/>
              <a:t>php</a:t>
            </a:r>
            <a:r>
              <a:rPr lang="lv-LV" dirty="0"/>
              <a:t> </a:t>
            </a:r>
            <a:r>
              <a:rPr lang="en-US" dirty="0"/>
              <a:t>file</a:t>
            </a:r>
            <a:r>
              <a:rPr lang="lv-LV" dirty="0"/>
              <a:t>, </a:t>
            </a:r>
            <a:r>
              <a:rPr lang="en-US" dirty="0"/>
              <a:t>to request data from</a:t>
            </a:r>
            <a:r>
              <a:rPr lang="lv-LV" dirty="0"/>
              <a:t> </a:t>
            </a:r>
            <a:r>
              <a:rPr lang="en-US" i="1" dirty="0" err="1"/>
              <a:t>nameday</a:t>
            </a:r>
            <a:r>
              <a:rPr lang="en-US" i="1" dirty="0"/>
              <a:t> </a:t>
            </a:r>
            <a:r>
              <a:rPr lang="en-US" dirty="0"/>
              <a:t>table</a:t>
            </a:r>
            <a:r>
              <a:rPr lang="lv-LV" dirty="0"/>
              <a:t>:</a:t>
            </a:r>
            <a:endParaRPr lang="en-US" dirty="0"/>
          </a:p>
          <a:p>
            <a:pPr marL="914400" lvl="3" indent="-457200">
              <a:lnSpc>
                <a:spcPct val="120000"/>
              </a:lnSpc>
              <a:buFont typeface="+mj-lt"/>
              <a:buAutoNum type="alphaLcParenR"/>
            </a:pPr>
            <a:r>
              <a:rPr lang="en-US" dirty="0"/>
              <a:t>Change</a:t>
            </a:r>
            <a:r>
              <a:rPr lang="lv-LV" dirty="0"/>
              <a:t> </a:t>
            </a:r>
            <a:r>
              <a:rPr lang="lv-LV" dirty="0" err="1"/>
              <a:t>sql</a:t>
            </a:r>
            <a:r>
              <a:rPr lang="lv-LV" dirty="0"/>
              <a:t> </a:t>
            </a:r>
            <a:r>
              <a:rPr lang="en-US" dirty="0"/>
              <a:t>query code</a:t>
            </a:r>
            <a:r>
              <a:rPr lang="lv-LV" i="1" dirty="0"/>
              <a:t> $</a:t>
            </a:r>
            <a:r>
              <a:rPr lang="lv-LV" i="1" dirty="0" err="1"/>
              <a:t>sql</a:t>
            </a:r>
            <a:r>
              <a:rPr lang="lv-LV" i="1" dirty="0"/>
              <a:t>="SELECT `</a:t>
            </a:r>
            <a:r>
              <a:rPr lang="en-US" i="1" dirty="0" err="1"/>
              <a:t>nameday</a:t>
            </a:r>
            <a:r>
              <a:rPr lang="lv-LV" i="1" dirty="0"/>
              <a:t>`.`</a:t>
            </a:r>
            <a:r>
              <a:rPr lang="en-US" i="1" dirty="0"/>
              <a:t>name</a:t>
            </a:r>
            <a:r>
              <a:rPr lang="lv-LV" i="1" dirty="0"/>
              <a:t>`,</a:t>
            </a:r>
            <a:r>
              <a:rPr lang="lv-LV" dirty="0"/>
              <a:t> </a:t>
            </a:r>
            <a:r>
              <a:rPr lang="en-US" dirty="0"/>
              <a:t>etc.</a:t>
            </a:r>
          </a:p>
          <a:p>
            <a:pPr marL="914400" lvl="3" indent="-457200">
              <a:lnSpc>
                <a:spcPct val="120000"/>
              </a:lnSpc>
              <a:buFont typeface="+mj-lt"/>
              <a:buAutoNum type="alphaLcParenR"/>
            </a:pPr>
            <a:r>
              <a:rPr lang="lv-LV" dirty="0"/>
              <a:t>Izmainīt rezultātu tabulu</a:t>
            </a:r>
            <a:endParaRPr lang="en-US" dirty="0"/>
          </a:p>
          <a:p>
            <a:pPr lvl="2">
              <a:lnSpc>
                <a:spcPct val="120000"/>
              </a:lnSpc>
            </a:pPr>
            <a:r>
              <a:rPr lang="lv-LV" dirty="0"/>
              <a:t>&lt;</a:t>
            </a:r>
            <a:r>
              <a:rPr lang="lv-LV" dirty="0" err="1"/>
              <a:t>td</a:t>
            </a:r>
            <a:r>
              <a:rPr lang="lv-LV" dirty="0"/>
              <a:t>&gt;".$re</a:t>
            </a:r>
            <a:r>
              <a:rPr lang="en-US" dirty="0" err="1"/>
              <a:t>sul</a:t>
            </a:r>
            <a:r>
              <a:rPr lang="lv-LV" dirty="0"/>
              <a:t>t[$i][‘</a:t>
            </a:r>
            <a:r>
              <a:rPr lang="en-US" dirty="0"/>
              <a:t>name</a:t>
            </a:r>
            <a:r>
              <a:rPr lang="lv-LV" dirty="0"/>
              <a:t>']."&lt;/</a:t>
            </a:r>
            <a:r>
              <a:rPr lang="lv-LV" dirty="0" err="1"/>
              <a:t>td</a:t>
            </a:r>
            <a:r>
              <a:rPr lang="lv-LV" dirty="0"/>
              <a:t>&gt;</a:t>
            </a:r>
            <a:br>
              <a:rPr lang="lv-LV" dirty="0"/>
            </a:br>
            <a:r>
              <a:rPr lang="lv-LV" dirty="0"/>
              <a:t>&lt;</a:t>
            </a:r>
            <a:r>
              <a:rPr lang="lv-LV" dirty="0" err="1"/>
              <a:t>td</a:t>
            </a:r>
            <a:r>
              <a:rPr lang="lv-LV" dirty="0"/>
              <a:t>&gt;".$re</a:t>
            </a:r>
            <a:r>
              <a:rPr lang="en-US" dirty="0" err="1"/>
              <a:t>sul</a:t>
            </a:r>
            <a:r>
              <a:rPr lang="lv-LV" dirty="0"/>
              <a:t>t[$i][‘</a:t>
            </a:r>
            <a:r>
              <a:rPr lang="en-US" dirty="0" err="1"/>
              <a:t>ndate</a:t>
            </a:r>
            <a:r>
              <a:rPr lang="lv-LV" dirty="0"/>
              <a:t>']."&lt;/</a:t>
            </a:r>
            <a:r>
              <a:rPr lang="lv-LV" dirty="0" err="1"/>
              <a:t>td</a:t>
            </a:r>
            <a:r>
              <a:rPr lang="lv-LV" dirty="0"/>
              <a:t>&gt;</a:t>
            </a:r>
            <a:br>
              <a:rPr lang="lv-LV" dirty="0"/>
            </a:br>
            <a:r>
              <a:rPr lang="lv-LV" dirty="0"/>
              <a:t>&lt;</a:t>
            </a:r>
            <a:r>
              <a:rPr lang="lv-LV" dirty="0" err="1"/>
              <a:t>td</a:t>
            </a:r>
            <a:r>
              <a:rPr lang="lv-LV" dirty="0"/>
              <a:t>&gt;".$re</a:t>
            </a:r>
            <a:r>
              <a:rPr lang="en-US" dirty="0" err="1"/>
              <a:t>sul</a:t>
            </a:r>
            <a:r>
              <a:rPr lang="lv-LV" dirty="0"/>
              <a:t>t[$i][‘</a:t>
            </a:r>
            <a:r>
              <a:rPr lang="en-US" dirty="0" err="1"/>
              <a:t>nmonth</a:t>
            </a:r>
            <a:r>
              <a:rPr lang="lv-LV" dirty="0"/>
              <a:t>']."&lt;/</a:t>
            </a:r>
            <a:r>
              <a:rPr lang="lv-LV" dirty="0" err="1"/>
              <a:t>td</a:t>
            </a:r>
            <a:r>
              <a:rPr lang="lv-LV" dirty="0"/>
              <a:t>&gt;</a:t>
            </a:r>
            <a:endParaRPr lang="en-US" dirty="0"/>
          </a:p>
          <a:p>
            <a:pPr marL="457200" lvl="1" indent="-457200">
              <a:lnSpc>
                <a:spcPct val="120000"/>
              </a:lnSpc>
              <a:buFont typeface="+mj-lt"/>
              <a:buAutoNum type="arabicPeriod"/>
            </a:pPr>
            <a:r>
              <a:rPr lang="en-US" dirty="0"/>
              <a:t>Create a form in </a:t>
            </a:r>
            <a:r>
              <a:rPr lang="en-US" i="1" dirty="0" err="1"/>
              <a:t>NameDayForm</a:t>
            </a:r>
            <a:r>
              <a:rPr lang="lv-LV" dirty="0"/>
              <a:t>.</a:t>
            </a:r>
            <a:r>
              <a:rPr lang="lv-LV" i="1" dirty="0"/>
              <a:t>html</a:t>
            </a:r>
            <a:r>
              <a:rPr lang="lv-LV" dirty="0"/>
              <a:t> </a:t>
            </a:r>
            <a:r>
              <a:rPr lang="en-US" dirty="0"/>
              <a:t>file</a:t>
            </a:r>
            <a:r>
              <a:rPr lang="lv-LV" dirty="0"/>
              <a:t>, </a:t>
            </a:r>
            <a:r>
              <a:rPr lang="en-US" dirty="0"/>
              <a:t>set</a:t>
            </a:r>
            <a:r>
              <a:rPr lang="lv-LV" dirty="0"/>
              <a:t> </a:t>
            </a:r>
            <a:r>
              <a:rPr lang="lv-LV" i="1" dirty="0" err="1"/>
              <a:t>Action</a:t>
            </a:r>
            <a:r>
              <a:rPr lang="lv-LV" i="1" dirty="0"/>
              <a:t> URL</a:t>
            </a:r>
            <a:r>
              <a:rPr lang="lv-LV" dirty="0"/>
              <a:t> </a:t>
            </a:r>
            <a:r>
              <a:rPr lang="en-US" dirty="0"/>
              <a:t>to</a:t>
            </a:r>
            <a:r>
              <a:rPr lang="lv-LV" dirty="0"/>
              <a:t> </a:t>
            </a:r>
            <a:r>
              <a:rPr lang="en-US" i="1" dirty="0" err="1"/>
              <a:t>fromDBname</a:t>
            </a:r>
            <a:r>
              <a:rPr lang="lv-LV" dirty="0"/>
              <a:t>.</a:t>
            </a:r>
            <a:r>
              <a:rPr lang="lv-LV" i="1" dirty="0" err="1"/>
              <a:t>php</a:t>
            </a:r>
            <a:r>
              <a:rPr lang="lv-LV" dirty="0"/>
              <a:t>.</a:t>
            </a:r>
            <a:endParaRPr lang="en-US" dirty="0"/>
          </a:p>
          <a:p>
            <a:pPr marL="514350" indent="-514350">
              <a:lnSpc>
                <a:spcPct val="120000"/>
              </a:lnSpc>
              <a:buFont typeface="+mj-lt"/>
              <a:buAutoNum type="arabicPeriod" startAt="4"/>
            </a:pPr>
            <a:r>
              <a:rPr lang="en-US" sz="2400" dirty="0"/>
              <a:t>Check the result at </a:t>
            </a:r>
            <a:r>
              <a:rPr lang="en-US" sz="2400" i="1" dirty="0"/>
              <a:t>http://localhost:8080/fromDB.php</a:t>
            </a:r>
            <a:r>
              <a:rPr lang="en-US" sz="2400" dirty="0"/>
              <a:t>, find when </a:t>
            </a:r>
            <a:r>
              <a:rPr lang="en-US" sz="2400" dirty="0" err="1"/>
              <a:t>Aiva</a:t>
            </a:r>
            <a:r>
              <a:rPr lang="en-US" sz="2400" dirty="0"/>
              <a:t> celebrates name day. </a:t>
            </a:r>
          </a:p>
        </p:txBody>
      </p:sp>
    </p:spTree>
    <p:extLst>
      <p:ext uri="{BB962C8B-B14F-4D97-AF65-F5344CB8AC3E}">
        <p14:creationId xmlns:p14="http://schemas.microsoft.com/office/powerpoint/2010/main" val="30248564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15102</TotalTime>
  <Words>1970</Words>
  <Application>Microsoft Office PowerPoint</Application>
  <PresentationFormat>On-screen Show (4:3)</PresentationFormat>
  <Paragraphs>140</Paragraphs>
  <Slides>37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Courier New</vt:lpstr>
      <vt:lpstr>Google Sans</vt:lpstr>
      <vt:lpstr>Office Theme</vt:lpstr>
      <vt:lpstr>MySQL</vt:lpstr>
      <vt:lpstr>MySQL</vt:lpstr>
      <vt:lpstr>Apache</vt:lpstr>
      <vt:lpstr>USBWebServer</vt:lpstr>
      <vt:lpstr>Web Server</vt:lpstr>
      <vt:lpstr>Web Server</vt:lpstr>
      <vt:lpstr>Web Server</vt:lpstr>
      <vt:lpstr>Web Server</vt:lpstr>
      <vt:lpstr>Web Server</vt:lpstr>
      <vt:lpstr>Web Server</vt:lpstr>
      <vt:lpstr>Web Server</vt:lpstr>
      <vt:lpstr>Web Server</vt:lpstr>
      <vt:lpstr>Web Server</vt:lpstr>
      <vt:lpstr>Web Server</vt:lpstr>
      <vt:lpstr>Web Server</vt:lpstr>
      <vt:lpstr>toDB.php</vt:lpstr>
      <vt:lpstr>toDB.php</vt:lpstr>
      <vt:lpstr>Web Server</vt:lpstr>
      <vt:lpstr>Web Server - Queries</vt:lpstr>
      <vt:lpstr>Web Server - Queries</vt:lpstr>
      <vt:lpstr>Web Server - Queries</vt:lpstr>
      <vt:lpstr>Web Server - Queries</vt:lpstr>
      <vt:lpstr>Web Server - Queries</vt:lpstr>
      <vt:lpstr>Web Server - Queries</vt:lpstr>
      <vt:lpstr>Practice</vt:lpstr>
      <vt:lpstr>Practice</vt:lpstr>
      <vt:lpstr>Web Server - Queries</vt:lpstr>
      <vt:lpstr>Web Server - Queries</vt:lpstr>
      <vt:lpstr>Web Server – Queries - Practice</vt:lpstr>
      <vt:lpstr>Web Server - Queries</vt:lpstr>
      <vt:lpstr>Web Server - Queries</vt:lpstr>
      <vt:lpstr>Practice</vt:lpstr>
      <vt:lpstr>Data import</vt:lpstr>
      <vt:lpstr>Data import</vt:lpstr>
      <vt:lpstr>Practice</vt:lpstr>
      <vt:lpstr>Practice</vt:lpstr>
      <vt:lpstr>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dc:title>
  <dc:creator>Andrej Liepiņš</dc:creator>
  <cp:lastModifiedBy>Andrej Liepiņš</cp:lastModifiedBy>
  <cp:revision>41</cp:revision>
  <dcterms:created xsi:type="dcterms:W3CDTF">2018-02-18T19:36:45Z</dcterms:created>
  <dcterms:modified xsi:type="dcterms:W3CDTF">2021-04-10T14:07:46Z</dcterms:modified>
</cp:coreProperties>
</file>