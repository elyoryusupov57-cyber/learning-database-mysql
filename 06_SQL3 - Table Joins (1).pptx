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2" r:id="rId3"/>
    <p:sldId id="283" r:id="rId4"/>
    <p:sldId id="284" r:id="rId5"/>
    <p:sldId id="285" r:id="rId6"/>
    <p:sldId id="286" r:id="rId7"/>
    <p:sldId id="287" r:id="rId8"/>
    <p:sldId id="289" r:id="rId9"/>
    <p:sldId id="288" r:id="rId10"/>
    <p:sldId id="290" r:id="rId11"/>
    <p:sldId id="291" r:id="rId12"/>
    <p:sldId id="331" r:id="rId13"/>
    <p:sldId id="293" r:id="rId14"/>
    <p:sldId id="294" r:id="rId15"/>
    <p:sldId id="329" r:id="rId16"/>
    <p:sldId id="295" r:id="rId17"/>
    <p:sldId id="297" r:id="rId18"/>
    <p:sldId id="296" r:id="rId19"/>
    <p:sldId id="298" r:id="rId20"/>
    <p:sldId id="299" r:id="rId21"/>
    <p:sldId id="300" r:id="rId22"/>
    <p:sldId id="301" r:id="rId23"/>
    <p:sldId id="302" r:id="rId24"/>
    <p:sldId id="303" r:id="rId25"/>
    <p:sldId id="330" r:id="rId26"/>
    <p:sldId id="305" r:id="rId27"/>
    <p:sldId id="306" r:id="rId28"/>
    <p:sldId id="332" r:id="rId29"/>
    <p:sldId id="308" r:id="rId30"/>
    <p:sldId id="326" r:id="rId31"/>
    <p:sldId id="311" r:id="rId32"/>
    <p:sldId id="309" r:id="rId33"/>
    <p:sldId id="312" r:id="rId34"/>
    <p:sldId id="310" r:id="rId35"/>
    <p:sldId id="313" r:id="rId36"/>
    <p:sldId id="314" r:id="rId37"/>
    <p:sldId id="315" r:id="rId38"/>
    <p:sldId id="316" r:id="rId39"/>
    <p:sldId id="317" r:id="rId40"/>
    <p:sldId id="318" r:id="rId41"/>
    <p:sldId id="319" r:id="rId42"/>
    <p:sldId id="320" r:id="rId43"/>
    <p:sldId id="321" r:id="rId44"/>
    <p:sldId id="322" r:id="rId45"/>
    <p:sldId id="323" r:id="rId46"/>
    <p:sldId id="324" r:id="rId47"/>
    <p:sldId id="327"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4" autoAdjust="0"/>
    <p:restoredTop sz="94660"/>
  </p:normalViewPr>
  <p:slideViewPr>
    <p:cSldViewPr snapToGrid="0">
      <p:cViewPr>
        <p:scale>
          <a:sx n="75" d="100"/>
          <a:sy n="75" d="100"/>
        </p:scale>
        <p:origin x="146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E8DE9A7-BD28-4827-AFAD-B0F68828476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383844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8DE9A7-BD28-4827-AFAD-B0F68828476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73138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E8DE9A7-BD28-4827-AFAD-B0F68828476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35079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E8DE9A7-BD28-4827-AFAD-B0F688284761}"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723683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E8DE9A7-BD28-4827-AFAD-B0F688284761}" type="datetimeFigureOut">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409299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E8DE9A7-BD28-4827-AFAD-B0F688284761}" type="datetimeFigureOut">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264133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8DE9A7-BD28-4827-AFAD-B0F688284761}" type="datetimeFigureOut">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79039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E8DE9A7-BD28-4827-AFAD-B0F688284761}"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195039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E8DE9A7-BD28-4827-AFAD-B0F688284761}"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3300847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8DE9A7-BD28-4827-AFAD-B0F68828476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4276380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8DE9A7-BD28-4827-AFAD-B0F688284761}"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5258D8-B5AD-423F-B84A-DD1895F6B23D}" type="slidenum">
              <a:rPr lang="en-US" smtClean="0"/>
              <a:t>‹#›</a:t>
            </a:fld>
            <a:endParaRPr lang="en-US"/>
          </a:p>
        </p:txBody>
      </p:sp>
    </p:spTree>
    <p:extLst>
      <p:ext uri="{BB962C8B-B14F-4D97-AF65-F5344CB8AC3E}">
        <p14:creationId xmlns:p14="http://schemas.microsoft.com/office/powerpoint/2010/main" val="3079140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8DE9A7-BD28-4827-AFAD-B0F688284761}" type="datetimeFigureOut">
              <a:rPr lang="en-US" smtClean="0"/>
              <a:t>2/28/2025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5258D8-B5AD-423F-B84A-DD1895F6B23D}" type="slidenum">
              <a:rPr lang="en-US" smtClean="0"/>
              <a:t>‹#›</a:t>
            </a:fld>
            <a:endParaRPr lang="en-US"/>
          </a:p>
        </p:txBody>
      </p:sp>
    </p:spTree>
    <p:extLst>
      <p:ext uri="{BB962C8B-B14F-4D97-AF65-F5344CB8AC3E}">
        <p14:creationId xmlns:p14="http://schemas.microsoft.com/office/powerpoint/2010/main" val="381934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a:t>
            </a:r>
          </a:p>
        </p:txBody>
      </p:sp>
    </p:spTree>
    <p:extLst>
      <p:ext uri="{BB962C8B-B14F-4D97-AF65-F5344CB8AC3E}">
        <p14:creationId xmlns:p14="http://schemas.microsoft.com/office/powerpoint/2010/main" val="92169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JOIN multiple tables </a:t>
            </a:r>
          </a:p>
        </p:txBody>
      </p:sp>
      <p:sp>
        <p:nvSpPr>
          <p:cNvPr id="3" name="Content Placeholder 2"/>
          <p:cNvSpPr>
            <a:spLocks noGrp="1"/>
          </p:cNvSpPr>
          <p:nvPr>
            <p:ph idx="1"/>
          </p:nvPr>
        </p:nvSpPr>
        <p:spPr/>
        <p:txBody>
          <a:bodyPr/>
          <a:lstStyle/>
          <a:p>
            <a:pPr marL="0" indent="0" algn="just">
              <a:buNone/>
            </a:pPr>
            <a:r>
              <a:rPr lang="en-US" dirty="0"/>
              <a:t>All previously reviewed queries select data from a single table. In SQL, it is possible to select data from several tables with the help of one command. To do this, the tables must be joined.</a:t>
            </a:r>
          </a:p>
          <a:p>
            <a:pPr marL="0" indent="0" algn="just">
              <a:buNone/>
            </a:pPr>
            <a:r>
              <a:rPr lang="en-US" dirty="0"/>
              <a:t>By joining two tables, you will get a result in a common table. Joining takes place after so-called joining columns. You can also group more than 2 tables with a join chain.</a:t>
            </a:r>
          </a:p>
        </p:txBody>
      </p:sp>
    </p:spTree>
    <p:extLst>
      <p:ext uri="{BB962C8B-B14F-4D97-AF65-F5344CB8AC3E}">
        <p14:creationId xmlns:p14="http://schemas.microsoft.com/office/powerpoint/2010/main" val="286692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JOIN multiple tables </a:t>
            </a:r>
          </a:p>
        </p:txBody>
      </p:sp>
      <p:sp>
        <p:nvSpPr>
          <p:cNvPr id="3" name="Content Placeholder 2"/>
          <p:cNvSpPr>
            <a:spLocks noGrp="1"/>
          </p:cNvSpPr>
          <p:nvPr>
            <p:ph idx="1"/>
          </p:nvPr>
        </p:nvSpPr>
        <p:spPr/>
        <p:txBody>
          <a:bodyPr>
            <a:normAutofit lnSpcReduction="10000"/>
          </a:bodyPr>
          <a:lstStyle/>
          <a:p>
            <a:pPr marL="0" indent="0" algn="just">
              <a:buNone/>
            </a:pPr>
            <a:r>
              <a:rPr lang="en-US" dirty="0"/>
              <a:t>As you can see from the previous queries, you can select, for example from the Journal table, the librarian's code, service number and how many readers each librarian served, but you would better like to see the librarian's name and service name instead of the abstract librarian's code or service number.</a:t>
            </a:r>
          </a:p>
          <a:p>
            <a:pPr marL="0" indent="0" algn="just">
              <a:buNone/>
            </a:pPr>
            <a:r>
              <a:rPr lang="en-US" dirty="0"/>
              <a:t>To solve this problem, create a query that joins several tables. For example, you need to combine tables that contain librarians' names (Librarians), service names (Services), and other necessary information (Journal).</a:t>
            </a:r>
          </a:p>
        </p:txBody>
      </p:sp>
    </p:spTree>
    <p:extLst>
      <p:ext uri="{BB962C8B-B14F-4D97-AF65-F5344CB8AC3E}">
        <p14:creationId xmlns:p14="http://schemas.microsoft.com/office/powerpoint/2010/main" val="4203820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JOIN multiple tables </a:t>
            </a:r>
          </a:p>
        </p:txBody>
      </p:sp>
      <p:sp>
        <p:nvSpPr>
          <p:cNvPr id="3" name="Content Placeholder 2"/>
          <p:cNvSpPr>
            <a:spLocks noGrp="1"/>
          </p:cNvSpPr>
          <p:nvPr>
            <p:ph idx="1"/>
          </p:nvPr>
        </p:nvSpPr>
        <p:spPr>
          <a:xfrm>
            <a:off x="228599" y="1825625"/>
            <a:ext cx="8656984" cy="4883288"/>
          </a:xfrm>
        </p:spPr>
        <p:txBody>
          <a:bodyPr>
            <a:normAutofit fontScale="92500" lnSpcReduction="10000"/>
          </a:bodyPr>
          <a:lstStyle/>
          <a:p>
            <a:pPr marL="0" indent="0" algn="just">
              <a:buNone/>
            </a:pPr>
            <a:r>
              <a:rPr lang="en-US" dirty="0"/>
              <a:t>Example: Display the librarian’s ID, name, surname, and the name of the service provided.</a:t>
            </a:r>
            <a:endParaRPr lang="lv-LV" dirty="0"/>
          </a:p>
          <a:p>
            <a:pPr marL="0" indent="0" algn="just">
              <a:buNone/>
            </a:pPr>
            <a:endParaRPr lang="lv-LV" dirty="0"/>
          </a:p>
          <a:p>
            <a:pPr marL="0" indent="0" algn="just">
              <a:buNone/>
            </a:pPr>
            <a:endParaRPr lang="lv-LV" dirty="0"/>
          </a:p>
          <a:p>
            <a:pPr marL="0" indent="0" algn="just">
              <a:buNone/>
            </a:pPr>
            <a:endParaRPr lang="en-US" dirty="0"/>
          </a:p>
          <a:p>
            <a:pPr marL="0" indent="0" algn="just">
              <a:buNone/>
            </a:pPr>
            <a:endParaRPr lang="lv-LV" dirty="0"/>
          </a:p>
          <a:p>
            <a:pPr marL="0" indent="0" algn="just">
              <a:buNone/>
            </a:pPr>
            <a:r>
              <a:rPr lang="en-US" sz="1300" b="1" dirty="0"/>
              <a:t>SELECT </a:t>
            </a:r>
            <a:r>
              <a:rPr lang="en-US" sz="1300" b="1" dirty="0" err="1"/>
              <a:t>j.LibID</a:t>
            </a:r>
            <a:r>
              <a:rPr lang="en-US" sz="1300" b="1" dirty="0"/>
              <a:t> AS `Librarian ID`, </a:t>
            </a:r>
          </a:p>
          <a:p>
            <a:pPr marL="0" indent="0" algn="just">
              <a:buNone/>
            </a:pPr>
            <a:r>
              <a:rPr lang="en-US" sz="1300" b="1" dirty="0"/>
              <a:t>       </a:t>
            </a:r>
            <a:r>
              <a:rPr lang="en-US" sz="1300" b="1" dirty="0" err="1"/>
              <a:t>l.LSur</a:t>
            </a:r>
            <a:r>
              <a:rPr lang="en-US" sz="1300" b="1" dirty="0"/>
              <a:t> AS `Surname`, </a:t>
            </a:r>
          </a:p>
          <a:p>
            <a:pPr marL="0" indent="0" algn="just">
              <a:buNone/>
            </a:pPr>
            <a:r>
              <a:rPr lang="en-US" sz="1300" b="1" dirty="0"/>
              <a:t>       </a:t>
            </a:r>
            <a:r>
              <a:rPr lang="en-US" sz="1300" b="1" dirty="0" err="1"/>
              <a:t>l.Lname</a:t>
            </a:r>
            <a:r>
              <a:rPr lang="en-US" sz="1300" b="1" dirty="0"/>
              <a:t> AS `Name`, </a:t>
            </a:r>
          </a:p>
          <a:p>
            <a:pPr marL="0" indent="0" algn="just">
              <a:buNone/>
            </a:pPr>
            <a:r>
              <a:rPr lang="en-US" sz="1300" b="1" dirty="0"/>
              <a:t>       </a:t>
            </a:r>
            <a:r>
              <a:rPr lang="en-US" sz="1300" b="1" dirty="0" err="1"/>
              <a:t>s.ServiceName</a:t>
            </a:r>
            <a:r>
              <a:rPr lang="en-US" sz="1300" b="1" dirty="0"/>
              <a:t> AS `Service name`</a:t>
            </a:r>
          </a:p>
          <a:p>
            <a:pPr marL="0" indent="0" algn="just">
              <a:buNone/>
            </a:pPr>
            <a:r>
              <a:rPr lang="en-US" sz="1300" b="1" dirty="0"/>
              <a:t>FROM Services s </a:t>
            </a:r>
          </a:p>
          <a:p>
            <a:pPr marL="0" indent="0" algn="just">
              <a:buNone/>
            </a:pPr>
            <a:r>
              <a:rPr lang="en-US" sz="1300" b="1" dirty="0"/>
              <a:t>INNER JOIN Journal j ON </a:t>
            </a:r>
            <a:r>
              <a:rPr lang="en-US" sz="1300" b="1" dirty="0" err="1"/>
              <a:t>s.ServiceID</a:t>
            </a:r>
            <a:r>
              <a:rPr lang="en-US" sz="1300" b="1" dirty="0"/>
              <a:t> = </a:t>
            </a:r>
            <a:r>
              <a:rPr lang="en-US" sz="1300" b="1" dirty="0" err="1"/>
              <a:t>j.ServiceID</a:t>
            </a:r>
            <a:endParaRPr lang="en-US" sz="1300" b="1" dirty="0"/>
          </a:p>
          <a:p>
            <a:pPr marL="0" indent="0" algn="just">
              <a:buNone/>
            </a:pPr>
            <a:r>
              <a:rPr lang="en-US" sz="1300" b="1" dirty="0"/>
              <a:t>INNER JOIN Librarians l ON </a:t>
            </a:r>
            <a:r>
              <a:rPr lang="en-US" sz="1300" b="1" dirty="0" err="1"/>
              <a:t>j.LibID</a:t>
            </a:r>
            <a:r>
              <a:rPr lang="en-US" sz="1300" b="1" dirty="0"/>
              <a:t> = </a:t>
            </a:r>
            <a:r>
              <a:rPr lang="en-US" sz="1300" b="1" dirty="0" err="1"/>
              <a:t>l.LibID</a:t>
            </a:r>
            <a:endParaRPr lang="en-US" sz="1300" b="1" dirty="0"/>
          </a:p>
          <a:p>
            <a:pPr marL="0" indent="0" algn="just">
              <a:buNone/>
            </a:pPr>
            <a:r>
              <a:rPr lang="en-US" sz="1300" b="1" dirty="0"/>
              <a:t>ORDER BY </a:t>
            </a:r>
            <a:r>
              <a:rPr lang="en-US" sz="1300" b="1" dirty="0" err="1"/>
              <a:t>l.LSur</a:t>
            </a:r>
            <a:r>
              <a:rPr lang="en-US" sz="1300" b="1" dirty="0"/>
              <a:t> ASC, </a:t>
            </a:r>
            <a:r>
              <a:rPr lang="en-US" sz="1300" b="1" dirty="0" err="1"/>
              <a:t>l.Lname</a:t>
            </a:r>
            <a:r>
              <a:rPr lang="en-US" sz="1300" b="1" dirty="0"/>
              <a:t> DESC;</a:t>
            </a:r>
          </a:p>
        </p:txBody>
      </p:sp>
      <p:pic>
        <p:nvPicPr>
          <p:cNvPr id="5" name="Picture 4">
            <a:extLst>
              <a:ext uri="{FF2B5EF4-FFF2-40B4-BE49-F238E27FC236}">
                <a16:creationId xmlns:a16="http://schemas.microsoft.com/office/drawing/2014/main" id="{C04E7E57-BF95-B0CD-5040-3CA701942A77}"/>
              </a:ext>
            </a:extLst>
          </p:cNvPr>
          <p:cNvPicPr>
            <a:picLocks noChangeAspect="1"/>
          </p:cNvPicPr>
          <p:nvPr/>
        </p:nvPicPr>
        <p:blipFill>
          <a:blip r:embed="rId2"/>
          <a:stretch>
            <a:fillRect/>
          </a:stretch>
        </p:blipFill>
        <p:spPr>
          <a:xfrm>
            <a:off x="4716793" y="2844290"/>
            <a:ext cx="3534268" cy="3648584"/>
          </a:xfrm>
          <a:prstGeom prst="rect">
            <a:avLst/>
          </a:prstGeom>
        </p:spPr>
      </p:pic>
    </p:spTree>
    <p:extLst>
      <p:ext uri="{BB962C8B-B14F-4D97-AF65-F5344CB8AC3E}">
        <p14:creationId xmlns:p14="http://schemas.microsoft.com/office/powerpoint/2010/main" val="3612799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Full column names and table aliases</a:t>
            </a:r>
          </a:p>
        </p:txBody>
      </p:sp>
      <p:sp>
        <p:nvSpPr>
          <p:cNvPr id="3" name="Content Placeholder 2"/>
          <p:cNvSpPr>
            <a:spLocks noGrp="1"/>
          </p:cNvSpPr>
          <p:nvPr>
            <p:ph idx="1"/>
          </p:nvPr>
        </p:nvSpPr>
        <p:spPr>
          <a:xfrm>
            <a:off x="628650" y="1825625"/>
            <a:ext cx="7886700" cy="4351338"/>
          </a:xfrm>
        </p:spPr>
        <p:txBody>
          <a:bodyPr>
            <a:normAutofit/>
          </a:bodyPr>
          <a:lstStyle/>
          <a:p>
            <a:pPr marL="0" indent="0" algn="just">
              <a:buNone/>
            </a:pPr>
            <a:r>
              <a:rPr lang="en-US" dirty="0"/>
              <a:t>Two joined tables can contain identically named columns. To let DBMS understand which column is in use, SQL uses full column names.</a:t>
            </a:r>
          </a:p>
          <a:p>
            <a:pPr marL="0" indent="0" algn="just">
              <a:buNone/>
            </a:pPr>
            <a:r>
              <a:rPr lang="lv-LV" dirty="0" err="1"/>
              <a:t>Form</a:t>
            </a:r>
            <a:r>
              <a:rPr lang="en-US" dirty="0"/>
              <a:t>at</a:t>
            </a:r>
            <a:r>
              <a:rPr lang="lv-LV" dirty="0"/>
              <a:t>:</a:t>
            </a:r>
            <a:endParaRPr lang="en-US" i="1" dirty="0"/>
          </a:p>
          <a:p>
            <a:pPr marL="0" indent="0" algn="just">
              <a:buNone/>
            </a:pPr>
            <a:r>
              <a:rPr lang="lv-LV" i="1" dirty="0"/>
              <a:t>T</a:t>
            </a:r>
            <a:r>
              <a:rPr lang="en-US" i="1" dirty="0" err="1"/>
              <a:t>able_name</a:t>
            </a:r>
            <a:r>
              <a:rPr lang="lv-LV" i="1" dirty="0"/>
              <a:t>.</a:t>
            </a:r>
            <a:r>
              <a:rPr lang="en-US" i="1" dirty="0" err="1"/>
              <a:t>column_name</a:t>
            </a:r>
            <a:endParaRPr lang="en-US" dirty="0"/>
          </a:p>
          <a:p>
            <a:pPr marL="0" indent="0" algn="just">
              <a:buNone/>
            </a:pPr>
            <a:r>
              <a:rPr lang="en-US" dirty="0"/>
              <a:t>Example</a:t>
            </a:r>
            <a:r>
              <a:rPr lang="lv-LV" dirty="0"/>
              <a:t>:</a:t>
            </a:r>
            <a:endParaRPr lang="en-US" dirty="0"/>
          </a:p>
          <a:p>
            <a:pPr marL="0" indent="0" algn="just">
              <a:buNone/>
            </a:pPr>
            <a:r>
              <a:rPr lang="lv-LV" sz="2000" b="1" i="1" dirty="0"/>
              <a:t>SELECT	</a:t>
            </a:r>
            <a:r>
              <a:rPr lang="en-US" sz="2000" b="1" i="1" dirty="0"/>
              <a:t>Journal</a:t>
            </a:r>
            <a:r>
              <a:rPr lang="lv-LV" sz="2000" b="1" i="1" dirty="0"/>
              <a:t>.</a:t>
            </a:r>
            <a:r>
              <a:rPr lang="en-US" sz="2000" b="1" i="1" dirty="0" err="1"/>
              <a:t>ServiceID</a:t>
            </a:r>
            <a:r>
              <a:rPr lang="lv-LV" sz="2000" b="1" i="1" dirty="0"/>
              <a:t> AS `</a:t>
            </a:r>
            <a:r>
              <a:rPr lang="en-US" sz="2000" b="1" i="1" dirty="0"/>
              <a:t>Service ID</a:t>
            </a:r>
            <a:r>
              <a:rPr lang="lv-LV" sz="2000" b="1" i="1" dirty="0"/>
              <a:t>`, </a:t>
            </a:r>
            <a:r>
              <a:rPr lang="en-US" sz="2000" b="1" i="1" dirty="0"/>
              <a:t>Services</a:t>
            </a:r>
            <a:r>
              <a:rPr lang="lv-LV" sz="2000" b="1" i="1" dirty="0"/>
              <a:t>.</a:t>
            </a:r>
            <a:r>
              <a:rPr lang="en-US" sz="2000" b="1" i="1" dirty="0" err="1"/>
              <a:t>ServiceID</a:t>
            </a:r>
            <a:r>
              <a:rPr lang="lv-LV" sz="2000" b="1" dirty="0"/>
              <a:t> </a:t>
            </a:r>
            <a:endParaRPr lang="en-US" sz="2000" dirty="0"/>
          </a:p>
          <a:p>
            <a:pPr marL="0" indent="0" algn="just">
              <a:buNone/>
            </a:pPr>
            <a:r>
              <a:rPr lang="lv-LV" dirty="0"/>
              <a:t> </a:t>
            </a:r>
            <a:endParaRPr lang="en-US" dirty="0"/>
          </a:p>
        </p:txBody>
      </p:sp>
    </p:spTree>
    <p:extLst>
      <p:ext uri="{BB962C8B-B14F-4D97-AF65-F5344CB8AC3E}">
        <p14:creationId xmlns:p14="http://schemas.microsoft.com/office/powerpoint/2010/main" val="1488066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Full column names and table aliases</a:t>
            </a:r>
          </a:p>
        </p:txBody>
      </p:sp>
      <p:sp>
        <p:nvSpPr>
          <p:cNvPr id="3" name="Content Placeholder 2"/>
          <p:cNvSpPr>
            <a:spLocks noGrp="1"/>
          </p:cNvSpPr>
          <p:nvPr>
            <p:ph idx="1"/>
          </p:nvPr>
        </p:nvSpPr>
        <p:spPr>
          <a:xfrm>
            <a:off x="628650" y="1825625"/>
            <a:ext cx="7886700" cy="4351338"/>
          </a:xfrm>
        </p:spPr>
        <p:txBody>
          <a:bodyPr>
            <a:normAutofit lnSpcReduction="10000"/>
          </a:bodyPr>
          <a:lstStyle/>
          <a:p>
            <a:pPr marL="0" indent="0" algn="just">
              <a:buNone/>
            </a:pPr>
            <a:r>
              <a:rPr lang="en-US" dirty="0"/>
              <a:t>To reduce keyboard input and create more understandable queries containing joins, use the table aliases.
</a:t>
            </a:r>
            <a:r>
              <a:rPr lang="lv-LV" dirty="0" err="1"/>
              <a:t>Form</a:t>
            </a:r>
            <a:r>
              <a:rPr lang="en-US" dirty="0"/>
              <a:t>at</a:t>
            </a:r>
            <a:r>
              <a:rPr lang="lv-LV" dirty="0"/>
              <a:t>:</a:t>
            </a:r>
            <a:endParaRPr lang="en-US" dirty="0"/>
          </a:p>
          <a:p>
            <a:pPr marL="0" indent="0" algn="just">
              <a:buNone/>
            </a:pPr>
            <a:r>
              <a:rPr lang="en-US" i="1" dirty="0"/>
              <a:t>Table alias </a:t>
            </a:r>
            <a:r>
              <a:rPr lang="en-US" dirty="0"/>
              <a:t>without “AS” keyword!</a:t>
            </a:r>
            <a:r>
              <a:rPr lang="lv-LV" dirty="0"/>
              <a:t> </a:t>
            </a:r>
            <a:endParaRPr lang="en-US" dirty="0"/>
          </a:p>
          <a:p>
            <a:pPr marL="0" indent="0" algn="just">
              <a:buNone/>
            </a:pPr>
            <a:r>
              <a:rPr lang="en-US" dirty="0"/>
              <a:t>Example</a:t>
            </a:r>
            <a:r>
              <a:rPr lang="lv-LV" dirty="0"/>
              <a:t>:</a:t>
            </a:r>
            <a:endParaRPr lang="en-US" dirty="0"/>
          </a:p>
          <a:p>
            <a:pPr marL="0" indent="0" algn="just">
              <a:buNone/>
            </a:pPr>
            <a:r>
              <a:rPr lang="lv-LV" b="1" i="1" dirty="0"/>
              <a:t>FROM	</a:t>
            </a:r>
            <a:r>
              <a:rPr lang="en-US" b="1" i="1" dirty="0"/>
              <a:t> Services</a:t>
            </a:r>
            <a:r>
              <a:rPr lang="lv-LV" b="1" i="1" dirty="0"/>
              <a:t> </a:t>
            </a:r>
            <a:r>
              <a:rPr lang="en-US" b="1" i="1" dirty="0"/>
              <a:t>s</a:t>
            </a:r>
            <a:r>
              <a:rPr lang="lv-LV" dirty="0"/>
              <a:t>, </a:t>
            </a:r>
            <a:endParaRPr lang="en-US" dirty="0"/>
          </a:p>
          <a:p>
            <a:pPr marL="0" indent="0" algn="just">
              <a:buNone/>
            </a:pPr>
            <a:r>
              <a:rPr lang="en-US" dirty="0"/>
              <a:t>which can be read as alias </a:t>
            </a:r>
            <a:r>
              <a:rPr lang="en-US" b="1" dirty="0"/>
              <a:t>s</a:t>
            </a:r>
            <a:r>
              <a:rPr lang="en-US" dirty="0"/>
              <a:t> was assigned to the table named Services. 
</a:t>
            </a:r>
          </a:p>
        </p:txBody>
      </p:sp>
    </p:spTree>
    <p:extLst>
      <p:ext uri="{BB962C8B-B14F-4D97-AF65-F5344CB8AC3E}">
        <p14:creationId xmlns:p14="http://schemas.microsoft.com/office/powerpoint/2010/main" val="3162081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Full column names and table aliases</a:t>
            </a:r>
          </a:p>
        </p:txBody>
      </p:sp>
      <p:sp>
        <p:nvSpPr>
          <p:cNvPr id="3" name="Content Placeholder 2"/>
          <p:cNvSpPr>
            <a:spLocks noGrp="1"/>
          </p:cNvSpPr>
          <p:nvPr>
            <p:ph idx="1"/>
          </p:nvPr>
        </p:nvSpPr>
        <p:spPr>
          <a:xfrm>
            <a:off x="628650" y="1825625"/>
            <a:ext cx="7886700" cy="4351338"/>
          </a:xfrm>
        </p:spPr>
        <p:txBody>
          <a:bodyPr>
            <a:normAutofit/>
          </a:bodyPr>
          <a:lstStyle/>
          <a:p>
            <a:pPr marL="0" indent="0" algn="just">
              <a:buNone/>
            </a:pPr>
            <a:r>
              <a:rPr lang="en-US" dirty="0"/>
              <a:t>Then, by selecting certain column values, you can type the following query:</a:t>
            </a:r>
          </a:p>
          <a:p>
            <a:pPr marL="0" indent="0" algn="just">
              <a:buNone/>
            </a:pPr>
            <a:r>
              <a:rPr lang="lv-LV" dirty="0"/>
              <a:t> </a:t>
            </a:r>
            <a:endParaRPr lang="en-US" dirty="0"/>
          </a:p>
          <a:p>
            <a:pPr marL="0" indent="0" algn="just">
              <a:buNone/>
            </a:pPr>
            <a:r>
              <a:rPr lang="lv-LV" b="1" i="1" dirty="0"/>
              <a:t>	SELECT	</a:t>
            </a:r>
            <a:r>
              <a:rPr lang="lv-LV" b="1" i="1" dirty="0" err="1"/>
              <a:t>s.ServiceName</a:t>
            </a:r>
            <a:endParaRPr lang="en-US" dirty="0"/>
          </a:p>
          <a:p>
            <a:pPr marL="0" indent="0" algn="just">
              <a:buNone/>
            </a:pPr>
            <a:r>
              <a:rPr lang="lv-LV" b="1" i="1" dirty="0"/>
              <a:t>	FROM	</a:t>
            </a:r>
            <a:r>
              <a:rPr lang="en-US" b="1" i="1" dirty="0"/>
              <a:t>	</a:t>
            </a:r>
            <a:r>
              <a:rPr lang="lv-LV" b="1" i="1" dirty="0"/>
              <a:t>Services </a:t>
            </a:r>
            <a:r>
              <a:rPr lang="en-US" b="1" i="1" dirty="0"/>
              <a:t>s</a:t>
            </a:r>
            <a:r>
              <a:rPr lang="lv-LV" b="1" i="1" dirty="0"/>
              <a:t>;</a:t>
            </a:r>
            <a:endParaRPr lang="en-US" dirty="0"/>
          </a:p>
          <a:p>
            <a:pPr marL="0" indent="0" algn="just">
              <a:buNone/>
            </a:pPr>
            <a:r>
              <a:rPr lang="lv-LV" dirty="0"/>
              <a:t> </a:t>
            </a:r>
            <a:endParaRPr lang="en-US" dirty="0"/>
          </a:p>
          <a:p>
            <a:pPr marL="0" indent="0" algn="just">
              <a:buNone/>
            </a:pPr>
            <a:r>
              <a:rPr lang="en-US" dirty="0"/>
              <a:t>This query shows that the SELECT statement uses the alias specified in the FROM statement instead of the table name.</a:t>
            </a:r>
          </a:p>
        </p:txBody>
      </p:sp>
    </p:spTree>
    <p:extLst>
      <p:ext uri="{BB962C8B-B14F-4D97-AF65-F5344CB8AC3E}">
        <p14:creationId xmlns:p14="http://schemas.microsoft.com/office/powerpoint/2010/main" val="3533726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JOIN multiple tables </a:t>
            </a:r>
          </a:p>
        </p:txBody>
      </p:sp>
      <p:sp>
        <p:nvSpPr>
          <p:cNvPr id="3" name="Content Placeholder 2"/>
          <p:cNvSpPr>
            <a:spLocks noGrp="1"/>
          </p:cNvSpPr>
          <p:nvPr>
            <p:ph idx="1"/>
          </p:nvPr>
        </p:nvSpPr>
        <p:spPr>
          <a:xfrm>
            <a:off x="139149" y="1825624"/>
            <a:ext cx="8835886" cy="4873349"/>
          </a:xfrm>
        </p:spPr>
        <p:txBody>
          <a:bodyPr>
            <a:normAutofit fontScale="92500" lnSpcReduction="20000"/>
          </a:bodyPr>
          <a:lstStyle/>
          <a:p>
            <a:pPr marL="0" indent="0">
              <a:buNone/>
            </a:pPr>
            <a:r>
              <a:rPr lang="en-US" dirty="0"/>
              <a:t>SQL statement to join the tables:</a:t>
            </a:r>
          </a:p>
          <a:p>
            <a:pPr marL="0" indent="0">
              <a:buNone/>
            </a:pPr>
            <a:r>
              <a:rPr lang="lv-LV" dirty="0"/>
              <a:t> </a:t>
            </a:r>
            <a:endParaRPr lang="en-US" dirty="0"/>
          </a:p>
          <a:p>
            <a:pPr marL="0" indent="0">
              <a:buNone/>
            </a:pPr>
            <a:r>
              <a:rPr lang="lv-LV" sz="2400" i="1" dirty="0"/>
              <a:t>SELECT	</a:t>
            </a:r>
            <a:r>
              <a:rPr lang="en-US" sz="2400" i="1" dirty="0"/>
              <a:t>columns</a:t>
            </a:r>
            <a:r>
              <a:rPr lang="lv-LV" sz="2400" i="1" dirty="0"/>
              <a:t>					</a:t>
            </a:r>
            <a:endParaRPr lang="en-US" sz="2400" i="1" dirty="0"/>
          </a:p>
          <a:p>
            <a:pPr marL="0" indent="0">
              <a:buNone/>
            </a:pPr>
            <a:r>
              <a:rPr lang="lv-LV" sz="2400" i="1" dirty="0"/>
              <a:t>FROM	</a:t>
            </a:r>
            <a:r>
              <a:rPr lang="en-US" sz="2400" i="1" dirty="0"/>
              <a:t>table</a:t>
            </a:r>
            <a:r>
              <a:rPr lang="lv-LV" sz="2400" i="1" dirty="0"/>
              <a:t>1 </a:t>
            </a:r>
            <a:r>
              <a:rPr lang="en-US" sz="2400" i="1" dirty="0" err="1"/>
              <a:t>JOIN_type</a:t>
            </a:r>
            <a:r>
              <a:rPr lang="lv-LV" sz="2400" i="1" dirty="0"/>
              <a:t> t</a:t>
            </a:r>
            <a:r>
              <a:rPr lang="en-US" sz="2400" i="1" dirty="0"/>
              <a:t>able</a:t>
            </a:r>
            <a:r>
              <a:rPr lang="lv-LV" sz="2400" i="1" dirty="0"/>
              <a:t>2 ON </a:t>
            </a:r>
            <a:r>
              <a:rPr lang="en-US" sz="2400" i="1" dirty="0" err="1"/>
              <a:t>JOIN_condition</a:t>
            </a:r>
            <a:r>
              <a:rPr lang="lv-LV" sz="2400" i="1" dirty="0"/>
              <a:t>;</a:t>
            </a:r>
            <a:endParaRPr lang="en-US" sz="2400" dirty="0"/>
          </a:p>
          <a:p>
            <a:pPr marL="0" indent="0">
              <a:buNone/>
            </a:pPr>
            <a:r>
              <a:rPr lang="lv-LV" dirty="0"/>
              <a:t> </a:t>
            </a:r>
            <a:endParaRPr lang="en-US" dirty="0"/>
          </a:p>
          <a:p>
            <a:pPr marL="0" indent="0">
              <a:buNone/>
            </a:pPr>
            <a:r>
              <a:rPr lang="en-US" dirty="0"/>
              <a:t>Where</a:t>
            </a:r>
            <a:r>
              <a:rPr lang="lv-LV" dirty="0"/>
              <a:t> </a:t>
            </a:r>
            <a:r>
              <a:rPr lang="lv-LV" b="1" dirty="0" err="1"/>
              <a:t>JOIN_type</a:t>
            </a:r>
            <a:r>
              <a:rPr lang="lv-LV" b="1" dirty="0"/>
              <a:t> </a:t>
            </a:r>
            <a:r>
              <a:rPr lang="lv-LV" dirty="0"/>
              <a:t>i</a:t>
            </a:r>
            <a:r>
              <a:rPr lang="en-US" dirty="0"/>
              <a:t>s one from</a:t>
            </a:r>
            <a:r>
              <a:rPr lang="lv-LV" dirty="0"/>
              <a:t>: </a:t>
            </a:r>
            <a:endParaRPr lang="en-US" dirty="0"/>
          </a:p>
          <a:p>
            <a:pPr marL="0" indent="0">
              <a:buNone/>
            </a:pPr>
            <a:r>
              <a:rPr lang="lv-LV" dirty="0" err="1"/>
              <a:t>Cross</a:t>
            </a:r>
            <a:r>
              <a:rPr lang="lv-LV" dirty="0"/>
              <a:t> </a:t>
            </a:r>
            <a:r>
              <a:rPr lang="lv-LV" dirty="0" err="1"/>
              <a:t>Join</a:t>
            </a:r>
            <a:r>
              <a:rPr lang="lv-LV" dirty="0"/>
              <a:t>, Natural </a:t>
            </a:r>
            <a:r>
              <a:rPr lang="lv-LV" dirty="0" err="1"/>
              <a:t>Join</a:t>
            </a:r>
            <a:r>
              <a:rPr lang="lv-LV" dirty="0"/>
              <a:t>, </a:t>
            </a:r>
            <a:r>
              <a:rPr lang="lv-LV" dirty="0" err="1"/>
              <a:t>Inner</a:t>
            </a:r>
            <a:r>
              <a:rPr lang="lv-LV" dirty="0"/>
              <a:t> </a:t>
            </a:r>
            <a:r>
              <a:rPr lang="lv-LV" dirty="0" err="1"/>
              <a:t>Join</a:t>
            </a:r>
            <a:r>
              <a:rPr lang="lv-LV" dirty="0"/>
              <a:t>, </a:t>
            </a:r>
            <a:r>
              <a:rPr lang="lv-LV" dirty="0" err="1"/>
              <a:t>Left</a:t>
            </a:r>
            <a:r>
              <a:rPr lang="lv-LV" dirty="0"/>
              <a:t> </a:t>
            </a:r>
            <a:r>
              <a:rPr lang="lv-LV" dirty="0" err="1"/>
              <a:t>Outer</a:t>
            </a:r>
            <a:r>
              <a:rPr lang="lv-LV" dirty="0"/>
              <a:t> </a:t>
            </a:r>
            <a:r>
              <a:rPr lang="lv-LV" dirty="0" err="1"/>
              <a:t>Join</a:t>
            </a:r>
            <a:r>
              <a:rPr lang="lv-LV" dirty="0"/>
              <a:t>, </a:t>
            </a:r>
            <a:r>
              <a:rPr lang="lv-LV" dirty="0" err="1"/>
              <a:t>Right</a:t>
            </a:r>
            <a:r>
              <a:rPr lang="lv-LV" dirty="0"/>
              <a:t> </a:t>
            </a:r>
            <a:r>
              <a:rPr lang="lv-LV" dirty="0" err="1"/>
              <a:t>Outer</a:t>
            </a:r>
            <a:r>
              <a:rPr lang="lv-LV" dirty="0"/>
              <a:t> </a:t>
            </a:r>
            <a:r>
              <a:rPr lang="lv-LV" dirty="0" err="1"/>
              <a:t>Join</a:t>
            </a:r>
            <a:r>
              <a:rPr lang="lv-LV" dirty="0"/>
              <a:t>, </a:t>
            </a:r>
            <a:r>
              <a:rPr lang="lv-LV" dirty="0" err="1"/>
              <a:t>Full</a:t>
            </a:r>
            <a:r>
              <a:rPr lang="lv-LV" dirty="0"/>
              <a:t> </a:t>
            </a:r>
            <a:r>
              <a:rPr lang="lv-LV" dirty="0" err="1"/>
              <a:t>Outer</a:t>
            </a:r>
            <a:r>
              <a:rPr lang="lv-LV" dirty="0"/>
              <a:t> </a:t>
            </a:r>
            <a:r>
              <a:rPr lang="lv-LV" dirty="0" err="1"/>
              <a:t>Join</a:t>
            </a:r>
            <a:r>
              <a:rPr lang="lv-LV" dirty="0"/>
              <a:t>, bet</a:t>
            </a:r>
            <a:endParaRPr lang="en-US" dirty="0"/>
          </a:p>
          <a:p>
            <a:pPr marL="0" indent="0">
              <a:buNone/>
            </a:pPr>
            <a:endParaRPr lang="en-US" dirty="0"/>
          </a:p>
          <a:p>
            <a:pPr marL="0" indent="0">
              <a:buNone/>
            </a:pPr>
            <a:r>
              <a:rPr lang="lv-LV" b="1" dirty="0" err="1"/>
              <a:t>JOIN_condition</a:t>
            </a:r>
            <a:r>
              <a:rPr lang="lv-LV" dirty="0"/>
              <a:t> </a:t>
            </a:r>
            <a:r>
              <a:rPr lang="en-US" dirty="0"/>
              <a:t>statement</a:t>
            </a:r>
            <a:r>
              <a:rPr lang="lv-LV" dirty="0"/>
              <a:t>: </a:t>
            </a:r>
            <a:endParaRPr lang="en-US" dirty="0"/>
          </a:p>
          <a:p>
            <a:pPr marL="0" indent="0">
              <a:buNone/>
            </a:pPr>
            <a:r>
              <a:rPr lang="en-US" i="1" dirty="0"/>
              <a:t>table</a:t>
            </a:r>
            <a:r>
              <a:rPr lang="lv-LV" i="1" dirty="0"/>
              <a:t>1.</a:t>
            </a:r>
            <a:r>
              <a:rPr lang="en-US" i="1" dirty="0"/>
              <a:t>column</a:t>
            </a:r>
            <a:r>
              <a:rPr lang="lv-LV" i="1" dirty="0"/>
              <a:t>1 </a:t>
            </a:r>
            <a:r>
              <a:rPr lang="en-US" i="1" dirty="0"/>
              <a:t>Comparison_</a:t>
            </a:r>
            <a:r>
              <a:rPr lang="lv-LV" i="1" dirty="0"/>
              <a:t>operator </a:t>
            </a:r>
            <a:r>
              <a:rPr lang="lv-LV" i="1" dirty="0" err="1"/>
              <a:t>tab</a:t>
            </a:r>
            <a:r>
              <a:rPr lang="en-US" i="1" dirty="0"/>
              <a:t>le</a:t>
            </a:r>
            <a:r>
              <a:rPr lang="lv-LV" i="1" dirty="0"/>
              <a:t>2.</a:t>
            </a:r>
            <a:r>
              <a:rPr lang="en-US" i="1" dirty="0"/>
              <a:t>column</a:t>
            </a:r>
            <a:r>
              <a:rPr lang="lv-LV" i="1" dirty="0"/>
              <a:t>2</a:t>
            </a:r>
            <a:endParaRPr lang="en-US" dirty="0"/>
          </a:p>
          <a:p>
            <a:pPr marL="0" indent="0">
              <a:buNone/>
            </a:pPr>
            <a:r>
              <a:rPr lang="en-US" dirty="0"/>
              <a:t>You can combine several conditions with AND </a:t>
            </a:r>
            <a:r>
              <a:rPr lang="en-US" dirty="0" err="1"/>
              <a:t>and</a:t>
            </a:r>
            <a:r>
              <a:rPr lang="en-US" dirty="0"/>
              <a:t> OR.</a:t>
            </a:r>
          </a:p>
        </p:txBody>
      </p:sp>
    </p:spTree>
    <p:extLst>
      <p:ext uri="{BB962C8B-B14F-4D97-AF65-F5344CB8AC3E}">
        <p14:creationId xmlns:p14="http://schemas.microsoft.com/office/powerpoint/2010/main" val="648578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1827"/>
            <a:ext cx="7886700" cy="1325563"/>
          </a:xfrm>
        </p:spPr>
        <p:txBody>
          <a:bodyPr/>
          <a:lstStyle/>
          <a:p>
            <a:pPr algn="ctr"/>
            <a:r>
              <a:rPr lang="en-US" dirty="0"/>
              <a:t>Join types</a:t>
            </a:r>
          </a:p>
        </p:txBody>
      </p:sp>
      <p:graphicFrame>
        <p:nvGraphicFramePr>
          <p:cNvPr id="4" name="Table 3"/>
          <p:cNvGraphicFramePr>
            <a:graphicFrameLocks noGrp="1"/>
          </p:cNvGraphicFramePr>
          <p:nvPr>
            <p:extLst>
              <p:ext uri="{D42A27DB-BD31-4B8C-83A1-F6EECF244321}">
                <p14:modId xmlns:p14="http://schemas.microsoft.com/office/powerpoint/2010/main" val="492408533"/>
              </p:ext>
            </p:extLst>
          </p:nvPr>
        </p:nvGraphicFramePr>
        <p:xfrm>
          <a:off x="293914" y="1033674"/>
          <a:ext cx="8588829" cy="5247383"/>
        </p:xfrm>
        <a:graphic>
          <a:graphicData uri="http://schemas.openxmlformats.org/drawingml/2006/table">
            <a:tbl>
              <a:tblPr firstRow="1" firstCol="1" lastRow="1" lastCol="1" bandRow="1" bandCol="1"/>
              <a:tblGrid>
                <a:gridCol w="1643743">
                  <a:extLst>
                    <a:ext uri="{9D8B030D-6E8A-4147-A177-3AD203B41FA5}">
                      <a16:colId xmlns:a16="http://schemas.microsoft.com/office/drawing/2014/main" val="3376790490"/>
                    </a:ext>
                  </a:extLst>
                </a:gridCol>
                <a:gridCol w="6945086">
                  <a:extLst>
                    <a:ext uri="{9D8B030D-6E8A-4147-A177-3AD203B41FA5}">
                      <a16:colId xmlns:a16="http://schemas.microsoft.com/office/drawing/2014/main" val="1492094157"/>
                    </a:ext>
                  </a:extLst>
                </a:gridCol>
              </a:tblGrid>
              <a:tr h="379425">
                <a:tc>
                  <a:txBody>
                    <a:bodyPr/>
                    <a:lstStyle/>
                    <a:p>
                      <a:pPr indent="228600" algn="ctr">
                        <a:spcAft>
                          <a:spcPts val="0"/>
                        </a:spcAft>
                        <a:tabLst>
                          <a:tab pos="685800" algn="l"/>
                          <a:tab pos="1485900" algn="l"/>
                        </a:tabLst>
                      </a:pPr>
                      <a:r>
                        <a:rPr lang="en-US" sz="1800" b="1" dirty="0">
                          <a:effectLst/>
                          <a:latin typeface="Times New Roman" panose="02020603050405020304" pitchFamily="18" charset="0"/>
                          <a:ea typeface="Times New Roman" panose="02020603050405020304" pitchFamily="18" charset="0"/>
                        </a:rPr>
                        <a:t>Join type</a:t>
                      </a:r>
                      <a:endParaRPr lang="en-US" sz="1400" dirty="0">
                        <a:effectLst/>
                        <a:latin typeface="Times New Roman" panose="02020603050405020304" pitchFamily="18" charset="0"/>
                        <a:ea typeface="Times New Roman" panose="02020603050405020304" pitchFamily="18" charset="0"/>
                      </a:endParaRP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spcAft>
                          <a:spcPts val="0"/>
                        </a:spcAft>
                        <a:tabLst>
                          <a:tab pos="685800" algn="l"/>
                          <a:tab pos="1485900" algn="l"/>
                        </a:tabLst>
                      </a:pPr>
                      <a:r>
                        <a:rPr lang="en-US" sz="1800" b="1" dirty="0">
                          <a:effectLst/>
                          <a:latin typeface="Times New Roman" panose="02020603050405020304" pitchFamily="18" charset="0"/>
                          <a:ea typeface="Times New Roman" panose="02020603050405020304" pitchFamily="18" charset="0"/>
                        </a:rPr>
                        <a:t>Comment</a:t>
                      </a:r>
                      <a:endParaRPr lang="en-US" sz="1400" dirty="0">
                        <a:effectLst/>
                        <a:latin typeface="Times New Roman" panose="02020603050405020304" pitchFamily="18" charset="0"/>
                        <a:ea typeface="Times New Roman" panose="02020603050405020304" pitchFamily="18" charset="0"/>
                      </a:endParaRP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6676309"/>
                  </a:ext>
                </a:extLst>
              </a:tr>
              <a:tr h="668241">
                <a:tc>
                  <a:txBody>
                    <a:bodyPr/>
                    <a:lstStyle/>
                    <a:p>
                      <a:pPr indent="228600" algn="just">
                        <a:spcAft>
                          <a:spcPts val="0"/>
                        </a:spcAft>
                        <a:tabLst>
                          <a:tab pos="685800" algn="l"/>
                          <a:tab pos="1485900" algn="l"/>
                        </a:tabLst>
                      </a:pPr>
                      <a:r>
                        <a:rPr lang="lv-LV" sz="1400">
                          <a:effectLst/>
                          <a:latin typeface="Times New Roman" panose="02020603050405020304" pitchFamily="18" charset="0"/>
                          <a:ea typeface="Times New Roman" panose="02020603050405020304" pitchFamily="18" charset="0"/>
                        </a:rPr>
                        <a:t>Cross Join</a:t>
                      </a:r>
                      <a:endParaRPr lang="en-US" sz="140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In a CROSS JOIN there is a join for each row of one table to every row of another table. This usually happens when the matching column or WHERE condition is not specified.</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2775592"/>
                  </a:ext>
                </a:extLst>
              </a:tr>
              <a:tr h="668241">
                <a:tc>
                  <a:txBody>
                    <a:bodyPr/>
                    <a:lstStyle/>
                    <a:p>
                      <a:pPr indent="228600" algn="just">
                        <a:spcAft>
                          <a:spcPts val="0"/>
                        </a:spcAft>
                        <a:tabLst>
                          <a:tab pos="685800" algn="l"/>
                          <a:tab pos="1485900" algn="l"/>
                        </a:tabLst>
                      </a:pPr>
                      <a:r>
                        <a:rPr lang="lv-LV" sz="1400">
                          <a:effectLst/>
                          <a:latin typeface="Times New Roman" panose="02020603050405020304" pitchFamily="18" charset="0"/>
                          <a:ea typeface="Times New Roman" panose="02020603050405020304" pitchFamily="18" charset="0"/>
                        </a:rPr>
                        <a:t>Natural Join</a:t>
                      </a:r>
                      <a:endParaRPr lang="en-US" sz="140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Natural Join joins two tables based on same attribute name and datatypes. The resulting table will contain all the attributes of both the table but keep only one copy of each common column.</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059772"/>
                  </a:ext>
                </a:extLst>
              </a:tr>
              <a:tr h="701190">
                <a:tc>
                  <a:txBody>
                    <a:bodyPr/>
                    <a:lstStyle/>
                    <a:p>
                      <a:pPr indent="228600" algn="just">
                        <a:spcAft>
                          <a:spcPts val="0"/>
                        </a:spcAft>
                        <a:tabLst>
                          <a:tab pos="685800" algn="l"/>
                          <a:tab pos="1485900" algn="l"/>
                        </a:tabLst>
                      </a:pPr>
                      <a:r>
                        <a:rPr lang="lv-LV" sz="1400" dirty="0" err="1">
                          <a:effectLst/>
                          <a:latin typeface="Times New Roman" panose="02020603050405020304" pitchFamily="18" charset="0"/>
                          <a:ea typeface="Times New Roman" panose="02020603050405020304" pitchFamily="18" charset="0"/>
                        </a:rPr>
                        <a:t>Inner</a:t>
                      </a:r>
                      <a:r>
                        <a:rPr lang="lv-LV" sz="1400" dirty="0">
                          <a:effectLst/>
                          <a:latin typeface="Times New Roman" panose="02020603050405020304" pitchFamily="18" charset="0"/>
                          <a:ea typeface="Times New Roman" panose="02020603050405020304" pitchFamily="18" charset="0"/>
                        </a:rPr>
                        <a:t> </a:t>
                      </a:r>
                      <a:r>
                        <a:rPr lang="lv-LV" sz="1400" dirty="0" err="1">
                          <a:effectLst/>
                          <a:latin typeface="Times New Roman" panose="02020603050405020304" pitchFamily="18" charset="0"/>
                          <a:ea typeface="Times New Roman" panose="02020603050405020304" pitchFamily="18" charset="0"/>
                        </a:rPr>
                        <a:t>Join</a:t>
                      </a:r>
                      <a:endParaRPr lang="en-US" sz="1400" dirty="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The INNER JOIN keyword selects all rows from both the tables as long as the condition satisfies. This keyword will create the result-set by combining all rows from both the tables where the condition satisfies </a:t>
                      </a:r>
                      <a:r>
                        <a:rPr lang="en-US" sz="1400" dirty="0" err="1">
                          <a:effectLst/>
                          <a:latin typeface="Times New Roman" panose="02020603050405020304" pitchFamily="18" charset="0"/>
                          <a:ea typeface="Times New Roman" panose="02020603050405020304" pitchFamily="18" charset="0"/>
                        </a:rPr>
                        <a:t>i.e</a:t>
                      </a:r>
                      <a:r>
                        <a:rPr lang="en-US" sz="1400" dirty="0">
                          <a:effectLst/>
                          <a:latin typeface="Times New Roman" panose="02020603050405020304" pitchFamily="18" charset="0"/>
                          <a:ea typeface="Times New Roman" panose="02020603050405020304" pitchFamily="18" charset="0"/>
                        </a:rPr>
                        <a:t> value of the common field will be same.</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122266"/>
                  </a:ext>
                </a:extLst>
              </a:tr>
              <a:tr h="696686">
                <a:tc>
                  <a:txBody>
                    <a:bodyPr/>
                    <a:lstStyle/>
                    <a:p>
                      <a:pPr indent="228600" algn="just">
                        <a:spcAft>
                          <a:spcPts val="0"/>
                        </a:spcAft>
                        <a:tabLst>
                          <a:tab pos="685800" algn="l"/>
                          <a:tab pos="1485900" algn="l"/>
                        </a:tabLst>
                      </a:pPr>
                      <a:r>
                        <a:rPr lang="lv-LV" sz="1400">
                          <a:effectLst/>
                          <a:latin typeface="Times New Roman" panose="02020603050405020304" pitchFamily="18" charset="0"/>
                          <a:ea typeface="Times New Roman" panose="02020603050405020304" pitchFamily="18" charset="0"/>
                        </a:rPr>
                        <a:t>Left Outer Join</a:t>
                      </a:r>
                      <a:endParaRPr lang="en-US" sz="140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This join returns all the rows of the table on the left side of the join and matching rows for the table on the right side of join. The rows for which there is no matching row on right side, the result-set will contain null. LEFT JOIN is also known as LEFT OUTER JOIN.</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579116"/>
                  </a:ext>
                </a:extLst>
              </a:tr>
              <a:tr h="835301">
                <a:tc>
                  <a:txBody>
                    <a:bodyPr/>
                    <a:lstStyle/>
                    <a:p>
                      <a:pPr indent="228600" algn="just">
                        <a:spcAft>
                          <a:spcPts val="0"/>
                        </a:spcAft>
                        <a:tabLst>
                          <a:tab pos="685800" algn="l"/>
                          <a:tab pos="1485900" algn="l"/>
                        </a:tabLst>
                      </a:pPr>
                      <a:r>
                        <a:rPr lang="lv-LV" sz="1400">
                          <a:effectLst/>
                          <a:latin typeface="Times New Roman" panose="02020603050405020304" pitchFamily="18" charset="0"/>
                          <a:ea typeface="Times New Roman" panose="02020603050405020304" pitchFamily="18" charset="0"/>
                        </a:rPr>
                        <a:t>Right Outer Join</a:t>
                      </a:r>
                      <a:endParaRPr lang="en-US" sz="140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RIGHT JOIN is similar to LEFT JOIN. This join returns all the rows of the table on the right side of the join and matching rows for the table on the left side of join. The rows for which there is no matching row on left side, the result-set will contain null. RIGHT JOIN is also known as RIGHT OUTER JOIN.</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4157631"/>
                  </a:ext>
                </a:extLst>
              </a:tr>
              <a:tr h="501181">
                <a:tc>
                  <a:txBody>
                    <a:bodyPr/>
                    <a:lstStyle/>
                    <a:p>
                      <a:pPr indent="228600" algn="just">
                        <a:spcAft>
                          <a:spcPts val="0"/>
                        </a:spcAft>
                        <a:tabLst>
                          <a:tab pos="685800" algn="l"/>
                          <a:tab pos="1485900" algn="l"/>
                        </a:tabLst>
                      </a:pPr>
                      <a:r>
                        <a:rPr lang="lv-LV" sz="1400">
                          <a:effectLst/>
                          <a:latin typeface="Times New Roman" panose="02020603050405020304" pitchFamily="18" charset="0"/>
                          <a:ea typeface="Times New Roman" panose="02020603050405020304" pitchFamily="18" charset="0"/>
                        </a:rPr>
                        <a:t>Full Outer Join</a:t>
                      </a:r>
                      <a:endParaRPr lang="en-US" sz="140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FULL JOIN creates the result-set by combining result of both LEFT JOIN and RIGHT JOIN. The result-set will contain all the rows from both the tables. The rows for which there is no matching, the result-set will contain NULL values.</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6088179"/>
                  </a:ext>
                </a:extLst>
              </a:tr>
              <a:tr h="167060">
                <a:tc>
                  <a:txBody>
                    <a:bodyPr/>
                    <a:lstStyle/>
                    <a:p>
                      <a:pPr indent="228600" algn="just">
                        <a:spcAft>
                          <a:spcPts val="0"/>
                        </a:spcAft>
                        <a:tabLst>
                          <a:tab pos="685800" algn="l"/>
                          <a:tab pos="1485900" algn="l"/>
                        </a:tabLst>
                      </a:pPr>
                      <a:r>
                        <a:rPr lang="lv-LV" sz="1400" dirty="0" err="1">
                          <a:effectLst/>
                          <a:latin typeface="Times New Roman" panose="02020603050405020304" pitchFamily="18" charset="0"/>
                          <a:ea typeface="Times New Roman" panose="02020603050405020304" pitchFamily="18" charset="0"/>
                        </a:rPr>
                        <a:t>Self</a:t>
                      </a:r>
                      <a:r>
                        <a:rPr lang="lv-LV" sz="1400" dirty="0">
                          <a:effectLst/>
                          <a:latin typeface="Times New Roman" panose="02020603050405020304" pitchFamily="18" charset="0"/>
                          <a:ea typeface="Times New Roman" panose="02020603050405020304" pitchFamily="18" charset="0"/>
                        </a:rPr>
                        <a:t> </a:t>
                      </a:r>
                      <a:r>
                        <a:rPr lang="lv-LV" sz="1400" dirty="0" err="1">
                          <a:effectLst/>
                          <a:latin typeface="Times New Roman" panose="02020603050405020304" pitchFamily="18" charset="0"/>
                          <a:ea typeface="Times New Roman" panose="02020603050405020304" pitchFamily="18" charset="0"/>
                        </a:rPr>
                        <a:t>Join</a:t>
                      </a:r>
                      <a:endParaRPr lang="en-US" sz="1400" dirty="0">
                        <a:effectLst/>
                        <a:latin typeface="Times New Roman" panose="02020603050405020304" pitchFamily="18" charset="0"/>
                        <a:ea typeface="Times New Roman" panose="02020603050405020304" pitchFamily="18" charset="0"/>
                      </a:endParaRPr>
                    </a:p>
                  </a:txBody>
                  <a:tcPr marL="55628" marR="5562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400" dirty="0">
                          <a:effectLst/>
                          <a:latin typeface="Times New Roman" panose="02020603050405020304" pitchFamily="18" charset="0"/>
                          <a:ea typeface="Times New Roman" panose="02020603050405020304" pitchFamily="18" charset="0"/>
                        </a:rPr>
                        <a:t>As the name signifies, in SELF JOIN a table is joined to itself. That is, each row of the table is joined with itself and all other rows depending on some conditions. In other words we can say that it is a join between two copies of the same table.</a:t>
                      </a:r>
                    </a:p>
                  </a:txBody>
                  <a:tcPr marL="55628" marR="5562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9371478"/>
                  </a:ext>
                </a:extLst>
              </a:tr>
            </a:tbl>
          </a:graphicData>
        </a:graphic>
      </p:graphicFrame>
      <p:sp>
        <p:nvSpPr>
          <p:cNvPr id="5" name="Rectangle 4"/>
          <p:cNvSpPr/>
          <p:nvPr/>
        </p:nvSpPr>
        <p:spPr>
          <a:xfrm>
            <a:off x="437321" y="6402376"/>
            <a:ext cx="8328992" cy="369332"/>
          </a:xfrm>
          <a:prstGeom prst="rect">
            <a:avLst/>
          </a:prstGeom>
        </p:spPr>
        <p:txBody>
          <a:bodyPr wrap="square">
            <a:spAutoFit/>
          </a:bodyPr>
          <a:lstStyle/>
          <a:p>
            <a:r>
              <a:rPr lang="en-US" b="1" dirty="0">
                <a:latin typeface="Times New Roman" panose="02020603050405020304" pitchFamily="18" charset="0"/>
                <a:ea typeface="Times New Roman" panose="02020603050405020304" pitchFamily="18" charset="0"/>
              </a:rPr>
              <a:t>JOINS exist only during query execution!</a:t>
            </a:r>
            <a:endParaRPr lang="en-US" b="1" dirty="0"/>
          </a:p>
        </p:txBody>
      </p:sp>
    </p:spTree>
    <p:extLst>
      <p:ext uri="{BB962C8B-B14F-4D97-AF65-F5344CB8AC3E}">
        <p14:creationId xmlns:p14="http://schemas.microsoft.com/office/powerpoint/2010/main" val="180180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779"/>
            <a:ext cx="7886700" cy="1325563"/>
          </a:xfrm>
        </p:spPr>
        <p:txBody>
          <a:bodyPr/>
          <a:lstStyle/>
          <a:p>
            <a:pPr algn="ctr"/>
            <a:r>
              <a:rPr lang="en-US" dirty="0"/>
              <a:t>JOIN multiple tables </a:t>
            </a:r>
          </a:p>
        </p:txBody>
      </p:sp>
      <p:sp>
        <p:nvSpPr>
          <p:cNvPr id="3" name="Content Placeholder 2"/>
          <p:cNvSpPr>
            <a:spLocks noGrp="1"/>
          </p:cNvSpPr>
          <p:nvPr>
            <p:ph idx="1"/>
          </p:nvPr>
        </p:nvSpPr>
        <p:spPr>
          <a:xfrm>
            <a:off x="139149" y="1321904"/>
            <a:ext cx="8835886" cy="5340153"/>
          </a:xfrm>
        </p:spPr>
        <p:txBody>
          <a:bodyPr>
            <a:normAutofit fontScale="92500" lnSpcReduction="20000"/>
          </a:bodyPr>
          <a:lstStyle/>
          <a:p>
            <a:pPr marL="0" indent="0" algn="just">
              <a:buNone/>
            </a:pPr>
            <a:r>
              <a:rPr lang="en-US" dirty="0"/>
              <a:t>In addition to the mentioned join format (Join) you can join tables in WHERE format:</a:t>
            </a:r>
            <a:r>
              <a:rPr lang="lv-LV" dirty="0"/>
              <a:t> </a:t>
            </a:r>
            <a:endParaRPr lang="en-US" dirty="0"/>
          </a:p>
          <a:p>
            <a:pPr marL="0" indent="0" algn="just">
              <a:buNone/>
            </a:pPr>
            <a:endParaRPr lang="en-US" dirty="0"/>
          </a:p>
          <a:p>
            <a:pPr marL="0" indent="0" algn="just">
              <a:spcBef>
                <a:spcPts val="0"/>
              </a:spcBef>
              <a:buNone/>
            </a:pPr>
            <a:r>
              <a:rPr lang="lv-LV" i="1" dirty="0"/>
              <a:t>SELECT	</a:t>
            </a:r>
            <a:r>
              <a:rPr lang="en-US" i="1" dirty="0"/>
              <a:t>columns</a:t>
            </a:r>
            <a:r>
              <a:rPr lang="lv-LV" i="1" dirty="0"/>
              <a:t>					</a:t>
            </a:r>
            <a:endParaRPr lang="en-US" i="1" dirty="0"/>
          </a:p>
          <a:p>
            <a:pPr marL="0" indent="0" algn="just">
              <a:spcBef>
                <a:spcPts val="0"/>
              </a:spcBef>
              <a:buNone/>
            </a:pPr>
            <a:r>
              <a:rPr lang="lv-LV" i="1" dirty="0"/>
              <a:t>FROM</a:t>
            </a:r>
            <a:r>
              <a:rPr lang="en-US" i="1" dirty="0"/>
              <a:t>		</a:t>
            </a:r>
            <a:r>
              <a:rPr lang="lv-LV" i="1" dirty="0" err="1"/>
              <a:t>ta</a:t>
            </a:r>
            <a:r>
              <a:rPr lang="en-US" i="1" dirty="0" err="1"/>
              <a:t>ble</a:t>
            </a:r>
            <a:r>
              <a:rPr lang="lv-LV" i="1" dirty="0"/>
              <a:t>1, </a:t>
            </a:r>
            <a:r>
              <a:rPr lang="lv-LV" i="1" dirty="0" err="1"/>
              <a:t>tab</a:t>
            </a:r>
            <a:r>
              <a:rPr lang="en-US" i="1" dirty="0"/>
              <a:t>le</a:t>
            </a:r>
            <a:r>
              <a:rPr lang="lv-LV" i="1" dirty="0"/>
              <a:t>2, ...</a:t>
            </a:r>
            <a:endParaRPr lang="en-US" dirty="0"/>
          </a:p>
          <a:p>
            <a:pPr marL="0" indent="0" algn="just">
              <a:spcBef>
                <a:spcPts val="0"/>
              </a:spcBef>
              <a:buNone/>
            </a:pPr>
            <a:r>
              <a:rPr lang="lv-LV" i="1" dirty="0"/>
              <a:t>WHERE	</a:t>
            </a:r>
            <a:r>
              <a:rPr lang="en-US" i="1" dirty="0" err="1"/>
              <a:t>join_condition</a:t>
            </a:r>
            <a:r>
              <a:rPr lang="en-US" i="1" dirty="0"/>
              <a:t>	</a:t>
            </a:r>
            <a:r>
              <a:rPr lang="lv-LV" i="1" dirty="0"/>
              <a:t>				 [GROUP BY	...]							 [HAVING	...]						 </a:t>
            </a:r>
            <a:endParaRPr lang="en-US" i="1" dirty="0"/>
          </a:p>
          <a:p>
            <a:pPr marL="0" indent="0" algn="just">
              <a:spcBef>
                <a:spcPts val="0"/>
              </a:spcBef>
              <a:buNone/>
            </a:pPr>
            <a:r>
              <a:rPr lang="lv-LV" i="1" dirty="0"/>
              <a:t>[ORD</a:t>
            </a:r>
            <a:r>
              <a:rPr lang="en-US" i="1" dirty="0"/>
              <a:t>E</a:t>
            </a:r>
            <a:r>
              <a:rPr lang="lv-LV" i="1" dirty="0"/>
              <a:t>R BY	...]; </a:t>
            </a:r>
            <a:endParaRPr lang="en-US" i="1" dirty="0"/>
          </a:p>
          <a:p>
            <a:pPr marL="0" indent="0" algn="just">
              <a:buNone/>
            </a:pPr>
            <a:endParaRPr lang="en-US" dirty="0"/>
          </a:p>
          <a:p>
            <a:pPr marL="0" indent="0" algn="just">
              <a:buNone/>
            </a:pPr>
            <a:r>
              <a:rPr lang="en-US" b="1" dirty="0"/>
              <a:t>join</a:t>
            </a:r>
            <a:r>
              <a:rPr lang="lv-LV" b="1" dirty="0"/>
              <a:t>_</a:t>
            </a:r>
            <a:r>
              <a:rPr lang="lv-LV" b="1" dirty="0" err="1"/>
              <a:t>condition</a:t>
            </a:r>
            <a:r>
              <a:rPr lang="lv-LV" dirty="0"/>
              <a:t> </a:t>
            </a:r>
            <a:r>
              <a:rPr lang="en-US" dirty="0"/>
              <a:t>statement</a:t>
            </a:r>
            <a:r>
              <a:rPr lang="lv-LV" dirty="0"/>
              <a:t>: </a:t>
            </a:r>
            <a:endParaRPr lang="en-US" dirty="0"/>
          </a:p>
          <a:p>
            <a:pPr marL="0" indent="0">
              <a:buNone/>
            </a:pPr>
            <a:r>
              <a:rPr lang="en-US" i="1" dirty="0"/>
              <a:t>table</a:t>
            </a:r>
            <a:r>
              <a:rPr lang="lv-LV" i="1" dirty="0"/>
              <a:t>1.</a:t>
            </a:r>
            <a:r>
              <a:rPr lang="en-US" i="1" dirty="0"/>
              <a:t>column</a:t>
            </a:r>
            <a:r>
              <a:rPr lang="lv-LV" i="1" dirty="0"/>
              <a:t>1 </a:t>
            </a:r>
            <a:r>
              <a:rPr lang="en-US" i="1" dirty="0"/>
              <a:t>Comparison_</a:t>
            </a:r>
            <a:r>
              <a:rPr lang="lv-LV" i="1" dirty="0"/>
              <a:t>operator </a:t>
            </a:r>
            <a:r>
              <a:rPr lang="lv-LV" i="1" dirty="0" err="1"/>
              <a:t>tab</a:t>
            </a:r>
            <a:r>
              <a:rPr lang="en-US" i="1" dirty="0"/>
              <a:t>le</a:t>
            </a:r>
            <a:r>
              <a:rPr lang="lv-LV" i="1" dirty="0"/>
              <a:t>2.</a:t>
            </a:r>
            <a:r>
              <a:rPr lang="en-US" i="1" dirty="0"/>
              <a:t>column</a:t>
            </a:r>
            <a:r>
              <a:rPr lang="lv-LV" i="1" dirty="0"/>
              <a:t>2</a:t>
            </a:r>
            <a:endParaRPr lang="en-US" dirty="0"/>
          </a:p>
          <a:p>
            <a:pPr marL="0" indent="0" algn="just">
              <a:buNone/>
            </a:pPr>
            <a:endParaRPr lang="en-US" i="1" dirty="0"/>
          </a:p>
          <a:p>
            <a:pPr marL="0" indent="0" algn="just">
              <a:buNone/>
            </a:pPr>
            <a:r>
              <a:rPr lang="en-US" dirty="0"/>
              <a:t>The standard SQL language requires the use of join union syntax, but in later versions of SQL, you can also use the WHERE format.</a:t>
            </a:r>
          </a:p>
        </p:txBody>
      </p:sp>
    </p:spTree>
    <p:extLst>
      <p:ext uri="{BB962C8B-B14F-4D97-AF65-F5344CB8AC3E}">
        <p14:creationId xmlns:p14="http://schemas.microsoft.com/office/powerpoint/2010/main" val="3096784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JOIN multiple tables </a:t>
            </a:r>
          </a:p>
        </p:txBody>
      </p:sp>
      <p:sp>
        <p:nvSpPr>
          <p:cNvPr id="3" name="Content Placeholder 2"/>
          <p:cNvSpPr>
            <a:spLocks noGrp="1"/>
          </p:cNvSpPr>
          <p:nvPr>
            <p:ph idx="1"/>
          </p:nvPr>
        </p:nvSpPr>
        <p:spPr>
          <a:xfrm>
            <a:off x="139149" y="1825624"/>
            <a:ext cx="8835886" cy="4873349"/>
          </a:xfrm>
        </p:spPr>
        <p:txBody>
          <a:bodyPr>
            <a:normAutofit/>
          </a:bodyPr>
          <a:lstStyle/>
          <a:p>
            <a:pPr marL="0" indent="0">
              <a:buNone/>
            </a:pPr>
            <a:r>
              <a:rPr lang="en-US" dirty="0"/>
              <a:t>Query execution sequence:</a:t>
            </a:r>
          </a:p>
          <a:p>
            <a:pPr marL="514350" indent="-514350">
              <a:buFont typeface="+mj-lt"/>
              <a:buAutoNum type="arabicPeriod"/>
            </a:pPr>
            <a:r>
              <a:rPr lang="en-US" dirty="0"/>
              <a:t>The Join operator of the FROM statement is executed</a:t>
            </a:r>
          </a:p>
          <a:p>
            <a:pPr marL="514350" indent="-514350">
              <a:buFont typeface="+mj-lt"/>
              <a:buAutoNum type="arabicPeriod"/>
            </a:pPr>
            <a:r>
              <a:rPr lang="en-US" dirty="0"/>
              <a:t>WHERE statement is executed</a:t>
            </a:r>
          </a:p>
          <a:p>
            <a:pPr marL="514350" indent="-514350">
              <a:buFont typeface="+mj-lt"/>
              <a:buAutoNum type="arabicPeriod"/>
            </a:pPr>
            <a:r>
              <a:rPr lang="en-US" dirty="0"/>
              <a:t>GROUP BY statement is executed</a:t>
            </a:r>
          </a:p>
          <a:p>
            <a:pPr marL="514350" indent="-514350">
              <a:buFont typeface="+mj-lt"/>
              <a:buAutoNum type="arabicPeriod"/>
            </a:pPr>
            <a:r>
              <a:rPr lang="en-US" dirty="0"/>
              <a:t>Rows that satisfy the group condition are selected (HAVING statement)</a:t>
            </a:r>
          </a:p>
          <a:p>
            <a:pPr marL="514350" indent="-514350">
              <a:buFont typeface="+mj-lt"/>
              <a:buAutoNum type="arabicPeriod"/>
            </a:pPr>
            <a:r>
              <a:rPr lang="en-US" dirty="0"/>
              <a:t>The result is sorted (ORDER BY sentence)</a:t>
            </a:r>
          </a:p>
        </p:txBody>
      </p:sp>
    </p:spTree>
    <p:extLst>
      <p:ext uri="{BB962C8B-B14F-4D97-AF65-F5344CB8AC3E}">
        <p14:creationId xmlns:p14="http://schemas.microsoft.com/office/powerpoint/2010/main" val="2518557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29840-6398-E808-E5F8-FA2EE327D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4D564-226F-A8A2-D09B-BB4F99952C96}"/>
              </a:ext>
            </a:extLst>
          </p:cNvPr>
          <p:cNvSpPr>
            <a:spLocks noGrp="1"/>
          </p:cNvSpPr>
          <p:nvPr>
            <p:ph type="title"/>
          </p:nvPr>
        </p:nvSpPr>
        <p:spPr/>
        <p:txBody>
          <a:bodyPr/>
          <a:lstStyle/>
          <a:p>
            <a:pPr algn="ctr"/>
            <a:r>
              <a:rPr lang="en-US" dirty="0"/>
              <a:t>JOIN multiple tables </a:t>
            </a:r>
          </a:p>
        </p:txBody>
      </p:sp>
      <p:sp>
        <p:nvSpPr>
          <p:cNvPr id="3" name="Content Placeholder 2">
            <a:extLst>
              <a:ext uri="{FF2B5EF4-FFF2-40B4-BE49-F238E27FC236}">
                <a16:creationId xmlns:a16="http://schemas.microsoft.com/office/drawing/2014/main" id="{DBDD1481-67F5-B394-A9B4-8D76A81FEA13}"/>
              </a:ext>
            </a:extLst>
          </p:cNvPr>
          <p:cNvSpPr>
            <a:spLocks noGrp="1"/>
          </p:cNvSpPr>
          <p:nvPr>
            <p:ph idx="1"/>
          </p:nvPr>
        </p:nvSpPr>
        <p:spPr>
          <a:xfrm>
            <a:off x="228599" y="1825625"/>
            <a:ext cx="8656984" cy="4883288"/>
          </a:xfrm>
        </p:spPr>
        <p:txBody>
          <a:bodyPr>
            <a:normAutofit fontScale="92500" lnSpcReduction="10000"/>
          </a:bodyPr>
          <a:lstStyle/>
          <a:p>
            <a:pPr marL="0" indent="0" algn="just">
              <a:buNone/>
            </a:pPr>
            <a:r>
              <a:rPr lang="en-US" dirty="0"/>
              <a:t>Example: Display the librarian’s ID, name, surname, and the name of the service provided.</a:t>
            </a:r>
            <a:endParaRPr lang="lv-LV" dirty="0"/>
          </a:p>
          <a:p>
            <a:pPr marL="0" indent="0" algn="just">
              <a:buNone/>
            </a:pPr>
            <a:endParaRPr lang="lv-LV" dirty="0"/>
          </a:p>
          <a:p>
            <a:pPr marL="0" indent="0" algn="just">
              <a:buNone/>
            </a:pPr>
            <a:endParaRPr lang="lv-LV" dirty="0"/>
          </a:p>
          <a:p>
            <a:pPr marL="0" indent="0" algn="just">
              <a:buNone/>
            </a:pPr>
            <a:endParaRPr lang="en-US" dirty="0"/>
          </a:p>
          <a:p>
            <a:pPr marL="0" indent="0" algn="just">
              <a:buNone/>
            </a:pPr>
            <a:endParaRPr lang="lv-LV" dirty="0"/>
          </a:p>
          <a:p>
            <a:pPr marL="0" indent="0" algn="just">
              <a:buNone/>
            </a:pPr>
            <a:r>
              <a:rPr lang="en-US" sz="1300" b="1" dirty="0"/>
              <a:t>SELECT </a:t>
            </a:r>
            <a:r>
              <a:rPr lang="en-US" sz="1300" b="1" dirty="0" err="1"/>
              <a:t>j.LibID</a:t>
            </a:r>
            <a:r>
              <a:rPr lang="en-US" sz="1300" b="1" dirty="0"/>
              <a:t> AS `Librarian ID`, </a:t>
            </a:r>
          </a:p>
          <a:p>
            <a:pPr marL="0" indent="0" algn="just">
              <a:buNone/>
            </a:pPr>
            <a:r>
              <a:rPr lang="en-US" sz="1300" b="1" dirty="0"/>
              <a:t>       </a:t>
            </a:r>
            <a:r>
              <a:rPr lang="en-US" sz="1300" b="1" dirty="0" err="1"/>
              <a:t>l.LSur</a:t>
            </a:r>
            <a:r>
              <a:rPr lang="en-US" sz="1300" b="1" dirty="0"/>
              <a:t> AS `Surname`, </a:t>
            </a:r>
          </a:p>
          <a:p>
            <a:pPr marL="0" indent="0" algn="just">
              <a:buNone/>
            </a:pPr>
            <a:r>
              <a:rPr lang="en-US" sz="1300" b="1" dirty="0"/>
              <a:t>       </a:t>
            </a:r>
            <a:r>
              <a:rPr lang="en-US" sz="1300" b="1" dirty="0" err="1"/>
              <a:t>l.Lname</a:t>
            </a:r>
            <a:r>
              <a:rPr lang="en-US" sz="1300" b="1" dirty="0"/>
              <a:t> AS `Name`, </a:t>
            </a:r>
          </a:p>
          <a:p>
            <a:pPr marL="0" indent="0" algn="just">
              <a:buNone/>
            </a:pPr>
            <a:r>
              <a:rPr lang="en-US" sz="1300" b="1" dirty="0"/>
              <a:t>       </a:t>
            </a:r>
            <a:r>
              <a:rPr lang="en-US" sz="1300" b="1" dirty="0" err="1"/>
              <a:t>s.ServiceName</a:t>
            </a:r>
            <a:r>
              <a:rPr lang="en-US" sz="1300" b="1" dirty="0"/>
              <a:t> AS `Service name`</a:t>
            </a:r>
          </a:p>
          <a:p>
            <a:pPr marL="0" indent="0" algn="just">
              <a:buNone/>
            </a:pPr>
            <a:r>
              <a:rPr lang="en-US" sz="1300" b="1" dirty="0"/>
              <a:t>FROM Services s </a:t>
            </a:r>
          </a:p>
          <a:p>
            <a:pPr marL="0" indent="0" algn="just">
              <a:buNone/>
            </a:pPr>
            <a:r>
              <a:rPr lang="en-US" sz="1300" b="1" dirty="0"/>
              <a:t>INNER JOIN Journal j ON </a:t>
            </a:r>
            <a:r>
              <a:rPr lang="en-US" sz="1300" b="1" dirty="0" err="1"/>
              <a:t>s.ServiceID</a:t>
            </a:r>
            <a:r>
              <a:rPr lang="en-US" sz="1300" b="1" dirty="0"/>
              <a:t> = </a:t>
            </a:r>
            <a:r>
              <a:rPr lang="en-US" sz="1300" b="1" dirty="0" err="1"/>
              <a:t>j.ServiceID</a:t>
            </a:r>
            <a:endParaRPr lang="en-US" sz="1300" b="1" dirty="0"/>
          </a:p>
          <a:p>
            <a:pPr marL="0" indent="0" algn="just">
              <a:buNone/>
            </a:pPr>
            <a:r>
              <a:rPr lang="en-US" sz="1300" b="1" dirty="0"/>
              <a:t>INNER JOIN Librarians l ON </a:t>
            </a:r>
            <a:r>
              <a:rPr lang="en-US" sz="1300" b="1" dirty="0" err="1"/>
              <a:t>j.LibID</a:t>
            </a:r>
            <a:r>
              <a:rPr lang="en-US" sz="1300" b="1" dirty="0"/>
              <a:t> = </a:t>
            </a:r>
            <a:r>
              <a:rPr lang="en-US" sz="1300" b="1" dirty="0" err="1"/>
              <a:t>l.LibID</a:t>
            </a:r>
            <a:endParaRPr lang="en-US" sz="1300" b="1" dirty="0"/>
          </a:p>
          <a:p>
            <a:pPr marL="0" indent="0" algn="just">
              <a:buNone/>
            </a:pPr>
            <a:r>
              <a:rPr lang="en-US" sz="1300" b="1" dirty="0"/>
              <a:t>ORDER BY </a:t>
            </a:r>
            <a:r>
              <a:rPr lang="en-US" sz="1300" b="1" dirty="0" err="1"/>
              <a:t>l.LSur</a:t>
            </a:r>
            <a:r>
              <a:rPr lang="en-US" sz="1300" b="1" dirty="0"/>
              <a:t> ASC, </a:t>
            </a:r>
            <a:r>
              <a:rPr lang="en-US" sz="1300" b="1" dirty="0" err="1"/>
              <a:t>l.Lname</a:t>
            </a:r>
            <a:r>
              <a:rPr lang="en-US" sz="1300" b="1" dirty="0"/>
              <a:t> DESC;</a:t>
            </a:r>
          </a:p>
        </p:txBody>
      </p:sp>
      <p:pic>
        <p:nvPicPr>
          <p:cNvPr id="5" name="Picture 4">
            <a:extLst>
              <a:ext uri="{FF2B5EF4-FFF2-40B4-BE49-F238E27FC236}">
                <a16:creationId xmlns:a16="http://schemas.microsoft.com/office/drawing/2014/main" id="{22C56EAB-D231-170A-795C-105729FEEF72}"/>
              </a:ext>
            </a:extLst>
          </p:cNvPr>
          <p:cNvPicPr>
            <a:picLocks noChangeAspect="1"/>
          </p:cNvPicPr>
          <p:nvPr/>
        </p:nvPicPr>
        <p:blipFill>
          <a:blip r:embed="rId2"/>
          <a:stretch>
            <a:fillRect/>
          </a:stretch>
        </p:blipFill>
        <p:spPr>
          <a:xfrm>
            <a:off x="4716793" y="2844290"/>
            <a:ext cx="3534268" cy="3648584"/>
          </a:xfrm>
          <a:prstGeom prst="rect">
            <a:avLst/>
          </a:prstGeom>
        </p:spPr>
      </p:pic>
    </p:spTree>
    <p:extLst>
      <p:ext uri="{BB962C8B-B14F-4D97-AF65-F5344CB8AC3E}">
        <p14:creationId xmlns:p14="http://schemas.microsoft.com/office/powerpoint/2010/main" val="2559459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Cross</a:t>
            </a:r>
            <a:r>
              <a:rPr lang="ru-RU" dirty="0"/>
              <a:t> </a:t>
            </a:r>
            <a:r>
              <a:rPr lang="ru-RU" dirty="0" err="1"/>
              <a:t>Join</a:t>
            </a:r>
            <a:endParaRPr lang="en-US" dirty="0"/>
          </a:p>
        </p:txBody>
      </p:sp>
      <p:sp>
        <p:nvSpPr>
          <p:cNvPr id="3" name="Content Placeholder 2"/>
          <p:cNvSpPr>
            <a:spLocks noGrp="1"/>
          </p:cNvSpPr>
          <p:nvPr>
            <p:ph idx="1"/>
          </p:nvPr>
        </p:nvSpPr>
        <p:spPr/>
        <p:txBody>
          <a:bodyPr/>
          <a:lstStyle/>
          <a:p>
            <a:pPr marL="0" indent="0" algn="just">
              <a:buNone/>
            </a:pPr>
            <a:r>
              <a:rPr lang="en-US" dirty="0"/>
              <a:t>Cross Joins are used very rarely. This type of join does not use any condition.</a:t>
            </a:r>
            <a:r>
              <a:rPr lang="en-US" b="1" dirty="0"/>
              <a:t>
</a:t>
            </a:r>
            <a:endParaRPr lang="lv-LV" dirty="0"/>
          </a:p>
          <a:p>
            <a:pPr marL="0" indent="0" algn="just">
              <a:buNone/>
            </a:pPr>
            <a:r>
              <a:rPr lang="lv-LV" dirty="0" err="1"/>
              <a:t>Cross</a:t>
            </a:r>
            <a:r>
              <a:rPr lang="lv-LV" dirty="0"/>
              <a:t> </a:t>
            </a:r>
            <a:r>
              <a:rPr lang="lv-LV" dirty="0" err="1"/>
              <a:t>Join</a:t>
            </a:r>
            <a:r>
              <a:rPr lang="lv-LV" dirty="0"/>
              <a:t> </a:t>
            </a:r>
            <a:r>
              <a:rPr lang="en-US" dirty="0"/>
              <a:t>s</a:t>
            </a:r>
            <a:r>
              <a:rPr lang="lv-LV" dirty="0" err="1"/>
              <a:t>yntax</a:t>
            </a:r>
            <a:r>
              <a:rPr lang="lv-LV" dirty="0"/>
              <a:t>:</a:t>
            </a:r>
          </a:p>
          <a:p>
            <a:pPr marL="0" indent="0" algn="just">
              <a:buNone/>
            </a:pPr>
            <a:r>
              <a:rPr lang="lv-LV" i="1" dirty="0"/>
              <a:t>SELECT	</a:t>
            </a:r>
            <a:r>
              <a:rPr lang="lv-LV" i="1" dirty="0" err="1"/>
              <a:t>Columns</a:t>
            </a:r>
            <a:endParaRPr lang="lv-LV" i="1" dirty="0"/>
          </a:p>
          <a:p>
            <a:pPr marL="0" indent="0" algn="just">
              <a:buNone/>
            </a:pPr>
            <a:r>
              <a:rPr lang="lv-LV" i="1" dirty="0"/>
              <a:t>FROM 	table1 </a:t>
            </a:r>
            <a:r>
              <a:rPr lang="lv-LV" i="1" dirty="0" err="1"/>
              <a:t>Cross</a:t>
            </a:r>
            <a:r>
              <a:rPr lang="lv-LV" i="1" dirty="0"/>
              <a:t> </a:t>
            </a:r>
            <a:r>
              <a:rPr lang="lv-LV" i="1" dirty="0" err="1"/>
              <a:t>Join</a:t>
            </a:r>
            <a:r>
              <a:rPr lang="lv-LV" i="1" dirty="0"/>
              <a:t> table2;</a:t>
            </a:r>
            <a:endParaRPr lang="en-US" dirty="0"/>
          </a:p>
        </p:txBody>
      </p:sp>
    </p:spTree>
    <p:extLst>
      <p:ext uri="{BB962C8B-B14F-4D97-AF65-F5344CB8AC3E}">
        <p14:creationId xmlns:p14="http://schemas.microsoft.com/office/powerpoint/2010/main" val="2249242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Cross</a:t>
            </a:r>
            <a:r>
              <a:rPr lang="ru-RU" dirty="0"/>
              <a:t> </a:t>
            </a:r>
            <a:r>
              <a:rPr lang="ru-RU" dirty="0" err="1"/>
              <a:t>Join</a:t>
            </a:r>
            <a:endParaRPr lang="en-US" dirty="0"/>
          </a:p>
        </p:txBody>
      </p:sp>
      <p:sp>
        <p:nvSpPr>
          <p:cNvPr id="3" name="Content Placeholder 2"/>
          <p:cNvSpPr>
            <a:spLocks noGrp="1"/>
          </p:cNvSpPr>
          <p:nvPr>
            <p:ph idx="1"/>
          </p:nvPr>
        </p:nvSpPr>
        <p:spPr>
          <a:xfrm>
            <a:off x="228599" y="1690689"/>
            <a:ext cx="8656984" cy="5018224"/>
          </a:xfrm>
        </p:spPr>
        <p:txBody>
          <a:bodyPr>
            <a:normAutofit/>
          </a:bodyPr>
          <a:lstStyle/>
          <a:p>
            <a:pPr marL="0" indent="0" algn="just">
              <a:buNone/>
            </a:pPr>
            <a:r>
              <a:rPr lang="lv-LV" dirty="0" err="1"/>
              <a:t>Example</a:t>
            </a:r>
            <a:r>
              <a:rPr lang="lv-LV" dirty="0"/>
              <a:t> (</a:t>
            </a:r>
            <a:r>
              <a:rPr lang="lv-LV" dirty="0" err="1"/>
              <a:t>Cross</a:t>
            </a:r>
            <a:r>
              <a:rPr lang="lv-LV" dirty="0"/>
              <a:t> </a:t>
            </a:r>
            <a:r>
              <a:rPr lang="lv-LV" dirty="0" err="1"/>
              <a:t>Join</a:t>
            </a:r>
            <a:r>
              <a:rPr lang="lv-LV" dirty="0"/>
              <a:t>):</a:t>
            </a:r>
          </a:p>
          <a:p>
            <a:pPr marL="0" indent="0" algn="just">
              <a:buNone/>
            </a:pPr>
            <a:r>
              <a:rPr lang="en-US" sz="1800" b="1" dirty="0"/>
              <a:t>SELECT s.*, j.*</a:t>
            </a:r>
          </a:p>
          <a:p>
            <a:pPr marL="0" indent="0" algn="just">
              <a:buNone/>
            </a:pPr>
            <a:r>
              <a:rPr lang="en-US" sz="1800" b="1" dirty="0"/>
              <a:t>FROM Services s Cross Join Journal j;</a:t>
            </a:r>
            <a:endParaRPr lang="lv-LV" sz="1800" b="1" dirty="0"/>
          </a:p>
          <a:p>
            <a:pPr marL="0" indent="0" algn="just">
              <a:buNone/>
            </a:pPr>
            <a:endParaRPr lang="en-US" dirty="0"/>
          </a:p>
          <a:p>
            <a:pPr marL="0" indent="0" algn="just">
              <a:buNone/>
            </a:pPr>
            <a:r>
              <a:rPr lang="en-US" dirty="0"/>
              <a:t>Example</a:t>
            </a:r>
            <a:r>
              <a:rPr lang="lv-LV" dirty="0"/>
              <a:t> (</a:t>
            </a:r>
            <a:r>
              <a:rPr lang="en-US" dirty="0"/>
              <a:t>without</a:t>
            </a:r>
            <a:r>
              <a:rPr lang="lv-LV" dirty="0"/>
              <a:t> </a:t>
            </a:r>
            <a:r>
              <a:rPr lang="lv-LV" dirty="0" err="1"/>
              <a:t>Cross</a:t>
            </a:r>
            <a:r>
              <a:rPr lang="lv-LV" dirty="0"/>
              <a:t> </a:t>
            </a:r>
            <a:r>
              <a:rPr lang="lv-LV" dirty="0" err="1"/>
              <a:t>Join</a:t>
            </a:r>
            <a:r>
              <a:rPr lang="lv-LV" dirty="0"/>
              <a:t>):</a:t>
            </a:r>
          </a:p>
          <a:p>
            <a:pPr marL="0" indent="0" algn="just">
              <a:buNone/>
            </a:pPr>
            <a:r>
              <a:rPr lang="en-US" sz="1800" b="1" dirty="0"/>
              <a:t>SELECT s.*, j.*</a:t>
            </a:r>
          </a:p>
          <a:p>
            <a:pPr marL="0" indent="0" algn="just">
              <a:buNone/>
            </a:pPr>
            <a:r>
              <a:rPr lang="en-US" sz="1800" b="1" dirty="0"/>
              <a:t>FROM Services s</a:t>
            </a:r>
            <a:r>
              <a:rPr lang="lv-LV" sz="1800" b="1" dirty="0"/>
              <a:t>, </a:t>
            </a:r>
            <a:r>
              <a:rPr lang="en-US" sz="1800" b="1" dirty="0"/>
              <a:t>Journal j;</a:t>
            </a:r>
          </a:p>
          <a:p>
            <a:pPr marL="0" indent="0" algn="just">
              <a:buNone/>
            </a:pPr>
            <a:endParaRPr lang="en-US" sz="1800" b="1" dirty="0"/>
          </a:p>
        </p:txBody>
      </p:sp>
    </p:spTree>
    <p:extLst>
      <p:ext uri="{BB962C8B-B14F-4D97-AF65-F5344CB8AC3E}">
        <p14:creationId xmlns:p14="http://schemas.microsoft.com/office/powerpoint/2010/main" val="1001671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Cross</a:t>
            </a:r>
            <a:r>
              <a:rPr lang="ru-RU" dirty="0"/>
              <a:t> </a:t>
            </a:r>
            <a:r>
              <a:rPr lang="ru-RU" dirty="0" err="1"/>
              <a:t>Join</a:t>
            </a:r>
            <a:endParaRPr lang="en-US" dirty="0"/>
          </a:p>
        </p:txBody>
      </p:sp>
      <p:pic>
        <p:nvPicPr>
          <p:cNvPr id="4" name="Picture 3">
            <a:extLst>
              <a:ext uri="{FF2B5EF4-FFF2-40B4-BE49-F238E27FC236}">
                <a16:creationId xmlns:a16="http://schemas.microsoft.com/office/drawing/2014/main" id="{8BC71DE2-5721-96CC-B814-14FF2C772B3C}"/>
              </a:ext>
            </a:extLst>
          </p:cNvPr>
          <p:cNvPicPr>
            <a:picLocks noChangeAspect="1"/>
          </p:cNvPicPr>
          <p:nvPr/>
        </p:nvPicPr>
        <p:blipFill>
          <a:blip r:embed="rId2"/>
          <a:stretch>
            <a:fillRect/>
          </a:stretch>
        </p:blipFill>
        <p:spPr>
          <a:xfrm>
            <a:off x="156546" y="2104882"/>
            <a:ext cx="8830907" cy="2038635"/>
          </a:xfrm>
          <a:prstGeom prst="rect">
            <a:avLst/>
          </a:prstGeom>
        </p:spPr>
      </p:pic>
      <p:pic>
        <p:nvPicPr>
          <p:cNvPr id="6" name="Picture 5">
            <a:extLst>
              <a:ext uri="{FF2B5EF4-FFF2-40B4-BE49-F238E27FC236}">
                <a16:creationId xmlns:a16="http://schemas.microsoft.com/office/drawing/2014/main" id="{6050495A-CC1C-2A93-3435-4960C7E040F8}"/>
              </a:ext>
            </a:extLst>
          </p:cNvPr>
          <p:cNvPicPr>
            <a:picLocks noChangeAspect="1"/>
          </p:cNvPicPr>
          <p:nvPr/>
        </p:nvPicPr>
        <p:blipFill>
          <a:blip r:embed="rId3"/>
          <a:stretch>
            <a:fillRect/>
          </a:stretch>
        </p:blipFill>
        <p:spPr>
          <a:xfrm>
            <a:off x="824011" y="5334549"/>
            <a:ext cx="4172532" cy="419158"/>
          </a:xfrm>
          <a:prstGeom prst="rect">
            <a:avLst/>
          </a:prstGeom>
        </p:spPr>
      </p:pic>
      <p:cxnSp>
        <p:nvCxnSpPr>
          <p:cNvPr id="12" name="Straight Arrow Connector 11">
            <a:extLst>
              <a:ext uri="{FF2B5EF4-FFF2-40B4-BE49-F238E27FC236}">
                <a16:creationId xmlns:a16="http://schemas.microsoft.com/office/drawing/2014/main" id="{07CF12E2-F24A-4D29-9426-7FBD85F3D8A6}"/>
              </a:ext>
            </a:extLst>
          </p:cNvPr>
          <p:cNvCxnSpPr/>
          <p:nvPr/>
        </p:nvCxnSpPr>
        <p:spPr>
          <a:xfrm flipH="1">
            <a:off x="3861130" y="4841143"/>
            <a:ext cx="3897086" cy="68422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5521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356"/>
            <a:ext cx="7886700" cy="1325563"/>
          </a:xfrm>
        </p:spPr>
        <p:txBody>
          <a:bodyPr/>
          <a:lstStyle/>
          <a:p>
            <a:pPr algn="ctr"/>
            <a:r>
              <a:rPr lang="ru-RU" dirty="0" err="1"/>
              <a:t>Natural</a:t>
            </a:r>
            <a:r>
              <a:rPr lang="ru-RU" dirty="0"/>
              <a:t> </a:t>
            </a:r>
            <a:r>
              <a:rPr lang="ru-RU" dirty="0" err="1"/>
              <a:t>Join</a:t>
            </a:r>
            <a:endParaRPr lang="en-US" dirty="0"/>
          </a:p>
        </p:txBody>
      </p:sp>
      <p:sp>
        <p:nvSpPr>
          <p:cNvPr id="3" name="Content Placeholder 2"/>
          <p:cNvSpPr>
            <a:spLocks noGrp="1"/>
          </p:cNvSpPr>
          <p:nvPr>
            <p:ph idx="1"/>
          </p:nvPr>
        </p:nvSpPr>
        <p:spPr>
          <a:xfrm>
            <a:off x="628650" y="1345920"/>
            <a:ext cx="7886700" cy="5512080"/>
          </a:xfrm>
        </p:spPr>
        <p:txBody>
          <a:bodyPr>
            <a:normAutofit fontScale="92500" lnSpcReduction="20000"/>
          </a:bodyPr>
          <a:lstStyle/>
          <a:p>
            <a:pPr marL="0" indent="0" algn="just">
              <a:buNone/>
            </a:pPr>
            <a:r>
              <a:rPr lang="lv-LV" b="1" dirty="0"/>
              <a:t>Natural </a:t>
            </a:r>
            <a:r>
              <a:rPr lang="lv-LV" b="1" dirty="0" err="1"/>
              <a:t>Join</a:t>
            </a:r>
            <a:r>
              <a:rPr lang="lv-LV" b="1" dirty="0"/>
              <a:t> </a:t>
            </a:r>
            <a:r>
              <a:rPr lang="en-US" dirty="0"/>
              <a:t>Only works when the tables to be </a:t>
            </a:r>
            <a:r>
              <a:rPr lang="lv-LV" dirty="0" err="1"/>
              <a:t>joined</a:t>
            </a:r>
            <a:r>
              <a:rPr lang="en-US" dirty="0"/>
              <a:t> have at least two columns with the same names and types. In each row pair, the values ​​of the </a:t>
            </a:r>
            <a:r>
              <a:rPr lang="lv-LV" dirty="0" err="1"/>
              <a:t>join</a:t>
            </a:r>
            <a:r>
              <a:rPr lang="en-US" dirty="0"/>
              <a:t> columns are compared, and if they match in the columns, the rows </a:t>
            </a:r>
            <a:r>
              <a:rPr lang="lv-LV" dirty="0" err="1"/>
              <a:t>will</a:t>
            </a:r>
            <a:r>
              <a:rPr lang="lv-LV" dirty="0"/>
              <a:t> </a:t>
            </a:r>
            <a:r>
              <a:rPr lang="lv-LV" dirty="0" err="1"/>
              <a:t>join</a:t>
            </a:r>
            <a:r>
              <a:rPr lang="lv-LV" dirty="0"/>
              <a:t>.</a:t>
            </a:r>
          </a:p>
          <a:p>
            <a:pPr marL="0" indent="0" algn="just">
              <a:buNone/>
            </a:pPr>
            <a:endParaRPr lang="lv-LV" dirty="0"/>
          </a:p>
          <a:p>
            <a:pPr marL="0" indent="0" algn="just">
              <a:buNone/>
            </a:pPr>
            <a:r>
              <a:rPr lang="lv-LV" dirty="0"/>
              <a:t>Natural </a:t>
            </a:r>
            <a:r>
              <a:rPr lang="lv-LV" dirty="0" err="1"/>
              <a:t>Join</a:t>
            </a:r>
            <a:r>
              <a:rPr lang="lv-LV" dirty="0"/>
              <a:t> </a:t>
            </a:r>
            <a:r>
              <a:rPr lang="lv-LV" dirty="0" err="1"/>
              <a:t>statement</a:t>
            </a:r>
            <a:r>
              <a:rPr lang="lv-LV" dirty="0"/>
              <a:t>:</a:t>
            </a:r>
          </a:p>
          <a:p>
            <a:pPr marL="0" indent="0" algn="just">
              <a:buNone/>
            </a:pPr>
            <a:r>
              <a:rPr lang="lv-LV" i="1" dirty="0"/>
              <a:t>SELECT	</a:t>
            </a:r>
            <a:r>
              <a:rPr lang="lv-LV" i="1" dirty="0" err="1"/>
              <a:t>columns</a:t>
            </a:r>
            <a:endParaRPr lang="lv-LV" i="1" dirty="0"/>
          </a:p>
          <a:p>
            <a:pPr marL="0" indent="0" algn="just">
              <a:buNone/>
            </a:pPr>
            <a:r>
              <a:rPr lang="lv-LV" i="1" dirty="0"/>
              <a:t>FROM 		table1 Natural </a:t>
            </a:r>
            <a:r>
              <a:rPr lang="lv-LV" i="1" dirty="0" err="1"/>
              <a:t>Join</a:t>
            </a:r>
            <a:r>
              <a:rPr lang="lv-LV" i="1" dirty="0"/>
              <a:t> table2;</a:t>
            </a:r>
          </a:p>
          <a:p>
            <a:pPr marL="0" indent="0" algn="just">
              <a:buNone/>
            </a:pPr>
            <a:endParaRPr lang="lv-LV" i="1" dirty="0"/>
          </a:p>
          <a:p>
            <a:pPr marL="0" indent="0" algn="just">
              <a:buNone/>
            </a:pPr>
            <a:r>
              <a:rPr lang="lv-LV" dirty="0" err="1"/>
              <a:t>Where</a:t>
            </a:r>
            <a:r>
              <a:rPr lang="lv-LV" dirty="0"/>
              <a:t> </a:t>
            </a:r>
            <a:r>
              <a:rPr lang="lv-LV" dirty="0" err="1"/>
              <a:t>statement</a:t>
            </a:r>
            <a:r>
              <a:rPr lang="lv-LV" dirty="0"/>
              <a:t>:</a:t>
            </a:r>
          </a:p>
          <a:p>
            <a:pPr marL="0" indent="0" algn="just">
              <a:buNone/>
            </a:pPr>
            <a:r>
              <a:rPr lang="lv-LV" i="1" dirty="0"/>
              <a:t>SELECT	</a:t>
            </a:r>
            <a:r>
              <a:rPr lang="lv-LV" i="1" dirty="0" err="1"/>
              <a:t>columns</a:t>
            </a:r>
            <a:endParaRPr lang="lv-LV" i="1" dirty="0"/>
          </a:p>
          <a:p>
            <a:pPr marL="0" indent="0" algn="just">
              <a:buNone/>
            </a:pPr>
            <a:r>
              <a:rPr lang="lv-LV" i="1" dirty="0"/>
              <a:t>FROM 		table1, table2;</a:t>
            </a:r>
          </a:p>
          <a:p>
            <a:pPr marL="0" indent="0" algn="just">
              <a:buNone/>
            </a:pPr>
            <a:r>
              <a:rPr lang="lv-LV" i="1" dirty="0"/>
              <a:t>WHERE  	column1=column2;</a:t>
            </a:r>
            <a:endParaRPr lang="en-US" dirty="0"/>
          </a:p>
          <a:p>
            <a:pPr marL="0" indent="0" algn="just">
              <a:buNone/>
            </a:pPr>
            <a:endParaRPr lang="en-US" dirty="0"/>
          </a:p>
        </p:txBody>
      </p:sp>
    </p:spTree>
    <p:extLst>
      <p:ext uri="{BB962C8B-B14F-4D97-AF65-F5344CB8AC3E}">
        <p14:creationId xmlns:p14="http://schemas.microsoft.com/office/powerpoint/2010/main" val="572228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Natural</a:t>
            </a:r>
            <a:r>
              <a:rPr lang="ru-RU" dirty="0"/>
              <a:t> </a:t>
            </a:r>
            <a:r>
              <a:rPr lang="ru-RU" dirty="0" err="1"/>
              <a:t>Join</a:t>
            </a:r>
            <a:endParaRPr lang="en-US" dirty="0"/>
          </a:p>
        </p:txBody>
      </p:sp>
      <p:sp>
        <p:nvSpPr>
          <p:cNvPr id="3" name="Content Placeholder 2"/>
          <p:cNvSpPr>
            <a:spLocks noGrp="1"/>
          </p:cNvSpPr>
          <p:nvPr>
            <p:ph idx="1"/>
          </p:nvPr>
        </p:nvSpPr>
        <p:spPr>
          <a:xfrm>
            <a:off x="228599" y="1587062"/>
            <a:ext cx="8656984" cy="5121851"/>
          </a:xfrm>
        </p:spPr>
        <p:txBody>
          <a:bodyPr>
            <a:normAutofit/>
          </a:bodyPr>
          <a:lstStyle/>
          <a:p>
            <a:pPr marL="0" indent="0" algn="just">
              <a:buNone/>
            </a:pPr>
            <a:r>
              <a:rPr lang="en-US" dirty="0"/>
              <a:t>Example: Write a query that shows the title of the book, the year the book was published, and how many authors the book has.</a:t>
            </a:r>
            <a:endParaRPr lang="lv-LV" dirty="0"/>
          </a:p>
          <a:p>
            <a:pPr marL="0" indent="0" algn="just">
              <a:buNone/>
            </a:pPr>
            <a:endParaRPr lang="lv-LV" dirty="0"/>
          </a:p>
          <a:p>
            <a:pPr marL="0" indent="0" algn="just">
              <a:buNone/>
            </a:pPr>
            <a:endParaRPr lang="lv-LV" dirty="0"/>
          </a:p>
          <a:p>
            <a:pPr marL="0" indent="0" algn="just">
              <a:buNone/>
            </a:pPr>
            <a:r>
              <a:rPr lang="en-US" sz="2400" b="1" dirty="0"/>
              <a:t>SELECT	</a:t>
            </a:r>
            <a:r>
              <a:rPr lang="en-US" sz="2400" b="1" dirty="0" err="1"/>
              <a:t>book.Title</a:t>
            </a:r>
            <a:r>
              <a:rPr lang="en-US" sz="2400" b="1" dirty="0"/>
              <a:t> AS </a:t>
            </a:r>
            <a:r>
              <a:rPr lang="lv-LV" sz="2400" b="1" dirty="0"/>
              <a:t>`</a:t>
            </a:r>
            <a:r>
              <a:rPr lang="en-US" sz="2400" b="1" dirty="0"/>
              <a:t>Book title</a:t>
            </a:r>
            <a:r>
              <a:rPr lang="lv-LV" sz="2400" b="1" dirty="0"/>
              <a:t>`</a:t>
            </a:r>
            <a:r>
              <a:rPr lang="en-US" sz="2400" b="1" dirty="0"/>
              <a:t>,</a:t>
            </a:r>
          </a:p>
          <a:p>
            <a:pPr marL="0" indent="0" algn="just">
              <a:buNone/>
            </a:pPr>
            <a:r>
              <a:rPr lang="en-US" sz="2400" b="1" dirty="0"/>
              <a:t>	Count(</a:t>
            </a:r>
            <a:r>
              <a:rPr lang="en-US" sz="2400" b="1" dirty="0" err="1"/>
              <a:t>tlp.AuthorID</a:t>
            </a:r>
            <a:r>
              <a:rPr lang="en-US" sz="2400" b="1" dirty="0"/>
              <a:t>) AS </a:t>
            </a:r>
            <a:r>
              <a:rPr lang="lv-LV" sz="2400" b="1" dirty="0"/>
              <a:t>`</a:t>
            </a:r>
            <a:r>
              <a:rPr lang="en-US" sz="2400" b="1" dirty="0"/>
              <a:t>Number of authors</a:t>
            </a:r>
            <a:r>
              <a:rPr lang="lv-LV" sz="2400" b="1" dirty="0"/>
              <a:t>`</a:t>
            </a:r>
            <a:r>
              <a:rPr lang="en-US" sz="2400" b="1" dirty="0"/>
              <a:t>,</a:t>
            </a:r>
          </a:p>
          <a:p>
            <a:pPr marL="0" indent="0" algn="just">
              <a:buNone/>
            </a:pPr>
            <a:r>
              <a:rPr lang="en-US" sz="2400" b="1" dirty="0"/>
              <a:t>	</a:t>
            </a:r>
            <a:r>
              <a:rPr lang="en-US" sz="2400" b="1" dirty="0" err="1"/>
              <a:t>Tlp.YearOfPub</a:t>
            </a:r>
            <a:r>
              <a:rPr lang="en-US" sz="2400" b="1" dirty="0"/>
              <a:t> AS "Publishing year"</a:t>
            </a:r>
          </a:p>
          <a:p>
            <a:pPr marL="0" indent="0" algn="just">
              <a:buNone/>
            </a:pPr>
            <a:r>
              <a:rPr lang="en-US" sz="2400" b="1" dirty="0"/>
              <a:t>FROM	Books book Natural Join </a:t>
            </a:r>
            <a:r>
              <a:rPr lang="en-US" sz="2400" b="1" dirty="0" err="1"/>
              <a:t>Title_page</a:t>
            </a:r>
            <a:r>
              <a:rPr lang="en-US" sz="2400" b="1" dirty="0"/>
              <a:t> </a:t>
            </a:r>
            <a:r>
              <a:rPr lang="en-US" sz="2400" b="1" dirty="0" err="1"/>
              <a:t>tlp</a:t>
            </a:r>
            <a:endParaRPr lang="en-US" sz="2400" b="1" dirty="0"/>
          </a:p>
          <a:p>
            <a:pPr marL="0" indent="0" algn="just">
              <a:buNone/>
            </a:pPr>
            <a:r>
              <a:rPr lang="en-US" sz="2400" b="1" dirty="0"/>
              <a:t>GROUP BY </a:t>
            </a:r>
            <a:r>
              <a:rPr lang="en-US" sz="2400" b="1" dirty="0" err="1"/>
              <a:t>book.Title</a:t>
            </a:r>
            <a:r>
              <a:rPr lang="en-US" sz="2400" b="1" dirty="0"/>
              <a:t>, </a:t>
            </a:r>
            <a:r>
              <a:rPr lang="en-US" sz="2400" b="1" dirty="0" err="1"/>
              <a:t>tlp.YearOfPub</a:t>
            </a:r>
            <a:r>
              <a:rPr lang="en-US" sz="2400" b="1" dirty="0"/>
              <a:t>;</a:t>
            </a:r>
          </a:p>
        </p:txBody>
      </p:sp>
      <p:pic>
        <p:nvPicPr>
          <p:cNvPr id="5" name="Picture 4">
            <a:extLst>
              <a:ext uri="{FF2B5EF4-FFF2-40B4-BE49-F238E27FC236}">
                <a16:creationId xmlns:a16="http://schemas.microsoft.com/office/drawing/2014/main" id="{CEFE1F3E-2177-F740-B035-40AA47ACE17B}"/>
              </a:ext>
            </a:extLst>
          </p:cNvPr>
          <p:cNvPicPr>
            <a:picLocks noChangeAspect="1"/>
          </p:cNvPicPr>
          <p:nvPr/>
        </p:nvPicPr>
        <p:blipFill>
          <a:blip r:embed="rId2"/>
          <a:stretch>
            <a:fillRect/>
          </a:stretch>
        </p:blipFill>
        <p:spPr>
          <a:xfrm>
            <a:off x="4979788" y="2485061"/>
            <a:ext cx="3905795" cy="1714739"/>
          </a:xfrm>
          <a:prstGeom prst="rect">
            <a:avLst/>
          </a:prstGeom>
        </p:spPr>
      </p:pic>
    </p:spTree>
    <p:extLst>
      <p:ext uri="{BB962C8B-B14F-4D97-AF65-F5344CB8AC3E}">
        <p14:creationId xmlns:p14="http://schemas.microsoft.com/office/powerpoint/2010/main" val="2509728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Natural</a:t>
            </a:r>
            <a:r>
              <a:rPr lang="ru-RU" dirty="0"/>
              <a:t> </a:t>
            </a:r>
            <a:r>
              <a:rPr lang="ru-RU" dirty="0" err="1"/>
              <a:t>Join</a:t>
            </a:r>
            <a:endParaRPr lang="en-US" dirty="0"/>
          </a:p>
        </p:txBody>
      </p:sp>
      <p:sp>
        <p:nvSpPr>
          <p:cNvPr id="3" name="Content Placeholder 2"/>
          <p:cNvSpPr>
            <a:spLocks noGrp="1"/>
          </p:cNvSpPr>
          <p:nvPr>
            <p:ph idx="1"/>
          </p:nvPr>
        </p:nvSpPr>
        <p:spPr>
          <a:xfrm>
            <a:off x="228599" y="1587062"/>
            <a:ext cx="8656984" cy="5121851"/>
          </a:xfrm>
        </p:spPr>
        <p:txBody>
          <a:bodyPr>
            <a:normAutofit/>
          </a:bodyPr>
          <a:lstStyle/>
          <a:p>
            <a:pPr marL="0" indent="0" algn="just">
              <a:buNone/>
            </a:pPr>
            <a:r>
              <a:rPr lang="en-US" dirty="0"/>
              <a:t>Example: Write a query that shows the title of the book, the year the book was published, and how many authors the book has.</a:t>
            </a:r>
            <a:endParaRPr lang="lv-LV" dirty="0"/>
          </a:p>
          <a:p>
            <a:pPr marL="0" indent="0" algn="just">
              <a:buNone/>
            </a:pPr>
            <a:r>
              <a:rPr lang="lv-LV" dirty="0" err="1"/>
              <a:t>using</a:t>
            </a:r>
            <a:r>
              <a:rPr lang="lv-LV" dirty="0"/>
              <a:t> WHERE:</a:t>
            </a:r>
          </a:p>
          <a:p>
            <a:pPr marL="0" indent="0" algn="just">
              <a:buNone/>
            </a:pPr>
            <a:r>
              <a:rPr lang="en-US" sz="2000" b="1" dirty="0"/>
              <a:t>SELECT	</a:t>
            </a:r>
            <a:r>
              <a:rPr lang="en-US" sz="2000" b="1" dirty="0" err="1"/>
              <a:t>book.Title</a:t>
            </a:r>
            <a:r>
              <a:rPr lang="en-US" sz="2000" b="1" dirty="0"/>
              <a:t> AS </a:t>
            </a:r>
            <a:r>
              <a:rPr lang="lv-LV" sz="2000" b="1" dirty="0"/>
              <a:t>`</a:t>
            </a:r>
            <a:r>
              <a:rPr lang="en-US" sz="2000" b="1" dirty="0"/>
              <a:t>Book title</a:t>
            </a:r>
            <a:r>
              <a:rPr lang="lv-LV" sz="2000" b="1" dirty="0"/>
              <a:t>`</a:t>
            </a:r>
            <a:r>
              <a:rPr lang="en-US" sz="2000" b="1" dirty="0"/>
              <a:t>,</a:t>
            </a:r>
          </a:p>
          <a:p>
            <a:pPr marL="0" indent="0" algn="just">
              <a:buNone/>
            </a:pPr>
            <a:r>
              <a:rPr lang="en-US" sz="2000" b="1" dirty="0"/>
              <a:t>	Count(</a:t>
            </a:r>
            <a:r>
              <a:rPr lang="en-US" sz="2000" b="1" dirty="0" err="1"/>
              <a:t>tlp.AuthorID</a:t>
            </a:r>
            <a:r>
              <a:rPr lang="en-US" sz="2000" b="1" dirty="0"/>
              <a:t>) AS </a:t>
            </a:r>
            <a:r>
              <a:rPr lang="lv-LV" sz="2000" b="1" dirty="0"/>
              <a:t>`</a:t>
            </a:r>
            <a:r>
              <a:rPr lang="en-US" sz="2000" b="1" dirty="0"/>
              <a:t>Number of authors</a:t>
            </a:r>
            <a:r>
              <a:rPr lang="lv-LV" sz="2000" b="1" dirty="0"/>
              <a:t>`</a:t>
            </a:r>
            <a:r>
              <a:rPr lang="en-US" sz="2000" b="1" dirty="0"/>
              <a:t>,</a:t>
            </a:r>
          </a:p>
          <a:p>
            <a:pPr marL="0" indent="0" algn="just">
              <a:buNone/>
            </a:pPr>
            <a:r>
              <a:rPr lang="en-US" sz="2000" b="1" dirty="0"/>
              <a:t>	</a:t>
            </a:r>
            <a:r>
              <a:rPr lang="en-US" sz="2000" b="1" dirty="0" err="1"/>
              <a:t>Tlp.YearOfPub</a:t>
            </a:r>
            <a:r>
              <a:rPr lang="en-US" sz="2000" b="1" dirty="0"/>
              <a:t> AS [Publishing year]</a:t>
            </a:r>
          </a:p>
          <a:p>
            <a:pPr marL="0" indent="0" algn="just">
              <a:buNone/>
            </a:pPr>
            <a:r>
              <a:rPr lang="en-US" sz="2000" b="1" dirty="0"/>
              <a:t>FROM	Books book, </a:t>
            </a:r>
            <a:r>
              <a:rPr lang="en-US" sz="2000" b="1" dirty="0" err="1"/>
              <a:t>Title_page</a:t>
            </a:r>
            <a:r>
              <a:rPr lang="en-US" sz="2000" b="1" dirty="0"/>
              <a:t> </a:t>
            </a:r>
            <a:r>
              <a:rPr lang="en-US" sz="2000" b="1" dirty="0" err="1"/>
              <a:t>tlp</a:t>
            </a:r>
            <a:endParaRPr lang="en-US" sz="2000" b="1" dirty="0"/>
          </a:p>
          <a:p>
            <a:pPr marL="0" indent="0" algn="just">
              <a:buNone/>
            </a:pPr>
            <a:r>
              <a:rPr lang="en-US" sz="2000" b="1" dirty="0"/>
              <a:t>WHERE </a:t>
            </a:r>
            <a:r>
              <a:rPr lang="en-US" sz="2000" b="1" dirty="0" err="1"/>
              <a:t>book.BookID</a:t>
            </a:r>
            <a:r>
              <a:rPr lang="en-US" sz="2000" b="1" dirty="0"/>
              <a:t> = </a:t>
            </a:r>
            <a:r>
              <a:rPr lang="en-US" sz="2000" b="1" dirty="0" err="1"/>
              <a:t>tlp.BookID</a:t>
            </a:r>
            <a:endParaRPr lang="en-US" sz="2000" b="1" dirty="0"/>
          </a:p>
          <a:p>
            <a:pPr marL="0" indent="0" algn="just">
              <a:buNone/>
            </a:pPr>
            <a:r>
              <a:rPr lang="en-US" sz="2000" b="1" dirty="0"/>
              <a:t>GROUP BY </a:t>
            </a:r>
            <a:r>
              <a:rPr lang="en-US" sz="2000" b="1" dirty="0" err="1"/>
              <a:t>book.Title</a:t>
            </a:r>
            <a:r>
              <a:rPr lang="en-US" sz="2000" b="1" dirty="0"/>
              <a:t>, </a:t>
            </a:r>
            <a:r>
              <a:rPr lang="en-US" sz="2000" b="1" dirty="0" err="1"/>
              <a:t>tlp.YearOfPub</a:t>
            </a:r>
            <a:r>
              <a:rPr lang="en-US" sz="2000" b="1" dirty="0"/>
              <a:t>;</a:t>
            </a:r>
          </a:p>
        </p:txBody>
      </p:sp>
      <p:pic>
        <p:nvPicPr>
          <p:cNvPr id="4" name="Picture 3">
            <a:extLst>
              <a:ext uri="{FF2B5EF4-FFF2-40B4-BE49-F238E27FC236}">
                <a16:creationId xmlns:a16="http://schemas.microsoft.com/office/drawing/2014/main" id="{9AB09A6C-8FAF-A453-70FA-2501BEF0EEE6}"/>
              </a:ext>
            </a:extLst>
          </p:cNvPr>
          <p:cNvPicPr>
            <a:picLocks noChangeAspect="1"/>
          </p:cNvPicPr>
          <p:nvPr/>
        </p:nvPicPr>
        <p:blipFill>
          <a:blip r:embed="rId2"/>
          <a:stretch>
            <a:fillRect/>
          </a:stretch>
        </p:blipFill>
        <p:spPr>
          <a:xfrm>
            <a:off x="5009606" y="4778135"/>
            <a:ext cx="3905795" cy="1714739"/>
          </a:xfrm>
          <a:prstGeom prst="rect">
            <a:avLst/>
          </a:prstGeom>
        </p:spPr>
      </p:pic>
    </p:spTree>
    <p:extLst>
      <p:ext uri="{BB962C8B-B14F-4D97-AF65-F5344CB8AC3E}">
        <p14:creationId xmlns:p14="http://schemas.microsoft.com/office/powerpoint/2010/main" val="764896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356"/>
            <a:ext cx="7886700" cy="1325563"/>
          </a:xfrm>
        </p:spPr>
        <p:txBody>
          <a:bodyPr/>
          <a:lstStyle/>
          <a:p>
            <a:pPr algn="ctr"/>
            <a:r>
              <a:rPr lang="lv-LV" dirty="0" err="1"/>
              <a:t>Inner</a:t>
            </a:r>
            <a:r>
              <a:rPr lang="ru-RU" dirty="0"/>
              <a:t> </a:t>
            </a:r>
            <a:r>
              <a:rPr lang="ru-RU" dirty="0" err="1"/>
              <a:t>Join</a:t>
            </a:r>
            <a:endParaRPr lang="en-US" dirty="0"/>
          </a:p>
        </p:txBody>
      </p:sp>
      <p:sp>
        <p:nvSpPr>
          <p:cNvPr id="3" name="Content Placeholder 2"/>
          <p:cNvSpPr>
            <a:spLocks noGrp="1"/>
          </p:cNvSpPr>
          <p:nvPr>
            <p:ph idx="1"/>
          </p:nvPr>
        </p:nvSpPr>
        <p:spPr>
          <a:xfrm>
            <a:off x="628650" y="1345920"/>
            <a:ext cx="7886700" cy="5512080"/>
          </a:xfrm>
        </p:spPr>
        <p:txBody>
          <a:bodyPr>
            <a:normAutofit fontScale="92500" lnSpcReduction="10000"/>
          </a:bodyPr>
          <a:lstStyle/>
          <a:p>
            <a:pPr marL="0" indent="0" algn="just">
              <a:buNone/>
            </a:pPr>
            <a:r>
              <a:rPr lang="en-US" b="1" dirty="0"/>
              <a:t>Inner Join </a:t>
            </a:r>
            <a:r>
              <a:rPr lang="en-US" dirty="0"/>
              <a:t>Uses the comparison operator to check whether the values of the 2 rows in the table join column match.</a:t>
            </a:r>
            <a:r>
              <a:rPr lang="en-US" b="1" dirty="0"/>
              <a:t>
</a:t>
            </a:r>
            <a:endParaRPr lang="lv-LV" dirty="0"/>
          </a:p>
          <a:p>
            <a:pPr marL="0" indent="0" algn="just">
              <a:buNone/>
            </a:pPr>
            <a:r>
              <a:rPr lang="lv-LV" dirty="0" err="1"/>
              <a:t>Inner</a:t>
            </a:r>
            <a:r>
              <a:rPr lang="lv-LV" dirty="0"/>
              <a:t> </a:t>
            </a:r>
            <a:r>
              <a:rPr lang="lv-LV" dirty="0" err="1"/>
              <a:t>Join</a:t>
            </a:r>
            <a:r>
              <a:rPr lang="lv-LV" dirty="0"/>
              <a:t> </a:t>
            </a:r>
            <a:r>
              <a:rPr lang="lv-LV" dirty="0" err="1"/>
              <a:t>statement</a:t>
            </a:r>
            <a:r>
              <a:rPr lang="lv-LV" dirty="0"/>
              <a:t>:</a:t>
            </a:r>
          </a:p>
          <a:p>
            <a:pPr marL="0" indent="0" algn="just">
              <a:buNone/>
            </a:pPr>
            <a:r>
              <a:rPr lang="lv-LV" i="1" dirty="0"/>
              <a:t>SELECT	</a:t>
            </a:r>
            <a:r>
              <a:rPr lang="lv-LV" i="1" dirty="0" err="1"/>
              <a:t>columns</a:t>
            </a:r>
            <a:endParaRPr lang="lv-LV" i="1" dirty="0"/>
          </a:p>
          <a:p>
            <a:pPr marL="0" indent="0" algn="just">
              <a:buNone/>
            </a:pPr>
            <a:r>
              <a:rPr lang="lv-LV" i="1" dirty="0"/>
              <a:t>FROM 		table1 </a:t>
            </a:r>
            <a:r>
              <a:rPr lang="lv-LV" i="1" dirty="0" err="1"/>
              <a:t>Inner</a:t>
            </a:r>
            <a:r>
              <a:rPr lang="lv-LV" i="1" dirty="0"/>
              <a:t> </a:t>
            </a:r>
            <a:r>
              <a:rPr lang="lv-LV" i="1" dirty="0" err="1"/>
              <a:t>Join</a:t>
            </a:r>
            <a:r>
              <a:rPr lang="lv-LV" i="1" dirty="0"/>
              <a:t> table2 ON </a:t>
            </a:r>
            <a:r>
              <a:rPr lang="lv-LV" i="1" dirty="0" err="1"/>
              <a:t>condition</a:t>
            </a:r>
            <a:r>
              <a:rPr lang="lv-LV" i="1" dirty="0"/>
              <a:t>;</a:t>
            </a:r>
          </a:p>
          <a:p>
            <a:pPr marL="0" indent="0" algn="just">
              <a:buNone/>
            </a:pPr>
            <a:endParaRPr lang="lv-LV" i="1" dirty="0"/>
          </a:p>
          <a:p>
            <a:pPr marL="0" indent="0" algn="just">
              <a:buNone/>
            </a:pPr>
            <a:r>
              <a:rPr lang="lv-LV" dirty="0" err="1"/>
              <a:t>Where</a:t>
            </a:r>
            <a:r>
              <a:rPr lang="lv-LV" dirty="0"/>
              <a:t> </a:t>
            </a:r>
            <a:r>
              <a:rPr lang="lv-LV" dirty="0" err="1"/>
              <a:t>statement</a:t>
            </a:r>
            <a:r>
              <a:rPr lang="lv-LV" dirty="0"/>
              <a:t>:</a:t>
            </a:r>
          </a:p>
          <a:p>
            <a:pPr marL="0" indent="0" algn="just">
              <a:buNone/>
            </a:pPr>
            <a:r>
              <a:rPr lang="lv-LV" i="1" dirty="0"/>
              <a:t>SELECT	</a:t>
            </a:r>
            <a:r>
              <a:rPr lang="lv-LV" i="1" dirty="0" err="1"/>
              <a:t>columns</a:t>
            </a:r>
            <a:endParaRPr lang="lv-LV" i="1" dirty="0"/>
          </a:p>
          <a:p>
            <a:pPr marL="0" indent="0" algn="just">
              <a:buNone/>
            </a:pPr>
            <a:r>
              <a:rPr lang="lv-LV" i="1" dirty="0"/>
              <a:t>FROM 		table1, table2;</a:t>
            </a:r>
          </a:p>
          <a:p>
            <a:pPr marL="0" indent="0" algn="just">
              <a:buNone/>
            </a:pPr>
            <a:r>
              <a:rPr lang="lv-LV" i="1" dirty="0"/>
              <a:t>WHERE  	</a:t>
            </a:r>
            <a:r>
              <a:rPr lang="lv-LV" i="1" dirty="0" err="1"/>
              <a:t>condition</a:t>
            </a:r>
            <a:r>
              <a:rPr lang="lv-LV" i="1" dirty="0"/>
              <a:t>;</a:t>
            </a:r>
            <a:endParaRPr lang="en-US" dirty="0"/>
          </a:p>
          <a:p>
            <a:pPr marL="0" indent="0" algn="just">
              <a:buNone/>
            </a:pPr>
            <a:endParaRPr lang="en-US" dirty="0"/>
          </a:p>
        </p:txBody>
      </p:sp>
    </p:spTree>
    <p:extLst>
      <p:ext uri="{BB962C8B-B14F-4D97-AF65-F5344CB8AC3E}">
        <p14:creationId xmlns:p14="http://schemas.microsoft.com/office/powerpoint/2010/main" val="3355902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780"/>
            <a:ext cx="7886700" cy="1325563"/>
          </a:xfrm>
        </p:spPr>
        <p:txBody>
          <a:bodyPr/>
          <a:lstStyle/>
          <a:p>
            <a:pPr algn="ctr"/>
            <a:r>
              <a:rPr lang="lv-LV" dirty="0" err="1"/>
              <a:t>Inner</a:t>
            </a:r>
            <a:r>
              <a:rPr lang="ru-RU" dirty="0"/>
              <a:t> </a:t>
            </a:r>
            <a:r>
              <a:rPr lang="ru-RU" dirty="0" err="1"/>
              <a:t>Join</a:t>
            </a:r>
            <a:endParaRPr lang="en-US" dirty="0"/>
          </a:p>
        </p:txBody>
      </p:sp>
      <p:sp>
        <p:nvSpPr>
          <p:cNvPr id="3" name="Content Placeholder 2"/>
          <p:cNvSpPr>
            <a:spLocks noGrp="1"/>
          </p:cNvSpPr>
          <p:nvPr>
            <p:ph idx="1"/>
          </p:nvPr>
        </p:nvSpPr>
        <p:spPr>
          <a:xfrm>
            <a:off x="228599" y="1031890"/>
            <a:ext cx="8656984" cy="5121851"/>
          </a:xfrm>
        </p:spPr>
        <p:txBody>
          <a:bodyPr>
            <a:normAutofit/>
          </a:bodyPr>
          <a:lstStyle/>
          <a:p>
            <a:pPr marL="0" indent="0" algn="just">
              <a:buNone/>
            </a:pPr>
            <a:r>
              <a:rPr lang="en-US" dirty="0"/>
              <a:t>Example: Write a query that outputs the librarian's code, his name and</a:t>
            </a:r>
            <a:r>
              <a:rPr lang="lv-LV" dirty="0"/>
              <a:t> </a:t>
            </a:r>
            <a:r>
              <a:rPr lang="lv-LV" dirty="0" err="1"/>
              <a:t>last</a:t>
            </a:r>
            <a:r>
              <a:rPr lang="en-US" dirty="0"/>
              <a:t> name, month, and how many readers were served by the librarian each month. </a:t>
            </a:r>
            <a:r>
              <a:rPr lang="lv-LV" dirty="0" err="1"/>
              <a:t>Sort</a:t>
            </a:r>
            <a:r>
              <a:rPr lang="en-US" dirty="0"/>
              <a:t> the result by month number and last name in alphabetical order.</a:t>
            </a:r>
            <a:endParaRPr lang="lv-LV" dirty="0"/>
          </a:p>
          <a:p>
            <a:pPr marL="0" indent="0" algn="just">
              <a:buNone/>
            </a:pPr>
            <a:r>
              <a:rPr lang="en-US" sz="2000" b="1" dirty="0"/>
              <a:t>SELECT </a:t>
            </a:r>
            <a:r>
              <a:rPr lang="en-US" sz="2000" b="1" dirty="0" err="1"/>
              <a:t>l.LibID</a:t>
            </a:r>
            <a:r>
              <a:rPr lang="en-US" sz="2000" b="1" dirty="0"/>
              <a:t> AS `Librarian ID`,</a:t>
            </a:r>
          </a:p>
          <a:p>
            <a:pPr marL="0" indent="0" algn="just">
              <a:buNone/>
            </a:pPr>
            <a:r>
              <a:rPr lang="en-US" sz="2000" b="1" dirty="0"/>
              <a:t>       CONCAT(</a:t>
            </a:r>
            <a:r>
              <a:rPr lang="en-US" sz="2000" b="1" dirty="0" err="1"/>
              <a:t>l.LSur</a:t>
            </a:r>
            <a:r>
              <a:rPr lang="en-US" sz="2000" b="1" dirty="0"/>
              <a:t>, ' ', </a:t>
            </a:r>
            <a:r>
              <a:rPr lang="en-US" sz="2000" b="1" dirty="0" err="1"/>
              <a:t>l.Lname</a:t>
            </a:r>
            <a:r>
              <a:rPr lang="en-US" sz="2000" b="1" dirty="0"/>
              <a:t>) AS `Librarian Name and Surname`,</a:t>
            </a:r>
          </a:p>
          <a:p>
            <a:pPr marL="0" indent="0" algn="just">
              <a:buNone/>
            </a:pPr>
            <a:r>
              <a:rPr lang="en-US" sz="2000" b="1" dirty="0"/>
              <a:t>       MONTH(</a:t>
            </a:r>
            <a:r>
              <a:rPr lang="en-US" sz="2000" b="1" dirty="0" err="1"/>
              <a:t>j.SDate</a:t>
            </a:r>
            <a:r>
              <a:rPr lang="en-US" sz="2000" b="1" dirty="0"/>
              <a:t>) AS `Month`,</a:t>
            </a:r>
          </a:p>
          <a:p>
            <a:pPr marL="0" indent="0" algn="just">
              <a:buNone/>
            </a:pPr>
            <a:r>
              <a:rPr lang="en-US" sz="2000" b="1" dirty="0"/>
              <a:t>       COUNT(</a:t>
            </a:r>
            <a:r>
              <a:rPr lang="en-US" sz="2000" b="1" dirty="0" err="1"/>
              <a:t>j.LibID</a:t>
            </a:r>
            <a:r>
              <a:rPr lang="en-US" sz="2000" b="1" dirty="0"/>
              <a:t>) AS `Served per month`</a:t>
            </a:r>
          </a:p>
          <a:p>
            <a:pPr marL="0" indent="0" algn="just">
              <a:buNone/>
            </a:pPr>
            <a:r>
              <a:rPr lang="en-US" sz="2000" b="1" dirty="0"/>
              <a:t>FROM Librarians l </a:t>
            </a:r>
          </a:p>
          <a:p>
            <a:pPr marL="0" indent="0" algn="just">
              <a:buNone/>
            </a:pPr>
            <a:r>
              <a:rPr lang="en-US" sz="2000" b="1" dirty="0"/>
              <a:t>INNER JOIN Journal j ON </a:t>
            </a:r>
            <a:r>
              <a:rPr lang="en-US" sz="2000" b="1" dirty="0" err="1"/>
              <a:t>l.LibID</a:t>
            </a:r>
            <a:r>
              <a:rPr lang="en-US" sz="2000" b="1" dirty="0"/>
              <a:t> = </a:t>
            </a:r>
            <a:r>
              <a:rPr lang="en-US" sz="2000" b="1" dirty="0" err="1"/>
              <a:t>j.LibID</a:t>
            </a:r>
            <a:endParaRPr lang="en-US" sz="2000" b="1" dirty="0"/>
          </a:p>
          <a:p>
            <a:pPr marL="0" indent="0" algn="just">
              <a:buNone/>
            </a:pPr>
            <a:r>
              <a:rPr lang="en-US" sz="2000" b="1" dirty="0"/>
              <a:t>GROUP BY </a:t>
            </a:r>
            <a:r>
              <a:rPr lang="en-US" sz="2000" b="1" dirty="0" err="1"/>
              <a:t>l.LSur</a:t>
            </a:r>
            <a:r>
              <a:rPr lang="en-US" sz="2000" b="1" dirty="0"/>
              <a:t>, </a:t>
            </a:r>
            <a:r>
              <a:rPr lang="en-US" sz="2000" b="1" dirty="0" err="1"/>
              <a:t>l.Lname</a:t>
            </a:r>
            <a:r>
              <a:rPr lang="en-US" sz="2000" b="1" dirty="0"/>
              <a:t>, </a:t>
            </a:r>
            <a:r>
              <a:rPr lang="en-US" sz="2000" b="1" dirty="0" err="1"/>
              <a:t>l.LibID</a:t>
            </a:r>
            <a:r>
              <a:rPr lang="en-US" sz="2000" b="1" dirty="0"/>
              <a:t>, MONTH(</a:t>
            </a:r>
            <a:r>
              <a:rPr lang="en-US" sz="2000" b="1" dirty="0" err="1"/>
              <a:t>j.SDate</a:t>
            </a:r>
            <a:r>
              <a:rPr lang="en-US" sz="2000" b="1" dirty="0"/>
              <a:t>), </a:t>
            </a:r>
            <a:r>
              <a:rPr lang="en-US" sz="2000" b="1" dirty="0" err="1"/>
              <a:t>j.LibID</a:t>
            </a:r>
            <a:endParaRPr lang="en-US" sz="2000" b="1" dirty="0"/>
          </a:p>
          <a:p>
            <a:pPr marL="0" indent="0" algn="just">
              <a:buNone/>
            </a:pPr>
            <a:r>
              <a:rPr lang="en-US" sz="2000" b="1" dirty="0"/>
              <a:t>ORDER BY MONTH(</a:t>
            </a:r>
            <a:r>
              <a:rPr lang="en-US" sz="2000" b="1" dirty="0" err="1"/>
              <a:t>j.SDate</a:t>
            </a:r>
            <a:r>
              <a:rPr lang="en-US" sz="2000" b="1" dirty="0"/>
              <a:t>), </a:t>
            </a:r>
            <a:r>
              <a:rPr lang="en-US" sz="2000" b="1" dirty="0" err="1"/>
              <a:t>l.LSur</a:t>
            </a:r>
            <a:r>
              <a:rPr lang="en-US" sz="2000" b="1" dirty="0"/>
              <a:t>;</a:t>
            </a:r>
          </a:p>
        </p:txBody>
      </p:sp>
      <p:pic>
        <p:nvPicPr>
          <p:cNvPr id="5" name="Picture 4">
            <a:extLst>
              <a:ext uri="{FF2B5EF4-FFF2-40B4-BE49-F238E27FC236}">
                <a16:creationId xmlns:a16="http://schemas.microsoft.com/office/drawing/2014/main" id="{D46CF6B0-E500-0F6B-1FFA-22646E6471C6}"/>
              </a:ext>
            </a:extLst>
          </p:cNvPr>
          <p:cNvPicPr>
            <a:picLocks noChangeAspect="1"/>
          </p:cNvPicPr>
          <p:nvPr/>
        </p:nvPicPr>
        <p:blipFill>
          <a:blip r:embed="rId2"/>
          <a:stretch>
            <a:fillRect/>
          </a:stretch>
        </p:blipFill>
        <p:spPr>
          <a:xfrm>
            <a:off x="4747491" y="5390016"/>
            <a:ext cx="4269510" cy="1412223"/>
          </a:xfrm>
          <a:prstGeom prst="rect">
            <a:avLst/>
          </a:prstGeom>
        </p:spPr>
      </p:pic>
    </p:spTree>
    <p:extLst>
      <p:ext uri="{BB962C8B-B14F-4D97-AF65-F5344CB8AC3E}">
        <p14:creationId xmlns:p14="http://schemas.microsoft.com/office/powerpoint/2010/main" val="1821313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
            <a:ext cx="7886700" cy="696686"/>
          </a:xfrm>
        </p:spPr>
        <p:txBody>
          <a:bodyPr/>
          <a:lstStyle/>
          <a:p>
            <a:pPr algn="ctr"/>
            <a:r>
              <a:rPr lang="lv-LV" dirty="0" err="1"/>
              <a:t>Inner</a:t>
            </a:r>
            <a:r>
              <a:rPr lang="ru-RU" dirty="0"/>
              <a:t> </a:t>
            </a:r>
            <a:r>
              <a:rPr lang="ru-RU" dirty="0" err="1"/>
              <a:t>Join</a:t>
            </a:r>
            <a:endParaRPr lang="en-US" dirty="0"/>
          </a:p>
        </p:txBody>
      </p:sp>
      <p:sp>
        <p:nvSpPr>
          <p:cNvPr id="3" name="Content Placeholder 2"/>
          <p:cNvSpPr>
            <a:spLocks noGrp="1"/>
          </p:cNvSpPr>
          <p:nvPr>
            <p:ph idx="1"/>
          </p:nvPr>
        </p:nvSpPr>
        <p:spPr>
          <a:xfrm>
            <a:off x="367273" y="696687"/>
            <a:ext cx="8656984" cy="5121851"/>
          </a:xfrm>
        </p:spPr>
        <p:txBody>
          <a:bodyPr>
            <a:normAutofit lnSpcReduction="10000"/>
          </a:bodyPr>
          <a:lstStyle/>
          <a:p>
            <a:pPr marL="0" indent="0" algn="just">
              <a:buNone/>
            </a:pPr>
            <a:r>
              <a:rPr lang="en-US" dirty="0"/>
              <a:t>Example: Write a query that outputs the librarian's code, his name and</a:t>
            </a:r>
            <a:r>
              <a:rPr lang="lv-LV" dirty="0"/>
              <a:t> </a:t>
            </a:r>
            <a:r>
              <a:rPr lang="lv-LV" dirty="0" err="1"/>
              <a:t>last</a:t>
            </a:r>
            <a:r>
              <a:rPr lang="en-US" dirty="0"/>
              <a:t> name, month, and how many readers were served by the librarian each month. </a:t>
            </a:r>
            <a:r>
              <a:rPr lang="lv-LV" dirty="0" err="1"/>
              <a:t>Sort</a:t>
            </a:r>
            <a:r>
              <a:rPr lang="en-US" dirty="0"/>
              <a:t> the result by month number and last name in alphabetical order.</a:t>
            </a:r>
            <a:endParaRPr lang="lv-LV" dirty="0"/>
          </a:p>
          <a:p>
            <a:pPr marL="0" indent="0" algn="just">
              <a:buNone/>
            </a:pPr>
            <a:r>
              <a:rPr lang="lv-LV" dirty="0" err="1"/>
              <a:t>using</a:t>
            </a:r>
            <a:r>
              <a:rPr lang="lv-LV" dirty="0"/>
              <a:t> WHERE:</a:t>
            </a:r>
          </a:p>
          <a:p>
            <a:pPr marL="0" indent="0" algn="just">
              <a:buNone/>
            </a:pPr>
            <a:r>
              <a:rPr lang="en-US" sz="2000" b="1" dirty="0"/>
              <a:t>SELECT </a:t>
            </a:r>
            <a:r>
              <a:rPr lang="en-US" sz="2000" b="1" dirty="0" err="1"/>
              <a:t>l.LibID</a:t>
            </a:r>
            <a:r>
              <a:rPr lang="en-US" sz="2000" b="1" dirty="0"/>
              <a:t> AS `Librarian ID`,</a:t>
            </a:r>
          </a:p>
          <a:p>
            <a:pPr marL="0" indent="0" algn="just">
              <a:buNone/>
            </a:pPr>
            <a:r>
              <a:rPr lang="en-US" sz="2000" b="1" dirty="0"/>
              <a:t>       CONCAT(</a:t>
            </a:r>
            <a:r>
              <a:rPr lang="en-US" sz="2000" b="1" dirty="0" err="1"/>
              <a:t>l.LSur</a:t>
            </a:r>
            <a:r>
              <a:rPr lang="en-US" sz="2000" b="1" dirty="0"/>
              <a:t>, ' ', </a:t>
            </a:r>
            <a:r>
              <a:rPr lang="en-US" sz="2000" b="1" dirty="0" err="1"/>
              <a:t>l.Lname</a:t>
            </a:r>
            <a:r>
              <a:rPr lang="en-US" sz="2000" b="1" dirty="0"/>
              <a:t>) AS `Librarian Name and Surname`,</a:t>
            </a:r>
          </a:p>
          <a:p>
            <a:pPr marL="0" indent="0" algn="just">
              <a:buNone/>
            </a:pPr>
            <a:r>
              <a:rPr lang="en-US" sz="2000" b="1" dirty="0"/>
              <a:t>       MONTH(</a:t>
            </a:r>
            <a:r>
              <a:rPr lang="en-US" sz="2000" b="1" dirty="0" err="1"/>
              <a:t>j.SDate</a:t>
            </a:r>
            <a:r>
              <a:rPr lang="en-US" sz="2000" b="1" dirty="0"/>
              <a:t>) AS `Month`,</a:t>
            </a:r>
          </a:p>
          <a:p>
            <a:pPr marL="0" indent="0" algn="just">
              <a:buNone/>
            </a:pPr>
            <a:r>
              <a:rPr lang="en-US" sz="2000" b="1" dirty="0"/>
              <a:t>       COUNT(</a:t>
            </a:r>
            <a:r>
              <a:rPr lang="en-US" sz="2000" b="1" dirty="0" err="1"/>
              <a:t>j.LibID</a:t>
            </a:r>
            <a:r>
              <a:rPr lang="en-US" sz="2000" b="1" dirty="0"/>
              <a:t>) AS `Served per month`</a:t>
            </a:r>
          </a:p>
          <a:p>
            <a:pPr marL="0" indent="0" algn="just">
              <a:buNone/>
            </a:pPr>
            <a:r>
              <a:rPr lang="en-US" sz="2000" b="1" dirty="0"/>
              <a:t>FROM Librarians l, Journal j</a:t>
            </a:r>
          </a:p>
          <a:p>
            <a:pPr marL="0" indent="0" algn="just">
              <a:buNone/>
            </a:pPr>
            <a:r>
              <a:rPr lang="en-US" sz="2000" b="1" dirty="0"/>
              <a:t>WHERE </a:t>
            </a:r>
            <a:r>
              <a:rPr lang="en-US" sz="2000" b="1" dirty="0" err="1"/>
              <a:t>l.LibID</a:t>
            </a:r>
            <a:r>
              <a:rPr lang="en-US" sz="2000" b="1" dirty="0"/>
              <a:t> = </a:t>
            </a:r>
            <a:r>
              <a:rPr lang="en-US" sz="2000" b="1" dirty="0" err="1"/>
              <a:t>j.LibID</a:t>
            </a:r>
            <a:endParaRPr lang="en-US" sz="2000" b="1" dirty="0"/>
          </a:p>
          <a:p>
            <a:pPr marL="0" indent="0" algn="just">
              <a:buNone/>
            </a:pPr>
            <a:r>
              <a:rPr lang="en-US" sz="2000" b="1" dirty="0"/>
              <a:t>GROUP BY </a:t>
            </a:r>
            <a:r>
              <a:rPr lang="en-US" sz="2000" b="1" dirty="0" err="1"/>
              <a:t>l.LSur</a:t>
            </a:r>
            <a:r>
              <a:rPr lang="en-US" sz="2000" b="1" dirty="0"/>
              <a:t>, </a:t>
            </a:r>
            <a:r>
              <a:rPr lang="en-US" sz="2000" b="1" dirty="0" err="1"/>
              <a:t>l.Lname</a:t>
            </a:r>
            <a:r>
              <a:rPr lang="en-US" sz="2000" b="1" dirty="0"/>
              <a:t>, </a:t>
            </a:r>
            <a:r>
              <a:rPr lang="en-US" sz="2000" b="1" dirty="0" err="1"/>
              <a:t>l.LibID</a:t>
            </a:r>
            <a:r>
              <a:rPr lang="en-US" sz="2000" b="1" dirty="0"/>
              <a:t>, MONTH(</a:t>
            </a:r>
            <a:r>
              <a:rPr lang="en-US" sz="2000" b="1" dirty="0" err="1"/>
              <a:t>j.SDate</a:t>
            </a:r>
            <a:r>
              <a:rPr lang="en-US" sz="2000" b="1" dirty="0"/>
              <a:t>), </a:t>
            </a:r>
            <a:r>
              <a:rPr lang="en-US" sz="2000" b="1" dirty="0" err="1"/>
              <a:t>j.LibID</a:t>
            </a:r>
            <a:endParaRPr lang="en-US" sz="2000" b="1" dirty="0"/>
          </a:p>
          <a:p>
            <a:pPr marL="0" indent="0" algn="just">
              <a:buNone/>
            </a:pPr>
            <a:r>
              <a:rPr lang="en-US" sz="2000" b="1" dirty="0"/>
              <a:t>ORDER BY MONTH(</a:t>
            </a:r>
            <a:r>
              <a:rPr lang="en-US" sz="2000" b="1" dirty="0" err="1"/>
              <a:t>j.SDate</a:t>
            </a:r>
            <a:r>
              <a:rPr lang="en-US" sz="2000" b="1" dirty="0"/>
              <a:t>), </a:t>
            </a:r>
            <a:r>
              <a:rPr lang="en-US" sz="2000" b="1" dirty="0" err="1"/>
              <a:t>l.LSur</a:t>
            </a:r>
            <a:r>
              <a:rPr lang="en-US" sz="2000" b="1" dirty="0"/>
              <a:t>;</a:t>
            </a:r>
          </a:p>
        </p:txBody>
      </p:sp>
      <p:pic>
        <p:nvPicPr>
          <p:cNvPr id="4" name="Picture 3">
            <a:extLst>
              <a:ext uri="{FF2B5EF4-FFF2-40B4-BE49-F238E27FC236}">
                <a16:creationId xmlns:a16="http://schemas.microsoft.com/office/drawing/2014/main" id="{CC82400A-DFF2-DF9A-0119-289445F827B3}"/>
              </a:ext>
            </a:extLst>
          </p:cNvPr>
          <p:cNvPicPr>
            <a:picLocks noChangeAspect="1"/>
          </p:cNvPicPr>
          <p:nvPr/>
        </p:nvPicPr>
        <p:blipFill>
          <a:blip r:embed="rId2"/>
          <a:stretch>
            <a:fillRect/>
          </a:stretch>
        </p:blipFill>
        <p:spPr>
          <a:xfrm>
            <a:off x="4747491" y="5390016"/>
            <a:ext cx="4269510" cy="1412223"/>
          </a:xfrm>
          <a:prstGeom prst="rect">
            <a:avLst/>
          </a:prstGeom>
        </p:spPr>
      </p:pic>
    </p:spTree>
    <p:extLst>
      <p:ext uri="{BB962C8B-B14F-4D97-AF65-F5344CB8AC3E}">
        <p14:creationId xmlns:p14="http://schemas.microsoft.com/office/powerpoint/2010/main" val="4150377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Outer</a:t>
            </a:r>
            <a:r>
              <a:rPr lang="lv-LV" dirty="0"/>
              <a:t> </a:t>
            </a:r>
            <a:r>
              <a:rPr lang="lv-LV" dirty="0" err="1"/>
              <a:t>Joins</a:t>
            </a:r>
            <a:endParaRPr lang="en-US" dirty="0"/>
          </a:p>
        </p:txBody>
      </p:sp>
      <p:sp>
        <p:nvSpPr>
          <p:cNvPr id="3" name="Content Placeholder 2"/>
          <p:cNvSpPr>
            <a:spLocks noGrp="1"/>
          </p:cNvSpPr>
          <p:nvPr>
            <p:ph idx="1"/>
          </p:nvPr>
        </p:nvSpPr>
        <p:spPr>
          <a:xfrm>
            <a:off x="628650" y="1825624"/>
            <a:ext cx="7886700" cy="4827423"/>
          </a:xfrm>
        </p:spPr>
        <p:txBody>
          <a:bodyPr>
            <a:normAutofit lnSpcReduction="10000"/>
          </a:bodyPr>
          <a:lstStyle/>
          <a:p>
            <a:pPr marL="0" indent="0" algn="just">
              <a:buNone/>
            </a:pPr>
            <a:r>
              <a:rPr lang="en-US" dirty="0"/>
              <a:t>Inner Join combines rows in which column values satisfy the condition. 
External joins output all rows from one table. 
External </a:t>
            </a:r>
            <a:r>
              <a:rPr lang="lv-LV" dirty="0" err="1"/>
              <a:t>joins</a:t>
            </a:r>
            <a:r>
              <a:rPr lang="en-US" dirty="0"/>
              <a:t> are useful when you need to output data that may not contain matching values in the other table. For example, show courses </a:t>
            </a:r>
            <a:r>
              <a:rPr lang="lv-LV" dirty="0" err="1"/>
              <a:t>in</a:t>
            </a:r>
            <a:r>
              <a:rPr lang="en-US" dirty="0"/>
              <a:t> which no students </a:t>
            </a:r>
            <a:r>
              <a:rPr lang="lv-LV" dirty="0" err="1"/>
              <a:t>enrolled</a:t>
            </a:r>
            <a:r>
              <a:rPr lang="en-US" dirty="0"/>
              <a:t>. 
</a:t>
            </a:r>
            <a:r>
              <a:rPr lang="lv-LV" dirty="0" err="1"/>
              <a:t>Outer</a:t>
            </a:r>
            <a:r>
              <a:rPr lang="lv-LV" dirty="0"/>
              <a:t> </a:t>
            </a:r>
            <a:r>
              <a:rPr lang="lv-LV" dirty="0" err="1"/>
              <a:t>Joins</a:t>
            </a:r>
            <a:r>
              <a:rPr lang="en-US" dirty="0"/>
              <a:t> help you create reports </a:t>
            </a:r>
            <a:r>
              <a:rPr lang="lv-LV" dirty="0" err="1"/>
              <a:t>that</a:t>
            </a:r>
            <a:r>
              <a:rPr lang="lv-LV" dirty="0"/>
              <a:t> </a:t>
            </a:r>
            <a:r>
              <a:rPr lang="lv-LV" dirty="0" err="1"/>
              <a:t>display</a:t>
            </a:r>
            <a:r>
              <a:rPr lang="lv-LV" dirty="0"/>
              <a:t> </a:t>
            </a:r>
            <a:r>
              <a:rPr lang="en-US" dirty="0"/>
              <a:t>all records in the same table. For example, display orders for all items, including those items that no one ordered.
</a:t>
            </a:r>
          </a:p>
        </p:txBody>
      </p:sp>
    </p:spTree>
    <p:extLst>
      <p:ext uri="{BB962C8B-B14F-4D97-AF65-F5344CB8AC3E}">
        <p14:creationId xmlns:p14="http://schemas.microsoft.com/office/powerpoint/2010/main" val="320581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Outer</a:t>
            </a:r>
            <a:r>
              <a:rPr lang="lv-LV" dirty="0"/>
              <a:t> </a:t>
            </a:r>
            <a:r>
              <a:rPr lang="lv-LV" dirty="0" err="1"/>
              <a:t>Joins</a:t>
            </a:r>
            <a:endParaRPr lang="en-US" dirty="0"/>
          </a:p>
        </p:txBody>
      </p:sp>
      <p:sp>
        <p:nvSpPr>
          <p:cNvPr id="3" name="Content Placeholder 2"/>
          <p:cNvSpPr>
            <a:spLocks noGrp="1"/>
          </p:cNvSpPr>
          <p:nvPr>
            <p:ph idx="1"/>
          </p:nvPr>
        </p:nvSpPr>
        <p:spPr>
          <a:xfrm>
            <a:off x="628650" y="1825624"/>
            <a:ext cx="7886700" cy="4827423"/>
          </a:xfrm>
        </p:spPr>
        <p:txBody>
          <a:bodyPr>
            <a:normAutofit/>
          </a:bodyPr>
          <a:lstStyle/>
          <a:p>
            <a:pPr marL="0" indent="0" algn="just">
              <a:buNone/>
            </a:pPr>
            <a:r>
              <a:rPr lang="en-US" dirty="0"/>
              <a:t>The order of the external merge tables is important, so the tables are called "left" and "right".</a:t>
            </a:r>
          </a:p>
          <a:p>
            <a:pPr marL="0" indent="0" algn="just">
              <a:buNone/>
            </a:pPr>
            <a:r>
              <a:rPr lang="en-US" dirty="0"/>
              <a:t>All external mergers are divided into:</a:t>
            </a:r>
          </a:p>
          <a:p>
            <a:pPr marL="0" indent="0" algn="just">
              <a:buNone/>
            </a:pPr>
            <a:r>
              <a:rPr lang="en-US" dirty="0"/>
              <a:t>Left – </a:t>
            </a:r>
            <a:r>
              <a:rPr lang="en-US" b="1" dirty="0"/>
              <a:t>Left Outer Join </a:t>
            </a:r>
            <a:r>
              <a:rPr lang="en-US" dirty="0"/>
              <a:t>- includes all rows of the "left" table</a:t>
            </a:r>
          </a:p>
          <a:p>
            <a:pPr marL="0" indent="0" algn="just">
              <a:buNone/>
            </a:pPr>
            <a:r>
              <a:rPr lang="en-US" dirty="0"/>
              <a:t>Right – </a:t>
            </a:r>
            <a:r>
              <a:rPr lang="en-US" b="1" dirty="0"/>
              <a:t>Right Outer Join </a:t>
            </a:r>
            <a:r>
              <a:rPr lang="en-US" dirty="0"/>
              <a:t>- includes all rows of the "right" table</a:t>
            </a:r>
          </a:p>
          <a:p>
            <a:pPr marL="0" indent="0" algn="just">
              <a:buNone/>
            </a:pPr>
            <a:r>
              <a:rPr lang="en-US" dirty="0"/>
              <a:t>Full - </a:t>
            </a:r>
            <a:r>
              <a:rPr lang="en-US" b="1" dirty="0"/>
              <a:t>Full Outer Join </a:t>
            </a:r>
            <a:r>
              <a:rPr lang="en-US" dirty="0"/>
              <a:t>- which is a combination of Left Outer Join and Right Outer Join</a:t>
            </a:r>
          </a:p>
        </p:txBody>
      </p:sp>
    </p:spTree>
    <p:extLst>
      <p:ext uri="{BB962C8B-B14F-4D97-AF65-F5344CB8AC3E}">
        <p14:creationId xmlns:p14="http://schemas.microsoft.com/office/powerpoint/2010/main" val="2645186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Left</a:t>
            </a:r>
            <a:r>
              <a:rPr lang="ru-RU" dirty="0"/>
              <a:t> </a:t>
            </a:r>
            <a:r>
              <a:rPr lang="ru-RU" dirty="0" err="1"/>
              <a:t>Outer</a:t>
            </a:r>
            <a:r>
              <a:rPr lang="ru-RU" dirty="0"/>
              <a:t> </a:t>
            </a:r>
            <a:r>
              <a:rPr lang="ru-RU" dirty="0" err="1"/>
              <a:t>Join</a:t>
            </a:r>
            <a:endParaRPr lang="en-US" dirty="0"/>
          </a:p>
        </p:txBody>
      </p:sp>
      <p:sp>
        <p:nvSpPr>
          <p:cNvPr id="3" name="Content Placeholder 2"/>
          <p:cNvSpPr>
            <a:spLocks noGrp="1"/>
          </p:cNvSpPr>
          <p:nvPr>
            <p:ph idx="1"/>
          </p:nvPr>
        </p:nvSpPr>
        <p:spPr>
          <a:xfrm>
            <a:off x="628650" y="1825625"/>
            <a:ext cx="8073916" cy="4351338"/>
          </a:xfrm>
        </p:spPr>
        <p:txBody>
          <a:bodyPr>
            <a:normAutofit/>
          </a:bodyPr>
          <a:lstStyle/>
          <a:p>
            <a:pPr marL="0" indent="0">
              <a:buNone/>
            </a:pPr>
            <a:r>
              <a:rPr lang="lv-LV" dirty="0" err="1"/>
              <a:t>Statement</a:t>
            </a:r>
            <a:r>
              <a:rPr lang="lv-LV" dirty="0"/>
              <a:t>:</a:t>
            </a:r>
            <a:endParaRPr lang="en-US" dirty="0"/>
          </a:p>
          <a:p>
            <a:pPr marL="0" indent="0">
              <a:buNone/>
            </a:pPr>
            <a:r>
              <a:rPr lang="lv-LV" sz="2000" i="1" dirty="0"/>
              <a:t>SELECT	</a:t>
            </a:r>
            <a:r>
              <a:rPr lang="lv-LV" sz="2000" i="1" dirty="0" err="1"/>
              <a:t>columns</a:t>
            </a:r>
            <a:r>
              <a:rPr lang="lv-LV" sz="2000" i="1" dirty="0"/>
              <a:t>				</a:t>
            </a:r>
          </a:p>
          <a:p>
            <a:pPr marL="0" indent="0">
              <a:buNone/>
            </a:pPr>
            <a:r>
              <a:rPr lang="lv-LV" sz="2000" i="1" dirty="0"/>
              <a:t>FROM 	</a:t>
            </a:r>
            <a:r>
              <a:rPr lang="en-US" sz="2000" i="1" dirty="0"/>
              <a:t>“left“</a:t>
            </a:r>
            <a:r>
              <a:rPr lang="lv-LV" sz="2000" i="1" dirty="0"/>
              <a:t> </a:t>
            </a:r>
            <a:r>
              <a:rPr lang="lv-LV" sz="2000" i="1" dirty="0" err="1"/>
              <a:t>table</a:t>
            </a:r>
            <a:r>
              <a:rPr lang="lv-LV" sz="2000" i="1" dirty="0"/>
              <a:t>  LEFT </a:t>
            </a:r>
            <a:r>
              <a:rPr lang="en-US" sz="2000" i="1" dirty="0"/>
              <a:t>[</a:t>
            </a:r>
            <a:r>
              <a:rPr lang="lv-LV" sz="2000" i="1" dirty="0"/>
              <a:t>OUTER</a:t>
            </a:r>
            <a:r>
              <a:rPr lang="en-US" sz="2000" i="1" dirty="0"/>
              <a:t>]</a:t>
            </a:r>
            <a:r>
              <a:rPr lang="lv-LV" sz="2000" i="1" dirty="0"/>
              <a:t> JOIN </a:t>
            </a:r>
            <a:r>
              <a:rPr lang="en-US" sz="2000" i="1" dirty="0"/>
              <a:t>“right“</a:t>
            </a:r>
            <a:r>
              <a:rPr lang="lv-LV" sz="2000" i="1" dirty="0"/>
              <a:t> </a:t>
            </a:r>
            <a:r>
              <a:rPr lang="lv-LV" sz="2000" i="1" dirty="0" err="1"/>
              <a:t>table</a:t>
            </a:r>
            <a:r>
              <a:rPr lang="lv-LV" sz="2000" i="1" dirty="0"/>
              <a:t> ON</a:t>
            </a:r>
            <a:r>
              <a:rPr lang="lv-LV" sz="2400" i="1" dirty="0"/>
              <a:t> </a:t>
            </a:r>
            <a:r>
              <a:rPr lang="lv-LV" sz="2400" i="1" dirty="0" err="1"/>
              <a:t>condition</a:t>
            </a:r>
            <a:r>
              <a:rPr lang="lv-LV" sz="2400" i="1" dirty="0"/>
              <a:t>;</a:t>
            </a:r>
            <a:endParaRPr lang="en-US" sz="2400" i="1" dirty="0"/>
          </a:p>
          <a:p>
            <a:pPr marL="0" indent="0">
              <a:buNone/>
            </a:pPr>
            <a:endParaRPr lang="en-US" dirty="0"/>
          </a:p>
          <a:p>
            <a:pPr marL="0" indent="0">
              <a:buNone/>
            </a:pPr>
            <a:r>
              <a:rPr lang="en-US" dirty="0"/>
              <a:t>condition statement</a:t>
            </a:r>
            <a:r>
              <a:rPr lang="lv-LV" dirty="0"/>
              <a:t>:</a:t>
            </a:r>
            <a:endParaRPr lang="en-US" dirty="0"/>
          </a:p>
          <a:p>
            <a:pPr marL="0" indent="0">
              <a:buNone/>
            </a:pPr>
            <a:r>
              <a:rPr lang="en-US" sz="2400" i="1" dirty="0"/>
              <a:t>table</a:t>
            </a:r>
            <a:r>
              <a:rPr lang="lv-LV" sz="2400" i="1" dirty="0"/>
              <a:t>1.column1 </a:t>
            </a:r>
            <a:r>
              <a:rPr lang="en-US" sz="2400" i="1" dirty="0"/>
              <a:t>comparison_</a:t>
            </a:r>
            <a:r>
              <a:rPr lang="lv-LV" sz="2400" i="1" dirty="0"/>
              <a:t>operator table2.column2</a:t>
            </a:r>
            <a:endParaRPr lang="en-US" sz="2400" i="1" dirty="0"/>
          </a:p>
          <a:p>
            <a:pPr marL="0" indent="0">
              <a:buNone/>
            </a:pPr>
            <a:endParaRPr lang="en-US" dirty="0"/>
          </a:p>
          <a:p>
            <a:pPr marL="0" indent="0">
              <a:buNone/>
            </a:pPr>
            <a:r>
              <a:rPr lang="en-US" dirty="0"/>
              <a:t>You can combine several conditions with AND </a:t>
            </a:r>
            <a:r>
              <a:rPr lang="en-US" dirty="0" err="1"/>
              <a:t>and</a:t>
            </a:r>
            <a:r>
              <a:rPr lang="en-US" dirty="0"/>
              <a:t> OR.</a:t>
            </a:r>
          </a:p>
          <a:p>
            <a:pPr marL="0" indent="0">
              <a:buNone/>
            </a:pPr>
            <a:endParaRPr lang="en-US" sz="2000" dirty="0"/>
          </a:p>
        </p:txBody>
      </p:sp>
    </p:spTree>
    <p:extLst>
      <p:ext uri="{BB962C8B-B14F-4D97-AF65-F5344CB8AC3E}">
        <p14:creationId xmlns:p14="http://schemas.microsoft.com/office/powerpoint/2010/main" val="3341153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Right</a:t>
            </a:r>
            <a:r>
              <a:rPr lang="ru-RU" dirty="0"/>
              <a:t> </a:t>
            </a:r>
            <a:r>
              <a:rPr lang="ru-RU" dirty="0" err="1"/>
              <a:t>Outer</a:t>
            </a:r>
            <a:r>
              <a:rPr lang="ru-RU" dirty="0"/>
              <a:t> </a:t>
            </a:r>
            <a:r>
              <a:rPr lang="ru-RU" dirty="0" err="1"/>
              <a:t>Join</a:t>
            </a:r>
            <a:endParaRPr lang="en-US" dirty="0"/>
          </a:p>
        </p:txBody>
      </p:sp>
      <p:sp>
        <p:nvSpPr>
          <p:cNvPr id="3" name="Content Placeholder 2"/>
          <p:cNvSpPr>
            <a:spLocks noGrp="1"/>
          </p:cNvSpPr>
          <p:nvPr>
            <p:ph idx="1"/>
          </p:nvPr>
        </p:nvSpPr>
        <p:spPr>
          <a:xfrm>
            <a:off x="628650" y="1825625"/>
            <a:ext cx="8073916" cy="4351338"/>
          </a:xfrm>
        </p:spPr>
        <p:txBody>
          <a:bodyPr>
            <a:normAutofit/>
          </a:bodyPr>
          <a:lstStyle/>
          <a:p>
            <a:pPr marL="0" indent="0">
              <a:buNone/>
            </a:pPr>
            <a:r>
              <a:rPr lang="lv-LV" dirty="0" err="1"/>
              <a:t>Statement</a:t>
            </a:r>
            <a:r>
              <a:rPr lang="lv-LV" dirty="0"/>
              <a:t>:</a:t>
            </a:r>
            <a:endParaRPr lang="en-US" dirty="0"/>
          </a:p>
          <a:p>
            <a:pPr marL="0" indent="0">
              <a:buNone/>
            </a:pPr>
            <a:r>
              <a:rPr lang="lv-LV" sz="2000" i="1" dirty="0"/>
              <a:t>SELECT	</a:t>
            </a:r>
            <a:r>
              <a:rPr lang="lv-LV" sz="2000" i="1" dirty="0" err="1"/>
              <a:t>columns</a:t>
            </a:r>
            <a:r>
              <a:rPr lang="lv-LV" sz="2000" i="1" dirty="0"/>
              <a:t>				</a:t>
            </a:r>
          </a:p>
          <a:p>
            <a:pPr marL="0" indent="0">
              <a:buNone/>
            </a:pPr>
            <a:r>
              <a:rPr lang="lv-LV" sz="2000" i="1" dirty="0"/>
              <a:t>FROM 	</a:t>
            </a:r>
            <a:r>
              <a:rPr lang="en-US" sz="2000" i="1" dirty="0"/>
              <a:t>“left“</a:t>
            </a:r>
            <a:r>
              <a:rPr lang="lv-LV" sz="2000" i="1" dirty="0"/>
              <a:t> </a:t>
            </a:r>
            <a:r>
              <a:rPr lang="lv-LV" sz="2000" i="1" dirty="0" err="1"/>
              <a:t>table</a:t>
            </a:r>
            <a:r>
              <a:rPr lang="lv-LV" sz="2000" i="1" dirty="0"/>
              <a:t>  </a:t>
            </a:r>
            <a:r>
              <a:rPr lang="en-US" sz="2000" i="1" dirty="0"/>
              <a:t>RIGHT</a:t>
            </a:r>
            <a:r>
              <a:rPr lang="lv-LV" sz="2000" i="1" dirty="0"/>
              <a:t> </a:t>
            </a:r>
            <a:r>
              <a:rPr lang="en-US" sz="2000" i="1" dirty="0"/>
              <a:t>[</a:t>
            </a:r>
            <a:r>
              <a:rPr lang="lv-LV" sz="2000" i="1" dirty="0"/>
              <a:t>OUTER</a:t>
            </a:r>
            <a:r>
              <a:rPr lang="en-US" sz="2000" i="1" dirty="0"/>
              <a:t>]</a:t>
            </a:r>
            <a:r>
              <a:rPr lang="lv-LV" sz="2000" i="1" dirty="0"/>
              <a:t> JOIN </a:t>
            </a:r>
            <a:r>
              <a:rPr lang="en-US" sz="2000" i="1" dirty="0"/>
              <a:t>“right“</a:t>
            </a:r>
            <a:r>
              <a:rPr lang="lv-LV" sz="2000" i="1" dirty="0"/>
              <a:t> </a:t>
            </a:r>
            <a:r>
              <a:rPr lang="lv-LV" sz="2000" i="1" dirty="0" err="1"/>
              <a:t>table</a:t>
            </a:r>
            <a:r>
              <a:rPr lang="lv-LV" sz="2000" i="1" dirty="0"/>
              <a:t> ON</a:t>
            </a:r>
            <a:r>
              <a:rPr lang="lv-LV" sz="2400" i="1" dirty="0"/>
              <a:t> </a:t>
            </a:r>
            <a:r>
              <a:rPr lang="lv-LV" sz="2400" i="1" dirty="0" err="1"/>
              <a:t>condition</a:t>
            </a:r>
            <a:r>
              <a:rPr lang="lv-LV" sz="2400" i="1" dirty="0"/>
              <a:t>;</a:t>
            </a:r>
            <a:endParaRPr lang="en-US" sz="2400" i="1" dirty="0"/>
          </a:p>
          <a:p>
            <a:pPr marL="0" indent="0">
              <a:buNone/>
            </a:pPr>
            <a:endParaRPr lang="en-US" dirty="0"/>
          </a:p>
          <a:p>
            <a:pPr marL="0" indent="0">
              <a:buNone/>
            </a:pPr>
            <a:r>
              <a:rPr lang="en-US" dirty="0"/>
              <a:t>condition statement</a:t>
            </a:r>
            <a:r>
              <a:rPr lang="lv-LV" dirty="0"/>
              <a:t>:</a:t>
            </a:r>
            <a:endParaRPr lang="en-US" dirty="0"/>
          </a:p>
          <a:p>
            <a:pPr marL="0" indent="0">
              <a:buNone/>
            </a:pPr>
            <a:r>
              <a:rPr lang="en-US" sz="2400" i="1" dirty="0"/>
              <a:t>table</a:t>
            </a:r>
            <a:r>
              <a:rPr lang="lv-LV" sz="2400" i="1" dirty="0"/>
              <a:t>1.column1 </a:t>
            </a:r>
            <a:r>
              <a:rPr lang="en-US" sz="2400" i="1" dirty="0"/>
              <a:t>comparison_</a:t>
            </a:r>
            <a:r>
              <a:rPr lang="lv-LV" sz="2400" i="1" dirty="0"/>
              <a:t>operator table2.column2</a:t>
            </a:r>
            <a:endParaRPr lang="en-US" sz="2400" i="1" dirty="0"/>
          </a:p>
          <a:p>
            <a:pPr marL="0" indent="0">
              <a:buNone/>
            </a:pPr>
            <a:endParaRPr lang="en-US" dirty="0"/>
          </a:p>
          <a:p>
            <a:pPr marL="0" indent="0">
              <a:buNone/>
            </a:pPr>
            <a:r>
              <a:rPr lang="en-US" dirty="0"/>
              <a:t>You can combine several conditions with AND </a:t>
            </a:r>
            <a:r>
              <a:rPr lang="en-US" dirty="0" err="1"/>
              <a:t>and</a:t>
            </a:r>
            <a:r>
              <a:rPr lang="en-US" dirty="0"/>
              <a:t> OR.</a:t>
            </a:r>
          </a:p>
          <a:p>
            <a:pPr marL="0" indent="0">
              <a:buNone/>
            </a:pPr>
            <a:endParaRPr lang="en-US" sz="2000" dirty="0"/>
          </a:p>
        </p:txBody>
      </p:sp>
    </p:spTree>
    <p:extLst>
      <p:ext uri="{BB962C8B-B14F-4D97-AF65-F5344CB8AC3E}">
        <p14:creationId xmlns:p14="http://schemas.microsoft.com/office/powerpoint/2010/main" val="3086178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Full</a:t>
            </a:r>
            <a:r>
              <a:rPr lang="ru-RU" dirty="0"/>
              <a:t> </a:t>
            </a:r>
            <a:r>
              <a:rPr lang="ru-RU" dirty="0" err="1"/>
              <a:t>Outer</a:t>
            </a:r>
            <a:r>
              <a:rPr lang="ru-RU" dirty="0"/>
              <a:t> </a:t>
            </a:r>
            <a:r>
              <a:rPr lang="ru-RU" dirty="0" err="1"/>
              <a:t>Join</a:t>
            </a:r>
            <a:endParaRPr lang="en-US" dirty="0"/>
          </a:p>
        </p:txBody>
      </p:sp>
      <p:sp>
        <p:nvSpPr>
          <p:cNvPr id="3" name="Content Placeholder 2"/>
          <p:cNvSpPr>
            <a:spLocks noGrp="1"/>
          </p:cNvSpPr>
          <p:nvPr>
            <p:ph idx="1"/>
          </p:nvPr>
        </p:nvSpPr>
        <p:spPr>
          <a:xfrm>
            <a:off x="628649" y="1825625"/>
            <a:ext cx="8115957" cy="4351338"/>
          </a:xfrm>
        </p:spPr>
        <p:txBody>
          <a:bodyPr>
            <a:normAutofit/>
          </a:bodyPr>
          <a:lstStyle/>
          <a:p>
            <a:pPr marL="0" indent="0">
              <a:buNone/>
            </a:pPr>
            <a:r>
              <a:rPr lang="lv-LV" dirty="0" err="1"/>
              <a:t>Statement</a:t>
            </a:r>
            <a:r>
              <a:rPr lang="lv-LV" dirty="0"/>
              <a:t>:</a:t>
            </a:r>
            <a:endParaRPr lang="en-US" dirty="0"/>
          </a:p>
          <a:p>
            <a:pPr marL="0" indent="0">
              <a:buNone/>
            </a:pPr>
            <a:r>
              <a:rPr lang="lv-LV" sz="2000" i="1" dirty="0"/>
              <a:t>SELECT	</a:t>
            </a:r>
            <a:r>
              <a:rPr lang="lv-LV" sz="2000" i="1" dirty="0" err="1"/>
              <a:t>columns</a:t>
            </a:r>
            <a:r>
              <a:rPr lang="lv-LV" sz="2000" i="1" dirty="0"/>
              <a:t>				</a:t>
            </a:r>
          </a:p>
          <a:p>
            <a:pPr marL="0" indent="0">
              <a:buNone/>
            </a:pPr>
            <a:r>
              <a:rPr lang="lv-LV" sz="2000" i="1" dirty="0"/>
              <a:t>FROM 	</a:t>
            </a:r>
            <a:r>
              <a:rPr lang="en-US" sz="2000" i="1" dirty="0"/>
              <a:t>“left“</a:t>
            </a:r>
            <a:r>
              <a:rPr lang="lv-LV" sz="2000" i="1" dirty="0"/>
              <a:t> </a:t>
            </a:r>
            <a:r>
              <a:rPr lang="lv-LV" sz="2000" i="1" dirty="0" err="1"/>
              <a:t>table</a:t>
            </a:r>
            <a:r>
              <a:rPr lang="lv-LV" sz="2000" i="1" dirty="0"/>
              <a:t>  </a:t>
            </a:r>
            <a:r>
              <a:rPr lang="en-US" sz="2000" i="1" dirty="0"/>
              <a:t>FULL</a:t>
            </a:r>
            <a:r>
              <a:rPr lang="lv-LV" sz="2000" i="1" dirty="0"/>
              <a:t> </a:t>
            </a:r>
            <a:r>
              <a:rPr lang="en-US" sz="2000" i="1" dirty="0"/>
              <a:t>[</a:t>
            </a:r>
            <a:r>
              <a:rPr lang="lv-LV" sz="2000" i="1" dirty="0"/>
              <a:t>OUTER</a:t>
            </a:r>
            <a:r>
              <a:rPr lang="en-US" sz="2000" i="1" dirty="0"/>
              <a:t>]</a:t>
            </a:r>
            <a:r>
              <a:rPr lang="lv-LV" sz="2000" i="1" dirty="0"/>
              <a:t> JOIN </a:t>
            </a:r>
            <a:r>
              <a:rPr lang="en-US" sz="2000" i="1" dirty="0"/>
              <a:t>“right“</a:t>
            </a:r>
            <a:r>
              <a:rPr lang="lv-LV" sz="2000" i="1" dirty="0"/>
              <a:t> </a:t>
            </a:r>
            <a:r>
              <a:rPr lang="lv-LV" sz="2000" i="1" dirty="0" err="1"/>
              <a:t>table</a:t>
            </a:r>
            <a:r>
              <a:rPr lang="lv-LV" sz="2000" i="1" dirty="0"/>
              <a:t> ON</a:t>
            </a:r>
            <a:r>
              <a:rPr lang="lv-LV" sz="2400" i="1" dirty="0"/>
              <a:t> </a:t>
            </a:r>
            <a:r>
              <a:rPr lang="lv-LV" sz="2400" i="1" dirty="0" err="1"/>
              <a:t>condition</a:t>
            </a:r>
            <a:r>
              <a:rPr lang="lv-LV" sz="2400" i="1" dirty="0"/>
              <a:t>;</a:t>
            </a:r>
            <a:endParaRPr lang="en-US" sz="2400" i="1" dirty="0"/>
          </a:p>
          <a:p>
            <a:pPr marL="0" indent="0">
              <a:buNone/>
            </a:pPr>
            <a:endParaRPr lang="en-US" sz="2400" i="1" dirty="0"/>
          </a:p>
          <a:p>
            <a:pPr marL="0" indent="0">
              <a:buNone/>
            </a:pPr>
            <a:r>
              <a:rPr lang="en-US" dirty="0"/>
              <a:t>condition statement</a:t>
            </a:r>
            <a:r>
              <a:rPr lang="lv-LV" dirty="0"/>
              <a:t>:</a:t>
            </a:r>
            <a:endParaRPr lang="en-US" dirty="0"/>
          </a:p>
          <a:p>
            <a:pPr marL="0" indent="0">
              <a:buNone/>
            </a:pPr>
            <a:r>
              <a:rPr lang="en-US" sz="2400" i="1" dirty="0"/>
              <a:t>table</a:t>
            </a:r>
            <a:r>
              <a:rPr lang="lv-LV" sz="2400" i="1" dirty="0"/>
              <a:t>1.column1 </a:t>
            </a:r>
            <a:r>
              <a:rPr lang="en-US" sz="2400" i="1" dirty="0"/>
              <a:t>comparison_</a:t>
            </a:r>
            <a:r>
              <a:rPr lang="lv-LV" sz="2400" i="1" dirty="0"/>
              <a:t>operator table2.column2</a:t>
            </a:r>
            <a:endParaRPr lang="en-US" sz="2400" i="1" dirty="0"/>
          </a:p>
          <a:p>
            <a:pPr marL="0" indent="0">
              <a:buNone/>
            </a:pPr>
            <a:endParaRPr lang="en-US" dirty="0"/>
          </a:p>
          <a:p>
            <a:pPr marL="0" indent="0">
              <a:buNone/>
            </a:pPr>
            <a:r>
              <a:rPr lang="en-US" dirty="0"/>
              <a:t>You can combine several conditions with AND </a:t>
            </a:r>
            <a:r>
              <a:rPr lang="en-US" dirty="0" err="1"/>
              <a:t>and</a:t>
            </a:r>
            <a:r>
              <a:rPr lang="en-US" dirty="0"/>
              <a:t> OR.</a:t>
            </a:r>
          </a:p>
          <a:p>
            <a:pPr marL="0" indent="0">
              <a:buNone/>
            </a:pPr>
            <a:endParaRPr lang="en-US" sz="2000" dirty="0"/>
          </a:p>
        </p:txBody>
      </p:sp>
    </p:spTree>
    <p:extLst>
      <p:ext uri="{BB962C8B-B14F-4D97-AF65-F5344CB8AC3E}">
        <p14:creationId xmlns:p14="http://schemas.microsoft.com/office/powerpoint/2010/main" val="358042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Outer</a:t>
            </a:r>
            <a:r>
              <a:rPr lang="lv-LV" dirty="0"/>
              <a:t> </a:t>
            </a:r>
            <a:r>
              <a:rPr lang="lv-LV" dirty="0" err="1"/>
              <a:t>Join</a:t>
            </a:r>
            <a:r>
              <a:rPr lang="en-US" dirty="0"/>
              <a:t>s</a:t>
            </a:r>
          </a:p>
        </p:txBody>
      </p:sp>
      <p:sp>
        <p:nvSpPr>
          <p:cNvPr id="3" name="Content Placeholder 2"/>
          <p:cNvSpPr>
            <a:spLocks noGrp="1"/>
          </p:cNvSpPr>
          <p:nvPr>
            <p:ph idx="1"/>
          </p:nvPr>
        </p:nvSpPr>
        <p:spPr>
          <a:xfrm>
            <a:off x="228599" y="1587062"/>
            <a:ext cx="8656984" cy="5121851"/>
          </a:xfrm>
        </p:spPr>
        <p:txBody>
          <a:bodyPr>
            <a:normAutofit/>
          </a:bodyPr>
          <a:lstStyle/>
          <a:p>
            <a:pPr marL="0" indent="0" algn="just">
              <a:buNone/>
            </a:pPr>
            <a:r>
              <a:rPr lang="en-US" dirty="0"/>
              <a:t>Example: You need to display the addresses of readers who did not use library services.</a:t>
            </a:r>
          </a:p>
          <a:p>
            <a:pPr marL="0" indent="0" algn="just">
              <a:buNone/>
            </a:pPr>
            <a:endParaRPr lang="en-US" sz="2000" b="1" dirty="0"/>
          </a:p>
          <a:p>
            <a:pPr marL="0" indent="0">
              <a:buNone/>
            </a:pPr>
            <a:r>
              <a:rPr lang="lv-LV" sz="2000" b="1" i="1" dirty="0"/>
              <a:t>SELECT </a:t>
            </a:r>
            <a:r>
              <a:rPr lang="lv-LV" sz="2000" b="1" i="1" dirty="0">
                <a:highlight>
                  <a:srgbClr val="FFFF00"/>
                </a:highlight>
              </a:rPr>
              <a:t>CONCAT</a:t>
            </a:r>
            <a:r>
              <a:rPr lang="lv-LV" sz="2000" b="1" i="1" dirty="0"/>
              <a:t>(</a:t>
            </a:r>
            <a:r>
              <a:rPr lang="lv-LV" sz="2000" b="1" i="1" dirty="0" err="1"/>
              <a:t>rdr.ReaderName</a:t>
            </a:r>
            <a:r>
              <a:rPr lang="lv-LV" sz="2000" b="1" i="1" dirty="0"/>
              <a:t>, ' ', </a:t>
            </a:r>
            <a:r>
              <a:rPr lang="lv-LV" sz="2000" b="1" i="1" dirty="0" err="1"/>
              <a:t>rdr.ReaderSur</a:t>
            </a:r>
            <a:r>
              <a:rPr lang="lv-LV" sz="2000" b="1" i="1" dirty="0"/>
              <a:t>) AS `</a:t>
            </a:r>
            <a:r>
              <a:rPr lang="lv-LV" sz="2000" b="1" i="1" dirty="0" err="1"/>
              <a:t>Reader</a:t>
            </a:r>
            <a:r>
              <a:rPr lang="lv-LV" sz="2000" b="1" i="1" dirty="0"/>
              <a:t>`,</a:t>
            </a:r>
          </a:p>
          <a:p>
            <a:pPr marL="0" indent="0">
              <a:buNone/>
            </a:pPr>
            <a:r>
              <a:rPr lang="lv-LV" sz="2000" b="1" i="1" dirty="0"/>
              <a:t>       </a:t>
            </a:r>
            <a:r>
              <a:rPr lang="lv-LV" sz="2000" b="1" i="1" dirty="0">
                <a:highlight>
                  <a:srgbClr val="FFFF00"/>
                </a:highlight>
              </a:rPr>
              <a:t>CONCAT</a:t>
            </a:r>
            <a:r>
              <a:rPr lang="lv-LV" sz="2000" b="1" i="1" dirty="0"/>
              <a:t>(</a:t>
            </a:r>
            <a:r>
              <a:rPr lang="lv-LV" sz="2000" b="1" i="1" dirty="0" err="1"/>
              <a:t>rdr.Street</a:t>
            </a:r>
            <a:r>
              <a:rPr lang="lv-LV" sz="2000" b="1" i="1" dirty="0"/>
              <a:t>, ', ', </a:t>
            </a:r>
            <a:r>
              <a:rPr lang="lv-LV" sz="2000" b="1" i="1" dirty="0" err="1"/>
              <a:t>rdr.House</a:t>
            </a:r>
            <a:r>
              <a:rPr lang="lv-LV" sz="2000" b="1" i="1" dirty="0"/>
              <a:t>, '-', </a:t>
            </a:r>
            <a:r>
              <a:rPr lang="lv-LV" sz="2000" b="1" i="1" dirty="0" err="1"/>
              <a:t>rdr.Flat</a:t>
            </a:r>
            <a:r>
              <a:rPr lang="lv-LV" sz="2000" b="1" i="1" dirty="0"/>
              <a:t>) AS `</a:t>
            </a:r>
            <a:r>
              <a:rPr lang="lv-LV" sz="2000" b="1" i="1" dirty="0" err="1"/>
              <a:t>Address</a:t>
            </a:r>
            <a:r>
              <a:rPr lang="lv-LV" sz="2000" b="1" i="1" dirty="0"/>
              <a:t>`</a:t>
            </a:r>
          </a:p>
          <a:p>
            <a:pPr marL="0" indent="0">
              <a:buNone/>
            </a:pPr>
            <a:r>
              <a:rPr lang="lv-LV" sz="2000" b="1" i="1" dirty="0"/>
              <a:t>FROM </a:t>
            </a:r>
            <a:r>
              <a:rPr lang="lv-LV" sz="2000" b="1" i="1" dirty="0" err="1"/>
              <a:t>Readers</a:t>
            </a:r>
            <a:r>
              <a:rPr lang="lv-LV" sz="2000" b="1" i="1" dirty="0"/>
              <a:t> </a:t>
            </a:r>
            <a:r>
              <a:rPr lang="lv-LV" sz="2000" b="1" i="1" dirty="0" err="1"/>
              <a:t>rdr</a:t>
            </a:r>
            <a:r>
              <a:rPr lang="lv-LV" sz="2000" b="1" i="1" dirty="0"/>
              <a:t> </a:t>
            </a:r>
          </a:p>
          <a:p>
            <a:pPr marL="0" indent="0">
              <a:buNone/>
            </a:pPr>
            <a:r>
              <a:rPr lang="lv-LV" sz="2000" b="1" i="1" dirty="0"/>
              <a:t>LEFT JOIN </a:t>
            </a:r>
            <a:r>
              <a:rPr lang="lv-LV" sz="2000" b="1" i="1" dirty="0" err="1"/>
              <a:t>Journal</a:t>
            </a:r>
            <a:r>
              <a:rPr lang="lv-LV" sz="2000" b="1" i="1" dirty="0"/>
              <a:t> j ON </a:t>
            </a:r>
            <a:r>
              <a:rPr lang="lv-LV" sz="2000" b="1" i="1" dirty="0" err="1"/>
              <a:t>rdr.ReaderID</a:t>
            </a:r>
            <a:r>
              <a:rPr lang="lv-LV" sz="2000" b="1" i="1" dirty="0"/>
              <a:t> = </a:t>
            </a:r>
            <a:r>
              <a:rPr lang="lv-LV" sz="2000" b="1" i="1" dirty="0" err="1"/>
              <a:t>j.ReaderID</a:t>
            </a:r>
            <a:endParaRPr lang="lv-LV" sz="2000" b="1" i="1" dirty="0"/>
          </a:p>
          <a:p>
            <a:pPr marL="0" indent="0">
              <a:buNone/>
            </a:pPr>
            <a:r>
              <a:rPr lang="lv-LV" sz="2000" b="1" i="1" dirty="0"/>
              <a:t>WHERE </a:t>
            </a:r>
            <a:r>
              <a:rPr lang="lv-LV" sz="2000" b="1" i="1" dirty="0" err="1"/>
              <a:t>j.ReaderID</a:t>
            </a:r>
            <a:r>
              <a:rPr lang="lv-LV" sz="2000" b="1" i="1" dirty="0"/>
              <a:t> IS NULL;</a:t>
            </a:r>
          </a:p>
        </p:txBody>
      </p:sp>
      <p:pic>
        <p:nvPicPr>
          <p:cNvPr id="5" name="Picture 4">
            <a:extLst>
              <a:ext uri="{FF2B5EF4-FFF2-40B4-BE49-F238E27FC236}">
                <a16:creationId xmlns:a16="http://schemas.microsoft.com/office/drawing/2014/main" id="{0AEDEFCB-CCF8-880B-C056-7B2BE14EAC34}"/>
              </a:ext>
            </a:extLst>
          </p:cNvPr>
          <p:cNvPicPr>
            <a:picLocks noChangeAspect="1"/>
          </p:cNvPicPr>
          <p:nvPr/>
        </p:nvPicPr>
        <p:blipFill>
          <a:blip r:embed="rId2"/>
          <a:stretch>
            <a:fillRect/>
          </a:stretch>
        </p:blipFill>
        <p:spPr>
          <a:xfrm>
            <a:off x="5279555" y="4787799"/>
            <a:ext cx="2181529" cy="1448002"/>
          </a:xfrm>
          <a:prstGeom prst="rect">
            <a:avLst/>
          </a:prstGeom>
        </p:spPr>
      </p:pic>
    </p:spTree>
    <p:extLst>
      <p:ext uri="{BB962C8B-B14F-4D97-AF65-F5344CB8AC3E}">
        <p14:creationId xmlns:p14="http://schemas.microsoft.com/office/powerpoint/2010/main" val="2455321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C8499-F869-5675-855F-1161A3058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2C078-C9D2-AC61-B155-E352B1C0DB33}"/>
              </a:ext>
            </a:extLst>
          </p:cNvPr>
          <p:cNvSpPr>
            <a:spLocks noGrp="1"/>
          </p:cNvSpPr>
          <p:nvPr>
            <p:ph type="title"/>
          </p:nvPr>
        </p:nvSpPr>
        <p:spPr/>
        <p:txBody>
          <a:bodyPr/>
          <a:lstStyle/>
          <a:p>
            <a:pPr algn="ctr"/>
            <a:r>
              <a:rPr lang="lv-LV" dirty="0" err="1"/>
              <a:t>Outer</a:t>
            </a:r>
            <a:r>
              <a:rPr lang="lv-LV" dirty="0"/>
              <a:t> </a:t>
            </a:r>
            <a:r>
              <a:rPr lang="lv-LV" dirty="0" err="1"/>
              <a:t>Join</a:t>
            </a:r>
            <a:r>
              <a:rPr lang="en-US" dirty="0"/>
              <a:t>s</a:t>
            </a:r>
          </a:p>
        </p:txBody>
      </p:sp>
      <p:sp>
        <p:nvSpPr>
          <p:cNvPr id="3" name="Content Placeholder 2">
            <a:extLst>
              <a:ext uri="{FF2B5EF4-FFF2-40B4-BE49-F238E27FC236}">
                <a16:creationId xmlns:a16="http://schemas.microsoft.com/office/drawing/2014/main" id="{A7B1D195-7274-66C7-D8C9-66AFCE5278A6}"/>
              </a:ext>
            </a:extLst>
          </p:cNvPr>
          <p:cNvSpPr>
            <a:spLocks noGrp="1"/>
          </p:cNvSpPr>
          <p:nvPr>
            <p:ph idx="1"/>
          </p:nvPr>
        </p:nvSpPr>
        <p:spPr>
          <a:xfrm>
            <a:off x="228599" y="1587062"/>
            <a:ext cx="8656984" cy="5121851"/>
          </a:xfrm>
        </p:spPr>
        <p:txBody>
          <a:bodyPr>
            <a:normAutofit/>
          </a:bodyPr>
          <a:lstStyle/>
          <a:p>
            <a:pPr marL="0" indent="0" algn="just">
              <a:buNone/>
            </a:pPr>
            <a:r>
              <a:rPr lang="en-US" dirty="0"/>
              <a:t>Example: You need to display the addresses of readers who did not use library services.</a:t>
            </a:r>
          </a:p>
          <a:p>
            <a:pPr marL="0" indent="0" algn="just">
              <a:buNone/>
            </a:pPr>
            <a:endParaRPr lang="en-US" sz="2000" b="1" dirty="0"/>
          </a:p>
          <a:p>
            <a:pPr marL="0" indent="0">
              <a:buNone/>
            </a:pPr>
            <a:r>
              <a:rPr lang="lv-LV" sz="2000" b="1" i="1" dirty="0"/>
              <a:t>SELECT </a:t>
            </a:r>
            <a:r>
              <a:rPr lang="lv-LV" sz="2000" b="1" i="1" dirty="0">
                <a:highlight>
                  <a:srgbClr val="FFFF00"/>
                </a:highlight>
              </a:rPr>
              <a:t>CONCAT_WS</a:t>
            </a:r>
            <a:r>
              <a:rPr lang="lv-LV" sz="2000" b="1" i="1" dirty="0"/>
              <a:t>(' ', </a:t>
            </a:r>
            <a:r>
              <a:rPr lang="lv-LV" sz="2000" b="1" i="1" dirty="0" err="1"/>
              <a:t>rdr.ReaderName</a:t>
            </a:r>
            <a:r>
              <a:rPr lang="lv-LV" sz="2000" b="1" i="1" dirty="0"/>
              <a:t>, </a:t>
            </a:r>
            <a:r>
              <a:rPr lang="lv-LV" sz="2000" b="1" i="1" dirty="0" err="1"/>
              <a:t>rdr.ReaderSur</a:t>
            </a:r>
            <a:r>
              <a:rPr lang="lv-LV" sz="2000" b="1" i="1" dirty="0"/>
              <a:t>) AS `</a:t>
            </a:r>
            <a:r>
              <a:rPr lang="lv-LV" sz="2000" b="1" i="1" dirty="0" err="1"/>
              <a:t>Reader</a:t>
            </a:r>
            <a:r>
              <a:rPr lang="lv-LV" sz="2000" b="1" i="1" dirty="0"/>
              <a:t>`,</a:t>
            </a:r>
          </a:p>
          <a:p>
            <a:pPr marL="0" indent="0">
              <a:buNone/>
            </a:pPr>
            <a:r>
              <a:rPr lang="lv-LV" sz="2000" b="1" i="1" dirty="0"/>
              <a:t>       </a:t>
            </a:r>
            <a:r>
              <a:rPr lang="lv-LV" sz="2000" b="1" i="1" dirty="0">
                <a:highlight>
                  <a:srgbClr val="FFFF00"/>
                </a:highlight>
              </a:rPr>
              <a:t>CONCAT_WS</a:t>
            </a:r>
            <a:r>
              <a:rPr lang="lv-LV" sz="2000" b="1" i="1" dirty="0"/>
              <a:t>(', ', </a:t>
            </a:r>
            <a:r>
              <a:rPr lang="lv-LV" sz="2000" b="1" i="1" dirty="0" err="1"/>
              <a:t>rdr.Street</a:t>
            </a:r>
            <a:r>
              <a:rPr lang="lv-LV" sz="2000" b="1" i="1" dirty="0"/>
              <a:t>, </a:t>
            </a:r>
            <a:r>
              <a:rPr lang="lv-LV" sz="2000" b="1" i="1" dirty="0" err="1"/>
              <a:t>rdr.House</a:t>
            </a:r>
            <a:r>
              <a:rPr lang="lv-LV" sz="2000" b="1" i="1" dirty="0"/>
              <a:t>, CONCAT_WS('-', </a:t>
            </a:r>
            <a:r>
              <a:rPr lang="lv-LV" sz="2000" b="1" i="1" dirty="0" err="1"/>
              <a:t>rdr.Flat</a:t>
            </a:r>
            <a:r>
              <a:rPr lang="lv-LV" sz="2000" b="1" i="1" dirty="0"/>
              <a:t>)) AS `</a:t>
            </a:r>
            <a:r>
              <a:rPr lang="lv-LV" sz="2000" b="1" i="1" dirty="0" err="1"/>
              <a:t>Address</a:t>
            </a:r>
            <a:r>
              <a:rPr lang="lv-LV" sz="2000" b="1" i="1" dirty="0"/>
              <a:t>`</a:t>
            </a:r>
          </a:p>
          <a:p>
            <a:pPr marL="0" indent="0">
              <a:buNone/>
            </a:pPr>
            <a:r>
              <a:rPr lang="lv-LV" sz="2000" b="1" i="1" dirty="0"/>
              <a:t>FROM </a:t>
            </a:r>
            <a:r>
              <a:rPr lang="lv-LV" sz="2000" b="1" i="1" dirty="0" err="1"/>
              <a:t>Readers</a:t>
            </a:r>
            <a:r>
              <a:rPr lang="lv-LV" sz="2000" b="1" i="1" dirty="0"/>
              <a:t> </a:t>
            </a:r>
            <a:r>
              <a:rPr lang="lv-LV" sz="2000" b="1" i="1" dirty="0" err="1"/>
              <a:t>rdr</a:t>
            </a:r>
            <a:r>
              <a:rPr lang="lv-LV" sz="2000" b="1" i="1" dirty="0"/>
              <a:t> </a:t>
            </a:r>
          </a:p>
          <a:p>
            <a:pPr marL="0" indent="0">
              <a:buNone/>
            </a:pPr>
            <a:r>
              <a:rPr lang="lv-LV" sz="2000" b="1" i="1" dirty="0"/>
              <a:t>LEFT JOIN </a:t>
            </a:r>
            <a:r>
              <a:rPr lang="lv-LV" sz="2000" b="1" i="1" dirty="0" err="1"/>
              <a:t>Journal</a:t>
            </a:r>
            <a:r>
              <a:rPr lang="lv-LV" sz="2000" b="1" i="1" dirty="0"/>
              <a:t> j ON </a:t>
            </a:r>
            <a:r>
              <a:rPr lang="lv-LV" sz="2000" b="1" i="1" dirty="0" err="1"/>
              <a:t>rdr.ReaderID</a:t>
            </a:r>
            <a:r>
              <a:rPr lang="lv-LV" sz="2000" b="1" i="1" dirty="0"/>
              <a:t> = </a:t>
            </a:r>
            <a:r>
              <a:rPr lang="lv-LV" sz="2000" b="1" i="1" dirty="0" err="1"/>
              <a:t>j.ReaderID</a:t>
            </a:r>
            <a:endParaRPr lang="lv-LV" sz="2000" b="1" i="1" dirty="0"/>
          </a:p>
          <a:p>
            <a:pPr marL="0" indent="0">
              <a:buNone/>
            </a:pPr>
            <a:r>
              <a:rPr lang="lv-LV" sz="2000" b="1" i="1" dirty="0"/>
              <a:t>WHERE </a:t>
            </a:r>
            <a:r>
              <a:rPr lang="lv-LV" sz="2000" b="1" i="1" dirty="0" err="1"/>
              <a:t>j.ReaderID</a:t>
            </a:r>
            <a:r>
              <a:rPr lang="lv-LV" sz="2000" b="1" i="1" dirty="0"/>
              <a:t> IS NULL;</a:t>
            </a:r>
          </a:p>
        </p:txBody>
      </p:sp>
      <p:pic>
        <p:nvPicPr>
          <p:cNvPr id="6" name="Picture 5">
            <a:extLst>
              <a:ext uri="{FF2B5EF4-FFF2-40B4-BE49-F238E27FC236}">
                <a16:creationId xmlns:a16="http://schemas.microsoft.com/office/drawing/2014/main" id="{73EDEBE3-C579-3E33-EC90-614B2023EF5F}"/>
              </a:ext>
            </a:extLst>
          </p:cNvPr>
          <p:cNvPicPr>
            <a:picLocks noChangeAspect="1"/>
          </p:cNvPicPr>
          <p:nvPr/>
        </p:nvPicPr>
        <p:blipFill>
          <a:blip r:embed="rId2"/>
          <a:stretch>
            <a:fillRect/>
          </a:stretch>
        </p:blipFill>
        <p:spPr>
          <a:xfrm>
            <a:off x="5725915" y="4754881"/>
            <a:ext cx="2529878" cy="1647610"/>
          </a:xfrm>
          <a:prstGeom prst="rect">
            <a:avLst/>
          </a:prstGeom>
        </p:spPr>
      </p:pic>
    </p:spTree>
    <p:extLst>
      <p:ext uri="{BB962C8B-B14F-4D97-AF65-F5344CB8AC3E}">
        <p14:creationId xmlns:p14="http://schemas.microsoft.com/office/powerpoint/2010/main" val="2883013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Outer</a:t>
            </a:r>
            <a:r>
              <a:rPr lang="lv-LV" dirty="0"/>
              <a:t> </a:t>
            </a:r>
            <a:r>
              <a:rPr lang="lv-LV" dirty="0" err="1"/>
              <a:t>Join</a:t>
            </a:r>
            <a:r>
              <a:rPr lang="en-US" dirty="0"/>
              <a:t>s</a:t>
            </a:r>
          </a:p>
        </p:txBody>
      </p:sp>
      <p:sp>
        <p:nvSpPr>
          <p:cNvPr id="3" name="Content Placeholder 2"/>
          <p:cNvSpPr>
            <a:spLocks noGrp="1"/>
          </p:cNvSpPr>
          <p:nvPr>
            <p:ph idx="1"/>
          </p:nvPr>
        </p:nvSpPr>
        <p:spPr/>
        <p:txBody>
          <a:bodyPr/>
          <a:lstStyle/>
          <a:p>
            <a:pPr marL="0" indent="0" algn="just">
              <a:buNone/>
            </a:pPr>
            <a:r>
              <a:rPr lang="en-US" dirty="0"/>
              <a:t>Execution sequence:</a:t>
            </a:r>
          </a:p>
          <a:p>
            <a:pPr marL="0" indent="0" algn="just">
              <a:buNone/>
            </a:pPr>
            <a:r>
              <a:rPr lang="en-US" dirty="0"/>
              <a:t>The </a:t>
            </a:r>
            <a:r>
              <a:rPr lang="en-US" i="1" dirty="0"/>
              <a:t>Readers</a:t>
            </a:r>
            <a:r>
              <a:rPr lang="en-US" dirty="0"/>
              <a:t> and </a:t>
            </a:r>
            <a:r>
              <a:rPr lang="en-US" i="1" dirty="0"/>
              <a:t>Journal</a:t>
            </a:r>
            <a:r>
              <a:rPr lang="en-US" dirty="0"/>
              <a:t> tables joined, and the rows that contain data about readers from </a:t>
            </a:r>
            <a:r>
              <a:rPr lang="en-US" i="1" dirty="0"/>
              <a:t>Readers</a:t>
            </a:r>
            <a:r>
              <a:rPr lang="en-US" dirty="0"/>
              <a:t> table was joined with the data about readers from </a:t>
            </a:r>
            <a:r>
              <a:rPr lang="en-US" i="1" dirty="0"/>
              <a:t>Journal</a:t>
            </a:r>
            <a:r>
              <a:rPr lang="en-US" dirty="0"/>
              <a:t> table that contain empty values (not used the library's services).</a:t>
            </a:r>
          </a:p>
          <a:p>
            <a:pPr marL="0" indent="0" algn="just">
              <a:buNone/>
            </a:pPr>
            <a:r>
              <a:rPr lang="en-US" dirty="0"/>
              <a:t>The system then selects only rows that are joined with "empty" rows.</a:t>
            </a:r>
            <a:endParaRPr lang="lv-LV" dirty="0"/>
          </a:p>
        </p:txBody>
      </p:sp>
    </p:spTree>
    <p:extLst>
      <p:ext uri="{BB962C8B-B14F-4D97-AF65-F5344CB8AC3E}">
        <p14:creationId xmlns:p14="http://schemas.microsoft.com/office/powerpoint/2010/main" val="252478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4711146" cy="1325563"/>
          </a:xfrm>
        </p:spPr>
        <p:txBody>
          <a:bodyPr/>
          <a:lstStyle/>
          <a:p>
            <a:pPr algn="ctr"/>
            <a:r>
              <a:rPr lang="lv-LV" dirty="0" err="1"/>
              <a:t>Outer</a:t>
            </a:r>
            <a:r>
              <a:rPr lang="lv-LV" dirty="0"/>
              <a:t> </a:t>
            </a:r>
            <a:r>
              <a:rPr lang="lv-LV" dirty="0" err="1"/>
              <a:t>Join</a:t>
            </a:r>
            <a:r>
              <a:rPr lang="en-US" dirty="0"/>
              <a:t>s</a:t>
            </a:r>
          </a:p>
        </p:txBody>
      </p:sp>
      <p:sp>
        <p:nvSpPr>
          <p:cNvPr id="3" name="Content Placeholder 2"/>
          <p:cNvSpPr>
            <a:spLocks noGrp="1"/>
          </p:cNvSpPr>
          <p:nvPr>
            <p:ph idx="1"/>
          </p:nvPr>
        </p:nvSpPr>
        <p:spPr>
          <a:xfrm>
            <a:off x="335279" y="1825625"/>
            <a:ext cx="8681003" cy="4889500"/>
          </a:xfrm>
        </p:spPr>
        <p:txBody>
          <a:bodyPr>
            <a:normAutofit fontScale="92500" lnSpcReduction="10000"/>
          </a:bodyPr>
          <a:lstStyle/>
          <a:p>
            <a:pPr marL="0" indent="0" algn="just">
              <a:buNone/>
            </a:pPr>
            <a:r>
              <a:rPr lang="lv-LV" dirty="0" err="1"/>
              <a:t>Execution</a:t>
            </a:r>
            <a:r>
              <a:rPr lang="lv-LV" dirty="0"/>
              <a:t> </a:t>
            </a:r>
            <a:r>
              <a:rPr lang="lv-LV" dirty="0" err="1"/>
              <a:t>order</a:t>
            </a:r>
            <a:r>
              <a:rPr lang="lv-LV" dirty="0"/>
              <a:t>: 
</a:t>
            </a:r>
          </a:p>
          <a:p>
            <a:pPr marL="0" indent="0" algn="just">
              <a:buNone/>
            </a:pPr>
            <a:endParaRPr lang="lv-LV" dirty="0"/>
          </a:p>
          <a:p>
            <a:pPr marL="0" indent="0" algn="just">
              <a:buNone/>
            </a:pPr>
            <a:endParaRPr lang="lv-LV" dirty="0"/>
          </a:p>
          <a:p>
            <a:pPr marL="0" indent="0" algn="just">
              <a:buNone/>
            </a:pPr>
            <a:endParaRPr lang="lv-LV" dirty="0"/>
          </a:p>
          <a:p>
            <a:pPr marL="0" indent="0" algn="just">
              <a:buNone/>
            </a:pPr>
            <a:endParaRPr lang="lv-LV" dirty="0"/>
          </a:p>
          <a:p>
            <a:pPr marL="0" indent="0" algn="just">
              <a:buNone/>
            </a:pPr>
            <a:r>
              <a:rPr lang="lv-LV" dirty="0"/>
              <a:t>1.</a:t>
            </a:r>
          </a:p>
          <a:p>
            <a:pPr marL="0" indent="0" algn="just">
              <a:buNone/>
            </a:pPr>
            <a:r>
              <a:rPr lang="lv-LV" sz="1800" b="1" dirty="0"/>
              <a:t>SELECT CONCAT_WS(' ', </a:t>
            </a:r>
            <a:r>
              <a:rPr lang="lv-LV" sz="1800" b="1" dirty="0" err="1"/>
              <a:t>rdr.ReaderName</a:t>
            </a:r>
            <a:r>
              <a:rPr lang="lv-LV" sz="1800" b="1" dirty="0"/>
              <a:t>, </a:t>
            </a:r>
            <a:r>
              <a:rPr lang="lv-LV" sz="1800" b="1" dirty="0" err="1"/>
              <a:t>rdr.ReaderSur</a:t>
            </a:r>
            <a:r>
              <a:rPr lang="lv-LV" sz="1800" b="1" dirty="0"/>
              <a:t>) AS `</a:t>
            </a:r>
            <a:r>
              <a:rPr lang="lv-LV" sz="1800" b="1" dirty="0" err="1"/>
              <a:t>Reader</a:t>
            </a:r>
            <a:r>
              <a:rPr lang="lv-LV" sz="1800" b="1" dirty="0"/>
              <a:t>`,</a:t>
            </a:r>
          </a:p>
          <a:p>
            <a:pPr marL="0" indent="0" algn="just">
              <a:buNone/>
            </a:pPr>
            <a:r>
              <a:rPr lang="lv-LV" sz="1800" b="1" dirty="0"/>
              <a:t>       CONCAT_WS(', ', </a:t>
            </a:r>
            <a:r>
              <a:rPr lang="lv-LV" sz="1800" b="1" dirty="0" err="1"/>
              <a:t>rdr.Street</a:t>
            </a:r>
            <a:r>
              <a:rPr lang="lv-LV" sz="1800" b="1" dirty="0"/>
              <a:t>, </a:t>
            </a:r>
            <a:r>
              <a:rPr lang="lv-LV" sz="1800" b="1" dirty="0" err="1"/>
              <a:t>rdr.House</a:t>
            </a:r>
            <a:r>
              <a:rPr lang="lv-LV" sz="1800" b="1" dirty="0"/>
              <a:t>, CONCAT_WS('-', </a:t>
            </a:r>
            <a:r>
              <a:rPr lang="lv-LV" sz="1800" b="1" dirty="0" err="1"/>
              <a:t>rdr.Flat</a:t>
            </a:r>
            <a:r>
              <a:rPr lang="lv-LV" sz="1800" b="1" dirty="0"/>
              <a:t>)) AS `</a:t>
            </a:r>
            <a:r>
              <a:rPr lang="lv-LV" sz="1800" b="1" dirty="0" err="1"/>
              <a:t>Address</a:t>
            </a:r>
            <a:r>
              <a:rPr lang="lv-LV" sz="1800" b="1" dirty="0"/>
              <a:t>`,</a:t>
            </a:r>
          </a:p>
          <a:p>
            <a:pPr marL="0" indent="0" algn="just">
              <a:buNone/>
            </a:pPr>
            <a:r>
              <a:rPr lang="lv-LV" sz="1800" b="1" dirty="0"/>
              <a:t>       </a:t>
            </a:r>
            <a:r>
              <a:rPr lang="lv-LV" sz="1800" b="1" dirty="0" err="1"/>
              <a:t>j.ReaderID</a:t>
            </a:r>
            <a:endParaRPr lang="lv-LV" sz="1800" b="1" dirty="0"/>
          </a:p>
          <a:p>
            <a:pPr marL="0" indent="0" algn="just">
              <a:buNone/>
            </a:pPr>
            <a:r>
              <a:rPr lang="lv-LV" sz="1800" b="1" dirty="0"/>
              <a:t>FROM </a:t>
            </a:r>
            <a:r>
              <a:rPr lang="lv-LV" sz="1800" b="1" dirty="0" err="1"/>
              <a:t>Readers</a:t>
            </a:r>
            <a:r>
              <a:rPr lang="lv-LV" sz="1800" b="1" dirty="0"/>
              <a:t> </a:t>
            </a:r>
            <a:r>
              <a:rPr lang="lv-LV" sz="1800" b="1" dirty="0" err="1"/>
              <a:t>rdr</a:t>
            </a:r>
            <a:r>
              <a:rPr lang="lv-LV" sz="1800" b="1" dirty="0"/>
              <a:t> </a:t>
            </a:r>
          </a:p>
          <a:p>
            <a:pPr marL="0" indent="0" algn="just">
              <a:buNone/>
            </a:pPr>
            <a:r>
              <a:rPr lang="lv-LV" sz="1800" b="1" dirty="0"/>
              <a:t>LEFT JOIN </a:t>
            </a:r>
            <a:r>
              <a:rPr lang="lv-LV" sz="1800" b="1" dirty="0" err="1"/>
              <a:t>Journal</a:t>
            </a:r>
            <a:r>
              <a:rPr lang="lv-LV" sz="1800" b="1" dirty="0"/>
              <a:t> j ON </a:t>
            </a:r>
            <a:r>
              <a:rPr lang="lv-LV" sz="1800" b="1" dirty="0" err="1"/>
              <a:t>rdr.ReaderID</a:t>
            </a:r>
            <a:r>
              <a:rPr lang="lv-LV" sz="1800" b="1" dirty="0"/>
              <a:t> = </a:t>
            </a:r>
            <a:r>
              <a:rPr lang="lv-LV" sz="1800" b="1" dirty="0" err="1"/>
              <a:t>j.ReaderID</a:t>
            </a:r>
            <a:r>
              <a:rPr lang="lv-LV" sz="1800" b="1" dirty="0"/>
              <a:t>;</a:t>
            </a:r>
          </a:p>
        </p:txBody>
      </p:sp>
      <p:pic>
        <p:nvPicPr>
          <p:cNvPr id="5" name="Picture 4">
            <a:extLst>
              <a:ext uri="{FF2B5EF4-FFF2-40B4-BE49-F238E27FC236}">
                <a16:creationId xmlns:a16="http://schemas.microsoft.com/office/drawing/2014/main" id="{74CEFE24-4933-36FE-51C7-64427851CAB9}"/>
              </a:ext>
            </a:extLst>
          </p:cNvPr>
          <p:cNvPicPr>
            <a:picLocks noChangeAspect="1"/>
          </p:cNvPicPr>
          <p:nvPr/>
        </p:nvPicPr>
        <p:blipFill>
          <a:blip r:embed="rId2"/>
          <a:stretch>
            <a:fillRect/>
          </a:stretch>
        </p:blipFill>
        <p:spPr>
          <a:xfrm>
            <a:off x="5821680" y="142875"/>
            <a:ext cx="3194603" cy="4526438"/>
          </a:xfrm>
          <a:prstGeom prst="rect">
            <a:avLst/>
          </a:prstGeom>
        </p:spPr>
      </p:pic>
    </p:spTree>
    <p:extLst>
      <p:ext uri="{BB962C8B-B14F-4D97-AF65-F5344CB8AC3E}">
        <p14:creationId xmlns:p14="http://schemas.microsoft.com/office/powerpoint/2010/main" val="334750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a:xfrm>
            <a:off x="466725" y="1825625"/>
            <a:ext cx="8248650" cy="4351338"/>
          </a:xfrm>
        </p:spPr>
        <p:txBody>
          <a:bodyPr>
            <a:normAutofit/>
          </a:bodyPr>
          <a:lstStyle/>
          <a:p>
            <a:pPr marL="514350" indent="-514350" algn="just">
              <a:buFont typeface="+mj-lt"/>
              <a:buAutoNum type="arabicPeriod"/>
            </a:pPr>
            <a:r>
              <a:rPr lang="en-US" dirty="0"/>
              <a:t>Display the title of the book and the name and surname of the author (as one field), delete duplicates, sort by book titles.</a:t>
            </a:r>
          </a:p>
          <a:p>
            <a:pPr marL="514350" indent="-514350" algn="just">
              <a:buFont typeface="+mj-lt"/>
              <a:buAutoNum type="arabicPeriod"/>
            </a:pPr>
            <a:r>
              <a:rPr lang="en-US" dirty="0"/>
              <a:t>Create the rating of the most popular authors - sort by the most frequently read books (number of books taken) in descending order.</a:t>
            </a:r>
          </a:p>
          <a:p>
            <a:pPr marL="514350" indent="-514350" algn="just">
              <a:buFont typeface="+mj-lt"/>
              <a:buAutoNum type="arabicPeriod"/>
            </a:pPr>
            <a:r>
              <a:rPr lang="en-US" dirty="0"/>
              <a:t>Find out if there are librarians who have not provided any services. If there are, display first name and last name.</a:t>
            </a:r>
            <a:endParaRPr lang="lv-LV" dirty="0"/>
          </a:p>
        </p:txBody>
      </p:sp>
    </p:spTree>
    <p:extLst>
      <p:ext uri="{BB962C8B-B14F-4D97-AF65-F5344CB8AC3E}">
        <p14:creationId xmlns:p14="http://schemas.microsoft.com/office/powerpoint/2010/main" val="4003924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a:xfrm>
            <a:off x="466725" y="1825625"/>
            <a:ext cx="8248650" cy="4351338"/>
          </a:xfrm>
        </p:spPr>
        <p:txBody>
          <a:bodyPr>
            <a:normAutofit/>
          </a:bodyPr>
          <a:lstStyle/>
          <a:p>
            <a:pPr marL="514350" indent="-514350" algn="just">
              <a:buFont typeface="+mj-lt"/>
              <a:buAutoNum type="arabicPeriod" startAt="4"/>
            </a:pPr>
            <a:r>
              <a:rPr lang="en-US" dirty="0"/>
              <a:t>Output the reader's last name, reader’s ID number, the library services he received each month and the amount he paid for each service together (display sum for the services for each month). Sort the result by alphabetical order using readers' surnames and month numbers in reverse chronological order.</a:t>
            </a:r>
          </a:p>
          <a:p>
            <a:pPr marL="514350" indent="-514350" algn="just">
              <a:buFont typeface="+mj-lt"/>
              <a:buAutoNum type="arabicPeriod" startAt="4"/>
            </a:pPr>
            <a:r>
              <a:rPr lang="en-US" dirty="0"/>
              <a:t>Print a list of library services, how many times each service was used. Display data for each year separately. Sort in chronological order by year, and in alphabetical order by name.</a:t>
            </a:r>
            <a:endParaRPr lang="lv-LV" dirty="0"/>
          </a:p>
        </p:txBody>
      </p:sp>
    </p:spTree>
    <p:extLst>
      <p:ext uri="{BB962C8B-B14F-4D97-AF65-F5344CB8AC3E}">
        <p14:creationId xmlns:p14="http://schemas.microsoft.com/office/powerpoint/2010/main" val="1225824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295275" y="1391920"/>
            <a:ext cx="8686799" cy="5370830"/>
          </a:xfrm>
        </p:spPr>
        <p:txBody>
          <a:bodyPr>
            <a:normAutofit/>
          </a:bodyPr>
          <a:lstStyle/>
          <a:p>
            <a:pPr marL="0" indent="0">
              <a:spcBef>
                <a:spcPts val="0"/>
              </a:spcBef>
              <a:buNone/>
            </a:pPr>
            <a:endParaRPr lang="lv-LV" sz="1400" dirty="0"/>
          </a:p>
          <a:p>
            <a:pPr marL="0" indent="0">
              <a:spcBef>
                <a:spcPts val="0"/>
              </a:spcBef>
              <a:buNone/>
            </a:pPr>
            <a:r>
              <a:rPr lang="lv-LV" sz="1400" dirty="0"/>
              <a:t>1.</a:t>
            </a:r>
          </a:p>
          <a:p>
            <a:pPr marL="0" indent="0">
              <a:spcBef>
                <a:spcPts val="0"/>
              </a:spcBef>
              <a:buNone/>
            </a:pPr>
            <a:r>
              <a:rPr lang="lv-LV" sz="1400" dirty="0"/>
              <a:t>SELECT DISTINCT </a:t>
            </a:r>
            <a:r>
              <a:rPr lang="lv-LV" sz="1400" dirty="0" err="1"/>
              <a:t>b.Title</a:t>
            </a:r>
            <a:r>
              <a:rPr lang="lv-LV" sz="1400" dirty="0"/>
              <a:t> AS </a:t>
            </a:r>
            <a:r>
              <a:rPr lang="lv-LV" sz="1400" dirty="0" err="1"/>
              <a:t>Title</a:t>
            </a:r>
            <a:r>
              <a:rPr lang="lv-LV" sz="1400" dirty="0"/>
              <a:t>, </a:t>
            </a:r>
          </a:p>
          <a:p>
            <a:pPr marL="0" indent="0">
              <a:spcBef>
                <a:spcPts val="0"/>
              </a:spcBef>
              <a:buNone/>
            </a:pPr>
            <a:r>
              <a:rPr lang="lv-LV" sz="1400" dirty="0"/>
              <a:t>       CONCAT_WS(' ', </a:t>
            </a:r>
            <a:r>
              <a:rPr lang="lv-LV" sz="1400" dirty="0" err="1"/>
              <a:t>a.AuthorName</a:t>
            </a:r>
            <a:r>
              <a:rPr lang="lv-LV" sz="1400" dirty="0"/>
              <a:t>, </a:t>
            </a:r>
            <a:r>
              <a:rPr lang="lv-LV" sz="1400" dirty="0" err="1"/>
              <a:t>a.AuthorSur</a:t>
            </a:r>
            <a:r>
              <a:rPr lang="lv-LV" sz="1400" dirty="0"/>
              <a:t>) AS </a:t>
            </a:r>
            <a:r>
              <a:rPr lang="lv-LV" sz="1400" dirty="0" err="1"/>
              <a:t>Author</a:t>
            </a:r>
            <a:endParaRPr lang="lv-LV" sz="1400" dirty="0"/>
          </a:p>
          <a:p>
            <a:pPr marL="0" indent="0">
              <a:spcBef>
                <a:spcPts val="0"/>
              </a:spcBef>
              <a:buNone/>
            </a:pPr>
            <a:r>
              <a:rPr lang="lv-LV" sz="1400" dirty="0"/>
              <a:t>FROM </a:t>
            </a:r>
            <a:r>
              <a:rPr lang="lv-LV" sz="1400" dirty="0" err="1"/>
              <a:t>Books</a:t>
            </a:r>
            <a:r>
              <a:rPr lang="lv-LV" sz="1400" dirty="0"/>
              <a:t> b </a:t>
            </a:r>
          </a:p>
          <a:p>
            <a:pPr marL="0" indent="0">
              <a:spcBef>
                <a:spcPts val="0"/>
              </a:spcBef>
              <a:buNone/>
            </a:pPr>
            <a:r>
              <a:rPr lang="lv-LV" sz="1400" dirty="0"/>
              <a:t>INNER JOIN </a:t>
            </a:r>
            <a:r>
              <a:rPr lang="lv-LV" sz="1400" dirty="0" err="1"/>
              <a:t>Title_page</a:t>
            </a:r>
            <a:r>
              <a:rPr lang="lv-LV" sz="1400" dirty="0"/>
              <a:t> t ON </a:t>
            </a:r>
            <a:r>
              <a:rPr lang="lv-LV" sz="1400" dirty="0" err="1"/>
              <a:t>b.BookID</a:t>
            </a:r>
            <a:r>
              <a:rPr lang="lv-LV" sz="1400" dirty="0"/>
              <a:t> = </a:t>
            </a:r>
            <a:r>
              <a:rPr lang="lv-LV" sz="1400" dirty="0" err="1"/>
              <a:t>t.BookID</a:t>
            </a:r>
            <a:endParaRPr lang="lv-LV" sz="1400" dirty="0"/>
          </a:p>
          <a:p>
            <a:pPr marL="0" indent="0">
              <a:spcBef>
                <a:spcPts val="0"/>
              </a:spcBef>
              <a:buNone/>
            </a:pPr>
            <a:r>
              <a:rPr lang="lv-LV" sz="1400" dirty="0"/>
              <a:t>INNER JOIN </a:t>
            </a:r>
            <a:r>
              <a:rPr lang="lv-LV" sz="1400" dirty="0" err="1"/>
              <a:t>Authors</a:t>
            </a:r>
            <a:r>
              <a:rPr lang="lv-LV" sz="1400" dirty="0"/>
              <a:t> a ON </a:t>
            </a:r>
            <a:r>
              <a:rPr lang="lv-LV" sz="1400" dirty="0" err="1"/>
              <a:t>a.AuthorID</a:t>
            </a:r>
            <a:r>
              <a:rPr lang="lv-LV" sz="1400" dirty="0"/>
              <a:t> = </a:t>
            </a:r>
            <a:r>
              <a:rPr lang="lv-LV" sz="1400" dirty="0" err="1"/>
              <a:t>t.AuthorID</a:t>
            </a:r>
            <a:endParaRPr lang="lv-LV" sz="1400" dirty="0"/>
          </a:p>
          <a:p>
            <a:pPr marL="0" indent="0">
              <a:spcBef>
                <a:spcPts val="0"/>
              </a:spcBef>
              <a:buNone/>
            </a:pPr>
            <a:r>
              <a:rPr lang="lv-LV" sz="1400" dirty="0"/>
              <a:t>ORDER BY </a:t>
            </a:r>
            <a:r>
              <a:rPr lang="lv-LV" sz="1400" dirty="0" err="1"/>
              <a:t>b.Title</a:t>
            </a:r>
            <a:r>
              <a:rPr lang="lv-LV" sz="1400" dirty="0"/>
              <a:t>;</a:t>
            </a:r>
          </a:p>
          <a:p>
            <a:pPr marL="0" indent="0">
              <a:spcBef>
                <a:spcPts val="0"/>
              </a:spcBef>
              <a:buNone/>
            </a:pPr>
            <a:endParaRPr lang="lv-LV" sz="1400" dirty="0"/>
          </a:p>
          <a:p>
            <a:pPr marL="0" indent="0">
              <a:spcBef>
                <a:spcPts val="0"/>
              </a:spcBef>
              <a:buNone/>
            </a:pPr>
            <a:r>
              <a:rPr lang="lv-LV" sz="1400" dirty="0"/>
              <a:t>2.</a:t>
            </a:r>
          </a:p>
          <a:p>
            <a:pPr marL="0" indent="0">
              <a:spcBef>
                <a:spcPts val="0"/>
              </a:spcBef>
              <a:buNone/>
            </a:pPr>
            <a:r>
              <a:rPr lang="en-US" sz="1400" dirty="0"/>
              <a:t>SELECT CONCAT_WS(' ', </a:t>
            </a:r>
            <a:r>
              <a:rPr lang="en-US" sz="1400" dirty="0" err="1"/>
              <a:t>a.AuthorName</a:t>
            </a:r>
            <a:r>
              <a:rPr lang="en-US" sz="1400" dirty="0"/>
              <a:t>, </a:t>
            </a:r>
            <a:r>
              <a:rPr lang="en-US" sz="1400" dirty="0" err="1"/>
              <a:t>a.AuthorSur</a:t>
            </a:r>
            <a:r>
              <a:rPr lang="en-US" sz="1400" dirty="0"/>
              <a:t>) AS Author, </a:t>
            </a:r>
          </a:p>
          <a:p>
            <a:pPr marL="0" indent="0">
              <a:spcBef>
                <a:spcPts val="0"/>
              </a:spcBef>
              <a:buNone/>
            </a:pPr>
            <a:r>
              <a:rPr lang="en-US" sz="1400" dirty="0"/>
              <a:t>       COUNT(</a:t>
            </a:r>
            <a:r>
              <a:rPr lang="en-US" sz="1400" dirty="0" err="1"/>
              <a:t>a.AuthorID</a:t>
            </a:r>
            <a:r>
              <a:rPr lang="en-US" sz="1400" dirty="0"/>
              <a:t>) AS `Number of books`</a:t>
            </a:r>
          </a:p>
          <a:p>
            <a:pPr marL="0" indent="0">
              <a:spcBef>
                <a:spcPts val="0"/>
              </a:spcBef>
              <a:buNone/>
            </a:pPr>
            <a:r>
              <a:rPr lang="en-US" sz="1400" dirty="0"/>
              <a:t>FROM </a:t>
            </a:r>
            <a:r>
              <a:rPr lang="en-US" sz="1400" dirty="0" err="1"/>
              <a:t>Books_taken</a:t>
            </a:r>
            <a:r>
              <a:rPr lang="en-US" sz="1400" dirty="0"/>
              <a:t> </a:t>
            </a:r>
            <a:r>
              <a:rPr lang="en-US" sz="1400" dirty="0" err="1"/>
              <a:t>bt</a:t>
            </a:r>
            <a:r>
              <a:rPr lang="en-US" sz="1400" dirty="0"/>
              <a:t> </a:t>
            </a:r>
          </a:p>
          <a:p>
            <a:pPr marL="0" indent="0">
              <a:spcBef>
                <a:spcPts val="0"/>
              </a:spcBef>
              <a:buNone/>
            </a:pPr>
            <a:r>
              <a:rPr lang="en-US" sz="1400" dirty="0"/>
              <a:t>INNER JOIN </a:t>
            </a:r>
            <a:r>
              <a:rPr lang="en-US" sz="1400" dirty="0" err="1"/>
              <a:t>Title_page</a:t>
            </a:r>
            <a:r>
              <a:rPr lang="en-US" sz="1400" dirty="0"/>
              <a:t> t ON </a:t>
            </a:r>
            <a:r>
              <a:rPr lang="en-US" sz="1400" dirty="0" err="1"/>
              <a:t>bt.BookID</a:t>
            </a:r>
            <a:r>
              <a:rPr lang="en-US" sz="1400" dirty="0"/>
              <a:t> = </a:t>
            </a:r>
            <a:r>
              <a:rPr lang="en-US" sz="1400" dirty="0" err="1"/>
              <a:t>t.BookID</a:t>
            </a:r>
            <a:endParaRPr lang="en-US" sz="1400" dirty="0"/>
          </a:p>
          <a:p>
            <a:pPr marL="0" indent="0">
              <a:spcBef>
                <a:spcPts val="0"/>
              </a:spcBef>
              <a:buNone/>
            </a:pPr>
            <a:r>
              <a:rPr lang="en-US" sz="1400" dirty="0"/>
              <a:t>INNER JOIN Authors a ON </a:t>
            </a:r>
            <a:r>
              <a:rPr lang="en-US" sz="1400" dirty="0" err="1"/>
              <a:t>a.AuthorID</a:t>
            </a:r>
            <a:r>
              <a:rPr lang="en-US" sz="1400" dirty="0"/>
              <a:t> = </a:t>
            </a:r>
            <a:r>
              <a:rPr lang="en-US" sz="1400" dirty="0" err="1"/>
              <a:t>t.AuthorID</a:t>
            </a:r>
            <a:endParaRPr lang="en-US" sz="1400" dirty="0"/>
          </a:p>
          <a:p>
            <a:pPr marL="0" indent="0">
              <a:spcBef>
                <a:spcPts val="0"/>
              </a:spcBef>
              <a:buNone/>
            </a:pPr>
            <a:r>
              <a:rPr lang="en-US" sz="1400" dirty="0"/>
              <a:t>GROUP BY </a:t>
            </a:r>
            <a:r>
              <a:rPr lang="en-US" sz="1400" dirty="0" err="1"/>
              <a:t>a.AuthorName</a:t>
            </a:r>
            <a:r>
              <a:rPr lang="en-US" sz="1400" dirty="0"/>
              <a:t>, </a:t>
            </a:r>
            <a:r>
              <a:rPr lang="en-US" sz="1400" dirty="0" err="1"/>
              <a:t>a.AuthorSur</a:t>
            </a:r>
            <a:endParaRPr lang="en-US" sz="1400" dirty="0"/>
          </a:p>
          <a:p>
            <a:pPr marL="0" indent="0">
              <a:spcBef>
                <a:spcPts val="0"/>
              </a:spcBef>
              <a:buNone/>
            </a:pPr>
            <a:r>
              <a:rPr lang="en-US" sz="1400" dirty="0"/>
              <a:t>ORDER BY COUNT(</a:t>
            </a:r>
            <a:r>
              <a:rPr lang="en-US" sz="1400" dirty="0" err="1"/>
              <a:t>a.AuthorID</a:t>
            </a:r>
            <a:r>
              <a:rPr lang="en-US" sz="1400" dirty="0"/>
              <a:t>) DESC;</a:t>
            </a:r>
          </a:p>
          <a:p>
            <a:pPr marL="0" indent="0">
              <a:spcBef>
                <a:spcPts val="0"/>
              </a:spcBef>
              <a:buNone/>
            </a:pPr>
            <a:endParaRPr lang="lv-LV" sz="1400" dirty="0"/>
          </a:p>
          <a:p>
            <a:pPr marL="0" indent="0">
              <a:spcBef>
                <a:spcPts val="0"/>
              </a:spcBef>
              <a:buNone/>
            </a:pPr>
            <a:endParaRPr lang="lv-LV" sz="1400" dirty="0"/>
          </a:p>
          <a:p>
            <a:pPr marL="0" indent="0">
              <a:spcBef>
                <a:spcPts val="0"/>
              </a:spcBef>
              <a:buNone/>
            </a:pPr>
            <a:r>
              <a:rPr lang="lv-LV" sz="1400" dirty="0"/>
              <a:t>3.</a:t>
            </a:r>
          </a:p>
          <a:p>
            <a:pPr marL="0" indent="0">
              <a:spcBef>
                <a:spcPts val="0"/>
              </a:spcBef>
              <a:buNone/>
            </a:pPr>
            <a:r>
              <a:rPr lang="lv-LV" sz="1400" dirty="0"/>
              <a:t>SELECT CONCAT_WS(' ', </a:t>
            </a:r>
            <a:r>
              <a:rPr lang="lv-LV" sz="1400" dirty="0" err="1"/>
              <a:t>l.Lname</a:t>
            </a:r>
            <a:r>
              <a:rPr lang="lv-LV" sz="1400" dirty="0"/>
              <a:t>, </a:t>
            </a:r>
            <a:r>
              <a:rPr lang="lv-LV" sz="1400" dirty="0" err="1"/>
              <a:t>l.LSur</a:t>
            </a:r>
            <a:r>
              <a:rPr lang="lv-LV" sz="1400" dirty="0"/>
              <a:t>) AS </a:t>
            </a:r>
            <a:r>
              <a:rPr lang="lv-LV" sz="1400" dirty="0" err="1"/>
              <a:t>Librarian</a:t>
            </a:r>
            <a:endParaRPr lang="lv-LV" sz="1400" dirty="0"/>
          </a:p>
          <a:p>
            <a:pPr marL="0" indent="0">
              <a:spcBef>
                <a:spcPts val="0"/>
              </a:spcBef>
              <a:buNone/>
            </a:pPr>
            <a:r>
              <a:rPr lang="lv-LV" sz="1400" dirty="0"/>
              <a:t>FROM </a:t>
            </a:r>
            <a:r>
              <a:rPr lang="lv-LV" sz="1400" dirty="0" err="1"/>
              <a:t>Librarians</a:t>
            </a:r>
            <a:r>
              <a:rPr lang="lv-LV" sz="1400" dirty="0"/>
              <a:t> l </a:t>
            </a:r>
          </a:p>
          <a:p>
            <a:pPr marL="0" indent="0">
              <a:spcBef>
                <a:spcPts val="0"/>
              </a:spcBef>
              <a:buNone/>
            </a:pPr>
            <a:r>
              <a:rPr lang="lv-LV" sz="1400" dirty="0"/>
              <a:t>LEFT JOIN </a:t>
            </a:r>
            <a:r>
              <a:rPr lang="lv-LV" sz="1400" dirty="0" err="1"/>
              <a:t>Journal</a:t>
            </a:r>
            <a:r>
              <a:rPr lang="lv-LV" sz="1400" dirty="0"/>
              <a:t> j ON </a:t>
            </a:r>
            <a:r>
              <a:rPr lang="lv-LV" sz="1400" dirty="0" err="1"/>
              <a:t>l.LibID</a:t>
            </a:r>
            <a:r>
              <a:rPr lang="lv-LV" sz="1400" dirty="0"/>
              <a:t> = </a:t>
            </a:r>
            <a:r>
              <a:rPr lang="lv-LV" sz="1400" dirty="0" err="1"/>
              <a:t>j.LibID</a:t>
            </a:r>
            <a:endParaRPr lang="lv-LV" sz="1400" dirty="0"/>
          </a:p>
          <a:p>
            <a:pPr marL="0" indent="0">
              <a:spcBef>
                <a:spcPts val="0"/>
              </a:spcBef>
              <a:buNone/>
            </a:pPr>
            <a:r>
              <a:rPr lang="lv-LV" sz="1400" dirty="0"/>
              <a:t>WHERE </a:t>
            </a:r>
            <a:r>
              <a:rPr lang="lv-LV" sz="1400" dirty="0" err="1"/>
              <a:t>j.LibID</a:t>
            </a:r>
            <a:r>
              <a:rPr lang="lv-LV" sz="1400" dirty="0"/>
              <a:t> IS NULL;</a:t>
            </a:r>
          </a:p>
        </p:txBody>
      </p:sp>
    </p:spTree>
    <p:extLst>
      <p:ext uri="{BB962C8B-B14F-4D97-AF65-F5344CB8AC3E}">
        <p14:creationId xmlns:p14="http://schemas.microsoft.com/office/powerpoint/2010/main" val="4054519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295275" y="1690690"/>
            <a:ext cx="8686799" cy="5072060"/>
          </a:xfrm>
        </p:spPr>
        <p:txBody>
          <a:bodyPr>
            <a:normAutofit/>
          </a:bodyPr>
          <a:lstStyle/>
          <a:p>
            <a:pPr marL="0" indent="0">
              <a:buNone/>
            </a:pPr>
            <a:r>
              <a:rPr lang="lv-LV" sz="1400" dirty="0"/>
              <a:t>4.</a:t>
            </a:r>
          </a:p>
          <a:p>
            <a:pPr marL="0" indent="0">
              <a:spcBef>
                <a:spcPts val="0"/>
              </a:spcBef>
              <a:buNone/>
            </a:pPr>
            <a:r>
              <a:rPr lang="en-US" sz="1400" dirty="0"/>
              <a:t>SELECT </a:t>
            </a:r>
          </a:p>
          <a:p>
            <a:pPr marL="0" indent="0">
              <a:spcBef>
                <a:spcPts val="0"/>
              </a:spcBef>
              <a:buNone/>
            </a:pPr>
            <a:r>
              <a:rPr lang="en-US" sz="1400" dirty="0"/>
              <a:t>    CONCAT_WS(' ', </a:t>
            </a:r>
            <a:r>
              <a:rPr lang="en-US" sz="1400" dirty="0" err="1"/>
              <a:t>r.ReaderSur</a:t>
            </a:r>
            <a:r>
              <a:rPr lang="en-US" sz="1400" dirty="0"/>
              <a:t>, </a:t>
            </a:r>
            <a:r>
              <a:rPr lang="en-US" sz="1400" dirty="0" err="1"/>
              <a:t>r.ReaderName</a:t>
            </a:r>
            <a:r>
              <a:rPr lang="en-US" sz="1400" dirty="0"/>
              <a:t>) AS Reader,</a:t>
            </a:r>
          </a:p>
          <a:p>
            <a:pPr marL="0" indent="0">
              <a:spcBef>
                <a:spcPts val="0"/>
              </a:spcBef>
              <a:buNone/>
            </a:pPr>
            <a:r>
              <a:rPr lang="en-US" sz="1400" dirty="0"/>
              <a:t>    </a:t>
            </a:r>
            <a:r>
              <a:rPr lang="en-US" sz="1400" dirty="0" err="1"/>
              <a:t>r.ReaderID</a:t>
            </a:r>
            <a:r>
              <a:rPr lang="en-US" sz="1400" dirty="0"/>
              <a:t> AS `Reader ID`, </a:t>
            </a:r>
          </a:p>
          <a:p>
            <a:pPr marL="0" indent="0">
              <a:spcBef>
                <a:spcPts val="0"/>
              </a:spcBef>
              <a:buNone/>
            </a:pPr>
            <a:r>
              <a:rPr lang="en-US" sz="1400" dirty="0"/>
              <a:t>    MONTH(</a:t>
            </a:r>
            <a:r>
              <a:rPr lang="en-US" sz="1400" dirty="0" err="1"/>
              <a:t>SDate</a:t>
            </a:r>
            <a:r>
              <a:rPr lang="en-US" sz="1400" dirty="0"/>
              <a:t>) AS `Month`,</a:t>
            </a:r>
          </a:p>
          <a:p>
            <a:pPr marL="0" indent="0">
              <a:spcBef>
                <a:spcPts val="0"/>
              </a:spcBef>
              <a:buNone/>
            </a:pPr>
            <a:r>
              <a:rPr lang="en-US" sz="1400" dirty="0"/>
              <a:t>    </a:t>
            </a:r>
            <a:r>
              <a:rPr lang="en-US" sz="1400" dirty="0" err="1"/>
              <a:t>s.ServiceName</a:t>
            </a:r>
            <a:r>
              <a:rPr lang="en-US" sz="1400" dirty="0"/>
              <a:t> AS `Service name`,</a:t>
            </a:r>
          </a:p>
          <a:p>
            <a:pPr marL="0" indent="0">
              <a:spcBef>
                <a:spcPts val="0"/>
              </a:spcBef>
              <a:buNone/>
            </a:pPr>
            <a:r>
              <a:rPr lang="en-US" sz="1400" dirty="0"/>
              <a:t>    SUM(</a:t>
            </a:r>
            <a:r>
              <a:rPr lang="en-US" sz="1400" dirty="0" err="1"/>
              <a:t>s.Price</a:t>
            </a:r>
            <a:r>
              <a:rPr lang="en-US" sz="1400" dirty="0"/>
              <a:t>) AS `Paid`</a:t>
            </a:r>
          </a:p>
          <a:p>
            <a:pPr marL="0" indent="0">
              <a:spcBef>
                <a:spcPts val="0"/>
              </a:spcBef>
              <a:buNone/>
            </a:pPr>
            <a:r>
              <a:rPr lang="en-US" sz="1400" dirty="0"/>
              <a:t>FROM Readers r </a:t>
            </a:r>
          </a:p>
          <a:p>
            <a:pPr marL="0" indent="0">
              <a:spcBef>
                <a:spcPts val="0"/>
              </a:spcBef>
              <a:buNone/>
            </a:pPr>
            <a:r>
              <a:rPr lang="en-US" sz="1400" dirty="0"/>
              <a:t>INNER JOIN Journal j ON </a:t>
            </a:r>
            <a:r>
              <a:rPr lang="en-US" sz="1400" dirty="0" err="1"/>
              <a:t>r.ReaderID</a:t>
            </a:r>
            <a:r>
              <a:rPr lang="en-US" sz="1400" dirty="0"/>
              <a:t> = </a:t>
            </a:r>
            <a:r>
              <a:rPr lang="en-US" sz="1400" dirty="0" err="1"/>
              <a:t>j.ReaderID</a:t>
            </a:r>
            <a:endParaRPr lang="en-US" sz="1400" dirty="0"/>
          </a:p>
          <a:p>
            <a:pPr marL="0" indent="0">
              <a:spcBef>
                <a:spcPts val="0"/>
              </a:spcBef>
              <a:buNone/>
            </a:pPr>
            <a:r>
              <a:rPr lang="en-US" sz="1400" dirty="0"/>
              <a:t>INNER JOIN Services s ON </a:t>
            </a:r>
            <a:r>
              <a:rPr lang="en-US" sz="1400" dirty="0" err="1"/>
              <a:t>s.ServiceID</a:t>
            </a:r>
            <a:r>
              <a:rPr lang="en-US" sz="1400" dirty="0"/>
              <a:t> = </a:t>
            </a:r>
            <a:r>
              <a:rPr lang="en-US" sz="1400" dirty="0" err="1"/>
              <a:t>j.ServiceID</a:t>
            </a:r>
            <a:endParaRPr lang="en-US" sz="1400" dirty="0"/>
          </a:p>
          <a:p>
            <a:pPr marL="0" indent="0">
              <a:spcBef>
                <a:spcPts val="0"/>
              </a:spcBef>
              <a:buNone/>
            </a:pPr>
            <a:r>
              <a:rPr lang="en-US" sz="1400" dirty="0"/>
              <a:t>GROUP BY </a:t>
            </a:r>
            <a:r>
              <a:rPr lang="en-US" sz="1400" dirty="0" err="1"/>
              <a:t>r.ReaderSur</a:t>
            </a:r>
            <a:r>
              <a:rPr lang="en-US" sz="1400" dirty="0"/>
              <a:t>, </a:t>
            </a:r>
            <a:r>
              <a:rPr lang="en-US" sz="1400" dirty="0" err="1"/>
              <a:t>r.ReaderName</a:t>
            </a:r>
            <a:r>
              <a:rPr lang="en-US" sz="1400" dirty="0"/>
              <a:t>, </a:t>
            </a:r>
            <a:r>
              <a:rPr lang="en-US" sz="1400" dirty="0" err="1"/>
              <a:t>r.ReaderID</a:t>
            </a:r>
            <a:r>
              <a:rPr lang="en-US" sz="1400" dirty="0"/>
              <a:t>, </a:t>
            </a:r>
            <a:r>
              <a:rPr lang="en-US" sz="1400" dirty="0" err="1"/>
              <a:t>s.ServiceName</a:t>
            </a:r>
            <a:r>
              <a:rPr lang="en-US" sz="1400" dirty="0"/>
              <a:t>, </a:t>
            </a:r>
            <a:r>
              <a:rPr lang="en-US" sz="1400" dirty="0" err="1"/>
              <a:t>j.ServiceID</a:t>
            </a:r>
            <a:r>
              <a:rPr lang="en-US" sz="1400" dirty="0"/>
              <a:t>, MONTH(</a:t>
            </a:r>
            <a:r>
              <a:rPr lang="en-US" sz="1400" dirty="0" err="1"/>
              <a:t>SDate</a:t>
            </a:r>
            <a:r>
              <a:rPr lang="en-US" sz="1400" dirty="0"/>
              <a:t>), </a:t>
            </a:r>
            <a:r>
              <a:rPr lang="en-US" sz="1400" dirty="0" err="1"/>
              <a:t>j.ReaderID</a:t>
            </a:r>
            <a:endParaRPr lang="en-US" sz="1400" dirty="0"/>
          </a:p>
          <a:p>
            <a:pPr marL="0" indent="0">
              <a:spcBef>
                <a:spcPts val="0"/>
              </a:spcBef>
              <a:buNone/>
            </a:pPr>
            <a:r>
              <a:rPr lang="en-US" sz="1400" dirty="0"/>
              <a:t>ORDER BY </a:t>
            </a:r>
            <a:r>
              <a:rPr lang="en-US" sz="1400" dirty="0" err="1"/>
              <a:t>r.ReaderSur</a:t>
            </a:r>
            <a:r>
              <a:rPr lang="en-US" sz="1400" dirty="0"/>
              <a:t> ASC, MONTH(</a:t>
            </a:r>
            <a:r>
              <a:rPr lang="en-US" sz="1400" dirty="0" err="1"/>
              <a:t>SDate</a:t>
            </a:r>
            <a:r>
              <a:rPr lang="en-US" sz="1400" dirty="0"/>
              <a:t>) DESC;</a:t>
            </a:r>
          </a:p>
          <a:p>
            <a:pPr marL="0" indent="0">
              <a:spcBef>
                <a:spcPts val="0"/>
              </a:spcBef>
              <a:buNone/>
            </a:pPr>
            <a:endParaRPr lang="en-US" sz="1400" dirty="0"/>
          </a:p>
          <a:p>
            <a:pPr marL="0" indent="0">
              <a:spcBef>
                <a:spcPts val="0"/>
              </a:spcBef>
              <a:buNone/>
            </a:pPr>
            <a:endParaRPr lang="en-US" sz="1400" dirty="0"/>
          </a:p>
          <a:p>
            <a:pPr marL="0" indent="0">
              <a:spcBef>
                <a:spcPts val="0"/>
              </a:spcBef>
              <a:buNone/>
            </a:pPr>
            <a:endParaRPr lang="lv-LV" sz="1400" dirty="0"/>
          </a:p>
          <a:p>
            <a:pPr marL="0" indent="0">
              <a:spcBef>
                <a:spcPts val="0"/>
              </a:spcBef>
              <a:buNone/>
            </a:pPr>
            <a:r>
              <a:rPr lang="lv-LV" sz="1400" dirty="0"/>
              <a:t>5.</a:t>
            </a:r>
          </a:p>
          <a:p>
            <a:pPr marL="0" indent="0">
              <a:spcBef>
                <a:spcPts val="0"/>
              </a:spcBef>
              <a:buNone/>
            </a:pPr>
            <a:r>
              <a:rPr lang="en-US" sz="1400" dirty="0"/>
              <a:t>SELECT </a:t>
            </a:r>
          </a:p>
          <a:p>
            <a:pPr marL="0" indent="0">
              <a:spcBef>
                <a:spcPts val="0"/>
              </a:spcBef>
              <a:buNone/>
            </a:pPr>
            <a:r>
              <a:rPr lang="en-US" sz="1400" dirty="0"/>
              <a:t>    </a:t>
            </a:r>
            <a:r>
              <a:rPr lang="en-US" sz="1400" dirty="0" err="1"/>
              <a:t>s.ServiceName</a:t>
            </a:r>
            <a:r>
              <a:rPr lang="en-US" sz="1400" dirty="0"/>
              <a:t> AS `Services`, </a:t>
            </a:r>
          </a:p>
          <a:p>
            <a:pPr marL="0" indent="0">
              <a:spcBef>
                <a:spcPts val="0"/>
              </a:spcBef>
              <a:buNone/>
            </a:pPr>
            <a:r>
              <a:rPr lang="en-US" sz="1400" dirty="0"/>
              <a:t>    COUNT(</a:t>
            </a:r>
            <a:r>
              <a:rPr lang="en-US" sz="1400" dirty="0" err="1"/>
              <a:t>j.ServiceID</a:t>
            </a:r>
            <a:r>
              <a:rPr lang="en-US" sz="1400" dirty="0"/>
              <a:t>) AS `Number`, </a:t>
            </a:r>
          </a:p>
          <a:p>
            <a:pPr marL="0" indent="0">
              <a:spcBef>
                <a:spcPts val="0"/>
              </a:spcBef>
              <a:buNone/>
            </a:pPr>
            <a:r>
              <a:rPr lang="en-US" sz="1400" dirty="0"/>
              <a:t>    YEAR(</a:t>
            </a:r>
            <a:r>
              <a:rPr lang="en-US" sz="1400" dirty="0" err="1"/>
              <a:t>SDate</a:t>
            </a:r>
            <a:r>
              <a:rPr lang="en-US" sz="1400" dirty="0"/>
              <a:t>) AS `</a:t>
            </a:r>
            <a:r>
              <a:rPr lang="en-US" sz="1400" dirty="0" err="1"/>
              <a:t>YearOfPub</a:t>
            </a:r>
            <a:r>
              <a:rPr lang="en-US" sz="1400" dirty="0"/>
              <a:t>`</a:t>
            </a:r>
          </a:p>
          <a:p>
            <a:pPr marL="0" indent="0">
              <a:spcBef>
                <a:spcPts val="0"/>
              </a:spcBef>
              <a:buNone/>
            </a:pPr>
            <a:r>
              <a:rPr lang="en-US" sz="1400" dirty="0"/>
              <a:t>FROM Services s</a:t>
            </a:r>
          </a:p>
          <a:p>
            <a:pPr marL="0" indent="0">
              <a:spcBef>
                <a:spcPts val="0"/>
              </a:spcBef>
              <a:buNone/>
            </a:pPr>
            <a:r>
              <a:rPr lang="en-US" sz="1400" dirty="0"/>
              <a:t>LEFT JOIN Journal j ON </a:t>
            </a:r>
            <a:r>
              <a:rPr lang="en-US" sz="1400" dirty="0" err="1"/>
              <a:t>j.ServiceID</a:t>
            </a:r>
            <a:r>
              <a:rPr lang="en-US" sz="1400" dirty="0"/>
              <a:t> = </a:t>
            </a:r>
            <a:r>
              <a:rPr lang="en-US" sz="1400" dirty="0" err="1"/>
              <a:t>s.ServiceID</a:t>
            </a:r>
            <a:endParaRPr lang="en-US" sz="1400" dirty="0"/>
          </a:p>
          <a:p>
            <a:pPr marL="0" indent="0">
              <a:spcBef>
                <a:spcPts val="0"/>
              </a:spcBef>
              <a:buNone/>
            </a:pPr>
            <a:r>
              <a:rPr lang="en-US" sz="1400" dirty="0"/>
              <a:t>GROUP BY YEAR(</a:t>
            </a:r>
            <a:r>
              <a:rPr lang="en-US" sz="1400" dirty="0" err="1"/>
              <a:t>SDate</a:t>
            </a:r>
            <a:r>
              <a:rPr lang="en-US" sz="1400" dirty="0"/>
              <a:t>), </a:t>
            </a:r>
            <a:r>
              <a:rPr lang="en-US" sz="1400" dirty="0" err="1"/>
              <a:t>s.ServiceName</a:t>
            </a:r>
            <a:endParaRPr lang="en-US" sz="1400" dirty="0"/>
          </a:p>
          <a:p>
            <a:pPr marL="0" indent="0">
              <a:spcBef>
                <a:spcPts val="0"/>
              </a:spcBef>
              <a:buNone/>
            </a:pPr>
            <a:r>
              <a:rPr lang="en-US" sz="1400" dirty="0"/>
              <a:t>ORDER BY YEAR(</a:t>
            </a:r>
            <a:r>
              <a:rPr lang="en-US" sz="1400" dirty="0" err="1"/>
              <a:t>SDate</a:t>
            </a:r>
            <a:r>
              <a:rPr lang="en-US" sz="1400" dirty="0"/>
              <a:t>), </a:t>
            </a:r>
            <a:r>
              <a:rPr lang="en-US" sz="1400" dirty="0" err="1"/>
              <a:t>s.ServiceName</a:t>
            </a:r>
            <a:r>
              <a:rPr lang="en-US" sz="1400" dirty="0"/>
              <a:t>;</a:t>
            </a:r>
          </a:p>
          <a:p>
            <a:pPr marL="0" indent="0">
              <a:spcBef>
                <a:spcPts val="0"/>
              </a:spcBef>
              <a:buNone/>
            </a:pPr>
            <a:endParaRPr lang="lv-LV" sz="1600" dirty="0"/>
          </a:p>
        </p:txBody>
      </p:sp>
    </p:spTree>
    <p:extLst>
      <p:ext uri="{BB962C8B-B14F-4D97-AF65-F5344CB8AC3E}">
        <p14:creationId xmlns:p14="http://schemas.microsoft.com/office/powerpoint/2010/main" val="37394787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Self Join</a:t>
            </a:r>
          </a:p>
        </p:txBody>
      </p:sp>
      <p:sp>
        <p:nvSpPr>
          <p:cNvPr id="3" name="Content Placeholder 2"/>
          <p:cNvSpPr>
            <a:spLocks noGrp="1"/>
          </p:cNvSpPr>
          <p:nvPr>
            <p:ph idx="1"/>
          </p:nvPr>
        </p:nvSpPr>
        <p:spPr/>
        <p:txBody>
          <a:bodyPr/>
          <a:lstStyle/>
          <a:p>
            <a:pPr marL="0" indent="0" algn="just">
              <a:buNone/>
            </a:pPr>
            <a:r>
              <a:rPr lang="en-US" dirty="0"/>
              <a:t>In this case, SQL combines tables rows among themselves by comparing the values in some columns of those tables. 
For example, there is a table employee in which the employee (column 1) corresponds to the boss (column 3), which is also the employee himself.
</a:t>
            </a:r>
          </a:p>
        </p:txBody>
      </p:sp>
      <p:graphicFrame>
        <p:nvGraphicFramePr>
          <p:cNvPr id="5" name="Table 4"/>
          <p:cNvGraphicFramePr>
            <a:graphicFrameLocks noGrp="1"/>
          </p:cNvGraphicFramePr>
          <p:nvPr>
            <p:extLst>
              <p:ext uri="{D42A27DB-BD31-4B8C-83A1-F6EECF244321}">
                <p14:modId xmlns:p14="http://schemas.microsoft.com/office/powerpoint/2010/main" val="2116373124"/>
              </p:ext>
            </p:extLst>
          </p:nvPr>
        </p:nvGraphicFramePr>
        <p:xfrm>
          <a:off x="744931" y="4631634"/>
          <a:ext cx="7770419" cy="1463040"/>
        </p:xfrm>
        <a:graphic>
          <a:graphicData uri="http://schemas.openxmlformats.org/drawingml/2006/table">
            <a:tbl>
              <a:tblPr firstRow="1" firstCol="1" lastRow="1" lastCol="1" bandRow="1" bandCol="1"/>
              <a:tblGrid>
                <a:gridCol w="2589869">
                  <a:extLst>
                    <a:ext uri="{9D8B030D-6E8A-4147-A177-3AD203B41FA5}">
                      <a16:colId xmlns:a16="http://schemas.microsoft.com/office/drawing/2014/main" val="872506647"/>
                    </a:ext>
                  </a:extLst>
                </a:gridCol>
                <a:gridCol w="2589869">
                  <a:extLst>
                    <a:ext uri="{9D8B030D-6E8A-4147-A177-3AD203B41FA5}">
                      <a16:colId xmlns:a16="http://schemas.microsoft.com/office/drawing/2014/main" val="110556477"/>
                    </a:ext>
                  </a:extLst>
                </a:gridCol>
                <a:gridCol w="2590681">
                  <a:extLst>
                    <a:ext uri="{9D8B030D-6E8A-4147-A177-3AD203B41FA5}">
                      <a16:colId xmlns:a16="http://schemas.microsoft.com/office/drawing/2014/main" val="53150412"/>
                    </a:ext>
                  </a:extLst>
                </a:gridCol>
              </a:tblGrid>
              <a:tr h="237358">
                <a:tc>
                  <a:txBody>
                    <a:bodyPr/>
                    <a:lstStyle/>
                    <a:p>
                      <a:pPr indent="228600" algn="ctr">
                        <a:spcAft>
                          <a:spcPts val="0"/>
                        </a:spcAft>
                        <a:tabLst>
                          <a:tab pos="685800" algn="l"/>
                          <a:tab pos="1485900" algn="l"/>
                        </a:tabLst>
                      </a:pPr>
                      <a:r>
                        <a:rPr lang="en-US" sz="1600" b="1" dirty="0" err="1">
                          <a:effectLst/>
                          <a:latin typeface="Times New Roman" panose="02020603050405020304" pitchFamily="18" charset="0"/>
                          <a:ea typeface="Times New Roman" panose="02020603050405020304" pitchFamily="18" charset="0"/>
                        </a:rPr>
                        <a:t>EmployeeID</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spcAft>
                          <a:spcPts val="0"/>
                        </a:spcAft>
                        <a:tabLst>
                          <a:tab pos="685800" algn="l"/>
                          <a:tab pos="1485900" algn="l"/>
                        </a:tabLst>
                      </a:pPr>
                      <a:r>
                        <a:rPr lang="en-US" sz="1600" b="1" dirty="0">
                          <a:effectLst/>
                          <a:latin typeface="Times New Roman" panose="02020603050405020304" pitchFamily="18" charset="0"/>
                          <a:ea typeface="Times New Roman" panose="02020603050405020304" pitchFamily="18" charset="0"/>
                        </a:rPr>
                        <a:t>Surname</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ctr">
                        <a:spcAft>
                          <a:spcPts val="0"/>
                        </a:spcAft>
                        <a:tabLst>
                          <a:tab pos="685800" algn="l"/>
                          <a:tab pos="1485900" algn="l"/>
                        </a:tabLst>
                      </a:pPr>
                      <a:r>
                        <a:rPr lang="en-US" sz="1600" b="1" dirty="0" err="1">
                          <a:effectLst/>
                          <a:latin typeface="Times New Roman" panose="02020603050405020304" pitchFamily="18" charset="0"/>
                          <a:ea typeface="Times New Roman" panose="02020603050405020304" pitchFamily="18" charset="0"/>
                        </a:rPr>
                        <a:t>BossID</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0227130"/>
                  </a:ext>
                </a:extLst>
              </a:tr>
              <a:tr h="237358">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Saule</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 </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5914744"/>
                  </a:ext>
                </a:extLst>
              </a:tr>
              <a:tr h="237358">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2</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lv-LV" sz="1600" dirty="0">
                          <a:effectLst/>
                          <a:latin typeface="Times New Roman" panose="02020603050405020304" pitchFamily="18" charset="0"/>
                          <a:ea typeface="Times New Roman" panose="02020603050405020304" pitchFamily="18" charset="0"/>
                        </a:rPr>
                        <a:t>Zālītis</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5754204"/>
                  </a:ext>
                </a:extLst>
              </a:tr>
              <a:tr h="237358">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Vīksna</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7509324"/>
                  </a:ext>
                </a:extLst>
              </a:tr>
              <a:tr h="237358">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4</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Bērzs</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2338377"/>
                  </a:ext>
                </a:extLst>
              </a:tr>
              <a:tr h="237358">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5</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Liepa</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8600" algn="just">
                        <a:spcAft>
                          <a:spcPts val="0"/>
                        </a:spcAft>
                        <a:tabLst>
                          <a:tab pos="685800" algn="l"/>
                          <a:tab pos="1485900" algn="l"/>
                        </a:tabLst>
                      </a:pPr>
                      <a:r>
                        <a:rPr lang="en-US" sz="1600" dirty="0">
                          <a:effectLst/>
                          <a:latin typeface="Times New Roman" panose="02020603050405020304" pitchFamily="18" charset="0"/>
                          <a:ea typeface="Times New Roman" panose="02020603050405020304" pitchFamily="18" charset="0"/>
                        </a:rPr>
                        <a:t>E</a:t>
                      </a:r>
                      <a:r>
                        <a:rPr lang="lv-LV" sz="1600" dirty="0">
                          <a:effectLst/>
                          <a:latin typeface="Times New Roman" panose="02020603050405020304" pitchFamily="18" charset="0"/>
                          <a:ea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1363605"/>
                  </a:ext>
                </a:extLst>
              </a:tr>
            </a:tbl>
          </a:graphicData>
        </a:graphic>
      </p:graphicFrame>
    </p:spTree>
    <p:extLst>
      <p:ext uri="{BB962C8B-B14F-4D97-AF65-F5344CB8AC3E}">
        <p14:creationId xmlns:p14="http://schemas.microsoft.com/office/powerpoint/2010/main" val="21906154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Self Join</a:t>
            </a:r>
          </a:p>
        </p:txBody>
      </p:sp>
      <p:sp>
        <p:nvSpPr>
          <p:cNvPr id="3" name="Content Placeholder 2"/>
          <p:cNvSpPr>
            <a:spLocks noGrp="1"/>
          </p:cNvSpPr>
          <p:nvPr>
            <p:ph idx="1"/>
          </p:nvPr>
        </p:nvSpPr>
        <p:spPr/>
        <p:txBody>
          <a:bodyPr/>
          <a:lstStyle/>
          <a:p>
            <a:pPr marL="0" indent="0" algn="just">
              <a:buNone/>
            </a:pPr>
            <a:r>
              <a:rPr lang="en-US" dirty="0"/>
              <a:t>Example: Output the list in the form of an </a:t>
            </a:r>
          </a:p>
          <a:p>
            <a:pPr marL="0" indent="0" algn="just">
              <a:buNone/>
            </a:pPr>
            <a:r>
              <a:rPr lang="en-US" dirty="0"/>
              <a:t>employee - boss.
</a:t>
            </a:r>
            <a:endParaRPr lang="lv-LV" dirty="0"/>
          </a:p>
          <a:p>
            <a:pPr marL="0" indent="0" algn="just">
              <a:buNone/>
            </a:pPr>
            <a:r>
              <a:rPr lang="lv-LV" sz="2000" b="1" dirty="0"/>
              <a:t>SELECT tab1.</a:t>
            </a:r>
            <a:r>
              <a:rPr lang="en-US" sz="2000" b="1" dirty="0"/>
              <a:t>Surname</a:t>
            </a:r>
            <a:r>
              <a:rPr lang="lv-LV" sz="2000" b="1" dirty="0"/>
              <a:t> AS </a:t>
            </a:r>
            <a:r>
              <a:rPr lang="lv-LV" sz="2000" b="1" dirty="0" err="1"/>
              <a:t>Employee</a:t>
            </a:r>
            <a:r>
              <a:rPr lang="lv-LV" sz="2000" b="1" dirty="0"/>
              <a:t>, tab1.</a:t>
            </a:r>
            <a:r>
              <a:rPr lang="en-US" sz="2000" b="1" dirty="0"/>
              <a:t>Surname</a:t>
            </a:r>
            <a:r>
              <a:rPr lang="lv-LV" sz="2000" b="1" dirty="0"/>
              <a:t> AS </a:t>
            </a:r>
            <a:r>
              <a:rPr lang="en-US" sz="2000" b="1" dirty="0"/>
              <a:t>Boss</a:t>
            </a:r>
            <a:endParaRPr lang="lv-LV" sz="2000" b="1" dirty="0"/>
          </a:p>
          <a:p>
            <a:pPr marL="0" indent="0" algn="just">
              <a:buNone/>
            </a:pPr>
            <a:r>
              <a:rPr lang="lv-LV" sz="2000" b="1" dirty="0"/>
              <a:t>FROM </a:t>
            </a:r>
            <a:r>
              <a:rPr lang="lv-LV" sz="2000" b="1" dirty="0" err="1"/>
              <a:t>Employees</a:t>
            </a:r>
            <a:r>
              <a:rPr lang="lv-LV" sz="2000" b="1" dirty="0"/>
              <a:t> tab1 INNER JOIN </a:t>
            </a:r>
            <a:r>
              <a:rPr lang="lv-LV" sz="2000" b="1" dirty="0" err="1"/>
              <a:t>Employees</a:t>
            </a:r>
            <a:r>
              <a:rPr lang="lv-LV" sz="2000" b="1" dirty="0"/>
              <a:t> tab2 </a:t>
            </a:r>
          </a:p>
          <a:p>
            <a:pPr marL="0" indent="0" algn="just">
              <a:buNone/>
            </a:pPr>
            <a:r>
              <a:rPr lang="lv-LV" sz="2000" b="1" dirty="0"/>
              <a:t>            ON tab1.</a:t>
            </a:r>
            <a:r>
              <a:rPr lang="en-US" sz="2000" b="1" dirty="0" err="1"/>
              <a:t>BossID</a:t>
            </a:r>
            <a:r>
              <a:rPr lang="lv-LV" sz="2000" b="1" dirty="0"/>
              <a:t> = tab2.</a:t>
            </a:r>
            <a:r>
              <a:rPr lang="en-US" sz="2000" b="1" dirty="0" err="1"/>
              <a:t>EmployeeID</a:t>
            </a:r>
            <a:r>
              <a:rPr lang="lv-LV" sz="2000" b="1" dirty="0"/>
              <a:t>;</a:t>
            </a:r>
          </a:p>
        </p:txBody>
      </p:sp>
      <p:graphicFrame>
        <p:nvGraphicFramePr>
          <p:cNvPr id="4" name="Table 3"/>
          <p:cNvGraphicFramePr>
            <a:graphicFrameLocks noGrp="1"/>
          </p:cNvGraphicFramePr>
          <p:nvPr>
            <p:extLst>
              <p:ext uri="{D42A27DB-BD31-4B8C-83A1-F6EECF244321}">
                <p14:modId xmlns:p14="http://schemas.microsoft.com/office/powerpoint/2010/main" val="722472810"/>
              </p:ext>
            </p:extLst>
          </p:nvPr>
        </p:nvGraphicFramePr>
        <p:xfrm>
          <a:off x="2171438" y="4918841"/>
          <a:ext cx="3367514" cy="1258120"/>
        </p:xfrm>
        <a:graphic>
          <a:graphicData uri="http://schemas.openxmlformats.org/drawingml/2006/table">
            <a:tbl>
              <a:tblPr firstRow="1" firstCol="1" lastRow="1" lastCol="1" bandRow="1" bandCol="1"/>
              <a:tblGrid>
                <a:gridCol w="1683757">
                  <a:extLst>
                    <a:ext uri="{9D8B030D-6E8A-4147-A177-3AD203B41FA5}">
                      <a16:colId xmlns:a16="http://schemas.microsoft.com/office/drawing/2014/main" val="2597389375"/>
                    </a:ext>
                  </a:extLst>
                </a:gridCol>
                <a:gridCol w="1683757">
                  <a:extLst>
                    <a:ext uri="{9D8B030D-6E8A-4147-A177-3AD203B41FA5}">
                      <a16:colId xmlns:a16="http://schemas.microsoft.com/office/drawing/2014/main" val="437444244"/>
                    </a:ext>
                  </a:extLst>
                </a:gridCol>
              </a:tblGrid>
              <a:tr h="251624">
                <a:tc>
                  <a:txBody>
                    <a:bodyPr/>
                    <a:lstStyle/>
                    <a:p>
                      <a:pPr algn="just">
                        <a:spcAft>
                          <a:spcPts val="0"/>
                        </a:spcAft>
                        <a:tabLst>
                          <a:tab pos="685800" algn="l"/>
                          <a:tab pos="1485900" algn="l"/>
                        </a:tabLst>
                      </a:pPr>
                      <a:r>
                        <a:rPr lang="lv-LV" sz="1600" b="1" dirty="0" err="1">
                          <a:effectLst/>
                          <a:latin typeface="Times New Roman" panose="02020603050405020304" pitchFamily="18" charset="0"/>
                          <a:ea typeface="Times New Roman" panose="02020603050405020304" pitchFamily="18" charset="0"/>
                        </a:rPr>
                        <a:t>Employee</a:t>
                      </a:r>
                      <a:endParaRPr lang="en-US" sz="1600" b="1"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685800" algn="l"/>
                          <a:tab pos="1485900" algn="l"/>
                        </a:tabLst>
                      </a:pPr>
                      <a:r>
                        <a:rPr lang="lv-LV" sz="1600" b="1" dirty="0">
                          <a:effectLst/>
                          <a:latin typeface="Times New Roman" panose="02020603050405020304" pitchFamily="18" charset="0"/>
                          <a:ea typeface="Times New Roman" panose="02020603050405020304" pitchFamily="18" charset="0"/>
                        </a:rPr>
                        <a:t>Boss</a:t>
                      </a:r>
                      <a:endParaRPr lang="en-US" sz="1600" b="1"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29303434"/>
                  </a:ext>
                </a:extLst>
              </a:tr>
              <a:tr h="251624">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Zālītis</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Saule</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119474"/>
                  </a:ext>
                </a:extLst>
              </a:tr>
              <a:tr h="251624">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Vīksna</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Saule</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6712628"/>
                  </a:ext>
                </a:extLst>
              </a:tr>
              <a:tr h="251624">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Bērzs</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Vīksna</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5382976"/>
                  </a:ext>
                </a:extLst>
              </a:tr>
              <a:tr h="251624">
                <a:tc>
                  <a:txBody>
                    <a:bodyPr/>
                    <a:lstStyle/>
                    <a:p>
                      <a:pPr algn="just">
                        <a:spcAft>
                          <a:spcPts val="0"/>
                        </a:spcAft>
                        <a:tabLst>
                          <a:tab pos="685800" algn="l"/>
                          <a:tab pos="1485900" algn="l"/>
                        </a:tabLst>
                      </a:pPr>
                      <a:r>
                        <a:rPr lang="lv-LV" sz="1600">
                          <a:effectLst/>
                          <a:latin typeface="Times New Roman" panose="02020603050405020304" pitchFamily="18" charset="0"/>
                          <a:ea typeface="Times New Roman" panose="02020603050405020304" pitchFamily="18" charset="0"/>
                        </a:rPr>
                        <a:t>Liepa</a:t>
                      </a:r>
                      <a:endParaRPr lang="en-US" sz="16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685800" algn="l"/>
                          <a:tab pos="1485900" algn="l"/>
                        </a:tabLst>
                      </a:pPr>
                      <a:r>
                        <a:rPr lang="lv-LV" sz="1600" dirty="0">
                          <a:effectLst/>
                          <a:latin typeface="Times New Roman" panose="02020603050405020304" pitchFamily="18" charset="0"/>
                          <a:ea typeface="Times New Roman" panose="02020603050405020304" pitchFamily="18" charset="0"/>
                        </a:rPr>
                        <a:t>Vīksna</a:t>
                      </a:r>
                      <a:endParaRPr lang="en-US" sz="16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6439516"/>
                  </a:ext>
                </a:extLst>
              </a:tr>
            </a:tbl>
          </a:graphicData>
        </a:graphic>
      </p:graphicFrame>
    </p:spTree>
    <p:extLst>
      <p:ext uri="{BB962C8B-B14F-4D97-AF65-F5344CB8AC3E}">
        <p14:creationId xmlns:p14="http://schemas.microsoft.com/office/powerpoint/2010/main" val="562497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a:xfrm>
            <a:off x="466725" y="1825625"/>
            <a:ext cx="8248650" cy="4351338"/>
          </a:xfrm>
        </p:spPr>
        <p:txBody>
          <a:bodyPr>
            <a:normAutofit/>
          </a:bodyPr>
          <a:lstStyle/>
          <a:p>
            <a:pPr marL="0" indent="0" algn="just">
              <a:buNone/>
            </a:pPr>
            <a:r>
              <a:rPr lang="en-US" dirty="0"/>
              <a:t>Display surnames and names to those readers who live in the same city as the reader with the surname "Smirnov</a:t>
            </a:r>
            <a:r>
              <a:rPr lang="lv-LV" dirty="0"/>
              <a:t>s</a:t>
            </a:r>
            <a:r>
              <a:rPr lang="en-US" dirty="0"/>
              <a:t>". 
</a:t>
            </a:r>
          </a:p>
        </p:txBody>
      </p:sp>
    </p:spTree>
    <p:extLst>
      <p:ext uri="{BB962C8B-B14F-4D97-AF65-F5344CB8AC3E}">
        <p14:creationId xmlns:p14="http://schemas.microsoft.com/office/powerpoint/2010/main" val="298805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295275" y="1690690"/>
            <a:ext cx="8686799" cy="5072060"/>
          </a:xfrm>
        </p:spPr>
        <p:txBody>
          <a:bodyPr>
            <a:normAutofit/>
          </a:bodyPr>
          <a:lstStyle/>
          <a:p>
            <a:pPr marL="0" indent="0">
              <a:spcBef>
                <a:spcPts val="0"/>
              </a:spcBef>
              <a:buNone/>
            </a:pPr>
            <a:endParaRPr lang="lv-LV" sz="1600" dirty="0"/>
          </a:p>
          <a:p>
            <a:pPr marL="0" indent="0">
              <a:spcBef>
                <a:spcPts val="0"/>
              </a:spcBef>
              <a:buNone/>
            </a:pPr>
            <a:endParaRPr lang="lv-LV" sz="1600" dirty="0"/>
          </a:p>
          <a:p>
            <a:pPr marL="0" indent="0">
              <a:spcBef>
                <a:spcPts val="0"/>
              </a:spcBef>
              <a:buNone/>
            </a:pPr>
            <a:r>
              <a:rPr lang="en-US" sz="2000" dirty="0"/>
              <a:t>SELECT CONCAT(r2.ReaderName, ' ', r2.ReaderSur) AS `Name Surname`</a:t>
            </a:r>
          </a:p>
          <a:p>
            <a:pPr marL="0" indent="0">
              <a:spcBef>
                <a:spcPts val="0"/>
              </a:spcBef>
              <a:buNone/>
            </a:pPr>
            <a:r>
              <a:rPr lang="en-US" sz="2000" dirty="0"/>
              <a:t>FROM Readers r1 </a:t>
            </a:r>
          </a:p>
          <a:p>
            <a:pPr marL="0" indent="0">
              <a:spcBef>
                <a:spcPts val="0"/>
              </a:spcBef>
              <a:buNone/>
            </a:pPr>
            <a:r>
              <a:rPr lang="en-US" sz="2000" dirty="0"/>
              <a:t>INNER JOIN Readers r2 </a:t>
            </a:r>
          </a:p>
          <a:p>
            <a:pPr marL="0" indent="0">
              <a:spcBef>
                <a:spcPts val="0"/>
              </a:spcBef>
              <a:buNone/>
            </a:pPr>
            <a:r>
              <a:rPr lang="en-US" sz="2000" dirty="0"/>
              <a:t>ON (r1.ReaderSur &lt;&gt; r2.ReaderSur AND r1.Town = r2.Town)</a:t>
            </a:r>
          </a:p>
          <a:p>
            <a:pPr marL="0" indent="0">
              <a:spcBef>
                <a:spcPts val="0"/>
              </a:spcBef>
              <a:buNone/>
            </a:pPr>
            <a:r>
              <a:rPr lang="en-US" sz="2000" dirty="0"/>
              <a:t>WHERE r1.ReaderSur LIKE '</a:t>
            </a:r>
            <a:r>
              <a:rPr lang="en-US" sz="2000" dirty="0" err="1"/>
              <a:t>Smirnovs</a:t>
            </a:r>
            <a:r>
              <a:rPr lang="en-US" sz="2000" dirty="0"/>
              <a:t>';</a:t>
            </a:r>
          </a:p>
        </p:txBody>
      </p:sp>
    </p:spTree>
    <p:extLst>
      <p:ext uri="{BB962C8B-B14F-4D97-AF65-F5344CB8AC3E}">
        <p14:creationId xmlns:p14="http://schemas.microsoft.com/office/powerpoint/2010/main" val="2456582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Union</a:t>
            </a:r>
            <a:r>
              <a:rPr lang="ru-RU" dirty="0"/>
              <a:t> </a:t>
            </a:r>
            <a:r>
              <a:rPr lang="ru-RU" dirty="0" err="1"/>
              <a:t>operator</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en-US" dirty="0"/>
              <a:t>The </a:t>
            </a:r>
            <a:r>
              <a:rPr lang="en-US" b="1" dirty="0"/>
              <a:t>Union</a:t>
            </a:r>
            <a:r>
              <a:rPr lang="en-US" dirty="0"/>
              <a:t> operator combines the results of two queries. 
The operator ignores duplicates. You must also use the Union All operator to display duplicates. 
Select statements must have the same number of columns to use Union.
ORDER BY statement is used only in the last query. 
GROUP BY and HAVING statements are used only in individual queries.</a:t>
            </a:r>
            <a:r>
              <a:rPr lang="en-US" b="1" dirty="0"/>
              <a:t>
</a:t>
            </a:r>
            <a:endParaRPr lang="en-US" dirty="0"/>
          </a:p>
        </p:txBody>
      </p:sp>
    </p:spTree>
    <p:extLst>
      <p:ext uri="{BB962C8B-B14F-4D97-AF65-F5344CB8AC3E}">
        <p14:creationId xmlns:p14="http://schemas.microsoft.com/office/powerpoint/2010/main" val="3832225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ru-RU" dirty="0" err="1"/>
              <a:t>Union</a:t>
            </a:r>
            <a:r>
              <a:rPr lang="ru-RU" dirty="0"/>
              <a:t> </a:t>
            </a:r>
            <a:r>
              <a:rPr lang="ru-RU" dirty="0" err="1"/>
              <a:t>operator</a:t>
            </a:r>
            <a:endParaRPr lang="en-US" dirty="0"/>
          </a:p>
        </p:txBody>
      </p:sp>
      <p:sp>
        <p:nvSpPr>
          <p:cNvPr id="3" name="Content Placeholder 2"/>
          <p:cNvSpPr>
            <a:spLocks noGrp="1"/>
          </p:cNvSpPr>
          <p:nvPr>
            <p:ph idx="1"/>
          </p:nvPr>
        </p:nvSpPr>
        <p:spPr>
          <a:xfrm>
            <a:off x="366877" y="1825625"/>
            <a:ext cx="8148473" cy="4351338"/>
          </a:xfrm>
        </p:spPr>
        <p:txBody>
          <a:bodyPr>
            <a:normAutofit/>
          </a:bodyPr>
          <a:lstStyle/>
          <a:p>
            <a:pPr marL="0" indent="0" algn="just">
              <a:buNone/>
            </a:pPr>
            <a:r>
              <a:rPr lang="en-US" dirty="0"/>
              <a:t>Example: Write a query that displays the reading room name and phone number and combines this result with a query that displays librarians' names, surnames, and ID’s.
</a:t>
            </a:r>
            <a:endParaRPr lang="lv-LV" dirty="0"/>
          </a:p>
          <a:p>
            <a:pPr marL="0" indent="0" algn="just">
              <a:buNone/>
            </a:pPr>
            <a:r>
              <a:rPr lang="en-US" sz="2000" b="1" dirty="0"/>
              <a:t>SELECT </a:t>
            </a:r>
            <a:r>
              <a:rPr lang="en-US" sz="2000" b="1" dirty="0" err="1"/>
              <a:t>rr.RoomName</a:t>
            </a:r>
            <a:r>
              <a:rPr lang="en-US" sz="2000" b="1" dirty="0"/>
              <a:t> AS `Reading room/Librarian`, </a:t>
            </a:r>
            <a:r>
              <a:rPr lang="en-US" sz="2000" b="1" dirty="0" err="1"/>
              <a:t>rr.PhoneNum</a:t>
            </a:r>
            <a:r>
              <a:rPr lang="en-US" sz="2000" b="1" dirty="0"/>
              <a:t> AS Phone</a:t>
            </a:r>
          </a:p>
          <a:p>
            <a:pPr marL="0" indent="0" algn="just">
              <a:buNone/>
            </a:pPr>
            <a:r>
              <a:rPr lang="en-US" sz="2000" b="1" dirty="0"/>
              <a:t>FROM </a:t>
            </a:r>
            <a:r>
              <a:rPr lang="en-US" sz="2000" b="1" dirty="0" err="1"/>
              <a:t>Reading_rooms</a:t>
            </a:r>
            <a:r>
              <a:rPr lang="en-US" sz="2000" b="1" dirty="0"/>
              <a:t> </a:t>
            </a:r>
            <a:r>
              <a:rPr lang="en-US" sz="2000" b="1" dirty="0" err="1"/>
              <a:t>rr</a:t>
            </a:r>
            <a:endParaRPr lang="en-US" sz="2000" b="1" dirty="0"/>
          </a:p>
          <a:p>
            <a:pPr marL="0" indent="0" algn="just">
              <a:buNone/>
            </a:pPr>
            <a:r>
              <a:rPr lang="en-US" sz="2000" b="1" dirty="0"/>
              <a:t>UNION ALL</a:t>
            </a:r>
          </a:p>
          <a:p>
            <a:pPr marL="0" indent="0" algn="just">
              <a:buNone/>
            </a:pPr>
            <a:r>
              <a:rPr lang="en-US" sz="2000" b="1" dirty="0"/>
              <a:t>SELECT CONCAT(</a:t>
            </a:r>
            <a:r>
              <a:rPr lang="en-US" sz="2000" b="1" dirty="0" err="1"/>
              <a:t>l.LSur</a:t>
            </a:r>
            <a:r>
              <a:rPr lang="en-US" sz="2000" b="1" dirty="0"/>
              <a:t>, ' ', </a:t>
            </a:r>
            <a:r>
              <a:rPr lang="en-US" sz="2000" b="1" dirty="0" err="1"/>
              <a:t>l.Lname</a:t>
            </a:r>
            <a:r>
              <a:rPr lang="en-US" sz="2000" b="1" dirty="0"/>
              <a:t>), </a:t>
            </a:r>
            <a:r>
              <a:rPr lang="en-US" sz="2000" b="1" dirty="0" err="1"/>
              <a:t>l.LibID</a:t>
            </a:r>
            <a:endParaRPr lang="en-US" sz="2000" b="1" dirty="0"/>
          </a:p>
          <a:p>
            <a:pPr marL="0" indent="0" algn="just">
              <a:buNone/>
            </a:pPr>
            <a:r>
              <a:rPr lang="en-US" sz="2000" b="1" dirty="0"/>
              <a:t>FROM Librarians l;</a:t>
            </a:r>
          </a:p>
        </p:txBody>
      </p:sp>
      <p:pic>
        <p:nvPicPr>
          <p:cNvPr id="5" name="Picture 4">
            <a:extLst>
              <a:ext uri="{FF2B5EF4-FFF2-40B4-BE49-F238E27FC236}">
                <a16:creationId xmlns:a16="http://schemas.microsoft.com/office/drawing/2014/main" id="{2F1BC1E3-04ED-5EEE-4C73-CE61CE1ED5B3}"/>
              </a:ext>
            </a:extLst>
          </p:cNvPr>
          <p:cNvPicPr>
            <a:picLocks noChangeAspect="1"/>
          </p:cNvPicPr>
          <p:nvPr/>
        </p:nvPicPr>
        <p:blipFill>
          <a:blip r:embed="rId2"/>
          <a:stretch>
            <a:fillRect/>
          </a:stretch>
        </p:blipFill>
        <p:spPr>
          <a:xfrm>
            <a:off x="5914662" y="4440721"/>
            <a:ext cx="2600688" cy="2162477"/>
          </a:xfrm>
          <a:prstGeom prst="rect">
            <a:avLst/>
          </a:prstGeom>
        </p:spPr>
      </p:pic>
    </p:spTree>
    <p:extLst>
      <p:ext uri="{BB962C8B-B14F-4D97-AF65-F5344CB8AC3E}">
        <p14:creationId xmlns:p14="http://schemas.microsoft.com/office/powerpoint/2010/main" val="1637530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Intersect</a:t>
            </a:r>
            <a:r>
              <a:rPr lang="ru-RU" dirty="0"/>
              <a:t> </a:t>
            </a:r>
            <a:r>
              <a:rPr lang="ru-RU" dirty="0" err="1"/>
              <a:t>operator</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The </a:t>
            </a:r>
            <a:r>
              <a:rPr lang="en-US" b="1" dirty="0"/>
              <a:t>Intersect</a:t>
            </a:r>
            <a:r>
              <a:rPr lang="en-US" dirty="0"/>
              <a:t> operator converts the results of two queries into one result, which includes all common rows from the results of both queries. The operator ignores duplicates. </a:t>
            </a:r>
            <a:r>
              <a:rPr lang="en-US" b="1" dirty="0"/>
              <a:t>
Statement:
Query1 Intersect Query2;
</a:t>
            </a:r>
            <a:endParaRPr lang="en-US" i="1" dirty="0"/>
          </a:p>
        </p:txBody>
      </p:sp>
    </p:spTree>
    <p:extLst>
      <p:ext uri="{BB962C8B-B14F-4D97-AF65-F5344CB8AC3E}">
        <p14:creationId xmlns:p14="http://schemas.microsoft.com/office/powerpoint/2010/main" val="3541563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Intersect</a:t>
            </a:r>
            <a:r>
              <a:rPr lang="ru-RU" dirty="0"/>
              <a:t> </a:t>
            </a:r>
            <a:r>
              <a:rPr lang="ru-RU" dirty="0" err="1"/>
              <a:t>operator</a:t>
            </a:r>
            <a:endParaRPr lang="en-US" dirty="0"/>
          </a:p>
        </p:txBody>
      </p:sp>
      <p:sp>
        <p:nvSpPr>
          <p:cNvPr id="3" name="Content Placeholder 2"/>
          <p:cNvSpPr>
            <a:spLocks noGrp="1"/>
          </p:cNvSpPr>
          <p:nvPr>
            <p:ph idx="1"/>
          </p:nvPr>
        </p:nvSpPr>
        <p:spPr/>
        <p:txBody>
          <a:bodyPr/>
          <a:lstStyle/>
          <a:p>
            <a:pPr marL="0" indent="0" algn="just">
              <a:buNone/>
            </a:pPr>
            <a:r>
              <a:rPr lang="en-US" dirty="0"/>
              <a:t>Example: Display the readers used the library services and took the books home.
</a:t>
            </a:r>
            <a:r>
              <a:rPr lang="lv-LV" sz="2000" dirty="0"/>
              <a:t>(Oracle)</a:t>
            </a:r>
          </a:p>
          <a:p>
            <a:pPr marL="0" indent="0" algn="just">
              <a:lnSpc>
                <a:spcPct val="100000"/>
              </a:lnSpc>
              <a:spcBef>
                <a:spcPts val="0"/>
              </a:spcBef>
              <a:buNone/>
            </a:pPr>
            <a:r>
              <a:rPr lang="lv-LV" sz="1600" b="1" dirty="0"/>
              <a:t>SELECT </a:t>
            </a:r>
            <a:r>
              <a:rPr lang="lv-LV" sz="1600" b="1" dirty="0" err="1"/>
              <a:t>Books_taken</a:t>
            </a:r>
            <a:r>
              <a:rPr lang="en-US" sz="1600" b="1" dirty="0"/>
              <a:t>.</a:t>
            </a:r>
            <a:r>
              <a:rPr lang="lv-LV" sz="1600" b="1" dirty="0" err="1"/>
              <a:t>ReaderID</a:t>
            </a:r>
            <a:r>
              <a:rPr lang="lv-LV" sz="1600" b="1" dirty="0"/>
              <a:t> AS "</a:t>
            </a:r>
            <a:r>
              <a:rPr lang="lv-LV" sz="1600" b="1" dirty="0" err="1"/>
              <a:t>Reader</a:t>
            </a:r>
            <a:r>
              <a:rPr lang="lv-LV" sz="1600" b="1" dirty="0"/>
              <a:t> ID"</a:t>
            </a:r>
          </a:p>
          <a:p>
            <a:pPr marL="0" indent="0" algn="just">
              <a:lnSpc>
                <a:spcPct val="100000"/>
              </a:lnSpc>
              <a:spcBef>
                <a:spcPts val="0"/>
              </a:spcBef>
              <a:buNone/>
            </a:pPr>
            <a:r>
              <a:rPr lang="lv-LV" sz="1600" b="1" dirty="0"/>
              <a:t>FROM </a:t>
            </a:r>
            <a:r>
              <a:rPr lang="lv-LV" sz="1600" b="1" dirty="0" err="1"/>
              <a:t>Books_taken</a:t>
            </a:r>
            <a:endParaRPr lang="lv-LV" sz="1600" b="1" dirty="0"/>
          </a:p>
          <a:p>
            <a:pPr marL="0" indent="0" algn="just">
              <a:lnSpc>
                <a:spcPct val="100000"/>
              </a:lnSpc>
              <a:spcBef>
                <a:spcPts val="0"/>
              </a:spcBef>
              <a:buNone/>
            </a:pPr>
            <a:r>
              <a:rPr lang="lv-LV" sz="1600" b="1" dirty="0"/>
              <a:t>INTERSECT</a:t>
            </a:r>
          </a:p>
          <a:p>
            <a:pPr marL="0" indent="0" algn="just">
              <a:lnSpc>
                <a:spcPct val="100000"/>
              </a:lnSpc>
              <a:spcBef>
                <a:spcPts val="0"/>
              </a:spcBef>
              <a:buNone/>
            </a:pPr>
            <a:r>
              <a:rPr lang="lv-LV" sz="1600" b="1" dirty="0"/>
              <a:t>SELECT </a:t>
            </a:r>
            <a:r>
              <a:rPr lang="lv-LV" sz="1600" b="1" dirty="0" err="1"/>
              <a:t>ReaderID</a:t>
            </a:r>
            <a:endParaRPr lang="lv-LV" sz="1600" b="1" dirty="0"/>
          </a:p>
          <a:p>
            <a:pPr marL="0" indent="0" algn="just">
              <a:lnSpc>
                <a:spcPct val="100000"/>
              </a:lnSpc>
              <a:spcBef>
                <a:spcPts val="0"/>
              </a:spcBef>
              <a:buNone/>
            </a:pPr>
            <a:r>
              <a:rPr lang="lv-LV" sz="1600" b="1" dirty="0"/>
              <a:t>FROM </a:t>
            </a:r>
            <a:r>
              <a:rPr lang="lv-LV" sz="1600" b="1" dirty="0" err="1"/>
              <a:t>Journal</a:t>
            </a:r>
            <a:r>
              <a:rPr lang="lv-LV" sz="1600" b="1" dirty="0"/>
              <a:t>;</a:t>
            </a:r>
          </a:p>
          <a:p>
            <a:pPr marL="0" indent="0" algn="just">
              <a:lnSpc>
                <a:spcPct val="100000"/>
              </a:lnSpc>
              <a:spcBef>
                <a:spcPts val="0"/>
              </a:spcBef>
              <a:buNone/>
            </a:pPr>
            <a:endParaRPr lang="lv-LV" sz="1600" b="1" dirty="0"/>
          </a:p>
          <a:p>
            <a:pPr marL="0" indent="0" algn="just">
              <a:lnSpc>
                <a:spcPct val="100000"/>
              </a:lnSpc>
              <a:spcBef>
                <a:spcPts val="0"/>
              </a:spcBef>
              <a:buNone/>
            </a:pPr>
            <a:r>
              <a:rPr lang="lv-LV" sz="2000" dirty="0"/>
              <a:t>(</a:t>
            </a:r>
            <a:r>
              <a:rPr lang="lv-LV" sz="2000" dirty="0" err="1"/>
              <a:t>with</a:t>
            </a:r>
            <a:r>
              <a:rPr lang="lv-LV" sz="2000" dirty="0"/>
              <a:t> JOIN, </a:t>
            </a:r>
            <a:r>
              <a:rPr lang="en-US" sz="2000" dirty="0"/>
              <a:t>because </a:t>
            </a:r>
            <a:r>
              <a:rPr lang="lv-LV" sz="2000" dirty="0" err="1"/>
              <a:t>MySQL</a:t>
            </a:r>
            <a:r>
              <a:rPr lang="lv-LV" sz="2000" dirty="0"/>
              <a:t> </a:t>
            </a:r>
            <a:r>
              <a:rPr lang="en-US" sz="2000" dirty="0"/>
              <a:t>does not support syntactically</a:t>
            </a:r>
            <a:r>
              <a:rPr lang="lv-LV" sz="2000" dirty="0"/>
              <a:t>)</a:t>
            </a:r>
          </a:p>
          <a:p>
            <a:pPr marL="0" indent="0" algn="just">
              <a:lnSpc>
                <a:spcPct val="100000"/>
              </a:lnSpc>
              <a:spcBef>
                <a:spcPts val="0"/>
              </a:spcBef>
              <a:buNone/>
            </a:pPr>
            <a:r>
              <a:rPr lang="lv-LV" sz="1600" b="1" dirty="0"/>
              <a:t>SELECT DISTINCT </a:t>
            </a:r>
            <a:r>
              <a:rPr lang="en-US" sz="1600" b="1" dirty="0" err="1"/>
              <a:t>bt.</a:t>
            </a:r>
            <a:r>
              <a:rPr lang="lv-LV" sz="1600" b="1" dirty="0" err="1"/>
              <a:t>ReaderID</a:t>
            </a:r>
            <a:r>
              <a:rPr lang="lv-LV" sz="1600" b="1" dirty="0"/>
              <a:t> AS `</a:t>
            </a:r>
            <a:r>
              <a:rPr lang="lv-LV" sz="1600" b="1" dirty="0" err="1"/>
              <a:t>Reader</a:t>
            </a:r>
            <a:r>
              <a:rPr lang="lv-LV" sz="1600" b="1" dirty="0"/>
              <a:t> ID`</a:t>
            </a:r>
          </a:p>
          <a:p>
            <a:pPr marL="0" indent="0" algn="just">
              <a:lnSpc>
                <a:spcPct val="100000"/>
              </a:lnSpc>
              <a:spcBef>
                <a:spcPts val="0"/>
              </a:spcBef>
              <a:buNone/>
            </a:pPr>
            <a:r>
              <a:rPr lang="lv-LV" sz="1600" b="1" dirty="0"/>
              <a:t>FROM </a:t>
            </a:r>
            <a:r>
              <a:rPr lang="lv-LV" sz="1600" b="1" dirty="0" err="1"/>
              <a:t>Books_taken</a:t>
            </a:r>
            <a:r>
              <a:rPr lang="lv-LV" sz="1600" b="1" dirty="0"/>
              <a:t> </a:t>
            </a:r>
            <a:r>
              <a:rPr lang="en-US" sz="1600" b="1" dirty="0" err="1"/>
              <a:t>bt</a:t>
            </a:r>
            <a:r>
              <a:rPr lang="en-US" sz="1600" b="1" dirty="0"/>
              <a:t> </a:t>
            </a:r>
            <a:r>
              <a:rPr lang="lv-LV" sz="1600" b="1" dirty="0"/>
              <a:t>INNER JOIN </a:t>
            </a:r>
            <a:r>
              <a:rPr lang="lv-LV" sz="1600" b="1" dirty="0" err="1"/>
              <a:t>Journal</a:t>
            </a:r>
            <a:r>
              <a:rPr lang="lv-LV" sz="1600" b="1" dirty="0"/>
              <a:t> </a:t>
            </a:r>
            <a:r>
              <a:rPr lang="en-US" sz="1600" b="1" dirty="0"/>
              <a:t>j</a:t>
            </a:r>
            <a:r>
              <a:rPr lang="lv-LV" sz="1600" b="1" dirty="0"/>
              <a:t> </a:t>
            </a:r>
            <a:r>
              <a:rPr lang="lv-LV" sz="1600" b="1" dirty="0" err="1"/>
              <a:t>on</a:t>
            </a:r>
            <a:r>
              <a:rPr lang="lv-LV" sz="1600" b="1" dirty="0"/>
              <a:t> </a:t>
            </a:r>
            <a:r>
              <a:rPr lang="en-US" sz="1600" b="1" dirty="0" err="1"/>
              <a:t>bt</a:t>
            </a:r>
            <a:r>
              <a:rPr lang="lv-LV" sz="1600" b="1" dirty="0"/>
              <a:t>.</a:t>
            </a:r>
            <a:r>
              <a:rPr lang="lv-LV" sz="1600" b="1" dirty="0" err="1"/>
              <a:t>ReaderID</a:t>
            </a:r>
            <a:r>
              <a:rPr lang="lv-LV" sz="1600" b="1" dirty="0"/>
              <a:t> = </a:t>
            </a:r>
            <a:r>
              <a:rPr lang="en-US" sz="1600" b="1" dirty="0"/>
              <a:t>j</a:t>
            </a:r>
            <a:r>
              <a:rPr lang="lv-LV" sz="1600" b="1" dirty="0"/>
              <a:t>.</a:t>
            </a:r>
            <a:r>
              <a:rPr lang="lv-LV" sz="1600" b="1" dirty="0" err="1"/>
              <a:t>ReaderID</a:t>
            </a:r>
            <a:r>
              <a:rPr lang="lv-LV" sz="1600" b="1" dirty="0"/>
              <a:t>;</a:t>
            </a:r>
          </a:p>
        </p:txBody>
      </p:sp>
      <p:pic>
        <p:nvPicPr>
          <p:cNvPr id="8" name="Picture 7">
            <a:extLst>
              <a:ext uri="{FF2B5EF4-FFF2-40B4-BE49-F238E27FC236}">
                <a16:creationId xmlns:a16="http://schemas.microsoft.com/office/drawing/2014/main" id="{F3A877A3-2F26-A992-39DD-E80F3553EF8B}"/>
              </a:ext>
            </a:extLst>
          </p:cNvPr>
          <p:cNvPicPr>
            <a:picLocks noChangeAspect="1"/>
          </p:cNvPicPr>
          <p:nvPr/>
        </p:nvPicPr>
        <p:blipFill>
          <a:blip r:embed="rId2"/>
          <a:stretch>
            <a:fillRect/>
          </a:stretch>
        </p:blipFill>
        <p:spPr>
          <a:xfrm>
            <a:off x="3494976" y="5375854"/>
            <a:ext cx="1513904" cy="1324666"/>
          </a:xfrm>
          <a:prstGeom prst="rect">
            <a:avLst/>
          </a:prstGeom>
        </p:spPr>
      </p:pic>
    </p:spTree>
    <p:extLst>
      <p:ext uri="{BB962C8B-B14F-4D97-AF65-F5344CB8AC3E}">
        <p14:creationId xmlns:p14="http://schemas.microsoft.com/office/powerpoint/2010/main" val="2909047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a:t>Minus</a:t>
            </a:r>
            <a:r>
              <a:rPr lang="ru-RU" dirty="0"/>
              <a:t> </a:t>
            </a:r>
            <a:r>
              <a:rPr lang="ru-RU" dirty="0" err="1"/>
              <a:t>operator</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The </a:t>
            </a:r>
            <a:r>
              <a:rPr lang="en-US" b="1" dirty="0"/>
              <a:t>Minus</a:t>
            </a:r>
            <a:r>
              <a:rPr lang="en-US" dirty="0"/>
              <a:t> operator converts the results of two queries to a table that includes only the result rows of the first query that are not the result of the second query.</a:t>
            </a:r>
          </a:p>
          <a:p>
            <a:pPr marL="0" indent="0" algn="just">
              <a:buNone/>
            </a:pPr>
            <a:r>
              <a:rPr lang="en-US" dirty="0"/>
              <a:t>
Statement:
Query1 Minus Query2;</a:t>
            </a:r>
            <a:r>
              <a:rPr lang="en-US" b="1" dirty="0"/>
              <a:t>
</a:t>
            </a:r>
            <a:endParaRPr lang="en-US" i="1" dirty="0"/>
          </a:p>
        </p:txBody>
      </p:sp>
    </p:spTree>
    <p:extLst>
      <p:ext uri="{BB962C8B-B14F-4D97-AF65-F5344CB8AC3E}">
        <p14:creationId xmlns:p14="http://schemas.microsoft.com/office/powerpoint/2010/main" val="2061501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a:t>Minus</a:t>
            </a:r>
            <a:r>
              <a:rPr lang="ru-RU" dirty="0"/>
              <a:t> </a:t>
            </a:r>
            <a:r>
              <a:rPr lang="ru-RU" dirty="0" err="1"/>
              <a:t>operators</a:t>
            </a:r>
            <a:endParaRPr lang="en-US" dirty="0"/>
          </a:p>
        </p:txBody>
      </p:sp>
      <p:sp>
        <p:nvSpPr>
          <p:cNvPr id="3" name="Content Placeholder 2"/>
          <p:cNvSpPr>
            <a:spLocks noGrp="1"/>
          </p:cNvSpPr>
          <p:nvPr>
            <p:ph idx="1"/>
          </p:nvPr>
        </p:nvSpPr>
        <p:spPr/>
        <p:txBody>
          <a:bodyPr/>
          <a:lstStyle/>
          <a:p>
            <a:pPr marL="0" indent="0" algn="just">
              <a:buNone/>
            </a:pPr>
            <a:r>
              <a:rPr lang="en-US" dirty="0"/>
              <a:t>Example: Display readers that did not use library services, but took books home.
</a:t>
            </a:r>
            <a:r>
              <a:rPr lang="lv-LV" dirty="0"/>
              <a:t>(Oracle)</a:t>
            </a:r>
          </a:p>
          <a:p>
            <a:pPr marL="0" indent="0" algn="just">
              <a:spcBef>
                <a:spcPts val="0"/>
              </a:spcBef>
              <a:buNone/>
            </a:pPr>
            <a:r>
              <a:rPr lang="lv-LV" sz="1600" b="1" dirty="0"/>
              <a:t>SELECT </a:t>
            </a:r>
            <a:r>
              <a:rPr lang="lv-LV" sz="1600" b="1" dirty="0" err="1"/>
              <a:t>Books_taken</a:t>
            </a:r>
            <a:r>
              <a:rPr lang="en-US" sz="1600" b="1" dirty="0"/>
              <a:t>.</a:t>
            </a:r>
            <a:r>
              <a:rPr lang="lv-LV" sz="1600" b="1" dirty="0" err="1"/>
              <a:t>ReaderID</a:t>
            </a:r>
            <a:r>
              <a:rPr lang="lv-LV" sz="1600" b="1" dirty="0"/>
              <a:t> AS "</a:t>
            </a:r>
            <a:r>
              <a:rPr lang="lv-LV" sz="1600" b="1" dirty="0" err="1"/>
              <a:t>Reader</a:t>
            </a:r>
            <a:r>
              <a:rPr lang="lv-LV" sz="1600" b="1" dirty="0"/>
              <a:t> ID"</a:t>
            </a:r>
          </a:p>
          <a:p>
            <a:pPr marL="0" indent="0" algn="just">
              <a:spcBef>
                <a:spcPts val="0"/>
              </a:spcBef>
              <a:buNone/>
            </a:pPr>
            <a:r>
              <a:rPr lang="lv-LV" sz="1600" b="1" dirty="0"/>
              <a:t>FROM </a:t>
            </a:r>
            <a:r>
              <a:rPr lang="lv-LV" sz="1600" b="1" dirty="0" err="1"/>
              <a:t>Books_taken</a:t>
            </a:r>
            <a:endParaRPr lang="lv-LV" sz="1600" b="1" dirty="0"/>
          </a:p>
          <a:p>
            <a:pPr marL="0" indent="0" algn="just">
              <a:spcBef>
                <a:spcPts val="0"/>
              </a:spcBef>
              <a:buNone/>
            </a:pPr>
            <a:r>
              <a:rPr lang="lv-LV" sz="1600" b="1" dirty="0"/>
              <a:t>MINUS</a:t>
            </a:r>
          </a:p>
          <a:p>
            <a:pPr marL="0" indent="0" algn="just">
              <a:spcBef>
                <a:spcPts val="0"/>
              </a:spcBef>
              <a:buNone/>
            </a:pPr>
            <a:r>
              <a:rPr lang="lv-LV" sz="1600" b="1" dirty="0"/>
              <a:t>SELECT </a:t>
            </a:r>
            <a:r>
              <a:rPr lang="lv-LV" sz="1600" b="1" dirty="0" err="1"/>
              <a:t>ReaderID</a:t>
            </a:r>
            <a:endParaRPr lang="lv-LV" sz="1600" b="1" dirty="0"/>
          </a:p>
          <a:p>
            <a:pPr marL="0" indent="0" algn="just">
              <a:spcBef>
                <a:spcPts val="0"/>
              </a:spcBef>
              <a:buNone/>
            </a:pPr>
            <a:r>
              <a:rPr lang="lv-LV" sz="1600" b="1" dirty="0"/>
              <a:t>FROM </a:t>
            </a:r>
            <a:r>
              <a:rPr lang="lv-LV" sz="1600" b="1" dirty="0" err="1"/>
              <a:t>Journal</a:t>
            </a:r>
            <a:r>
              <a:rPr lang="lv-LV" sz="1600" b="1" dirty="0"/>
              <a:t>;</a:t>
            </a:r>
          </a:p>
          <a:p>
            <a:pPr marL="0" indent="0" algn="just">
              <a:spcBef>
                <a:spcPts val="0"/>
              </a:spcBef>
              <a:buNone/>
            </a:pPr>
            <a:endParaRPr lang="lv-LV" sz="1600" b="1" dirty="0"/>
          </a:p>
          <a:p>
            <a:pPr marL="0" indent="0" algn="just">
              <a:spcBef>
                <a:spcPts val="0"/>
              </a:spcBef>
              <a:buNone/>
            </a:pPr>
            <a:endParaRPr lang="lv-LV" sz="1600" b="1" dirty="0"/>
          </a:p>
          <a:p>
            <a:pPr marL="0" indent="0" algn="just">
              <a:lnSpc>
                <a:spcPct val="100000"/>
              </a:lnSpc>
              <a:spcBef>
                <a:spcPts val="0"/>
              </a:spcBef>
              <a:buNone/>
            </a:pPr>
            <a:r>
              <a:rPr lang="lv-LV" sz="2000" dirty="0"/>
              <a:t>(</a:t>
            </a:r>
            <a:r>
              <a:rPr lang="lv-LV" sz="2000" dirty="0" err="1"/>
              <a:t>with</a:t>
            </a:r>
            <a:r>
              <a:rPr lang="lv-LV" sz="2000" dirty="0"/>
              <a:t> JOIN, </a:t>
            </a:r>
            <a:r>
              <a:rPr lang="en-US" sz="2000" dirty="0"/>
              <a:t>because </a:t>
            </a:r>
            <a:r>
              <a:rPr lang="lv-LV" sz="2000" dirty="0" err="1"/>
              <a:t>MySQL</a:t>
            </a:r>
            <a:r>
              <a:rPr lang="lv-LV" sz="2000" dirty="0"/>
              <a:t> </a:t>
            </a:r>
            <a:r>
              <a:rPr lang="en-US" sz="2000" dirty="0"/>
              <a:t>does not support syntactically</a:t>
            </a:r>
            <a:r>
              <a:rPr lang="lv-LV" sz="2000" dirty="0"/>
              <a:t>)</a:t>
            </a:r>
          </a:p>
          <a:p>
            <a:pPr marL="0" indent="0" algn="just">
              <a:lnSpc>
                <a:spcPct val="100000"/>
              </a:lnSpc>
              <a:spcBef>
                <a:spcPts val="0"/>
              </a:spcBef>
              <a:buNone/>
            </a:pPr>
            <a:r>
              <a:rPr lang="lv-LV" sz="1600" b="1" dirty="0"/>
              <a:t>SELECT DISTINCT </a:t>
            </a:r>
            <a:r>
              <a:rPr lang="en-US" sz="1600" b="1" dirty="0" err="1"/>
              <a:t>bt.</a:t>
            </a:r>
            <a:r>
              <a:rPr lang="lv-LV" sz="1600" b="1" dirty="0" err="1"/>
              <a:t>ReaderID</a:t>
            </a:r>
            <a:r>
              <a:rPr lang="lv-LV" sz="1600" b="1" dirty="0"/>
              <a:t> AS `</a:t>
            </a:r>
            <a:r>
              <a:rPr lang="lv-LV" sz="1600" b="1" dirty="0" err="1"/>
              <a:t>Reader</a:t>
            </a:r>
            <a:r>
              <a:rPr lang="lv-LV" sz="1600" b="1" dirty="0"/>
              <a:t> ID`</a:t>
            </a:r>
          </a:p>
          <a:p>
            <a:pPr marL="0" indent="0" algn="just">
              <a:lnSpc>
                <a:spcPct val="100000"/>
              </a:lnSpc>
              <a:spcBef>
                <a:spcPts val="0"/>
              </a:spcBef>
              <a:buNone/>
            </a:pPr>
            <a:r>
              <a:rPr lang="lv-LV" sz="1600" b="1" dirty="0"/>
              <a:t>FROM </a:t>
            </a:r>
            <a:r>
              <a:rPr lang="lv-LV" sz="1600" b="1" dirty="0" err="1"/>
              <a:t>Books_taken</a:t>
            </a:r>
            <a:r>
              <a:rPr lang="lv-LV" sz="1600" b="1" dirty="0"/>
              <a:t> </a:t>
            </a:r>
            <a:r>
              <a:rPr lang="en-US" sz="1600" b="1" dirty="0" err="1"/>
              <a:t>bt</a:t>
            </a:r>
            <a:r>
              <a:rPr lang="en-US" sz="1600" b="1" dirty="0"/>
              <a:t> </a:t>
            </a:r>
            <a:r>
              <a:rPr lang="lv-LV" sz="1600" b="1" dirty="0"/>
              <a:t>LEFT JOIN </a:t>
            </a:r>
            <a:r>
              <a:rPr lang="lv-LV" sz="1600" b="1" dirty="0" err="1"/>
              <a:t>Journal</a:t>
            </a:r>
            <a:r>
              <a:rPr lang="lv-LV" sz="1600" b="1" dirty="0"/>
              <a:t> </a:t>
            </a:r>
            <a:r>
              <a:rPr lang="en-US" sz="1600" b="1" dirty="0"/>
              <a:t>j</a:t>
            </a:r>
            <a:r>
              <a:rPr lang="lv-LV" sz="1600" b="1" dirty="0"/>
              <a:t> </a:t>
            </a:r>
            <a:r>
              <a:rPr lang="lv-LV" sz="1600" b="1" dirty="0" err="1"/>
              <a:t>on</a:t>
            </a:r>
            <a:r>
              <a:rPr lang="lv-LV" sz="1600" b="1" dirty="0"/>
              <a:t> </a:t>
            </a:r>
            <a:r>
              <a:rPr lang="en-US" sz="1600" b="1" dirty="0" err="1"/>
              <a:t>bt</a:t>
            </a:r>
            <a:r>
              <a:rPr lang="lv-LV" sz="1600" b="1" dirty="0"/>
              <a:t>.</a:t>
            </a:r>
            <a:r>
              <a:rPr lang="lv-LV" sz="1600" b="1" dirty="0" err="1"/>
              <a:t>ReaderID</a:t>
            </a:r>
            <a:r>
              <a:rPr lang="lv-LV" sz="1600" b="1" dirty="0"/>
              <a:t> = </a:t>
            </a:r>
            <a:r>
              <a:rPr lang="en-US" sz="1600" b="1" dirty="0"/>
              <a:t>j</a:t>
            </a:r>
            <a:r>
              <a:rPr lang="lv-LV" sz="1600" b="1" dirty="0"/>
              <a:t>.</a:t>
            </a:r>
            <a:r>
              <a:rPr lang="lv-LV" sz="1600" b="1" dirty="0" err="1"/>
              <a:t>ReaderID</a:t>
            </a:r>
            <a:endParaRPr lang="lv-LV" sz="1600" b="1" dirty="0"/>
          </a:p>
          <a:p>
            <a:pPr marL="0" indent="0" algn="just">
              <a:lnSpc>
                <a:spcPct val="100000"/>
              </a:lnSpc>
              <a:spcBef>
                <a:spcPts val="0"/>
              </a:spcBef>
              <a:buNone/>
            </a:pPr>
            <a:r>
              <a:rPr lang="lv-LV" sz="1600" b="1" dirty="0"/>
              <a:t>WHERE </a:t>
            </a:r>
            <a:r>
              <a:rPr lang="en-US" sz="1600" b="1" dirty="0"/>
              <a:t>j</a:t>
            </a:r>
            <a:r>
              <a:rPr lang="lv-LV" sz="1600" b="1" dirty="0"/>
              <a:t>.</a:t>
            </a:r>
            <a:r>
              <a:rPr lang="lv-LV" sz="1600" b="1" dirty="0" err="1"/>
              <a:t>ReaderID</a:t>
            </a:r>
            <a:r>
              <a:rPr lang="lv-LV" sz="1600" b="1" dirty="0"/>
              <a:t> </a:t>
            </a:r>
            <a:r>
              <a:rPr lang="lv-LV" sz="1600" b="1" dirty="0" err="1"/>
              <a:t>is</a:t>
            </a:r>
            <a:r>
              <a:rPr lang="lv-LV" sz="1600" b="1" dirty="0"/>
              <a:t> NULL;</a:t>
            </a:r>
          </a:p>
        </p:txBody>
      </p:sp>
      <p:pic>
        <p:nvPicPr>
          <p:cNvPr id="5" name="Picture 4">
            <a:extLst>
              <a:ext uri="{FF2B5EF4-FFF2-40B4-BE49-F238E27FC236}">
                <a16:creationId xmlns:a16="http://schemas.microsoft.com/office/drawing/2014/main" id="{F2BC3F16-2F64-BAE8-C6E9-B17D5856E019}"/>
              </a:ext>
            </a:extLst>
          </p:cNvPr>
          <p:cNvPicPr>
            <a:picLocks noChangeAspect="1"/>
          </p:cNvPicPr>
          <p:nvPr/>
        </p:nvPicPr>
        <p:blipFill>
          <a:blip r:embed="rId2"/>
          <a:stretch>
            <a:fillRect/>
          </a:stretch>
        </p:blipFill>
        <p:spPr>
          <a:xfrm>
            <a:off x="6871592" y="5403799"/>
            <a:ext cx="1439288" cy="1202043"/>
          </a:xfrm>
          <a:prstGeom prst="rect">
            <a:avLst/>
          </a:prstGeom>
        </p:spPr>
      </p:pic>
    </p:spTree>
    <p:extLst>
      <p:ext uri="{BB962C8B-B14F-4D97-AF65-F5344CB8AC3E}">
        <p14:creationId xmlns:p14="http://schemas.microsoft.com/office/powerpoint/2010/main" val="8461102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a:xfrm>
            <a:off x="466725" y="1825625"/>
            <a:ext cx="8248650" cy="4351338"/>
          </a:xfrm>
        </p:spPr>
        <p:txBody>
          <a:bodyPr>
            <a:normAutofit/>
          </a:bodyPr>
          <a:lstStyle/>
          <a:p>
            <a:pPr marL="514350" indent="-514350" algn="just">
              <a:buFont typeface="+mj-lt"/>
              <a:buAutoNum type="arabicPeriod"/>
            </a:pPr>
            <a:r>
              <a:rPr lang="en-US" dirty="0"/>
              <a:t>Output the names of all people in DB (authors, readers, librarians). 
Output titles of never-taken books
Display librarians who provided absolutely all services</a:t>
            </a:r>
          </a:p>
        </p:txBody>
      </p:sp>
    </p:spTree>
    <p:extLst>
      <p:ext uri="{BB962C8B-B14F-4D97-AF65-F5344CB8AC3E}">
        <p14:creationId xmlns:p14="http://schemas.microsoft.com/office/powerpoint/2010/main" val="2574149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295275" y="1690690"/>
            <a:ext cx="8686799" cy="5072060"/>
          </a:xfrm>
        </p:spPr>
        <p:txBody>
          <a:bodyPr>
            <a:normAutofit/>
          </a:bodyPr>
          <a:lstStyle/>
          <a:p>
            <a:pPr marL="0" indent="0">
              <a:spcBef>
                <a:spcPts val="0"/>
              </a:spcBef>
              <a:buNone/>
            </a:pPr>
            <a:endParaRPr lang="lv-LV" sz="1600" dirty="0"/>
          </a:p>
          <a:p>
            <a:pPr marL="0" indent="0">
              <a:spcBef>
                <a:spcPts val="0"/>
              </a:spcBef>
              <a:buNone/>
            </a:pPr>
            <a:r>
              <a:rPr lang="lv-LV" sz="2000" dirty="0"/>
              <a:t>1.</a:t>
            </a:r>
          </a:p>
          <a:p>
            <a:pPr marL="0" indent="0">
              <a:spcBef>
                <a:spcPts val="0"/>
              </a:spcBef>
              <a:buNone/>
            </a:pPr>
            <a:r>
              <a:rPr lang="lv-LV" sz="1800" dirty="0"/>
              <a:t>SELECT </a:t>
            </a:r>
            <a:r>
              <a:rPr lang="en-US" sz="1800" dirty="0"/>
              <a:t>r</a:t>
            </a:r>
            <a:r>
              <a:rPr lang="lv-LV" sz="1800" dirty="0"/>
              <a:t>.</a:t>
            </a:r>
            <a:r>
              <a:rPr lang="lv-LV" sz="1800" dirty="0" err="1"/>
              <a:t>ReaderName</a:t>
            </a:r>
            <a:r>
              <a:rPr lang="lv-LV" sz="1800" dirty="0"/>
              <a:t> AS </a:t>
            </a:r>
            <a:r>
              <a:rPr lang="en-US" sz="1800" dirty="0"/>
              <a:t>Name</a:t>
            </a:r>
            <a:r>
              <a:rPr lang="lv-LV" sz="1800" dirty="0"/>
              <a:t>, </a:t>
            </a:r>
            <a:r>
              <a:rPr lang="en-US" sz="1800" dirty="0"/>
              <a:t>r</a:t>
            </a:r>
            <a:r>
              <a:rPr lang="lv-LV" sz="1800" dirty="0"/>
              <a:t>.</a:t>
            </a:r>
            <a:r>
              <a:rPr lang="lv-LV" sz="1800" dirty="0" err="1"/>
              <a:t>ReaderSur</a:t>
            </a:r>
            <a:r>
              <a:rPr lang="lv-LV" sz="1800" dirty="0"/>
              <a:t> AS </a:t>
            </a:r>
            <a:r>
              <a:rPr lang="en-US" sz="1800" dirty="0"/>
              <a:t>Surname</a:t>
            </a:r>
            <a:endParaRPr lang="lv-LV" sz="1800" dirty="0"/>
          </a:p>
          <a:p>
            <a:pPr marL="0" indent="0">
              <a:spcBef>
                <a:spcPts val="0"/>
              </a:spcBef>
              <a:buNone/>
            </a:pPr>
            <a:r>
              <a:rPr lang="lv-LV" sz="1800" dirty="0"/>
              <a:t>FROM </a:t>
            </a:r>
            <a:r>
              <a:rPr lang="lv-LV" sz="1800" dirty="0" err="1"/>
              <a:t>Readers</a:t>
            </a:r>
            <a:r>
              <a:rPr lang="lv-LV" sz="1800" dirty="0"/>
              <a:t> </a:t>
            </a:r>
            <a:r>
              <a:rPr lang="en-US" sz="1800" dirty="0"/>
              <a:t>r</a:t>
            </a:r>
            <a:endParaRPr lang="lv-LV" sz="1800" dirty="0"/>
          </a:p>
          <a:p>
            <a:pPr marL="0" indent="0">
              <a:spcBef>
                <a:spcPts val="0"/>
              </a:spcBef>
              <a:buNone/>
            </a:pPr>
            <a:r>
              <a:rPr lang="lv-LV" sz="1800" dirty="0"/>
              <a:t>UNION ALL</a:t>
            </a:r>
          </a:p>
          <a:p>
            <a:pPr marL="0" indent="0">
              <a:spcBef>
                <a:spcPts val="0"/>
              </a:spcBef>
              <a:buNone/>
            </a:pPr>
            <a:r>
              <a:rPr lang="lv-LV" sz="1800" dirty="0"/>
              <a:t>SELECT </a:t>
            </a:r>
            <a:r>
              <a:rPr lang="en-US" sz="1800" dirty="0"/>
              <a:t>l</a:t>
            </a:r>
            <a:r>
              <a:rPr lang="lv-LV" sz="1800" dirty="0"/>
              <a:t>.</a:t>
            </a:r>
            <a:r>
              <a:rPr lang="en-US" sz="1800" dirty="0"/>
              <a:t>LN</a:t>
            </a:r>
            <a:r>
              <a:rPr lang="lv-LV" sz="1800" dirty="0" err="1"/>
              <a:t>ame</a:t>
            </a:r>
            <a:r>
              <a:rPr lang="lv-LV" sz="1800" dirty="0"/>
              <a:t>, </a:t>
            </a:r>
            <a:r>
              <a:rPr lang="en-US" sz="1800" dirty="0"/>
              <a:t>l</a:t>
            </a:r>
            <a:r>
              <a:rPr lang="lv-LV" sz="1800" dirty="0"/>
              <a:t>.</a:t>
            </a:r>
            <a:r>
              <a:rPr lang="en-US" sz="1800" dirty="0"/>
              <a:t>L</a:t>
            </a:r>
            <a:r>
              <a:rPr lang="lv-LV" sz="1800" dirty="0" err="1"/>
              <a:t>Sur</a:t>
            </a:r>
            <a:endParaRPr lang="lv-LV" sz="1800" dirty="0"/>
          </a:p>
          <a:p>
            <a:pPr marL="0" indent="0">
              <a:spcBef>
                <a:spcPts val="0"/>
              </a:spcBef>
              <a:buNone/>
            </a:pPr>
            <a:r>
              <a:rPr lang="lv-LV" sz="1800" dirty="0"/>
              <a:t>FROM </a:t>
            </a:r>
            <a:r>
              <a:rPr lang="lv-LV" sz="1800" dirty="0" err="1"/>
              <a:t>Librarians</a:t>
            </a:r>
            <a:r>
              <a:rPr lang="lv-LV" sz="1800" dirty="0"/>
              <a:t> </a:t>
            </a:r>
            <a:r>
              <a:rPr lang="en-US" sz="1800" dirty="0"/>
              <a:t>l</a:t>
            </a:r>
            <a:endParaRPr lang="lv-LV" sz="1800" dirty="0"/>
          </a:p>
          <a:p>
            <a:pPr marL="0" indent="0">
              <a:spcBef>
                <a:spcPts val="0"/>
              </a:spcBef>
              <a:buNone/>
            </a:pPr>
            <a:r>
              <a:rPr lang="lv-LV" sz="1800" dirty="0"/>
              <a:t>UNION ALL</a:t>
            </a:r>
          </a:p>
          <a:p>
            <a:pPr marL="0" indent="0">
              <a:spcBef>
                <a:spcPts val="0"/>
              </a:spcBef>
              <a:buNone/>
            </a:pPr>
            <a:r>
              <a:rPr lang="lv-LV" sz="1800" dirty="0"/>
              <a:t>SELECT </a:t>
            </a:r>
            <a:r>
              <a:rPr lang="lv-LV" sz="1800" dirty="0" err="1"/>
              <a:t>a.AuthorName</a:t>
            </a:r>
            <a:r>
              <a:rPr lang="lv-LV" sz="1800" dirty="0"/>
              <a:t>, </a:t>
            </a:r>
            <a:r>
              <a:rPr lang="lv-LV" sz="1800" dirty="0" err="1"/>
              <a:t>a.AuthorSur</a:t>
            </a:r>
            <a:endParaRPr lang="lv-LV" sz="1800" dirty="0"/>
          </a:p>
          <a:p>
            <a:pPr marL="0" indent="0">
              <a:spcBef>
                <a:spcPts val="0"/>
              </a:spcBef>
              <a:buNone/>
            </a:pPr>
            <a:r>
              <a:rPr lang="lv-LV" sz="1800" dirty="0"/>
              <a:t>FROM </a:t>
            </a:r>
            <a:r>
              <a:rPr lang="lv-LV" sz="1800" dirty="0" err="1"/>
              <a:t>Author</a:t>
            </a:r>
            <a:r>
              <a:rPr lang="en-US" sz="1800" dirty="0"/>
              <a:t>s</a:t>
            </a:r>
            <a:r>
              <a:rPr lang="lv-LV" sz="1800" dirty="0"/>
              <a:t> a;</a:t>
            </a:r>
          </a:p>
          <a:p>
            <a:pPr marL="0" indent="0">
              <a:spcBef>
                <a:spcPts val="0"/>
              </a:spcBef>
              <a:buNone/>
            </a:pPr>
            <a:endParaRPr lang="lv-LV" sz="1800" dirty="0"/>
          </a:p>
          <a:p>
            <a:pPr marL="0" indent="0">
              <a:spcBef>
                <a:spcPts val="0"/>
              </a:spcBef>
              <a:buNone/>
            </a:pPr>
            <a:r>
              <a:rPr lang="lv-LV" sz="2000" dirty="0"/>
              <a:t>2.</a:t>
            </a:r>
          </a:p>
          <a:p>
            <a:pPr marL="0" indent="0">
              <a:spcBef>
                <a:spcPts val="0"/>
              </a:spcBef>
              <a:buNone/>
            </a:pPr>
            <a:r>
              <a:rPr lang="lv-LV" sz="2000" dirty="0"/>
              <a:t>(Oracle)</a:t>
            </a:r>
          </a:p>
          <a:p>
            <a:pPr marL="0" indent="0">
              <a:spcBef>
                <a:spcPts val="0"/>
              </a:spcBef>
              <a:buNone/>
            </a:pPr>
            <a:r>
              <a:rPr lang="lv-LV" sz="1800" dirty="0"/>
              <a:t>SELECT </a:t>
            </a:r>
            <a:r>
              <a:rPr lang="lv-LV" sz="1800" dirty="0" err="1"/>
              <a:t>BookID</a:t>
            </a:r>
            <a:endParaRPr lang="lv-LV" sz="1800" dirty="0"/>
          </a:p>
          <a:p>
            <a:pPr marL="0" indent="0">
              <a:spcBef>
                <a:spcPts val="0"/>
              </a:spcBef>
              <a:buNone/>
            </a:pPr>
            <a:r>
              <a:rPr lang="lv-LV" sz="1800" dirty="0"/>
              <a:t>FROM </a:t>
            </a:r>
            <a:r>
              <a:rPr lang="lv-LV" sz="1800" dirty="0" err="1"/>
              <a:t>Books</a:t>
            </a:r>
            <a:endParaRPr lang="lv-LV" sz="1800" dirty="0"/>
          </a:p>
          <a:p>
            <a:pPr marL="0" indent="0">
              <a:spcBef>
                <a:spcPts val="0"/>
              </a:spcBef>
              <a:buNone/>
            </a:pPr>
            <a:r>
              <a:rPr lang="lv-LV" sz="1800" dirty="0"/>
              <a:t>MINUS</a:t>
            </a:r>
          </a:p>
          <a:p>
            <a:pPr marL="0" indent="0">
              <a:spcBef>
                <a:spcPts val="0"/>
              </a:spcBef>
              <a:buNone/>
            </a:pPr>
            <a:r>
              <a:rPr lang="lv-LV" sz="1800" dirty="0"/>
              <a:t>SELECT </a:t>
            </a:r>
            <a:r>
              <a:rPr lang="en-US" sz="1800" dirty="0" err="1"/>
              <a:t>BookID</a:t>
            </a:r>
            <a:endParaRPr lang="lv-LV" sz="1800" dirty="0"/>
          </a:p>
          <a:p>
            <a:pPr marL="0" indent="0">
              <a:spcBef>
                <a:spcPts val="0"/>
              </a:spcBef>
              <a:buNone/>
            </a:pPr>
            <a:r>
              <a:rPr lang="lv-LV" sz="1800" dirty="0"/>
              <a:t>FROM </a:t>
            </a:r>
            <a:r>
              <a:rPr lang="lv-LV" sz="1800" dirty="0" err="1"/>
              <a:t>Books_taken</a:t>
            </a:r>
            <a:r>
              <a:rPr lang="lv-LV" sz="1800" dirty="0"/>
              <a:t>;</a:t>
            </a:r>
          </a:p>
        </p:txBody>
      </p:sp>
      <p:sp>
        <p:nvSpPr>
          <p:cNvPr id="5" name="Rectangle 4"/>
          <p:cNvSpPr/>
          <p:nvPr/>
        </p:nvSpPr>
        <p:spPr>
          <a:xfrm>
            <a:off x="5156616" y="2887417"/>
            <a:ext cx="3825458" cy="3754874"/>
          </a:xfrm>
          <a:prstGeom prst="rect">
            <a:avLst/>
          </a:prstGeom>
        </p:spPr>
        <p:txBody>
          <a:bodyPr wrap="square">
            <a:spAutoFit/>
          </a:bodyPr>
          <a:lstStyle/>
          <a:p>
            <a:r>
              <a:rPr lang="lv-LV" sz="2000" dirty="0"/>
              <a:t>3.</a:t>
            </a:r>
          </a:p>
          <a:p>
            <a:r>
              <a:rPr lang="lv-LV" sz="2000" dirty="0"/>
              <a:t>(Oracle)</a:t>
            </a:r>
          </a:p>
          <a:p>
            <a:r>
              <a:rPr lang="lv-LV" dirty="0"/>
              <a:t>SELECT </a:t>
            </a:r>
            <a:r>
              <a:rPr lang="en-US" dirty="0" err="1"/>
              <a:t>LibID</a:t>
            </a:r>
            <a:r>
              <a:rPr lang="lv-LV" dirty="0"/>
              <a:t> AS "</a:t>
            </a:r>
            <a:r>
              <a:rPr lang="lv-LV" dirty="0" err="1"/>
              <a:t>Librarians</a:t>
            </a:r>
            <a:r>
              <a:rPr lang="lv-LV" dirty="0"/>
              <a:t>"</a:t>
            </a:r>
          </a:p>
          <a:p>
            <a:r>
              <a:rPr lang="lv-LV" dirty="0"/>
              <a:t>FROM </a:t>
            </a:r>
            <a:r>
              <a:rPr lang="lv-LV" dirty="0" err="1"/>
              <a:t>Journal</a:t>
            </a:r>
            <a:endParaRPr lang="lv-LV" dirty="0"/>
          </a:p>
          <a:p>
            <a:r>
              <a:rPr lang="lv-LV" dirty="0"/>
              <a:t>WHERE </a:t>
            </a:r>
            <a:r>
              <a:rPr lang="lv-LV" dirty="0" err="1"/>
              <a:t>ServiceID</a:t>
            </a:r>
            <a:r>
              <a:rPr lang="lv-LV" dirty="0"/>
              <a:t> = 1</a:t>
            </a:r>
          </a:p>
          <a:p>
            <a:r>
              <a:rPr lang="lv-LV" dirty="0"/>
              <a:t>INTERSECT</a:t>
            </a:r>
          </a:p>
          <a:p>
            <a:r>
              <a:rPr lang="lv-LV" dirty="0"/>
              <a:t>SELECT </a:t>
            </a:r>
            <a:r>
              <a:rPr lang="en-US" dirty="0" err="1"/>
              <a:t>LibID</a:t>
            </a:r>
            <a:endParaRPr lang="lv-LV" dirty="0"/>
          </a:p>
          <a:p>
            <a:r>
              <a:rPr lang="lv-LV" dirty="0"/>
              <a:t>FROM </a:t>
            </a:r>
            <a:r>
              <a:rPr lang="lv-LV" dirty="0" err="1"/>
              <a:t>Journal</a:t>
            </a:r>
            <a:endParaRPr lang="lv-LV" dirty="0"/>
          </a:p>
          <a:p>
            <a:r>
              <a:rPr lang="lv-LV" dirty="0"/>
              <a:t>WHERE </a:t>
            </a:r>
            <a:r>
              <a:rPr lang="lv-LV" dirty="0" err="1"/>
              <a:t>ServiceID</a:t>
            </a:r>
            <a:r>
              <a:rPr lang="lv-LV" dirty="0"/>
              <a:t> = 4</a:t>
            </a:r>
          </a:p>
          <a:p>
            <a:r>
              <a:rPr lang="lv-LV" dirty="0"/>
              <a:t>INTERSECT</a:t>
            </a:r>
          </a:p>
          <a:p>
            <a:r>
              <a:rPr lang="lv-LV" dirty="0"/>
              <a:t>SELECT </a:t>
            </a:r>
            <a:r>
              <a:rPr lang="en-US" dirty="0" err="1"/>
              <a:t>LibID</a:t>
            </a:r>
            <a:endParaRPr lang="lv-LV" dirty="0"/>
          </a:p>
          <a:p>
            <a:r>
              <a:rPr lang="lv-LV" dirty="0"/>
              <a:t>FROM </a:t>
            </a:r>
            <a:r>
              <a:rPr lang="lv-LV" dirty="0" err="1"/>
              <a:t>Journal</a:t>
            </a:r>
            <a:endParaRPr lang="lv-LV" dirty="0"/>
          </a:p>
          <a:p>
            <a:r>
              <a:rPr lang="lv-LV" dirty="0"/>
              <a:t>WHERE </a:t>
            </a:r>
            <a:r>
              <a:rPr lang="lv-LV" dirty="0" err="1"/>
              <a:t>ServiceID</a:t>
            </a:r>
            <a:r>
              <a:rPr lang="lv-LV" dirty="0"/>
              <a:t> = 5;</a:t>
            </a:r>
          </a:p>
        </p:txBody>
      </p:sp>
    </p:spTree>
    <p:extLst>
      <p:ext uri="{BB962C8B-B14F-4D97-AF65-F5344CB8AC3E}">
        <p14:creationId xmlns:p14="http://schemas.microsoft.com/office/powerpoint/2010/main" val="15385034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295275" y="1690690"/>
            <a:ext cx="8686799" cy="5072060"/>
          </a:xfrm>
        </p:spPr>
        <p:txBody>
          <a:bodyPr>
            <a:normAutofit/>
          </a:bodyPr>
          <a:lstStyle/>
          <a:p>
            <a:pPr marL="0" indent="0">
              <a:spcBef>
                <a:spcPts val="0"/>
              </a:spcBef>
              <a:buNone/>
            </a:pPr>
            <a:endParaRPr lang="lv-LV" sz="1600" dirty="0"/>
          </a:p>
          <a:p>
            <a:pPr marL="0" indent="0">
              <a:spcBef>
                <a:spcPts val="0"/>
              </a:spcBef>
              <a:buNone/>
            </a:pPr>
            <a:endParaRPr lang="lv-LV" sz="1800" dirty="0"/>
          </a:p>
          <a:p>
            <a:pPr marL="0" indent="0">
              <a:spcBef>
                <a:spcPts val="0"/>
              </a:spcBef>
              <a:buNone/>
            </a:pPr>
            <a:r>
              <a:rPr lang="lv-LV" sz="2000" dirty="0"/>
              <a:t>2.</a:t>
            </a:r>
          </a:p>
          <a:p>
            <a:pPr marL="0" indent="0">
              <a:spcBef>
                <a:spcPts val="0"/>
              </a:spcBef>
              <a:buNone/>
            </a:pPr>
            <a:r>
              <a:rPr lang="lv-LV" sz="2000" dirty="0"/>
              <a:t>(</a:t>
            </a:r>
            <a:r>
              <a:rPr lang="lv-LV" sz="2000" dirty="0" err="1"/>
              <a:t>MySQL</a:t>
            </a:r>
            <a:r>
              <a:rPr lang="lv-LV" sz="2000" dirty="0"/>
              <a:t>)</a:t>
            </a:r>
          </a:p>
          <a:p>
            <a:pPr marL="0" indent="0">
              <a:spcBef>
                <a:spcPts val="0"/>
              </a:spcBef>
              <a:buNone/>
            </a:pPr>
            <a:r>
              <a:rPr lang="lv-LV" sz="1800" dirty="0"/>
              <a:t>SELECT </a:t>
            </a:r>
            <a:r>
              <a:rPr lang="lv-LV" sz="1800" dirty="0" err="1"/>
              <a:t>b.Title</a:t>
            </a:r>
            <a:endParaRPr lang="lv-LV" sz="1800" dirty="0"/>
          </a:p>
          <a:p>
            <a:pPr marL="0" indent="0">
              <a:spcBef>
                <a:spcPts val="0"/>
              </a:spcBef>
              <a:buNone/>
            </a:pPr>
            <a:r>
              <a:rPr lang="lv-LV" sz="1800" dirty="0"/>
              <a:t>FROM </a:t>
            </a:r>
            <a:r>
              <a:rPr lang="lv-LV" sz="1800" dirty="0" err="1"/>
              <a:t>Books</a:t>
            </a:r>
            <a:r>
              <a:rPr lang="lv-LV" sz="1800" dirty="0"/>
              <a:t> </a:t>
            </a:r>
            <a:r>
              <a:rPr lang="en-US" sz="1800" dirty="0"/>
              <a:t>b </a:t>
            </a:r>
            <a:r>
              <a:rPr lang="lv-LV" sz="1800" dirty="0"/>
              <a:t>LEFT JOIN </a:t>
            </a:r>
            <a:r>
              <a:rPr lang="lv-LV" sz="1800" dirty="0" err="1"/>
              <a:t>Books_taken</a:t>
            </a:r>
            <a:r>
              <a:rPr lang="lv-LV" sz="1800" dirty="0"/>
              <a:t> </a:t>
            </a:r>
            <a:r>
              <a:rPr lang="en-US" sz="1800" dirty="0" err="1"/>
              <a:t>bt</a:t>
            </a:r>
            <a:r>
              <a:rPr lang="lv-LV" sz="1800" dirty="0"/>
              <a:t> </a:t>
            </a:r>
            <a:r>
              <a:rPr lang="lv-LV" sz="1800" dirty="0" err="1"/>
              <a:t>on</a:t>
            </a:r>
            <a:r>
              <a:rPr lang="lv-LV" sz="1800" dirty="0"/>
              <a:t>  </a:t>
            </a:r>
            <a:r>
              <a:rPr lang="lv-LV" sz="1800" dirty="0" err="1"/>
              <a:t>b.BookID</a:t>
            </a:r>
            <a:r>
              <a:rPr lang="lv-LV" sz="1800" dirty="0"/>
              <a:t> =</a:t>
            </a:r>
            <a:r>
              <a:rPr lang="en-US" sz="1800" dirty="0"/>
              <a:t> </a:t>
            </a:r>
            <a:r>
              <a:rPr lang="en-US" sz="1800" dirty="0" err="1"/>
              <a:t>bt</a:t>
            </a:r>
            <a:r>
              <a:rPr lang="lv-LV" sz="1800" dirty="0"/>
              <a:t>.</a:t>
            </a:r>
            <a:r>
              <a:rPr lang="en-US" sz="1800" dirty="0" err="1"/>
              <a:t>BookID</a:t>
            </a:r>
            <a:endParaRPr lang="lv-LV" sz="1800" dirty="0"/>
          </a:p>
          <a:p>
            <a:pPr marL="0" indent="0">
              <a:spcBef>
                <a:spcPts val="0"/>
              </a:spcBef>
              <a:buNone/>
            </a:pPr>
            <a:r>
              <a:rPr lang="lv-LV" sz="1800" dirty="0"/>
              <a:t>WHERE (</a:t>
            </a:r>
            <a:r>
              <a:rPr lang="en-US" sz="1800" dirty="0" err="1"/>
              <a:t>bt</a:t>
            </a:r>
            <a:r>
              <a:rPr lang="lv-LV" sz="1800" dirty="0"/>
              <a:t>.</a:t>
            </a:r>
            <a:r>
              <a:rPr lang="en-US" sz="1800" dirty="0" err="1"/>
              <a:t>BookID</a:t>
            </a:r>
            <a:r>
              <a:rPr lang="en-US" sz="1800" dirty="0"/>
              <a:t> </a:t>
            </a:r>
            <a:r>
              <a:rPr lang="lv-LV" sz="1800" dirty="0" err="1"/>
              <a:t>is</a:t>
            </a:r>
            <a:r>
              <a:rPr lang="lv-LV" sz="1800" dirty="0"/>
              <a:t> NULL);</a:t>
            </a:r>
          </a:p>
          <a:p>
            <a:pPr marL="0" indent="0">
              <a:spcBef>
                <a:spcPts val="0"/>
              </a:spcBef>
              <a:buNone/>
            </a:pPr>
            <a:endParaRPr lang="lv-LV" sz="1800" dirty="0"/>
          </a:p>
          <a:p>
            <a:pPr marL="0" indent="0">
              <a:spcBef>
                <a:spcPts val="0"/>
              </a:spcBef>
              <a:buNone/>
            </a:pPr>
            <a:endParaRPr lang="lv-LV" sz="1800" dirty="0"/>
          </a:p>
          <a:p>
            <a:pPr marL="0" indent="0">
              <a:spcBef>
                <a:spcPts val="0"/>
              </a:spcBef>
              <a:buNone/>
            </a:pPr>
            <a:r>
              <a:rPr lang="lv-LV" sz="1800" dirty="0"/>
              <a:t>3.</a:t>
            </a:r>
          </a:p>
          <a:p>
            <a:pPr marL="0" indent="0">
              <a:spcBef>
                <a:spcPts val="0"/>
              </a:spcBef>
              <a:buNone/>
            </a:pPr>
            <a:r>
              <a:rPr lang="lv-LV" sz="2000" dirty="0"/>
              <a:t>(</a:t>
            </a:r>
            <a:r>
              <a:rPr lang="lv-LV" sz="2000" dirty="0" err="1"/>
              <a:t>MySQL</a:t>
            </a:r>
            <a:r>
              <a:rPr lang="lv-LV" sz="2000" dirty="0"/>
              <a:t>)</a:t>
            </a:r>
          </a:p>
          <a:p>
            <a:pPr marL="0" indent="0">
              <a:spcBef>
                <a:spcPts val="0"/>
              </a:spcBef>
              <a:buNone/>
            </a:pPr>
            <a:r>
              <a:rPr lang="lv-LV" sz="1800" dirty="0"/>
              <a:t>SELECT  </a:t>
            </a:r>
            <a:r>
              <a:rPr lang="lv-LV" sz="1800" dirty="0" err="1"/>
              <a:t>j.LibID</a:t>
            </a:r>
            <a:r>
              <a:rPr lang="lv-LV" sz="1800" dirty="0"/>
              <a:t> AS </a:t>
            </a:r>
            <a:r>
              <a:rPr lang="en-US" sz="1800" dirty="0"/>
              <a:t>Librarian</a:t>
            </a:r>
            <a:endParaRPr lang="lv-LV" sz="1800" dirty="0"/>
          </a:p>
          <a:p>
            <a:pPr marL="0" indent="0">
              <a:spcBef>
                <a:spcPts val="0"/>
              </a:spcBef>
              <a:buNone/>
            </a:pPr>
            <a:r>
              <a:rPr lang="lv-LV" sz="1800" dirty="0"/>
              <a:t>FROM </a:t>
            </a:r>
            <a:r>
              <a:rPr lang="lv-LV" sz="1800" dirty="0" err="1"/>
              <a:t>Journal</a:t>
            </a:r>
            <a:r>
              <a:rPr lang="lv-LV" sz="1800" dirty="0"/>
              <a:t> </a:t>
            </a:r>
            <a:r>
              <a:rPr lang="en-US" sz="1800" dirty="0"/>
              <a:t>j</a:t>
            </a:r>
            <a:endParaRPr lang="lv-LV" sz="1800" dirty="0"/>
          </a:p>
          <a:p>
            <a:pPr marL="0" indent="0">
              <a:spcBef>
                <a:spcPts val="0"/>
              </a:spcBef>
              <a:buNone/>
            </a:pPr>
            <a:r>
              <a:rPr lang="lv-LV" sz="1800" dirty="0"/>
              <a:t>GROUP BY </a:t>
            </a:r>
            <a:r>
              <a:rPr lang="lv-LV" sz="1800" dirty="0" err="1"/>
              <a:t>j.LibID</a:t>
            </a:r>
            <a:r>
              <a:rPr lang="lv-LV" sz="1800" dirty="0"/>
              <a:t>, </a:t>
            </a:r>
            <a:r>
              <a:rPr lang="en-US" sz="1800" dirty="0"/>
              <a:t>j</a:t>
            </a:r>
            <a:r>
              <a:rPr lang="lv-LV" sz="1800" dirty="0"/>
              <a:t>.</a:t>
            </a:r>
            <a:r>
              <a:rPr lang="lv-LV" sz="1800" dirty="0" err="1"/>
              <a:t>ServiceID</a:t>
            </a:r>
            <a:endParaRPr lang="lv-LV" sz="1800" dirty="0"/>
          </a:p>
          <a:p>
            <a:pPr marL="0" indent="0">
              <a:spcBef>
                <a:spcPts val="0"/>
              </a:spcBef>
              <a:buNone/>
            </a:pPr>
            <a:r>
              <a:rPr lang="lv-LV" sz="1800" dirty="0"/>
              <a:t>HAVING </a:t>
            </a:r>
            <a:r>
              <a:rPr lang="lv-LV" sz="1800" dirty="0" err="1"/>
              <a:t>Count</a:t>
            </a:r>
            <a:r>
              <a:rPr lang="lv-LV" sz="1800" dirty="0"/>
              <a:t>(</a:t>
            </a:r>
            <a:r>
              <a:rPr lang="lv-LV" sz="1800" dirty="0" err="1"/>
              <a:t>j.LibID</a:t>
            </a:r>
            <a:r>
              <a:rPr lang="lv-LV" sz="1800" dirty="0"/>
              <a:t>)=3;</a:t>
            </a:r>
          </a:p>
        </p:txBody>
      </p:sp>
    </p:spTree>
    <p:extLst>
      <p:ext uri="{BB962C8B-B14F-4D97-AF65-F5344CB8AC3E}">
        <p14:creationId xmlns:p14="http://schemas.microsoft.com/office/powerpoint/2010/main" val="2744037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3831</TotalTime>
  <Words>3872</Words>
  <Application>Microsoft Office PowerPoint</Application>
  <PresentationFormat>On-screen Show (4:3)</PresentationFormat>
  <Paragraphs>436</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Calibri Light</vt:lpstr>
      <vt:lpstr>Times New Roman</vt:lpstr>
      <vt:lpstr>Office Theme</vt:lpstr>
      <vt:lpstr>SQL</vt:lpstr>
      <vt:lpstr>JOIN multiple tables </vt:lpstr>
      <vt:lpstr>JOIN multiple tables </vt:lpstr>
      <vt:lpstr>JOIN multiple tables </vt:lpstr>
      <vt:lpstr>Full column names and table aliases</vt:lpstr>
      <vt:lpstr>Full column names and table aliases</vt:lpstr>
      <vt:lpstr>Full column names and table aliases</vt:lpstr>
      <vt:lpstr>JOIN multiple tables </vt:lpstr>
      <vt:lpstr>Join types</vt:lpstr>
      <vt:lpstr>JOIN multiple tables </vt:lpstr>
      <vt:lpstr>JOIN multiple tables </vt:lpstr>
      <vt:lpstr>JOIN multiple tables </vt:lpstr>
      <vt:lpstr>Cross Join</vt:lpstr>
      <vt:lpstr>Cross Join</vt:lpstr>
      <vt:lpstr>Cross Join</vt:lpstr>
      <vt:lpstr>Natural Join</vt:lpstr>
      <vt:lpstr>Natural Join</vt:lpstr>
      <vt:lpstr>Natural Join</vt:lpstr>
      <vt:lpstr>Inner Join</vt:lpstr>
      <vt:lpstr>Inner Join</vt:lpstr>
      <vt:lpstr>Inner Join</vt:lpstr>
      <vt:lpstr>Outer Joins</vt:lpstr>
      <vt:lpstr>Outer Joins</vt:lpstr>
      <vt:lpstr>Left Outer Join</vt:lpstr>
      <vt:lpstr>Right Outer Join</vt:lpstr>
      <vt:lpstr>Full Outer Join</vt:lpstr>
      <vt:lpstr>Outer Joins</vt:lpstr>
      <vt:lpstr>Outer Joins</vt:lpstr>
      <vt:lpstr>Outer Joins</vt:lpstr>
      <vt:lpstr>Outer Joins</vt:lpstr>
      <vt:lpstr>Practice</vt:lpstr>
      <vt:lpstr>Practice</vt:lpstr>
      <vt:lpstr>Answers</vt:lpstr>
      <vt:lpstr>Answers</vt:lpstr>
      <vt:lpstr>Self Join</vt:lpstr>
      <vt:lpstr>Self Join</vt:lpstr>
      <vt:lpstr>Practice</vt:lpstr>
      <vt:lpstr>Answers</vt:lpstr>
      <vt:lpstr>Union operator</vt:lpstr>
      <vt:lpstr>Union operator</vt:lpstr>
      <vt:lpstr>Intersect operator</vt:lpstr>
      <vt:lpstr>Intersect operator</vt:lpstr>
      <vt:lpstr>Minus operator</vt:lpstr>
      <vt:lpstr>Minus operators</vt:lpstr>
      <vt:lpstr>Practice</vt:lpstr>
      <vt:lpstr>Answers</vt:lpstr>
      <vt:lpstr>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Lipa</dc:creator>
  <cp:lastModifiedBy>Andrejs Liepiņš</cp:lastModifiedBy>
  <cp:revision>110</cp:revision>
  <dcterms:created xsi:type="dcterms:W3CDTF">2017-03-05T14:59:40Z</dcterms:created>
  <dcterms:modified xsi:type="dcterms:W3CDTF">2025-02-28T12:33:22Z</dcterms:modified>
</cp:coreProperties>
</file>