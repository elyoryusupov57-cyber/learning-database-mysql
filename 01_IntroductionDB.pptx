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58" r:id="rId5"/>
    <p:sldId id="257" r:id="rId6"/>
    <p:sldId id="261" r:id="rId7"/>
    <p:sldId id="262" r:id="rId8"/>
    <p:sldId id="263" r:id="rId9"/>
    <p:sldId id="264" r:id="rId10"/>
    <p:sldId id="289" r:id="rId11"/>
    <p:sldId id="290" r:id="rId12"/>
    <p:sldId id="265" r:id="rId13"/>
    <p:sldId id="266" r:id="rId14"/>
    <p:sldId id="267" r:id="rId15"/>
    <p:sldId id="268" r:id="rId16"/>
    <p:sldId id="269" r:id="rId17"/>
    <p:sldId id="291" r:id="rId18"/>
    <p:sldId id="270" r:id="rId19"/>
    <p:sldId id="271" r:id="rId20"/>
    <p:sldId id="272" r:id="rId21"/>
    <p:sldId id="273" r:id="rId22"/>
    <p:sldId id="274" r:id="rId23"/>
    <p:sldId id="275" r:id="rId24"/>
    <p:sldId id="283" r:id="rId25"/>
    <p:sldId id="284" r:id="rId26"/>
    <p:sldId id="276" r:id="rId27"/>
    <p:sldId id="292" r:id="rId28"/>
    <p:sldId id="277" r:id="rId29"/>
    <p:sldId id="278" r:id="rId30"/>
    <p:sldId id="279" r:id="rId31"/>
    <p:sldId id="280" r:id="rId32"/>
    <p:sldId id="281" r:id="rId33"/>
    <p:sldId id="293" r:id="rId34"/>
    <p:sldId id="282"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108" y="9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4E55A9-4983-4832-941B-66E032189D1B}" type="datetimeFigureOut">
              <a:rPr lang="lv-LV" smtClean="0"/>
              <a:t>24.02.2025</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997973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E55A9-4983-4832-941B-66E032189D1B}" type="datetimeFigureOut">
              <a:rPr lang="lv-LV" smtClean="0"/>
              <a:t>24.02.2025</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1531559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D4E55A9-4983-4832-941B-66E032189D1B}" type="datetimeFigureOut">
              <a:rPr lang="lv-LV" smtClean="0"/>
              <a:t>24.02.2025</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366458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4E55A9-4983-4832-941B-66E032189D1B}" type="datetimeFigureOut">
              <a:rPr lang="lv-LV" smtClean="0"/>
              <a:t>24.02.2025</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4033666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4E55A9-4983-4832-941B-66E032189D1B}" type="datetimeFigureOut">
              <a:rPr lang="lv-LV" smtClean="0"/>
              <a:t>24.02.2025</a:t>
            </a:fld>
            <a:endParaRPr lang="lv-LV"/>
          </a:p>
        </p:txBody>
      </p:sp>
      <p:sp>
        <p:nvSpPr>
          <p:cNvPr id="8" name="Footer Placeholder 7"/>
          <p:cNvSpPr>
            <a:spLocks noGrp="1"/>
          </p:cNvSpPr>
          <p:nvPr>
            <p:ph type="ftr" sz="quarter" idx="11"/>
          </p:nvPr>
        </p:nvSpPr>
        <p:spPr/>
        <p:txBody>
          <a:bodyPr/>
          <a:lstStyle/>
          <a:p>
            <a:endParaRPr lang="lv-LV"/>
          </a:p>
        </p:txBody>
      </p:sp>
      <p:sp>
        <p:nvSpPr>
          <p:cNvPr id="9" name="Slide Number Placeholder 8"/>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35621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4E55A9-4983-4832-941B-66E032189D1B}" type="datetimeFigureOut">
              <a:rPr lang="lv-LV" smtClean="0"/>
              <a:t>24.02.2025</a:t>
            </a:fld>
            <a:endParaRPr lang="lv-LV"/>
          </a:p>
        </p:txBody>
      </p:sp>
      <p:sp>
        <p:nvSpPr>
          <p:cNvPr id="4" name="Footer Placeholder 3"/>
          <p:cNvSpPr>
            <a:spLocks noGrp="1"/>
          </p:cNvSpPr>
          <p:nvPr>
            <p:ph type="ftr" sz="quarter" idx="11"/>
          </p:nvPr>
        </p:nvSpPr>
        <p:spPr/>
        <p:txBody>
          <a:bodyPr/>
          <a:lstStyle/>
          <a:p>
            <a:endParaRPr lang="lv-LV"/>
          </a:p>
        </p:txBody>
      </p:sp>
      <p:sp>
        <p:nvSpPr>
          <p:cNvPr id="5" name="Slide Number Placeholder 4"/>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3894556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E55A9-4983-4832-941B-66E032189D1B}" type="datetimeFigureOut">
              <a:rPr lang="lv-LV" smtClean="0"/>
              <a:t>24.02.2025</a:t>
            </a:fld>
            <a:endParaRPr lang="lv-LV"/>
          </a:p>
        </p:txBody>
      </p:sp>
      <p:sp>
        <p:nvSpPr>
          <p:cNvPr id="3" name="Footer Placeholder 2"/>
          <p:cNvSpPr>
            <a:spLocks noGrp="1"/>
          </p:cNvSpPr>
          <p:nvPr>
            <p:ph type="ftr" sz="quarter" idx="11"/>
          </p:nvPr>
        </p:nvSpPr>
        <p:spPr/>
        <p:txBody>
          <a:bodyPr/>
          <a:lstStyle/>
          <a:p>
            <a:endParaRPr lang="lv-LV"/>
          </a:p>
        </p:txBody>
      </p:sp>
      <p:sp>
        <p:nvSpPr>
          <p:cNvPr id="4" name="Slide Number Placeholder 3"/>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2800722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D4E55A9-4983-4832-941B-66E032189D1B}" type="datetimeFigureOut">
              <a:rPr lang="lv-LV" smtClean="0"/>
              <a:t>24.02.2025</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484027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D4E55A9-4983-4832-941B-66E032189D1B}" type="datetimeFigureOut">
              <a:rPr lang="lv-LV" smtClean="0"/>
              <a:t>24.02.2025</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59148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E55A9-4983-4832-941B-66E032189D1B}" type="datetimeFigureOut">
              <a:rPr lang="lv-LV" smtClean="0"/>
              <a:t>24.02.2025</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3798691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E55A9-4983-4832-941B-66E032189D1B}" type="datetimeFigureOut">
              <a:rPr lang="lv-LV" smtClean="0"/>
              <a:t>24.02.2025</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20300289-B522-4B35-A1AF-C8D477BD34C9}" type="slidenum">
              <a:rPr lang="lv-LV" smtClean="0"/>
              <a:t>‹#›</a:t>
            </a:fld>
            <a:endParaRPr lang="lv-LV"/>
          </a:p>
        </p:txBody>
      </p:sp>
    </p:spTree>
    <p:extLst>
      <p:ext uri="{BB962C8B-B14F-4D97-AF65-F5344CB8AC3E}">
        <p14:creationId xmlns:p14="http://schemas.microsoft.com/office/powerpoint/2010/main" val="1910638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E55A9-4983-4832-941B-66E032189D1B}" type="datetimeFigureOut">
              <a:rPr lang="lv-LV" smtClean="0"/>
              <a:t>24.02.2025</a:t>
            </a:fld>
            <a:endParaRPr lang="lv-LV"/>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v-LV"/>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300289-B522-4B35-A1AF-C8D477BD34C9}" type="slidenum">
              <a:rPr lang="lv-LV" smtClean="0"/>
              <a:t>‹#›</a:t>
            </a:fld>
            <a:endParaRPr lang="lv-LV"/>
          </a:p>
        </p:txBody>
      </p:sp>
    </p:spTree>
    <p:extLst>
      <p:ext uri="{BB962C8B-B14F-4D97-AF65-F5344CB8AC3E}">
        <p14:creationId xmlns:p14="http://schemas.microsoft.com/office/powerpoint/2010/main" val="40536884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lv-LV" dirty="0" err="1"/>
              <a:t>Introduction</a:t>
            </a:r>
            <a:r>
              <a:rPr lang="lv-LV" dirty="0"/>
              <a:t> to </a:t>
            </a:r>
            <a:r>
              <a:rPr lang="lv-LV" dirty="0" err="1"/>
              <a:t>Databases</a:t>
            </a:r>
            <a:r>
              <a:rPr lang="lv-LV" dirty="0"/>
              <a:t>
</a:t>
            </a:r>
          </a:p>
        </p:txBody>
      </p:sp>
      <p:sp>
        <p:nvSpPr>
          <p:cNvPr id="3" name="Subtitle 2"/>
          <p:cNvSpPr>
            <a:spLocks noGrp="1"/>
          </p:cNvSpPr>
          <p:nvPr>
            <p:ph type="subTitle" idx="1"/>
          </p:nvPr>
        </p:nvSpPr>
        <p:spPr/>
        <p:txBody>
          <a:bodyPr/>
          <a:lstStyle/>
          <a:p>
            <a:r>
              <a:rPr lang="lv-LV" dirty="0"/>
              <a:t>Andrejs Liepiņš</a:t>
            </a:r>
          </a:p>
        </p:txBody>
      </p:sp>
    </p:spTree>
    <p:extLst>
      <p:ext uri="{BB962C8B-B14F-4D97-AF65-F5344CB8AC3E}">
        <p14:creationId xmlns:p14="http://schemas.microsoft.com/office/powerpoint/2010/main" val="2427206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Database</a:t>
            </a:r>
            <a:endParaRPr lang="lv-LV"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A </a:t>
            </a:r>
            <a:r>
              <a:rPr lang="en-US" b="1" dirty="0"/>
              <a:t>database</a:t>
            </a:r>
            <a:r>
              <a:rPr lang="en-US" dirty="0"/>
              <a:t> is an organized collection of data, generally stored and accessed electronically from a computer system. Where databases are more complex they are often developed using formal design and modeling techniques.</a:t>
            </a:r>
          </a:p>
          <a:p>
            <a:pPr marL="0" indent="0" algn="just">
              <a:buNone/>
            </a:pPr>
            <a:r>
              <a:rPr lang="en-US" dirty="0"/>
              <a:t>Formally, a "database" refers to a set of related data and the way it is organized. Access to this data is usually provided by a "database management system" (DBMS) consisting of an integrated set of computer software that allows users to interact with one or more databases and provides access to all of the data contained in the database.</a:t>
            </a:r>
            <a:endParaRPr lang="lv-LV" dirty="0"/>
          </a:p>
        </p:txBody>
      </p:sp>
    </p:spTree>
    <p:extLst>
      <p:ext uri="{BB962C8B-B14F-4D97-AF65-F5344CB8AC3E}">
        <p14:creationId xmlns:p14="http://schemas.microsoft.com/office/powerpoint/2010/main" val="21510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dirty="0" err="1"/>
              <a:t>Database</a:t>
            </a:r>
            <a:r>
              <a:rPr lang="lv-LV" dirty="0"/>
              <a:t> </a:t>
            </a:r>
            <a:r>
              <a:rPr lang="lv-LV" dirty="0" err="1"/>
              <a:t>Management</a:t>
            </a:r>
            <a:r>
              <a:rPr lang="lv-LV" dirty="0"/>
              <a:t> </a:t>
            </a:r>
            <a:r>
              <a:rPr lang="lv-LV" dirty="0" err="1"/>
              <a:t>System</a:t>
            </a:r>
            <a:r>
              <a:rPr lang="lv-LV" dirty="0"/>
              <a:t> (DB</a:t>
            </a:r>
            <a:r>
              <a:rPr lang="en-US" dirty="0"/>
              <a:t>M</a:t>
            </a:r>
            <a:r>
              <a:rPr lang="lv-LV" dirty="0"/>
              <a:t>S)</a:t>
            </a:r>
          </a:p>
        </p:txBody>
      </p:sp>
      <p:sp>
        <p:nvSpPr>
          <p:cNvPr id="3" name="Content Placeholder 2"/>
          <p:cNvSpPr>
            <a:spLocks noGrp="1"/>
          </p:cNvSpPr>
          <p:nvPr>
            <p:ph idx="1"/>
          </p:nvPr>
        </p:nvSpPr>
        <p:spPr/>
        <p:txBody>
          <a:bodyPr/>
          <a:lstStyle/>
          <a:p>
            <a:pPr marL="0" indent="0" algn="just">
              <a:buNone/>
            </a:pPr>
            <a:r>
              <a:rPr lang="en-US" dirty="0"/>
              <a:t>The </a:t>
            </a:r>
            <a:r>
              <a:rPr lang="en-US" b="1" dirty="0"/>
              <a:t>database management system </a:t>
            </a:r>
            <a:r>
              <a:rPr lang="en-US" dirty="0"/>
              <a:t>(</a:t>
            </a:r>
            <a:r>
              <a:rPr lang="en-US" b="1" dirty="0"/>
              <a:t>DBMS</a:t>
            </a:r>
            <a:r>
              <a:rPr lang="en-US" dirty="0"/>
              <a:t>) is the software that interacts with end users, applications, and the database itself to capture and analyze the data. The DBMS software additionally encompasses the core facilities provided to administer the database. The sum total of the database, the DBMS and the associated applications can be referred to as a "database system". Often the term "database" is also used to loosely refer to any of the DBMS, the database system or an application associated with the database.</a:t>
            </a:r>
            <a:endParaRPr lang="lv-LV" dirty="0"/>
          </a:p>
        </p:txBody>
      </p:sp>
    </p:spTree>
    <p:extLst>
      <p:ext uri="{BB962C8B-B14F-4D97-AF65-F5344CB8AC3E}">
        <p14:creationId xmlns:p14="http://schemas.microsoft.com/office/powerpoint/2010/main" val="3641994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Database</a:t>
            </a:r>
            <a:r>
              <a:rPr lang="lv-LV" dirty="0"/>
              <a:t> </a:t>
            </a:r>
            <a:r>
              <a:rPr lang="lv-LV" dirty="0" err="1"/>
              <a:t>Management</a:t>
            </a:r>
            <a:r>
              <a:rPr lang="lv-LV" dirty="0"/>
              <a:t> </a:t>
            </a:r>
            <a:r>
              <a:rPr lang="lv-LV" dirty="0" err="1"/>
              <a:t>System</a:t>
            </a:r>
            <a:r>
              <a:rPr lang="lv-LV" dirty="0"/>
              <a:t> (DB</a:t>
            </a:r>
            <a:r>
              <a:rPr lang="en-US" dirty="0"/>
              <a:t>M</a:t>
            </a:r>
            <a:r>
              <a:rPr lang="lv-LV" dirty="0"/>
              <a:t>S)</a:t>
            </a:r>
          </a:p>
        </p:txBody>
      </p:sp>
      <p:pic>
        <p:nvPicPr>
          <p:cNvPr id="4" name="Picture 3">
            <a:extLst>
              <a:ext uri="{FF2B5EF4-FFF2-40B4-BE49-F238E27FC236}">
                <a16:creationId xmlns:a16="http://schemas.microsoft.com/office/drawing/2014/main" id="{97530CFA-5FF2-4E30-8893-65C094523D4E}"/>
              </a:ext>
            </a:extLst>
          </p:cNvPr>
          <p:cNvPicPr>
            <a:picLocks noChangeAspect="1"/>
          </p:cNvPicPr>
          <p:nvPr/>
        </p:nvPicPr>
        <p:blipFill>
          <a:blip r:embed="rId2"/>
          <a:stretch>
            <a:fillRect/>
          </a:stretch>
        </p:blipFill>
        <p:spPr>
          <a:xfrm>
            <a:off x="166687" y="1902288"/>
            <a:ext cx="8810625" cy="4181475"/>
          </a:xfrm>
          <a:prstGeom prst="rect">
            <a:avLst/>
          </a:prstGeom>
        </p:spPr>
      </p:pic>
    </p:spTree>
    <p:extLst>
      <p:ext uri="{BB962C8B-B14F-4D97-AF65-F5344CB8AC3E}">
        <p14:creationId xmlns:p14="http://schemas.microsoft.com/office/powerpoint/2010/main" val="82501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Database</a:t>
            </a:r>
            <a:r>
              <a:rPr lang="lv-LV" dirty="0"/>
              <a:t> </a:t>
            </a:r>
            <a:r>
              <a:rPr lang="lv-LV" dirty="0" err="1"/>
              <a:t>organisation</a:t>
            </a:r>
            <a:endParaRPr lang="lv-LV" dirty="0"/>
          </a:p>
        </p:txBody>
      </p:sp>
      <p:sp>
        <p:nvSpPr>
          <p:cNvPr id="3" name="Content Placeholder 2"/>
          <p:cNvSpPr>
            <a:spLocks noGrp="1"/>
          </p:cNvSpPr>
          <p:nvPr>
            <p:ph idx="1"/>
          </p:nvPr>
        </p:nvSpPr>
        <p:spPr/>
        <p:txBody>
          <a:bodyPr/>
          <a:lstStyle/>
          <a:p>
            <a:pPr marL="0" indent="0" algn="just">
              <a:buNone/>
            </a:pPr>
            <a:r>
              <a:rPr lang="en-US" dirty="0"/>
              <a:t>This material will look at relationship databases.</a:t>
            </a:r>
            <a:r>
              <a:rPr lang="lv-LV" dirty="0"/>
              <a:t> </a:t>
            </a:r>
            <a:r>
              <a:rPr lang="en-US" dirty="0"/>
              <a:t> Relational databases became dominant </a:t>
            </a:r>
            <a:r>
              <a:rPr lang="lv-LV" dirty="0" err="1"/>
              <a:t>since</a:t>
            </a:r>
            <a:r>
              <a:rPr lang="en-US" dirty="0"/>
              <a:t> the 1980s. These model data as rows and columns in a series of tables, and the vast majority use SQL for writing and querying data.</a:t>
            </a:r>
            <a:endParaRPr lang="lv-LV" dirty="0"/>
          </a:p>
        </p:txBody>
      </p:sp>
    </p:spTree>
    <p:extLst>
      <p:ext uri="{BB962C8B-B14F-4D97-AF65-F5344CB8AC3E}">
        <p14:creationId xmlns:p14="http://schemas.microsoft.com/office/powerpoint/2010/main" val="3576297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Relational</a:t>
            </a:r>
            <a:r>
              <a:rPr lang="lv-LV" dirty="0"/>
              <a:t> </a:t>
            </a:r>
            <a:r>
              <a:rPr lang="lv-LV" dirty="0" err="1"/>
              <a:t>model</a:t>
            </a:r>
            <a:endParaRPr lang="lv-LV" dirty="0"/>
          </a:p>
        </p:txBody>
      </p:sp>
      <p:sp>
        <p:nvSpPr>
          <p:cNvPr id="3" name="Content Placeholder 2"/>
          <p:cNvSpPr>
            <a:spLocks noGrp="1"/>
          </p:cNvSpPr>
          <p:nvPr>
            <p:ph idx="1"/>
          </p:nvPr>
        </p:nvSpPr>
        <p:spPr/>
        <p:txBody>
          <a:bodyPr/>
          <a:lstStyle/>
          <a:p>
            <a:pPr marL="0" indent="0" algn="just">
              <a:buNone/>
            </a:pPr>
            <a:endParaRPr lang="en-US" dirty="0"/>
          </a:p>
          <a:p>
            <a:pPr marL="0" indent="0" algn="just">
              <a:buNone/>
            </a:pPr>
            <a:r>
              <a:rPr lang="en-US" dirty="0"/>
              <a:t>The relational model consists of three components:</a:t>
            </a:r>
          </a:p>
          <a:p>
            <a:pPr algn="just"/>
            <a:r>
              <a:rPr lang="en-US" dirty="0"/>
              <a:t>data structure - a set of rules through which a database is developed</a:t>
            </a:r>
          </a:p>
          <a:p>
            <a:pPr algn="just"/>
            <a:r>
              <a:rPr lang="en-US" dirty="0"/>
              <a:t>data integrity - set of rules to support data correctness</a:t>
            </a:r>
          </a:p>
          <a:p>
            <a:pPr algn="just"/>
            <a:r>
              <a:rPr lang="en-US" dirty="0"/>
              <a:t>data management - set of possible data processing operations</a:t>
            </a:r>
            <a:endParaRPr lang="lv-LV" dirty="0"/>
          </a:p>
        </p:txBody>
      </p:sp>
    </p:spTree>
    <p:extLst>
      <p:ext uri="{BB962C8B-B14F-4D97-AF65-F5344CB8AC3E}">
        <p14:creationId xmlns:p14="http://schemas.microsoft.com/office/powerpoint/2010/main" val="3383770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Table</a:t>
            </a:r>
            <a:endParaRPr lang="lv-LV" dirty="0"/>
          </a:p>
        </p:txBody>
      </p:sp>
      <p:sp>
        <p:nvSpPr>
          <p:cNvPr id="3" name="Content Placeholder 2"/>
          <p:cNvSpPr>
            <a:spLocks noGrp="1"/>
          </p:cNvSpPr>
          <p:nvPr>
            <p:ph idx="1"/>
          </p:nvPr>
        </p:nvSpPr>
        <p:spPr>
          <a:xfrm>
            <a:off x="628650" y="1825625"/>
            <a:ext cx="7886700" cy="2618188"/>
          </a:xfrm>
        </p:spPr>
        <p:txBody>
          <a:bodyPr>
            <a:normAutofit fontScale="92500" lnSpcReduction="20000"/>
          </a:bodyPr>
          <a:lstStyle/>
          <a:p>
            <a:pPr marL="0" indent="0" algn="just">
              <a:buNone/>
            </a:pPr>
            <a:r>
              <a:rPr lang="en-US" dirty="0"/>
              <a:t>Data table is used to store and display the data. The data table consists of records and fields.</a:t>
            </a:r>
          </a:p>
          <a:p>
            <a:pPr marL="0" indent="0" algn="just">
              <a:buNone/>
            </a:pPr>
            <a:r>
              <a:rPr lang="en-US" b="1" dirty="0"/>
              <a:t>Table</a:t>
            </a:r>
            <a:r>
              <a:rPr lang="en-US" dirty="0"/>
              <a:t> - A set of records sharing the same attributes; a set of columns and rows
</a:t>
            </a:r>
            <a:r>
              <a:rPr lang="en-US" b="1" dirty="0"/>
              <a:t>Column</a:t>
            </a:r>
            <a:r>
              <a:rPr lang="en-US" dirty="0"/>
              <a:t> – A field name, e.g. "Address" or "Date of birth“, and a field data set.</a:t>
            </a:r>
          </a:p>
          <a:p>
            <a:pPr marL="0" indent="0" algn="just">
              <a:buNone/>
            </a:pPr>
            <a:r>
              <a:rPr lang="en-US" b="1" dirty="0"/>
              <a:t>Row</a:t>
            </a:r>
            <a:r>
              <a:rPr lang="en-US" dirty="0"/>
              <a:t> - A data set representing a single item</a:t>
            </a:r>
          </a:p>
          <a:p>
            <a:pPr marL="0" indent="0" algn="just">
              <a:buNone/>
            </a:pPr>
            <a:endParaRPr lang="lv-LV" dirty="0"/>
          </a:p>
        </p:txBody>
      </p:sp>
      <p:pic>
        <p:nvPicPr>
          <p:cNvPr id="6" name="Picture 5">
            <a:extLst>
              <a:ext uri="{FF2B5EF4-FFF2-40B4-BE49-F238E27FC236}">
                <a16:creationId xmlns:a16="http://schemas.microsoft.com/office/drawing/2014/main" id="{96C7BF15-27E7-46C7-ABEE-3D9EE9D6FA3E}"/>
              </a:ext>
            </a:extLst>
          </p:cNvPr>
          <p:cNvPicPr>
            <a:picLocks noChangeAspect="1"/>
          </p:cNvPicPr>
          <p:nvPr/>
        </p:nvPicPr>
        <p:blipFill>
          <a:blip r:embed="rId2"/>
          <a:stretch>
            <a:fillRect/>
          </a:stretch>
        </p:blipFill>
        <p:spPr>
          <a:xfrm>
            <a:off x="455508" y="4753599"/>
            <a:ext cx="7991475" cy="1914525"/>
          </a:xfrm>
          <a:prstGeom prst="rect">
            <a:avLst/>
          </a:prstGeom>
        </p:spPr>
      </p:pic>
    </p:spTree>
    <p:extLst>
      <p:ext uri="{BB962C8B-B14F-4D97-AF65-F5344CB8AC3E}">
        <p14:creationId xmlns:p14="http://schemas.microsoft.com/office/powerpoint/2010/main" val="1769915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Record</a:t>
            </a:r>
            <a:endParaRPr lang="lv-LV" dirty="0"/>
          </a:p>
        </p:txBody>
      </p:sp>
      <p:sp>
        <p:nvSpPr>
          <p:cNvPr id="3" name="Content Placeholder 2"/>
          <p:cNvSpPr>
            <a:spLocks noGrp="1"/>
          </p:cNvSpPr>
          <p:nvPr>
            <p:ph idx="1"/>
          </p:nvPr>
        </p:nvSpPr>
        <p:spPr>
          <a:xfrm>
            <a:off x="628650" y="1572427"/>
            <a:ext cx="7886700" cy="2694774"/>
          </a:xfrm>
        </p:spPr>
        <p:txBody>
          <a:bodyPr>
            <a:normAutofit lnSpcReduction="10000"/>
          </a:bodyPr>
          <a:lstStyle/>
          <a:p>
            <a:pPr marL="0" indent="0" algn="just">
              <a:buNone/>
            </a:pPr>
            <a:r>
              <a:rPr lang="en-US" dirty="0"/>
              <a:t>A </a:t>
            </a:r>
            <a:r>
              <a:rPr lang="en-US" b="1" dirty="0"/>
              <a:t>record</a:t>
            </a:r>
            <a:r>
              <a:rPr lang="en-US" dirty="0"/>
              <a:t> </a:t>
            </a:r>
            <a:r>
              <a:rPr lang="lv-LV" dirty="0"/>
              <a:t>(1) </a:t>
            </a:r>
            <a:r>
              <a:rPr lang="en-US" dirty="0"/>
              <a:t>is an element of a database structure that consists of fields</a:t>
            </a:r>
            <a:r>
              <a:rPr lang="lv-LV" dirty="0"/>
              <a:t> (2)</a:t>
            </a:r>
            <a:r>
              <a:rPr lang="en-US" dirty="0"/>
              <a:t>. The record contains information about one table object, such as the name, surname of one person. Each record forms one row of the data table. The table below contains three records. Records in a database or spreadsheet are usually called "rows".</a:t>
            </a:r>
            <a:endParaRPr lang="lv-LV" dirty="0"/>
          </a:p>
        </p:txBody>
      </p:sp>
      <p:pic>
        <p:nvPicPr>
          <p:cNvPr id="1026" name="Picture 2" descr="Customers table in Access showing layout of records and fields">
            <a:extLst>
              <a:ext uri="{FF2B5EF4-FFF2-40B4-BE49-F238E27FC236}">
                <a16:creationId xmlns:a16="http://schemas.microsoft.com/office/drawing/2014/main" id="{193101C8-B3C7-2358-02C8-1B5CE0B4F3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650" y="4625636"/>
            <a:ext cx="5142450" cy="152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58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Column</a:t>
            </a:r>
            <a:endParaRPr lang="lv-LV" dirty="0"/>
          </a:p>
        </p:txBody>
      </p:sp>
      <p:sp>
        <p:nvSpPr>
          <p:cNvPr id="3" name="Content Placeholder 2"/>
          <p:cNvSpPr>
            <a:spLocks noGrp="1"/>
          </p:cNvSpPr>
          <p:nvPr>
            <p:ph idx="1"/>
          </p:nvPr>
        </p:nvSpPr>
        <p:spPr/>
        <p:txBody>
          <a:bodyPr>
            <a:normAutofit/>
          </a:bodyPr>
          <a:lstStyle/>
          <a:p>
            <a:pPr marL="0" indent="0" algn="just">
              <a:buNone/>
            </a:pPr>
            <a:r>
              <a:rPr lang="ru-RU" dirty="0"/>
              <a:t>С</a:t>
            </a:r>
            <a:r>
              <a:rPr lang="en-US" dirty="0" err="1"/>
              <a:t>olumn</a:t>
            </a:r>
            <a:r>
              <a:rPr lang="en-US" dirty="0"/>
              <a:t> </a:t>
            </a:r>
            <a:r>
              <a:rPr lang="lv-LV" dirty="0"/>
              <a:t>(2) </a:t>
            </a:r>
            <a:r>
              <a:rPr lang="en-US" dirty="0"/>
              <a:t>is a set of data values of a particular simple type, one value for each row of the database.</a:t>
            </a:r>
          </a:p>
        </p:txBody>
      </p:sp>
      <p:pic>
        <p:nvPicPr>
          <p:cNvPr id="2050" name="Picture 2" descr="Customers table in Access showing layout of records and fields">
            <a:extLst>
              <a:ext uri="{FF2B5EF4-FFF2-40B4-BE49-F238E27FC236}">
                <a16:creationId xmlns:a16="http://schemas.microsoft.com/office/drawing/2014/main" id="{6DEDBB4E-C38B-2D58-4F09-9EC8A706D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174" y="3779173"/>
            <a:ext cx="5165632" cy="153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867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Value</a:t>
            </a:r>
            <a:endParaRPr lang="lv-LV" dirty="0"/>
          </a:p>
        </p:txBody>
      </p:sp>
      <p:sp>
        <p:nvSpPr>
          <p:cNvPr id="3" name="Content Placeholder 2"/>
          <p:cNvSpPr>
            <a:spLocks noGrp="1"/>
          </p:cNvSpPr>
          <p:nvPr>
            <p:ph idx="1"/>
          </p:nvPr>
        </p:nvSpPr>
        <p:spPr>
          <a:xfrm>
            <a:off x="628650" y="1825625"/>
            <a:ext cx="7886700" cy="1387594"/>
          </a:xfrm>
        </p:spPr>
        <p:txBody>
          <a:bodyPr>
            <a:normAutofit/>
          </a:bodyPr>
          <a:lstStyle/>
          <a:p>
            <a:pPr marL="0" indent="0" algn="just">
              <a:buNone/>
            </a:pPr>
            <a:r>
              <a:rPr lang="en-US" dirty="0"/>
              <a:t>A database </a:t>
            </a:r>
            <a:r>
              <a:rPr lang="lv-LV" b="1" dirty="0" err="1"/>
              <a:t>value</a:t>
            </a:r>
            <a:r>
              <a:rPr lang="en-US" dirty="0"/>
              <a:t> </a:t>
            </a:r>
            <a:r>
              <a:rPr lang="lv-LV" dirty="0"/>
              <a:t>(3) </a:t>
            </a:r>
            <a:r>
              <a:rPr lang="en-US" dirty="0"/>
              <a:t>is a single piece of information from a record. A database record </a:t>
            </a:r>
            <a:r>
              <a:rPr lang="lv-LV" dirty="0"/>
              <a:t>(1) </a:t>
            </a:r>
            <a:r>
              <a:rPr lang="en-US" dirty="0"/>
              <a:t>is a set of fields.</a:t>
            </a:r>
          </a:p>
        </p:txBody>
      </p:sp>
      <p:pic>
        <p:nvPicPr>
          <p:cNvPr id="3074" name="Picture 2" descr="Customers table in Access showing layout of records and fields">
            <a:extLst>
              <a:ext uri="{FF2B5EF4-FFF2-40B4-BE49-F238E27FC236}">
                <a16:creationId xmlns:a16="http://schemas.microsoft.com/office/drawing/2014/main" id="{AEB5EE12-E013-86C7-6F66-B9C9285F9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665" y="3777784"/>
            <a:ext cx="5926766" cy="175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654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292"/>
            <a:ext cx="7886700" cy="1325563"/>
          </a:xfrm>
        </p:spPr>
        <p:txBody>
          <a:bodyPr/>
          <a:lstStyle/>
          <a:p>
            <a:pPr algn="ctr"/>
            <a:r>
              <a:rPr lang="en-US" dirty="0"/>
              <a:t>Field</a:t>
            </a:r>
            <a:endParaRPr lang="lv-LV" dirty="0"/>
          </a:p>
        </p:txBody>
      </p:sp>
      <p:sp>
        <p:nvSpPr>
          <p:cNvPr id="3" name="Content Placeholder 2"/>
          <p:cNvSpPr>
            <a:spLocks noGrp="1"/>
          </p:cNvSpPr>
          <p:nvPr>
            <p:ph idx="1"/>
          </p:nvPr>
        </p:nvSpPr>
        <p:spPr>
          <a:xfrm>
            <a:off x="628650" y="1107777"/>
            <a:ext cx="7886700" cy="4351338"/>
          </a:xfrm>
        </p:spPr>
        <p:txBody>
          <a:bodyPr>
            <a:normAutofit/>
          </a:bodyPr>
          <a:lstStyle/>
          <a:p>
            <a:pPr marL="0" indent="0" algn="just">
              <a:buNone/>
            </a:pPr>
            <a:r>
              <a:rPr lang="en-US" dirty="0"/>
              <a:t>When defining a data field, the following principle is followed: the field must contain one indivisible piece of information. In the example below, the record consists of </a:t>
            </a:r>
            <a:r>
              <a:rPr lang="lv-LV" dirty="0"/>
              <a:t>4</a:t>
            </a:r>
            <a:r>
              <a:rPr lang="en-US" dirty="0"/>
              <a:t> fields: </a:t>
            </a:r>
            <a:r>
              <a:rPr lang="lv-LV" dirty="0"/>
              <a:t>ID, </a:t>
            </a:r>
            <a:r>
              <a:rPr lang="lv-LV" dirty="0" err="1"/>
              <a:t>Company</a:t>
            </a:r>
            <a:r>
              <a:rPr lang="lv-LV" dirty="0"/>
              <a:t>, </a:t>
            </a:r>
            <a:r>
              <a:rPr lang="en-US" dirty="0"/>
              <a:t>first name, last name, and phone number.</a:t>
            </a:r>
          </a:p>
          <a:p>
            <a:pPr marL="0" indent="0" algn="just">
              <a:buNone/>
            </a:pPr>
            <a:r>
              <a:rPr lang="en-US" dirty="0"/>
              <a:t>It would be wrong to create one field for the name and last name, because then, for example, the information in the table could not be sorted by last name.</a:t>
            </a:r>
            <a:endParaRPr lang="lv-LV" dirty="0"/>
          </a:p>
        </p:txBody>
      </p:sp>
      <p:pic>
        <p:nvPicPr>
          <p:cNvPr id="5" name="Picture 2" descr="Customers table in Access showing layout of records and fields">
            <a:extLst>
              <a:ext uri="{FF2B5EF4-FFF2-40B4-BE49-F238E27FC236}">
                <a16:creationId xmlns:a16="http://schemas.microsoft.com/office/drawing/2014/main" id="{ADD650C5-0FF0-169E-B839-EB83B6EFD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617" y="4785109"/>
            <a:ext cx="5926766" cy="175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989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Field name</a:t>
            </a:r>
            <a:endParaRPr lang="lv-LV" dirty="0"/>
          </a:p>
        </p:txBody>
      </p:sp>
      <p:sp>
        <p:nvSpPr>
          <p:cNvPr id="3" name="Content Placeholder 2"/>
          <p:cNvSpPr>
            <a:spLocks noGrp="1"/>
          </p:cNvSpPr>
          <p:nvPr>
            <p:ph idx="1"/>
          </p:nvPr>
        </p:nvSpPr>
        <p:spPr>
          <a:xfrm>
            <a:off x="628650" y="1825625"/>
            <a:ext cx="7886700" cy="2136775"/>
          </a:xfrm>
        </p:spPr>
        <p:txBody>
          <a:bodyPr/>
          <a:lstStyle/>
          <a:p>
            <a:pPr marL="0" indent="0" algn="just">
              <a:buNone/>
            </a:pPr>
            <a:r>
              <a:rPr lang="en-US" dirty="0"/>
              <a:t>Each field has a </a:t>
            </a:r>
            <a:r>
              <a:rPr lang="en-US" b="1" dirty="0"/>
              <a:t>field name </a:t>
            </a:r>
            <a:r>
              <a:rPr lang="en-US" dirty="0"/>
              <a:t>that helps the user determine the contents of the field and is used by the database application to identify a specific data field. </a:t>
            </a:r>
            <a:endParaRPr lang="lv-LV" dirty="0"/>
          </a:p>
        </p:txBody>
      </p:sp>
      <p:pic>
        <p:nvPicPr>
          <p:cNvPr id="7" name="Picture 6">
            <a:extLst>
              <a:ext uri="{FF2B5EF4-FFF2-40B4-BE49-F238E27FC236}">
                <a16:creationId xmlns:a16="http://schemas.microsoft.com/office/drawing/2014/main" id="{1E3A7925-EA69-BE2A-F141-519603D3B827}"/>
              </a:ext>
            </a:extLst>
          </p:cNvPr>
          <p:cNvPicPr>
            <a:picLocks noChangeAspect="1"/>
          </p:cNvPicPr>
          <p:nvPr/>
        </p:nvPicPr>
        <p:blipFill>
          <a:blip r:embed="rId2"/>
          <a:stretch>
            <a:fillRect/>
          </a:stretch>
        </p:blipFill>
        <p:spPr>
          <a:xfrm>
            <a:off x="1137758" y="3962400"/>
            <a:ext cx="6868484" cy="2086266"/>
          </a:xfrm>
          <a:prstGeom prst="rect">
            <a:avLst/>
          </a:prstGeom>
        </p:spPr>
      </p:pic>
    </p:spTree>
    <p:extLst>
      <p:ext uri="{BB962C8B-B14F-4D97-AF65-F5344CB8AC3E}">
        <p14:creationId xmlns:p14="http://schemas.microsoft.com/office/powerpoint/2010/main" val="413856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Field</a:t>
            </a:r>
            <a:endParaRPr lang="lv-LV" dirty="0"/>
          </a:p>
        </p:txBody>
      </p:sp>
      <p:sp>
        <p:nvSpPr>
          <p:cNvPr id="3" name="Content Placeholder 2"/>
          <p:cNvSpPr>
            <a:spLocks noGrp="1"/>
          </p:cNvSpPr>
          <p:nvPr>
            <p:ph idx="1"/>
          </p:nvPr>
        </p:nvSpPr>
        <p:spPr>
          <a:xfrm>
            <a:off x="628650" y="1825625"/>
            <a:ext cx="7886700" cy="2136775"/>
          </a:xfrm>
        </p:spPr>
        <p:txBody>
          <a:bodyPr/>
          <a:lstStyle/>
          <a:p>
            <a:pPr marL="0" indent="0" algn="just">
              <a:buNone/>
            </a:pPr>
            <a:r>
              <a:rPr lang="en-US" dirty="0"/>
              <a:t>Only certain types of data can be stored in a data field. Field data type indicates what type of data can be entered and stored in this data field. The most common data types are text, number, date, currency.</a:t>
            </a:r>
            <a:endParaRPr lang="lv-LV" dirty="0"/>
          </a:p>
        </p:txBody>
      </p:sp>
    </p:spTree>
    <p:extLst>
      <p:ext uri="{BB962C8B-B14F-4D97-AF65-F5344CB8AC3E}">
        <p14:creationId xmlns:p14="http://schemas.microsoft.com/office/powerpoint/2010/main" val="1877221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Primary</a:t>
            </a:r>
            <a:r>
              <a:rPr lang="lv-LV" dirty="0"/>
              <a:t> </a:t>
            </a:r>
            <a:r>
              <a:rPr lang="lv-LV" dirty="0" err="1"/>
              <a:t>Key</a:t>
            </a:r>
            <a:endParaRPr lang="lv-LV" dirty="0"/>
          </a:p>
        </p:txBody>
      </p:sp>
      <p:sp>
        <p:nvSpPr>
          <p:cNvPr id="3" name="Content Placeholder 2"/>
          <p:cNvSpPr>
            <a:spLocks noGrp="1"/>
          </p:cNvSpPr>
          <p:nvPr>
            <p:ph idx="1"/>
          </p:nvPr>
        </p:nvSpPr>
        <p:spPr/>
        <p:txBody>
          <a:bodyPr/>
          <a:lstStyle/>
          <a:p>
            <a:pPr marL="0" indent="0" algn="just">
              <a:buNone/>
            </a:pPr>
            <a:r>
              <a:rPr lang="en-US" dirty="0"/>
              <a:t>A </a:t>
            </a:r>
            <a:r>
              <a:rPr lang="en-US" b="1" dirty="0"/>
              <a:t>primary key </a:t>
            </a:r>
            <a:r>
              <a:rPr lang="en-US" dirty="0"/>
              <a:t>is a field or group of fields that uniquely identifies each record in a database. The data in the primary key field is unique, i.e., there are no entries with the same primary key values ​​in the same table.</a:t>
            </a:r>
          </a:p>
          <a:p>
            <a:pPr marL="0" indent="0" algn="just">
              <a:buNone/>
            </a:pPr>
            <a:r>
              <a:rPr lang="en-US" dirty="0"/>
              <a:t>A table can have only ONE primary key.</a:t>
            </a:r>
            <a:endParaRPr lang="lv-LV" dirty="0"/>
          </a:p>
        </p:txBody>
      </p:sp>
      <p:pic>
        <p:nvPicPr>
          <p:cNvPr id="4" name="Picture 2" descr="Customers table in Access showing layout of records and fields">
            <a:extLst>
              <a:ext uri="{FF2B5EF4-FFF2-40B4-BE49-F238E27FC236}">
                <a16:creationId xmlns:a16="http://schemas.microsoft.com/office/drawing/2014/main" id="{53EC90D7-270C-05E4-DF78-6E48BE0ED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617" y="4785109"/>
            <a:ext cx="5926766" cy="175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16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Primary</a:t>
            </a:r>
            <a:r>
              <a:rPr lang="lv-LV" dirty="0"/>
              <a:t> </a:t>
            </a:r>
            <a:r>
              <a:rPr lang="lv-LV" dirty="0" err="1"/>
              <a:t>Key</a:t>
            </a:r>
            <a:endParaRPr lang="lv-LV" dirty="0"/>
          </a:p>
        </p:txBody>
      </p:sp>
      <p:sp>
        <p:nvSpPr>
          <p:cNvPr id="3" name="Content Placeholder 2"/>
          <p:cNvSpPr>
            <a:spLocks noGrp="1"/>
          </p:cNvSpPr>
          <p:nvPr>
            <p:ph idx="1"/>
          </p:nvPr>
        </p:nvSpPr>
        <p:spPr>
          <a:xfrm>
            <a:off x="628650" y="1825625"/>
            <a:ext cx="7886700" cy="2661031"/>
          </a:xfrm>
        </p:spPr>
        <p:txBody>
          <a:bodyPr>
            <a:normAutofit lnSpcReduction="10000"/>
          </a:bodyPr>
          <a:lstStyle/>
          <a:p>
            <a:pPr marL="0" indent="0" algn="just">
              <a:buNone/>
            </a:pPr>
            <a:r>
              <a:rPr lang="en-US" dirty="0"/>
              <a:t>The primary key can be created in different ways:</a:t>
            </a:r>
          </a:p>
          <a:p>
            <a:pPr marL="514350" indent="-514350" algn="just">
              <a:buFont typeface="+mj-lt"/>
              <a:buAutoNum type="arabicPeriod"/>
            </a:pPr>
            <a:r>
              <a:rPr lang="en-US" dirty="0"/>
              <a:t>One or more fields are chosen as the primary key. For example, the primary key is a Name. Usually, this approach is not used because it is not always possible to ensure the uniqueness of the key (in this case there may be people with the same Name)</a:t>
            </a:r>
            <a:endParaRPr lang="lv-LV" dirty="0"/>
          </a:p>
        </p:txBody>
      </p:sp>
      <p:graphicFrame>
        <p:nvGraphicFramePr>
          <p:cNvPr id="4" name="Table 3"/>
          <p:cNvGraphicFramePr>
            <a:graphicFrameLocks noGrp="1"/>
          </p:cNvGraphicFramePr>
          <p:nvPr>
            <p:extLst>
              <p:ext uri="{D42A27DB-BD31-4B8C-83A1-F6EECF244321}">
                <p14:modId xmlns:p14="http://schemas.microsoft.com/office/powerpoint/2010/main" val="4231963809"/>
              </p:ext>
            </p:extLst>
          </p:nvPr>
        </p:nvGraphicFramePr>
        <p:xfrm>
          <a:off x="1597152" y="4621592"/>
          <a:ext cx="4928099" cy="1684783"/>
        </p:xfrm>
        <a:graphic>
          <a:graphicData uri="http://schemas.openxmlformats.org/drawingml/2006/table">
            <a:tbl>
              <a:tblPr firstRow="1" firstCol="1" bandRow="1">
                <a:tableStyleId>{2D5ABB26-0587-4C30-8999-92F81FD0307C}</a:tableStyleId>
              </a:tblPr>
              <a:tblGrid>
                <a:gridCol w="1812927">
                  <a:extLst>
                    <a:ext uri="{9D8B030D-6E8A-4147-A177-3AD203B41FA5}">
                      <a16:colId xmlns:a16="http://schemas.microsoft.com/office/drawing/2014/main" val="1921665355"/>
                    </a:ext>
                  </a:extLst>
                </a:gridCol>
                <a:gridCol w="1506518">
                  <a:extLst>
                    <a:ext uri="{9D8B030D-6E8A-4147-A177-3AD203B41FA5}">
                      <a16:colId xmlns:a16="http://schemas.microsoft.com/office/drawing/2014/main" val="274029505"/>
                    </a:ext>
                  </a:extLst>
                </a:gridCol>
                <a:gridCol w="1608654">
                  <a:extLst>
                    <a:ext uri="{9D8B030D-6E8A-4147-A177-3AD203B41FA5}">
                      <a16:colId xmlns:a16="http://schemas.microsoft.com/office/drawing/2014/main" val="3933644181"/>
                    </a:ext>
                  </a:extLst>
                </a:gridCol>
              </a:tblGrid>
              <a:tr h="614044">
                <a:tc>
                  <a:txBody>
                    <a:bodyPr/>
                    <a:lstStyle/>
                    <a:p>
                      <a:pPr marL="254000">
                        <a:spcAft>
                          <a:spcPts val="0"/>
                        </a:spcAft>
                      </a:pPr>
                      <a:r>
                        <a:rPr lang="en-US" sz="2000" dirty="0">
                          <a:effectLst/>
                        </a:rPr>
                        <a:t>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a:spcAft>
                          <a:spcPts val="0"/>
                        </a:spcAft>
                      </a:pPr>
                      <a:r>
                        <a:rPr lang="en-US" sz="2000" dirty="0">
                          <a:effectLst/>
                          <a:latin typeface="Times New Roman" panose="02020603050405020304" pitchFamily="18" charset="0"/>
                          <a:ea typeface="Times New Roman" panose="02020603050405020304" pitchFamily="18" charset="0"/>
                        </a:rPr>
                        <a:t>Surname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Aft>
                          <a:spcPts val="0"/>
                        </a:spcAft>
                      </a:pPr>
                      <a:r>
                        <a:rPr lang="en-US" sz="2000" dirty="0">
                          <a:effectLst/>
                          <a:latin typeface="Times New Roman" panose="02020603050405020304" pitchFamily="18" charset="0"/>
                          <a:ea typeface="Times New Roman" panose="02020603050405020304" pitchFamily="18" charset="0"/>
                        </a:rPr>
                        <a:t>Phone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000852"/>
                  </a:ext>
                </a:extLst>
              </a:tr>
              <a:tr h="356913">
                <a:tc>
                  <a:txBody>
                    <a:bodyPr/>
                    <a:lstStyle/>
                    <a:p>
                      <a:pPr marL="63500">
                        <a:lnSpc>
                          <a:spcPts val="1315"/>
                        </a:lnSpc>
                        <a:spcAft>
                          <a:spcPts val="0"/>
                        </a:spcAft>
                      </a:pPr>
                      <a:r>
                        <a:rPr lang="lv-LV" sz="2000">
                          <a:effectLst/>
                        </a:rPr>
                        <a:t>Janīna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nSpc>
                          <a:spcPts val="1315"/>
                        </a:lnSpc>
                        <a:spcAft>
                          <a:spcPts val="0"/>
                        </a:spcAft>
                      </a:pPr>
                      <a:r>
                        <a:rPr lang="lv-LV" sz="2000">
                          <a:effectLst/>
                        </a:rPr>
                        <a:t>Pavasara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r">
                        <a:lnSpc>
                          <a:spcPts val="1315"/>
                        </a:lnSpc>
                        <a:spcAft>
                          <a:spcPts val="0"/>
                        </a:spcAft>
                      </a:pPr>
                      <a:r>
                        <a:rPr lang="lv-LV" sz="2000">
                          <a:effectLst/>
                        </a:rPr>
                        <a:t>7654321</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260215"/>
                  </a:ext>
                </a:extLst>
              </a:tr>
              <a:tr h="356913">
                <a:tc>
                  <a:txBody>
                    <a:bodyPr/>
                    <a:lstStyle/>
                    <a:p>
                      <a:pPr marL="63500">
                        <a:lnSpc>
                          <a:spcPts val="1315"/>
                        </a:lnSpc>
                        <a:spcAft>
                          <a:spcPts val="0"/>
                        </a:spcAft>
                      </a:pPr>
                      <a:r>
                        <a:rPr lang="lv-LV" sz="2000">
                          <a:effectLst/>
                        </a:rPr>
                        <a:t>Jānis</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nSpc>
                          <a:spcPts val="1315"/>
                        </a:lnSpc>
                        <a:spcAft>
                          <a:spcPts val="0"/>
                        </a:spcAft>
                      </a:pPr>
                      <a:r>
                        <a:rPr lang="lv-LV" sz="2000">
                          <a:effectLst/>
                        </a:rPr>
                        <a:t>Egle</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r">
                        <a:lnSpc>
                          <a:spcPts val="1315"/>
                        </a:lnSpc>
                        <a:spcAft>
                          <a:spcPts val="0"/>
                        </a:spcAft>
                      </a:pPr>
                      <a:r>
                        <a:rPr lang="lv-LV" sz="2000">
                          <a:effectLst/>
                        </a:rPr>
                        <a:t>6030303</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7494786"/>
                  </a:ext>
                </a:extLst>
              </a:tr>
              <a:tr h="356913">
                <a:tc>
                  <a:txBody>
                    <a:bodyPr/>
                    <a:lstStyle/>
                    <a:p>
                      <a:pPr marL="63500">
                        <a:lnSpc>
                          <a:spcPts val="1315"/>
                        </a:lnSpc>
                        <a:spcAft>
                          <a:spcPts val="0"/>
                        </a:spcAft>
                      </a:pPr>
                      <a:r>
                        <a:rPr lang="lv-LV" sz="2000">
                          <a:effectLst/>
                        </a:rPr>
                        <a:t>Jānis</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nSpc>
                          <a:spcPts val="1315"/>
                        </a:lnSpc>
                        <a:spcAft>
                          <a:spcPts val="0"/>
                        </a:spcAft>
                      </a:pPr>
                      <a:r>
                        <a:rPr lang="lv-LV" sz="2000" dirty="0">
                          <a:effectLst/>
                        </a:rPr>
                        <a:t>Ziema</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r">
                        <a:lnSpc>
                          <a:spcPts val="1315"/>
                        </a:lnSpc>
                        <a:spcAft>
                          <a:spcPts val="0"/>
                        </a:spcAft>
                      </a:pPr>
                      <a:r>
                        <a:rPr lang="lv-LV" sz="2000" dirty="0">
                          <a:effectLst/>
                        </a:rPr>
                        <a:t>9123456</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547958"/>
                  </a:ext>
                </a:extLst>
              </a:tr>
            </a:tbl>
          </a:graphicData>
        </a:graphic>
      </p:graphicFrame>
    </p:spTree>
    <p:extLst>
      <p:ext uri="{BB962C8B-B14F-4D97-AF65-F5344CB8AC3E}">
        <p14:creationId xmlns:p14="http://schemas.microsoft.com/office/powerpoint/2010/main" val="3842354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Primary</a:t>
            </a:r>
            <a:r>
              <a:rPr lang="lv-LV" dirty="0"/>
              <a:t> </a:t>
            </a:r>
            <a:r>
              <a:rPr lang="lv-LV" dirty="0" err="1"/>
              <a:t>Key</a:t>
            </a:r>
            <a:endParaRPr lang="lv-LV" dirty="0"/>
          </a:p>
        </p:txBody>
      </p:sp>
      <p:sp>
        <p:nvSpPr>
          <p:cNvPr id="3" name="Content Placeholder 2"/>
          <p:cNvSpPr>
            <a:spLocks noGrp="1"/>
          </p:cNvSpPr>
          <p:nvPr>
            <p:ph idx="1"/>
          </p:nvPr>
        </p:nvSpPr>
        <p:spPr>
          <a:xfrm>
            <a:off x="628650" y="1825625"/>
            <a:ext cx="7886700" cy="2721991"/>
          </a:xfrm>
        </p:spPr>
        <p:txBody>
          <a:bodyPr>
            <a:normAutofit/>
          </a:bodyPr>
          <a:lstStyle/>
          <a:p>
            <a:pPr marL="0" indent="0" algn="just">
              <a:buNone/>
            </a:pPr>
            <a:r>
              <a:rPr lang="en-US" dirty="0"/>
              <a:t>A primary key field is added to the table, the content of which can be created in two ways:</a:t>
            </a:r>
          </a:p>
          <a:p>
            <a:pPr marL="514350" indent="-514350" algn="just">
              <a:buFont typeface="+mj-lt"/>
              <a:buAutoNum type="arabicPeriod" startAt="2"/>
            </a:pPr>
            <a:r>
              <a:rPr lang="en-US" dirty="0"/>
              <a:t>the user chooses the content of the primary key field, for example Personal Code;</a:t>
            </a:r>
          </a:p>
        </p:txBody>
      </p:sp>
      <p:graphicFrame>
        <p:nvGraphicFramePr>
          <p:cNvPr id="6" name="Table 5"/>
          <p:cNvGraphicFramePr>
            <a:graphicFrameLocks noGrp="1"/>
          </p:cNvGraphicFramePr>
          <p:nvPr>
            <p:extLst>
              <p:ext uri="{D42A27DB-BD31-4B8C-83A1-F6EECF244321}">
                <p14:modId xmlns:p14="http://schemas.microsoft.com/office/powerpoint/2010/main" val="140028560"/>
              </p:ext>
            </p:extLst>
          </p:nvPr>
        </p:nvGraphicFramePr>
        <p:xfrm>
          <a:off x="717848" y="4706112"/>
          <a:ext cx="7206953" cy="1560575"/>
        </p:xfrm>
        <a:graphic>
          <a:graphicData uri="http://schemas.openxmlformats.org/drawingml/2006/table">
            <a:tbl>
              <a:tblPr firstRow="1" firstCol="1" bandRow="1">
                <a:tableStyleId>{2D5ABB26-0587-4C30-8999-92F81FD0307C}</a:tableStyleId>
              </a:tblPr>
              <a:tblGrid>
                <a:gridCol w="2854294">
                  <a:extLst>
                    <a:ext uri="{9D8B030D-6E8A-4147-A177-3AD203B41FA5}">
                      <a16:colId xmlns:a16="http://schemas.microsoft.com/office/drawing/2014/main" val="2048988697"/>
                    </a:ext>
                  </a:extLst>
                </a:gridCol>
                <a:gridCol w="1095671">
                  <a:extLst>
                    <a:ext uri="{9D8B030D-6E8A-4147-A177-3AD203B41FA5}">
                      <a16:colId xmlns:a16="http://schemas.microsoft.com/office/drawing/2014/main" val="3079576398"/>
                    </a:ext>
                  </a:extLst>
                </a:gridCol>
                <a:gridCol w="1801738">
                  <a:extLst>
                    <a:ext uri="{9D8B030D-6E8A-4147-A177-3AD203B41FA5}">
                      <a16:colId xmlns:a16="http://schemas.microsoft.com/office/drawing/2014/main" val="2442910219"/>
                    </a:ext>
                  </a:extLst>
                </a:gridCol>
                <a:gridCol w="1455250">
                  <a:extLst>
                    <a:ext uri="{9D8B030D-6E8A-4147-A177-3AD203B41FA5}">
                      <a16:colId xmlns:a16="http://schemas.microsoft.com/office/drawing/2014/main" val="3999232447"/>
                    </a:ext>
                  </a:extLst>
                </a:gridCol>
              </a:tblGrid>
              <a:tr h="584302">
                <a:tc>
                  <a:txBody>
                    <a:bodyPr/>
                    <a:lstStyle/>
                    <a:p>
                      <a:pPr marR="88900" algn="ctr">
                        <a:spcAft>
                          <a:spcPts val="0"/>
                        </a:spcAft>
                      </a:pPr>
                      <a:r>
                        <a:rPr lang="en-US" sz="2000" dirty="0">
                          <a:effectLst/>
                          <a:latin typeface="Times New Roman" panose="02020603050405020304" pitchFamily="18" charset="0"/>
                          <a:ea typeface="Times New Roman" panose="02020603050405020304" pitchFamily="18" charset="0"/>
                        </a:rPr>
                        <a:t>Personal Code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00" algn="ctr">
                        <a:spcAft>
                          <a:spcPts val="0"/>
                        </a:spcAft>
                      </a:pPr>
                      <a:r>
                        <a:rPr lang="en-US" sz="2000" dirty="0">
                          <a:effectLst/>
                        </a:rPr>
                        <a:t>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algn="ctr">
                        <a:spcAft>
                          <a:spcPts val="0"/>
                        </a:spcAft>
                      </a:pPr>
                      <a:r>
                        <a:rPr lang="en-US" sz="2000" dirty="0">
                          <a:effectLst/>
                          <a:latin typeface="Times New Roman" panose="02020603050405020304" pitchFamily="18" charset="0"/>
                          <a:ea typeface="Times New Roman" panose="02020603050405020304" pitchFamily="18" charset="0"/>
                        </a:rPr>
                        <a:t>Surname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Aft>
                          <a:spcPts val="0"/>
                        </a:spcAft>
                      </a:pPr>
                      <a:r>
                        <a:rPr lang="en-US" sz="2000" dirty="0">
                          <a:effectLst/>
                          <a:latin typeface="Times New Roman" panose="02020603050405020304" pitchFamily="18" charset="0"/>
                          <a:ea typeface="Times New Roman" panose="02020603050405020304" pitchFamily="18" charset="0"/>
                        </a:rPr>
                        <a:t>Phone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400094"/>
                  </a:ext>
                </a:extLst>
              </a:tr>
              <a:tr h="323801">
                <a:tc>
                  <a:txBody>
                    <a:bodyPr/>
                    <a:lstStyle/>
                    <a:p>
                      <a:pPr marL="265113" marR="1041400" indent="0" algn="ctr">
                        <a:lnSpc>
                          <a:spcPts val="1315"/>
                        </a:lnSpc>
                        <a:spcAft>
                          <a:spcPts val="0"/>
                        </a:spcAft>
                      </a:pPr>
                      <a:r>
                        <a:rPr lang="lv-LV" sz="2000" dirty="0">
                          <a:effectLst/>
                        </a:rPr>
                        <a:t>1</a:t>
                      </a:r>
                      <a:r>
                        <a:rPr lang="en-US" sz="2000" dirty="0">
                          <a:effectLst/>
                        </a:rPr>
                        <a:t>11111-11111</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Jānis</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Egle</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a:effectLst/>
                        </a:rPr>
                        <a:t>6030303</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484314"/>
                  </a:ext>
                </a:extLst>
              </a:tr>
              <a:tr h="323801">
                <a:tc>
                  <a:txBody>
                    <a:bodyPr/>
                    <a:lstStyle/>
                    <a:p>
                      <a:pPr marL="265113" marR="1041400" indent="0" algn="ctr">
                        <a:lnSpc>
                          <a:spcPts val="1315"/>
                        </a:lnSpc>
                        <a:spcAft>
                          <a:spcPts val="0"/>
                        </a:spcAft>
                      </a:pPr>
                      <a:r>
                        <a:rPr lang="lv-LV" sz="2000" dirty="0">
                          <a:effectLst/>
                        </a:rPr>
                        <a:t>2</a:t>
                      </a:r>
                      <a:r>
                        <a:rPr lang="en-US" sz="2000" dirty="0">
                          <a:effectLst/>
                        </a:rPr>
                        <a:t>22222-22222</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Jānis</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Ziema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a:effectLst/>
                        </a:rPr>
                        <a:t>9123456</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2382500"/>
                  </a:ext>
                </a:extLst>
              </a:tr>
              <a:tr h="328671">
                <a:tc>
                  <a:txBody>
                    <a:bodyPr/>
                    <a:lstStyle/>
                    <a:p>
                      <a:pPr marL="265113" marR="1041400" indent="0" algn="ctr">
                        <a:lnSpc>
                          <a:spcPts val="1315"/>
                        </a:lnSpc>
                        <a:spcAft>
                          <a:spcPts val="0"/>
                        </a:spcAft>
                      </a:pPr>
                      <a:r>
                        <a:rPr lang="lv-LV" sz="2000" dirty="0">
                          <a:effectLst/>
                        </a:rPr>
                        <a:t>3</a:t>
                      </a:r>
                      <a:r>
                        <a:rPr lang="en-US" sz="2000" dirty="0">
                          <a:effectLst/>
                        </a:rPr>
                        <a:t>33333-33333</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Janīna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Pavasara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dirty="0">
                          <a:effectLst/>
                        </a:rPr>
                        <a:t>7654321</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817273"/>
                  </a:ext>
                </a:extLst>
              </a:tr>
            </a:tbl>
          </a:graphicData>
        </a:graphic>
      </p:graphicFrame>
    </p:spTree>
    <p:extLst>
      <p:ext uri="{BB962C8B-B14F-4D97-AF65-F5344CB8AC3E}">
        <p14:creationId xmlns:p14="http://schemas.microsoft.com/office/powerpoint/2010/main" val="3393037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Primary</a:t>
            </a:r>
            <a:r>
              <a:rPr lang="lv-LV" dirty="0"/>
              <a:t> </a:t>
            </a:r>
            <a:r>
              <a:rPr lang="lv-LV" dirty="0" err="1"/>
              <a:t>Key</a:t>
            </a:r>
            <a:endParaRPr lang="lv-LV" dirty="0"/>
          </a:p>
        </p:txBody>
      </p:sp>
      <p:sp>
        <p:nvSpPr>
          <p:cNvPr id="3" name="Content Placeholder 2"/>
          <p:cNvSpPr>
            <a:spLocks noGrp="1"/>
          </p:cNvSpPr>
          <p:nvPr>
            <p:ph idx="1"/>
          </p:nvPr>
        </p:nvSpPr>
        <p:spPr>
          <a:xfrm>
            <a:off x="628650" y="1825625"/>
            <a:ext cx="7886700" cy="2721991"/>
          </a:xfrm>
        </p:spPr>
        <p:txBody>
          <a:bodyPr>
            <a:normAutofit/>
          </a:bodyPr>
          <a:lstStyle/>
          <a:p>
            <a:pPr marL="514350" indent="-514350" algn="just">
              <a:buFont typeface="+mj-lt"/>
              <a:buAutoNum type="arabicPeriod" startAt="3"/>
            </a:pPr>
            <a:r>
              <a:rPr lang="en-US" dirty="0"/>
              <a:t>the content of the primary key field is generated by the database application.</a:t>
            </a:r>
            <a:endParaRPr lang="lv-LV" dirty="0"/>
          </a:p>
        </p:txBody>
      </p:sp>
      <p:graphicFrame>
        <p:nvGraphicFramePr>
          <p:cNvPr id="6" name="Table 5"/>
          <p:cNvGraphicFramePr>
            <a:graphicFrameLocks noGrp="1"/>
          </p:cNvGraphicFramePr>
          <p:nvPr>
            <p:extLst>
              <p:ext uri="{D42A27DB-BD31-4B8C-83A1-F6EECF244321}">
                <p14:modId xmlns:p14="http://schemas.microsoft.com/office/powerpoint/2010/main" val="2238285927"/>
              </p:ext>
            </p:extLst>
          </p:nvPr>
        </p:nvGraphicFramePr>
        <p:xfrm>
          <a:off x="1020482" y="3902264"/>
          <a:ext cx="6912865" cy="1560575"/>
        </p:xfrm>
        <a:graphic>
          <a:graphicData uri="http://schemas.openxmlformats.org/drawingml/2006/table">
            <a:tbl>
              <a:tblPr firstRow="1" firstCol="1" bandRow="1">
                <a:tableStyleId>{2D5ABB26-0587-4C30-8999-92F81FD0307C}</a:tableStyleId>
              </a:tblPr>
              <a:tblGrid>
                <a:gridCol w="2215662">
                  <a:extLst>
                    <a:ext uri="{9D8B030D-6E8A-4147-A177-3AD203B41FA5}">
                      <a16:colId xmlns:a16="http://schemas.microsoft.com/office/drawing/2014/main" val="2048988697"/>
                    </a:ext>
                  </a:extLst>
                </a:gridCol>
                <a:gridCol w="1573120">
                  <a:extLst>
                    <a:ext uri="{9D8B030D-6E8A-4147-A177-3AD203B41FA5}">
                      <a16:colId xmlns:a16="http://schemas.microsoft.com/office/drawing/2014/main" val="3079576398"/>
                    </a:ext>
                  </a:extLst>
                </a:gridCol>
                <a:gridCol w="1728216">
                  <a:extLst>
                    <a:ext uri="{9D8B030D-6E8A-4147-A177-3AD203B41FA5}">
                      <a16:colId xmlns:a16="http://schemas.microsoft.com/office/drawing/2014/main" val="2442910219"/>
                    </a:ext>
                  </a:extLst>
                </a:gridCol>
                <a:gridCol w="1395867">
                  <a:extLst>
                    <a:ext uri="{9D8B030D-6E8A-4147-A177-3AD203B41FA5}">
                      <a16:colId xmlns:a16="http://schemas.microsoft.com/office/drawing/2014/main" val="3999232447"/>
                    </a:ext>
                  </a:extLst>
                </a:gridCol>
              </a:tblGrid>
              <a:tr h="584302">
                <a:tc>
                  <a:txBody>
                    <a:bodyPr/>
                    <a:lstStyle/>
                    <a:p>
                      <a:pPr marR="88900" algn="ctr">
                        <a:spcAft>
                          <a:spcPts val="0"/>
                        </a:spcAft>
                      </a:pPr>
                      <a:r>
                        <a:rPr lang="en-US" sz="2000" dirty="0">
                          <a:effectLst/>
                        </a:rPr>
                        <a:t>Generated PK</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4000" algn="ctr">
                        <a:spcAft>
                          <a:spcPts val="0"/>
                        </a:spcAft>
                      </a:pPr>
                      <a:r>
                        <a:rPr lang="en-US" sz="2000" dirty="0">
                          <a:effectLst/>
                        </a:rPr>
                        <a:t>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algn="ctr">
                        <a:spcAft>
                          <a:spcPts val="0"/>
                        </a:spcAft>
                      </a:pPr>
                      <a:r>
                        <a:rPr lang="en-US" sz="2000" dirty="0">
                          <a:effectLst/>
                          <a:latin typeface="Times New Roman" panose="02020603050405020304" pitchFamily="18" charset="0"/>
                          <a:ea typeface="Times New Roman" panose="02020603050405020304" pitchFamily="18" charset="0"/>
                        </a:rPr>
                        <a:t>Surname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Aft>
                          <a:spcPts val="0"/>
                        </a:spcAft>
                      </a:pPr>
                      <a:r>
                        <a:rPr lang="en-US" sz="2000" dirty="0">
                          <a:effectLst/>
                          <a:latin typeface="Times New Roman" panose="02020603050405020304" pitchFamily="18" charset="0"/>
                          <a:ea typeface="Times New Roman" panose="02020603050405020304" pitchFamily="18" charset="0"/>
                        </a:rPr>
                        <a:t>Phone</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400094"/>
                  </a:ext>
                </a:extLst>
              </a:tr>
              <a:tr h="323801">
                <a:tc>
                  <a:txBody>
                    <a:bodyPr/>
                    <a:lstStyle/>
                    <a:p>
                      <a:pPr marR="1041400" algn="ctr">
                        <a:lnSpc>
                          <a:spcPts val="1315"/>
                        </a:lnSpc>
                        <a:spcAft>
                          <a:spcPts val="0"/>
                        </a:spcAft>
                      </a:pPr>
                      <a:r>
                        <a:rPr lang="lv-LV" sz="2000">
                          <a:effectLst/>
                        </a:rPr>
                        <a:t>1</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dirty="0">
                          <a:effectLst/>
                        </a:rPr>
                        <a:t>Jānis</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Egle</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a:effectLst/>
                        </a:rPr>
                        <a:t>6030303</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484314"/>
                  </a:ext>
                </a:extLst>
              </a:tr>
              <a:tr h="323801">
                <a:tc>
                  <a:txBody>
                    <a:bodyPr/>
                    <a:lstStyle/>
                    <a:p>
                      <a:pPr marR="1041400" algn="ctr">
                        <a:lnSpc>
                          <a:spcPts val="1315"/>
                        </a:lnSpc>
                        <a:spcAft>
                          <a:spcPts val="0"/>
                        </a:spcAft>
                      </a:pPr>
                      <a:r>
                        <a:rPr lang="lv-LV" sz="2000">
                          <a:effectLst/>
                        </a:rPr>
                        <a:t>2</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Jānis</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Ziema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a:effectLst/>
                        </a:rPr>
                        <a:t>9123456</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2382500"/>
                  </a:ext>
                </a:extLst>
              </a:tr>
              <a:tr h="328671">
                <a:tc>
                  <a:txBody>
                    <a:bodyPr/>
                    <a:lstStyle/>
                    <a:p>
                      <a:pPr marR="1041400" algn="ctr">
                        <a:lnSpc>
                          <a:spcPts val="1315"/>
                        </a:lnSpc>
                        <a:spcAft>
                          <a:spcPts val="0"/>
                        </a:spcAft>
                      </a:pPr>
                      <a:r>
                        <a:rPr lang="lv-LV" sz="2000">
                          <a:effectLst/>
                        </a:rPr>
                        <a:t>3</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Janīna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800" algn="ctr">
                        <a:lnSpc>
                          <a:spcPts val="1315"/>
                        </a:lnSpc>
                        <a:spcAft>
                          <a:spcPts val="0"/>
                        </a:spcAft>
                      </a:pPr>
                      <a:r>
                        <a:rPr lang="lv-LV" sz="2000">
                          <a:effectLst/>
                        </a:rPr>
                        <a:t>Pavasara</a:t>
                      </a:r>
                      <a:endParaRPr lang="lv-LV" sz="200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139700" algn="ctr">
                        <a:lnSpc>
                          <a:spcPts val="1315"/>
                        </a:lnSpc>
                        <a:spcAft>
                          <a:spcPts val="0"/>
                        </a:spcAft>
                      </a:pPr>
                      <a:r>
                        <a:rPr lang="lv-LV" sz="2000" dirty="0">
                          <a:effectLst/>
                        </a:rPr>
                        <a:t>7654321</a:t>
                      </a:r>
                      <a:endParaRPr lang="lv-LV" sz="2000" dirty="0">
                        <a:effectLst/>
                        <a:latin typeface="Times New Roman" panose="02020603050405020304" pitchFamily="18" charset="0"/>
                        <a:ea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817273"/>
                  </a:ext>
                </a:extLst>
              </a:tr>
            </a:tbl>
          </a:graphicData>
        </a:graphic>
      </p:graphicFrame>
    </p:spTree>
    <p:extLst>
      <p:ext uri="{BB962C8B-B14F-4D97-AF65-F5344CB8AC3E}">
        <p14:creationId xmlns:p14="http://schemas.microsoft.com/office/powerpoint/2010/main" val="2721411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Indexing</a:t>
            </a:r>
            <a:endParaRPr lang="lv-LV" dirty="0"/>
          </a:p>
        </p:txBody>
      </p:sp>
      <p:sp>
        <p:nvSpPr>
          <p:cNvPr id="3" name="Content Placeholder 2"/>
          <p:cNvSpPr>
            <a:spLocks noGrp="1"/>
          </p:cNvSpPr>
          <p:nvPr>
            <p:ph idx="1"/>
          </p:nvPr>
        </p:nvSpPr>
        <p:spPr>
          <a:xfrm>
            <a:off x="628650" y="1825625"/>
            <a:ext cx="7886700" cy="4600812"/>
          </a:xfrm>
        </p:spPr>
        <p:txBody>
          <a:bodyPr>
            <a:normAutofit/>
          </a:bodyPr>
          <a:lstStyle/>
          <a:p>
            <a:pPr marL="0" indent="0" algn="just">
              <a:buNone/>
            </a:pPr>
            <a:r>
              <a:rPr lang="en-US" dirty="0"/>
              <a:t>A database index is a data structure that improves the speed of data retrieval operations on a database table at the cost of additional writes and storage space to maintain the index data structure. Indexes are used to quickly locate data without having to search every row in a database table every time a database table is accessed. </a:t>
            </a:r>
          </a:p>
          <a:p>
            <a:pPr marL="0" indent="0" algn="just">
              <a:buNone/>
            </a:pPr>
            <a:r>
              <a:rPr lang="en-US" dirty="0"/>
              <a:t>Indexes can be created using one or more columns of a database table, providing the basis for both rapid random lookups and efficient access of ordered records.</a:t>
            </a:r>
          </a:p>
        </p:txBody>
      </p:sp>
    </p:spTree>
    <p:extLst>
      <p:ext uri="{BB962C8B-B14F-4D97-AF65-F5344CB8AC3E}">
        <p14:creationId xmlns:p14="http://schemas.microsoft.com/office/powerpoint/2010/main" val="640021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Index</a:t>
            </a:r>
            <a:endParaRPr lang="lv-LV" dirty="0"/>
          </a:p>
        </p:txBody>
      </p:sp>
      <p:sp>
        <p:nvSpPr>
          <p:cNvPr id="3" name="Content Placeholder 2"/>
          <p:cNvSpPr>
            <a:spLocks noGrp="1"/>
          </p:cNvSpPr>
          <p:nvPr>
            <p:ph idx="1"/>
          </p:nvPr>
        </p:nvSpPr>
        <p:spPr>
          <a:xfrm>
            <a:off x="628650" y="1825625"/>
            <a:ext cx="7886700" cy="4282567"/>
          </a:xfrm>
        </p:spPr>
        <p:txBody>
          <a:bodyPr>
            <a:normAutofit/>
          </a:bodyPr>
          <a:lstStyle/>
          <a:p>
            <a:pPr marL="0" indent="0" algn="just">
              <a:buNone/>
            </a:pPr>
            <a:r>
              <a:rPr lang="en-US" dirty="0"/>
              <a:t>An index is a copy of selected columns of data from a table, called a database key or simply key, that can be searched very efficiently that also includes a direct link to the complete row of data it was copied from.</a:t>
            </a:r>
          </a:p>
          <a:p>
            <a:pPr marL="0" indent="0" algn="just">
              <a:buNone/>
            </a:pPr>
            <a:r>
              <a:rPr lang="en-US" dirty="0"/>
              <a:t>Because records are often sorted and searched by the primary key field, indexation is enabled automatically (by default) for the primary key field.</a:t>
            </a:r>
            <a:endParaRPr lang="lv-LV" dirty="0"/>
          </a:p>
        </p:txBody>
      </p:sp>
    </p:spTree>
    <p:extLst>
      <p:ext uri="{BB962C8B-B14F-4D97-AF65-F5344CB8AC3E}">
        <p14:creationId xmlns:p14="http://schemas.microsoft.com/office/powerpoint/2010/main" val="70567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Table</a:t>
            </a:r>
            <a:r>
              <a:rPr lang="lv-LV" dirty="0"/>
              <a:t> </a:t>
            </a:r>
            <a:r>
              <a:rPr lang="lv-LV" dirty="0" err="1"/>
              <a:t>relationships</a:t>
            </a:r>
            <a:r>
              <a:rPr lang="lv-LV" dirty="0"/>
              <a:t> (</a:t>
            </a:r>
            <a:r>
              <a:rPr lang="lv-LV" dirty="0" err="1"/>
              <a:t>Relations</a:t>
            </a:r>
            <a:r>
              <a:rPr lang="lv-LV" dirty="0"/>
              <a:t>)</a:t>
            </a:r>
          </a:p>
        </p:txBody>
      </p:sp>
      <p:sp>
        <p:nvSpPr>
          <p:cNvPr id="3" name="Content Placeholder 2"/>
          <p:cNvSpPr>
            <a:spLocks noGrp="1"/>
          </p:cNvSpPr>
          <p:nvPr>
            <p:ph idx="1"/>
          </p:nvPr>
        </p:nvSpPr>
        <p:spPr/>
        <p:txBody>
          <a:bodyPr/>
          <a:lstStyle/>
          <a:p>
            <a:pPr marL="0" indent="0" algn="just">
              <a:buNone/>
            </a:pPr>
            <a:r>
              <a:rPr lang="en-US" dirty="0"/>
              <a:t>The use of table relationships or relations minimizes duplication of information in the database.</a:t>
            </a:r>
          </a:p>
          <a:p>
            <a:pPr marL="0" indent="0" algn="just">
              <a:buNone/>
            </a:pPr>
            <a:r>
              <a:rPr lang="en-US" dirty="0"/>
              <a:t>Relationships between tables are implemented by special types of fields called </a:t>
            </a:r>
            <a:r>
              <a:rPr lang="en-US" b="1" dirty="0"/>
              <a:t>primary keys </a:t>
            </a:r>
            <a:r>
              <a:rPr lang="en-US" dirty="0"/>
              <a:t>and </a:t>
            </a:r>
            <a:r>
              <a:rPr lang="en-US" b="1" dirty="0"/>
              <a:t>foreign keys</a:t>
            </a:r>
            <a:r>
              <a:rPr lang="en-US" dirty="0"/>
              <a:t>.</a:t>
            </a:r>
            <a:endParaRPr lang="lv-LV" dirty="0"/>
          </a:p>
        </p:txBody>
      </p:sp>
    </p:spTree>
    <p:extLst>
      <p:ext uri="{BB962C8B-B14F-4D97-AF65-F5344CB8AC3E}">
        <p14:creationId xmlns:p14="http://schemas.microsoft.com/office/powerpoint/2010/main" val="114245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Table</a:t>
            </a:r>
            <a:r>
              <a:rPr lang="lv-LV" dirty="0"/>
              <a:t> </a:t>
            </a:r>
            <a:r>
              <a:rPr lang="lv-LV" dirty="0" err="1"/>
              <a:t>relationships</a:t>
            </a:r>
            <a:r>
              <a:rPr lang="lv-LV" dirty="0"/>
              <a:t> (</a:t>
            </a:r>
            <a:r>
              <a:rPr lang="lv-LV" dirty="0" err="1"/>
              <a:t>Relations</a:t>
            </a:r>
            <a:r>
              <a:rPr lang="lv-LV" dirty="0"/>
              <a:t>)</a:t>
            </a:r>
          </a:p>
        </p:txBody>
      </p:sp>
      <p:sp>
        <p:nvSpPr>
          <p:cNvPr id="3" name="Content Placeholder 2"/>
          <p:cNvSpPr>
            <a:spLocks noGrp="1"/>
          </p:cNvSpPr>
          <p:nvPr>
            <p:ph idx="1"/>
          </p:nvPr>
        </p:nvSpPr>
        <p:spPr>
          <a:xfrm>
            <a:off x="628650" y="1825625"/>
            <a:ext cx="7886700" cy="1880743"/>
          </a:xfrm>
        </p:spPr>
        <p:txBody>
          <a:bodyPr>
            <a:normAutofit lnSpcReduction="10000"/>
          </a:bodyPr>
          <a:lstStyle/>
          <a:p>
            <a:pPr marL="0" indent="0" algn="just">
              <a:buNone/>
            </a:pPr>
            <a:r>
              <a:rPr lang="en-US" dirty="0"/>
              <a:t>Int the example below the data table Tourism contains the information about the activity of a tourism company (the primary key field is marked with an ID). It is easy to notice that part of the information is duplicated.</a:t>
            </a:r>
            <a:endParaRPr lang="lv-LV" dirty="0"/>
          </a:p>
        </p:txBody>
      </p:sp>
      <p:pic>
        <p:nvPicPr>
          <p:cNvPr id="6" name="Picture 5">
            <a:extLst>
              <a:ext uri="{FF2B5EF4-FFF2-40B4-BE49-F238E27FC236}">
                <a16:creationId xmlns:a16="http://schemas.microsoft.com/office/drawing/2014/main" id="{42E5CCD9-05B6-4DB4-AE23-3F67B29A2CA1}"/>
              </a:ext>
            </a:extLst>
          </p:cNvPr>
          <p:cNvPicPr>
            <a:picLocks noChangeAspect="1"/>
          </p:cNvPicPr>
          <p:nvPr/>
        </p:nvPicPr>
        <p:blipFill>
          <a:blip r:embed="rId2"/>
          <a:stretch>
            <a:fillRect/>
          </a:stretch>
        </p:blipFill>
        <p:spPr>
          <a:xfrm>
            <a:off x="476250" y="4004951"/>
            <a:ext cx="8039100" cy="2095500"/>
          </a:xfrm>
          <a:prstGeom prst="rect">
            <a:avLst/>
          </a:prstGeom>
        </p:spPr>
      </p:pic>
    </p:spTree>
    <p:extLst>
      <p:ext uri="{BB962C8B-B14F-4D97-AF65-F5344CB8AC3E}">
        <p14:creationId xmlns:p14="http://schemas.microsoft.com/office/powerpoint/2010/main" val="600433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Table</a:t>
            </a:r>
            <a:r>
              <a:rPr lang="lv-LV" dirty="0"/>
              <a:t> </a:t>
            </a:r>
            <a:r>
              <a:rPr lang="lv-LV" dirty="0" err="1"/>
              <a:t>relationships</a:t>
            </a:r>
            <a:r>
              <a:rPr lang="lv-LV" dirty="0"/>
              <a:t> (</a:t>
            </a:r>
            <a:r>
              <a:rPr lang="lv-LV" dirty="0" err="1"/>
              <a:t>Relations</a:t>
            </a:r>
            <a:r>
              <a:rPr lang="lv-LV" dirty="0"/>
              <a:t>)</a:t>
            </a:r>
          </a:p>
        </p:txBody>
      </p:sp>
      <p:sp>
        <p:nvSpPr>
          <p:cNvPr id="3" name="Content Placeholder 2"/>
          <p:cNvSpPr>
            <a:spLocks noGrp="1"/>
          </p:cNvSpPr>
          <p:nvPr>
            <p:ph idx="1"/>
          </p:nvPr>
        </p:nvSpPr>
        <p:spPr>
          <a:xfrm>
            <a:off x="628650" y="1606169"/>
            <a:ext cx="7886700" cy="1271143"/>
          </a:xfrm>
        </p:spPr>
        <p:txBody>
          <a:bodyPr>
            <a:normAutofit/>
          </a:bodyPr>
          <a:lstStyle/>
          <a:p>
            <a:pPr marL="0" indent="0" algn="just">
              <a:buNone/>
            </a:pPr>
            <a:r>
              <a:rPr lang="en-US" dirty="0"/>
              <a:t>The same information can be arranged in two tables, such as C</a:t>
            </a:r>
            <a:r>
              <a:rPr lang="lv-LV" dirty="0" err="1"/>
              <a:t>lients</a:t>
            </a:r>
            <a:r>
              <a:rPr lang="en-US" dirty="0"/>
              <a:t> and</a:t>
            </a:r>
            <a:r>
              <a:rPr lang="lv-LV" dirty="0"/>
              <a:t> </a:t>
            </a:r>
            <a:r>
              <a:rPr lang="lv-LV" dirty="0" err="1"/>
              <a:t>Trips</a:t>
            </a:r>
            <a:r>
              <a:rPr lang="en-US" dirty="0"/>
              <a:t>.</a:t>
            </a:r>
            <a:endParaRPr lang="lv-LV" dirty="0"/>
          </a:p>
        </p:txBody>
      </p:sp>
      <p:sp>
        <p:nvSpPr>
          <p:cNvPr id="6" name="Content Placeholder 2"/>
          <p:cNvSpPr txBox="1">
            <a:spLocks/>
          </p:cNvSpPr>
          <p:nvPr/>
        </p:nvSpPr>
        <p:spPr>
          <a:xfrm>
            <a:off x="628650" y="5330825"/>
            <a:ext cx="7886700" cy="12711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In the C</a:t>
            </a:r>
            <a:r>
              <a:rPr lang="lv-LV" dirty="0" err="1"/>
              <a:t>lients</a:t>
            </a:r>
            <a:r>
              <a:rPr lang="en-US" dirty="0"/>
              <a:t> table, the </a:t>
            </a:r>
            <a:r>
              <a:rPr lang="lv-LV" dirty="0" err="1"/>
              <a:t>Trip</a:t>
            </a:r>
            <a:r>
              <a:rPr lang="en-US" dirty="0"/>
              <a:t>ID field points to an entry in the </a:t>
            </a:r>
            <a:r>
              <a:rPr lang="lv-LV" dirty="0" err="1"/>
              <a:t>Trip</a:t>
            </a:r>
            <a:r>
              <a:rPr lang="en-US" dirty="0"/>
              <a:t> table that describes the trip</a:t>
            </a:r>
            <a:r>
              <a:rPr lang="lv-LV" dirty="0"/>
              <a:t> </a:t>
            </a:r>
            <a:r>
              <a:rPr lang="lv-LV" dirty="0" err="1"/>
              <a:t>data</a:t>
            </a:r>
            <a:r>
              <a:rPr lang="en-US" dirty="0"/>
              <a:t>, thus avoiding duplication of information.</a:t>
            </a:r>
            <a:endParaRPr lang="lv-LV" dirty="0"/>
          </a:p>
        </p:txBody>
      </p:sp>
      <p:pic>
        <p:nvPicPr>
          <p:cNvPr id="5" name="Picture 4">
            <a:extLst>
              <a:ext uri="{FF2B5EF4-FFF2-40B4-BE49-F238E27FC236}">
                <a16:creationId xmlns:a16="http://schemas.microsoft.com/office/drawing/2014/main" id="{9DDCF040-D3E4-4EA5-A878-F8AD07B2E9EF}"/>
              </a:ext>
            </a:extLst>
          </p:cNvPr>
          <p:cNvPicPr>
            <a:picLocks noChangeAspect="1"/>
          </p:cNvPicPr>
          <p:nvPr/>
        </p:nvPicPr>
        <p:blipFill>
          <a:blip r:embed="rId2"/>
          <a:stretch>
            <a:fillRect/>
          </a:stretch>
        </p:blipFill>
        <p:spPr>
          <a:xfrm>
            <a:off x="285750" y="2675456"/>
            <a:ext cx="8572500" cy="2190750"/>
          </a:xfrm>
          <a:prstGeom prst="rect">
            <a:avLst/>
          </a:prstGeom>
        </p:spPr>
      </p:pic>
    </p:spTree>
    <p:extLst>
      <p:ext uri="{BB962C8B-B14F-4D97-AF65-F5344CB8AC3E}">
        <p14:creationId xmlns:p14="http://schemas.microsoft.com/office/powerpoint/2010/main" val="3594490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Table</a:t>
            </a:r>
            <a:r>
              <a:rPr lang="lv-LV" dirty="0"/>
              <a:t> </a:t>
            </a:r>
            <a:r>
              <a:rPr lang="lv-LV" dirty="0" err="1"/>
              <a:t>relationships</a:t>
            </a:r>
            <a:r>
              <a:rPr lang="lv-LV" dirty="0"/>
              <a:t> (</a:t>
            </a:r>
            <a:r>
              <a:rPr lang="lv-LV" dirty="0" err="1"/>
              <a:t>Relations</a:t>
            </a:r>
            <a:r>
              <a:rPr lang="lv-LV" dirty="0"/>
              <a:t>)</a:t>
            </a:r>
          </a:p>
        </p:txBody>
      </p:sp>
      <p:sp>
        <p:nvSpPr>
          <p:cNvPr id="3" name="Content Placeholder 2"/>
          <p:cNvSpPr>
            <a:spLocks noGrp="1"/>
          </p:cNvSpPr>
          <p:nvPr>
            <p:ph idx="1"/>
          </p:nvPr>
        </p:nvSpPr>
        <p:spPr>
          <a:xfrm>
            <a:off x="628650" y="1690689"/>
            <a:ext cx="7886700" cy="4486274"/>
          </a:xfrm>
        </p:spPr>
        <p:txBody>
          <a:bodyPr/>
          <a:lstStyle/>
          <a:p>
            <a:pPr marL="0" indent="0" algn="just">
              <a:buNone/>
            </a:pPr>
            <a:r>
              <a:rPr lang="en-US" dirty="0"/>
              <a:t>To create relationships, a </a:t>
            </a:r>
            <a:r>
              <a:rPr lang="en-US" b="1" dirty="0"/>
              <a:t>primary key</a:t>
            </a:r>
            <a:r>
              <a:rPr lang="en-US" dirty="0"/>
              <a:t> field is usually used. For example, the </a:t>
            </a:r>
            <a:r>
              <a:rPr lang="en-US" dirty="0" err="1"/>
              <a:t>TripID</a:t>
            </a:r>
            <a:r>
              <a:rPr lang="en-US" dirty="0"/>
              <a:t> </a:t>
            </a:r>
            <a:r>
              <a:rPr lang="en-US" b="1" dirty="0"/>
              <a:t>primary key</a:t>
            </a:r>
            <a:r>
              <a:rPr lang="en-US" dirty="0"/>
              <a:t> field in the Trips table is refers to a field of the same name in the Clients table.</a:t>
            </a:r>
            <a:endParaRPr lang="lv-LV" dirty="0"/>
          </a:p>
        </p:txBody>
      </p:sp>
      <p:pic>
        <p:nvPicPr>
          <p:cNvPr id="5" name="Picture 4">
            <a:extLst>
              <a:ext uri="{FF2B5EF4-FFF2-40B4-BE49-F238E27FC236}">
                <a16:creationId xmlns:a16="http://schemas.microsoft.com/office/drawing/2014/main" id="{53A21A5F-3E74-477B-9874-A78BF81D2192}"/>
              </a:ext>
            </a:extLst>
          </p:cNvPr>
          <p:cNvPicPr>
            <a:picLocks noChangeAspect="1"/>
          </p:cNvPicPr>
          <p:nvPr/>
        </p:nvPicPr>
        <p:blipFill>
          <a:blip r:embed="rId2"/>
          <a:stretch>
            <a:fillRect/>
          </a:stretch>
        </p:blipFill>
        <p:spPr>
          <a:xfrm>
            <a:off x="208838" y="3760772"/>
            <a:ext cx="8572500" cy="2190750"/>
          </a:xfrm>
          <a:prstGeom prst="rect">
            <a:avLst/>
          </a:prstGeom>
        </p:spPr>
      </p:pic>
    </p:spTree>
    <p:extLst>
      <p:ext uri="{BB962C8B-B14F-4D97-AF65-F5344CB8AC3E}">
        <p14:creationId xmlns:p14="http://schemas.microsoft.com/office/powerpoint/2010/main" val="3302591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Foreign</a:t>
            </a:r>
            <a:r>
              <a:rPr lang="lv-LV" dirty="0"/>
              <a:t> </a:t>
            </a:r>
            <a:r>
              <a:rPr lang="lv-LV" dirty="0" err="1"/>
              <a:t>Key</a:t>
            </a:r>
            <a:endParaRPr lang="lv-LV" dirty="0"/>
          </a:p>
        </p:txBody>
      </p:sp>
      <p:sp>
        <p:nvSpPr>
          <p:cNvPr id="3" name="Content Placeholder 2"/>
          <p:cNvSpPr>
            <a:spLocks noGrp="1"/>
          </p:cNvSpPr>
          <p:nvPr>
            <p:ph idx="1"/>
          </p:nvPr>
        </p:nvSpPr>
        <p:spPr/>
        <p:txBody>
          <a:bodyPr>
            <a:normAutofit/>
          </a:bodyPr>
          <a:lstStyle/>
          <a:p>
            <a:pPr marL="0" indent="0" algn="just">
              <a:buNone/>
            </a:pPr>
            <a:r>
              <a:rPr lang="en-US" dirty="0"/>
              <a:t>A FOREIGN KEY is a key used to link two tables together.</a:t>
            </a:r>
          </a:p>
          <a:p>
            <a:pPr marL="0" indent="0" algn="just">
              <a:buNone/>
            </a:pPr>
            <a:r>
              <a:rPr lang="en-US" dirty="0"/>
              <a:t>A FOREIGN KEY is a field (or collection of fields) in one table that refers to the PRIMARY KEY in another table.</a:t>
            </a:r>
          </a:p>
          <a:p>
            <a:pPr marL="0" indent="0" algn="just">
              <a:buNone/>
            </a:pPr>
            <a:r>
              <a:rPr lang="en-US" dirty="0"/>
              <a:t>The table containing the foreign key is called the child table, and the table containing the candidate key is called the referenced or parent table.</a:t>
            </a:r>
            <a:endParaRPr lang="lv-LV" dirty="0"/>
          </a:p>
        </p:txBody>
      </p:sp>
    </p:spTree>
    <p:extLst>
      <p:ext uri="{BB962C8B-B14F-4D97-AF65-F5344CB8AC3E}">
        <p14:creationId xmlns:p14="http://schemas.microsoft.com/office/powerpoint/2010/main" val="1196139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Foreign</a:t>
            </a:r>
            <a:r>
              <a:rPr lang="lv-LV" dirty="0"/>
              <a:t> </a:t>
            </a:r>
            <a:r>
              <a:rPr lang="lv-LV" dirty="0" err="1"/>
              <a:t>Key</a:t>
            </a:r>
            <a:endParaRPr lang="lv-LV" dirty="0"/>
          </a:p>
        </p:txBody>
      </p:sp>
      <p:sp>
        <p:nvSpPr>
          <p:cNvPr id="3" name="Content Placeholder 2"/>
          <p:cNvSpPr>
            <a:spLocks noGrp="1"/>
          </p:cNvSpPr>
          <p:nvPr>
            <p:ph idx="1"/>
          </p:nvPr>
        </p:nvSpPr>
        <p:spPr>
          <a:xfrm>
            <a:off x="628650" y="1618361"/>
            <a:ext cx="7886700" cy="4351338"/>
          </a:xfrm>
        </p:spPr>
        <p:txBody>
          <a:bodyPr/>
          <a:lstStyle/>
          <a:p>
            <a:pPr marL="0" indent="0" algn="just">
              <a:buNone/>
            </a:pPr>
            <a:r>
              <a:rPr lang="en-US" dirty="0"/>
              <a:t>The </a:t>
            </a:r>
            <a:r>
              <a:rPr lang="en-US" dirty="0" err="1"/>
              <a:t>TripID</a:t>
            </a:r>
            <a:r>
              <a:rPr lang="en-US" dirty="0"/>
              <a:t> field from the Clients table is a </a:t>
            </a:r>
            <a:r>
              <a:rPr lang="en-US" b="1" dirty="0"/>
              <a:t>foreign key </a:t>
            </a:r>
            <a:r>
              <a:rPr lang="en-US" dirty="0"/>
              <a:t>that refers to the </a:t>
            </a:r>
            <a:r>
              <a:rPr lang="en-US" b="1" dirty="0"/>
              <a:t>primary key </a:t>
            </a:r>
            <a:r>
              <a:rPr lang="en-US" b="1" dirty="0" err="1"/>
              <a:t>TripID</a:t>
            </a:r>
            <a:r>
              <a:rPr lang="en-US" dirty="0"/>
              <a:t> in the Trips table. As a result, each customer is assigned the appropriate trip from the Trips table.</a:t>
            </a:r>
            <a:endParaRPr lang="lv-LV" dirty="0"/>
          </a:p>
          <a:p>
            <a:pPr marL="0" indent="0" algn="just">
              <a:buNone/>
            </a:pPr>
            <a:r>
              <a:rPr lang="en-US" b="1" dirty="0"/>
              <a:t>To establish a link between a primary and a foreign key, their data types must match.</a:t>
            </a:r>
            <a:endParaRPr lang="lv-LV" dirty="0"/>
          </a:p>
        </p:txBody>
      </p:sp>
      <p:pic>
        <p:nvPicPr>
          <p:cNvPr id="5" name="Picture 4">
            <a:extLst>
              <a:ext uri="{FF2B5EF4-FFF2-40B4-BE49-F238E27FC236}">
                <a16:creationId xmlns:a16="http://schemas.microsoft.com/office/drawing/2014/main" id="{51ECA60C-7569-43AB-93DB-79FD789AA9A9}"/>
              </a:ext>
            </a:extLst>
          </p:cNvPr>
          <p:cNvPicPr>
            <a:picLocks noChangeAspect="1"/>
          </p:cNvPicPr>
          <p:nvPr/>
        </p:nvPicPr>
        <p:blipFill>
          <a:blip r:embed="rId2"/>
          <a:stretch>
            <a:fillRect/>
          </a:stretch>
        </p:blipFill>
        <p:spPr>
          <a:xfrm>
            <a:off x="208838" y="4325411"/>
            <a:ext cx="8572500" cy="2190750"/>
          </a:xfrm>
          <a:prstGeom prst="rect">
            <a:avLst/>
          </a:prstGeom>
        </p:spPr>
      </p:pic>
    </p:spTree>
    <p:extLst>
      <p:ext uri="{BB962C8B-B14F-4D97-AF65-F5344CB8AC3E}">
        <p14:creationId xmlns:p14="http://schemas.microsoft.com/office/powerpoint/2010/main" val="3093460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a:xfrm>
            <a:off x="367469" y="2196268"/>
            <a:ext cx="8147881" cy="4443813"/>
          </a:xfrm>
        </p:spPr>
        <p:txBody>
          <a:bodyPr>
            <a:normAutofit fontScale="70000" lnSpcReduction="20000"/>
          </a:bodyPr>
          <a:lstStyle/>
          <a:p>
            <a:pPr marL="0" indent="0" algn="just">
              <a:buNone/>
            </a:pPr>
            <a:r>
              <a:rPr lang="en-US" dirty="0"/>
              <a:t>One of the huge advantages of a relational database is that, once you have your data held in clearly defined, compact tables, you can connect or relate the data held in different tables. There are three types of relationships between the data you are likely to encounter at this stage in the design: </a:t>
            </a:r>
          </a:p>
          <a:p>
            <a:pPr marL="0" indent="0" algn="just">
              <a:buNone/>
            </a:pPr>
            <a:r>
              <a:rPr lang="en-US" b="1" dirty="0"/>
              <a:t>one-to-one, </a:t>
            </a:r>
          </a:p>
          <a:p>
            <a:pPr marL="0" indent="0" algn="just">
              <a:buNone/>
            </a:pPr>
            <a:r>
              <a:rPr lang="en-US" b="1" dirty="0"/>
              <a:t>one-to-many, </a:t>
            </a:r>
          </a:p>
          <a:p>
            <a:pPr marL="0" indent="0" algn="just">
              <a:buNone/>
            </a:pPr>
            <a:r>
              <a:rPr lang="en-US" b="1" dirty="0"/>
              <a:t>many-to-many. </a:t>
            </a:r>
          </a:p>
          <a:p>
            <a:pPr marL="0" indent="0" algn="just">
              <a:buNone/>
            </a:pPr>
            <a:r>
              <a:rPr lang="en-US" dirty="0"/>
              <a:t>To be able to identify these relationships, you need to examine the data and have an understanding of what business rules apply to the data and tables. If you're not sure, it can be helpful to meet with someone who does have a thorough knowledge of the data.</a:t>
            </a:r>
          </a:p>
          <a:p>
            <a:pPr marL="0" indent="0" algn="just">
              <a:buNone/>
            </a:pPr>
            <a:endParaRPr lang="en-US" dirty="0"/>
          </a:p>
          <a:p>
            <a:pPr marL="0" indent="0" algn="just">
              <a:buNone/>
            </a:pPr>
            <a:r>
              <a:rPr lang="en-US" dirty="0"/>
              <a:t>When analyzing table relationships, you need to look at the relationship from both sides. When creating table relationships you always work with two tables at a time. One table is called the primary or parent table and the other is the related or child table.</a:t>
            </a:r>
            <a:endParaRPr lang="lv-LV" dirty="0"/>
          </a:p>
        </p:txBody>
      </p:sp>
    </p:spTree>
    <p:extLst>
      <p:ext uri="{BB962C8B-B14F-4D97-AF65-F5344CB8AC3E}">
        <p14:creationId xmlns:p14="http://schemas.microsoft.com/office/powerpoint/2010/main" val="4164451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p:txBody>
          <a:bodyPr/>
          <a:lstStyle/>
          <a:p>
            <a:pPr marL="0" indent="0" algn="just">
              <a:buNone/>
            </a:pPr>
            <a:r>
              <a:rPr lang="en-US" b="1" dirty="0"/>
              <a:t>One-To-Many Relationship</a:t>
            </a:r>
          </a:p>
          <a:p>
            <a:pPr marL="0" indent="0" algn="just">
              <a:buNone/>
            </a:pPr>
            <a:r>
              <a:rPr lang="en-US" dirty="0"/>
              <a:t>A one-to-many (1:N) relationship means a record in Table A can relate to zero, one, or many records in Table B. Many records in Table B can relate to one record in Table A. The potential relationship is what's important; for a single record in Table A, there might be no related records in Table B, or there might be only one related record, but there could be many.</a:t>
            </a:r>
          </a:p>
          <a:p>
            <a:pPr marL="0" indent="0" algn="just">
              <a:buNone/>
            </a:pPr>
            <a:r>
              <a:rPr lang="en-US" dirty="0"/>
              <a:t>Such a relation is usually denoted as</a:t>
            </a:r>
            <a:r>
              <a:rPr lang="lv-LV" dirty="0"/>
              <a:t> </a:t>
            </a:r>
            <a:r>
              <a:rPr lang="lv-LV" b="1" dirty="0"/>
              <a:t>1</a:t>
            </a:r>
            <a:r>
              <a:rPr lang="lv-LV" dirty="0"/>
              <a:t> </a:t>
            </a:r>
            <a:r>
              <a:rPr lang="lv-LV" b="1" dirty="0"/>
              <a:t>-</a:t>
            </a:r>
            <a:r>
              <a:rPr lang="lv-LV" dirty="0"/>
              <a:t> </a:t>
            </a:r>
            <a:r>
              <a:rPr lang="lv-LV" b="1" dirty="0"/>
              <a:t>∞</a:t>
            </a:r>
            <a:r>
              <a:rPr lang="en-US" b="1" dirty="0"/>
              <a:t>, </a:t>
            </a:r>
            <a:r>
              <a:rPr lang="en-US" dirty="0"/>
              <a:t>or</a:t>
            </a:r>
            <a:r>
              <a:rPr lang="en-US" b="1" dirty="0"/>
              <a:t> 1:N</a:t>
            </a:r>
            <a:r>
              <a:rPr lang="lv-LV" b="1" dirty="0"/>
              <a:t>.</a:t>
            </a:r>
            <a:endParaRPr lang="lv-LV" dirty="0"/>
          </a:p>
        </p:txBody>
      </p:sp>
    </p:spTree>
    <p:extLst>
      <p:ext uri="{BB962C8B-B14F-4D97-AF65-F5344CB8AC3E}">
        <p14:creationId xmlns:p14="http://schemas.microsoft.com/office/powerpoint/2010/main" val="446899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p:txBody>
          <a:bodyPr/>
          <a:lstStyle/>
          <a:p>
            <a:pPr marL="0" indent="0" algn="just">
              <a:buNone/>
            </a:pPr>
            <a:r>
              <a:rPr lang="en-US" dirty="0"/>
              <a:t>In the example below, the contents of the primary key value of the </a:t>
            </a:r>
            <a:r>
              <a:rPr lang="en-US" b="1" dirty="0"/>
              <a:t>Trips </a:t>
            </a:r>
            <a:r>
              <a:rPr lang="en-US" dirty="0"/>
              <a:t>table, can be used several times in the </a:t>
            </a:r>
            <a:r>
              <a:rPr lang="en-US" b="1" dirty="0"/>
              <a:t>Clients</a:t>
            </a:r>
            <a:r>
              <a:rPr lang="en-US" dirty="0"/>
              <a:t> table, because several clients can choose the same trip. Such a relation is called one to many.</a:t>
            </a:r>
            <a:endParaRPr lang="lv-LV" dirty="0"/>
          </a:p>
        </p:txBody>
      </p:sp>
      <p:pic>
        <p:nvPicPr>
          <p:cNvPr id="6" name="Picture 5">
            <a:extLst>
              <a:ext uri="{FF2B5EF4-FFF2-40B4-BE49-F238E27FC236}">
                <a16:creationId xmlns:a16="http://schemas.microsoft.com/office/drawing/2014/main" id="{D45196DB-2261-4DC4-A36D-25377E5E4251}"/>
              </a:ext>
            </a:extLst>
          </p:cNvPr>
          <p:cNvPicPr>
            <a:picLocks noChangeAspect="1"/>
          </p:cNvPicPr>
          <p:nvPr/>
        </p:nvPicPr>
        <p:blipFill>
          <a:blip r:embed="rId2"/>
          <a:stretch>
            <a:fillRect/>
          </a:stretch>
        </p:blipFill>
        <p:spPr>
          <a:xfrm>
            <a:off x="1371600" y="4063999"/>
            <a:ext cx="6400800" cy="2247900"/>
          </a:xfrm>
          <a:prstGeom prst="rect">
            <a:avLst/>
          </a:prstGeom>
        </p:spPr>
      </p:pic>
    </p:spTree>
    <p:extLst>
      <p:ext uri="{BB962C8B-B14F-4D97-AF65-F5344CB8AC3E}">
        <p14:creationId xmlns:p14="http://schemas.microsoft.com/office/powerpoint/2010/main" val="3338179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a:xfrm>
            <a:off x="628650" y="1825624"/>
            <a:ext cx="7886700" cy="4788821"/>
          </a:xfrm>
        </p:spPr>
        <p:txBody>
          <a:bodyPr>
            <a:normAutofit/>
          </a:bodyPr>
          <a:lstStyle/>
          <a:p>
            <a:pPr marL="0" indent="0" algn="just">
              <a:buNone/>
            </a:pPr>
            <a:r>
              <a:rPr lang="lv-LV" b="1" dirty="0" err="1"/>
              <a:t>One</a:t>
            </a:r>
            <a:r>
              <a:rPr lang="lv-LV" b="1" dirty="0"/>
              <a:t>-to-</a:t>
            </a:r>
            <a:r>
              <a:rPr lang="lv-LV" b="1" dirty="0" err="1"/>
              <a:t>one</a:t>
            </a:r>
            <a:r>
              <a:rPr lang="lv-LV" b="1" dirty="0"/>
              <a:t> </a:t>
            </a:r>
            <a:r>
              <a:rPr lang="lv-LV" b="1" dirty="0" err="1"/>
              <a:t>relation</a:t>
            </a:r>
            <a:endParaRPr lang="lv-LV" dirty="0"/>
          </a:p>
          <a:p>
            <a:pPr marL="0" indent="0" algn="just">
              <a:buNone/>
            </a:pPr>
            <a:r>
              <a:rPr lang="en-US" dirty="0"/>
              <a:t>A one-to-one (1:1) relationship means that each record in Table A relates to one, and only one, record in Table B, and each record in Table B relates to one, and only one, record in Table A.</a:t>
            </a:r>
          </a:p>
          <a:p>
            <a:pPr marL="0" indent="0" algn="just">
              <a:buNone/>
            </a:pPr>
            <a:endParaRPr lang="lv-LV" b="1" dirty="0"/>
          </a:p>
          <a:p>
            <a:pPr marL="0" indent="0" algn="just">
              <a:buNone/>
            </a:pPr>
            <a:r>
              <a:rPr lang="en-US" dirty="0"/>
              <a:t>This relation is most commonly used to split a single table into several parts.</a:t>
            </a:r>
            <a:endParaRPr lang="lv-LV" dirty="0"/>
          </a:p>
        </p:txBody>
      </p:sp>
    </p:spTree>
    <p:extLst>
      <p:ext uri="{BB962C8B-B14F-4D97-AF65-F5344CB8AC3E}">
        <p14:creationId xmlns:p14="http://schemas.microsoft.com/office/powerpoint/2010/main" val="2014876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a:xfrm>
            <a:off x="628650" y="1690689"/>
            <a:ext cx="8088060" cy="2625280"/>
          </a:xfrm>
        </p:spPr>
        <p:txBody>
          <a:bodyPr>
            <a:normAutofit/>
          </a:bodyPr>
          <a:lstStyle/>
          <a:p>
            <a:pPr marL="0" indent="0" algn="just">
              <a:buNone/>
            </a:pPr>
            <a:r>
              <a:rPr lang="en-US" dirty="0"/>
              <a:t>For example, the </a:t>
            </a:r>
            <a:r>
              <a:rPr lang="en-US" b="1" dirty="0"/>
              <a:t>Trips</a:t>
            </a:r>
            <a:r>
              <a:rPr lang="en-US" dirty="0"/>
              <a:t> table provides basic information and the </a:t>
            </a:r>
            <a:r>
              <a:rPr lang="en-US" b="1" dirty="0" err="1"/>
              <a:t>Trip_info</a:t>
            </a:r>
            <a:r>
              <a:rPr lang="en-US" dirty="0"/>
              <a:t> table provides additional information. The relationship between the </a:t>
            </a:r>
            <a:r>
              <a:rPr lang="en-US" dirty="0" err="1"/>
              <a:t>TripID</a:t>
            </a:r>
            <a:r>
              <a:rPr lang="en-US" dirty="0"/>
              <a:t> fields is a </a:t>
            </a:r>
            <a:r>
              <a:rPr lang="en-US" b="1" dirty="0"/>
              <a:t>one-to-one</a:t>
            </a:r>
            <a:r>
              <a:rPr lang="en-US" dirty="0"/>
              <a:t> relationship that indicates that in both tables </a:t>
            </a:r>
            <a:r>
              <a:rPr lang="en-US" dirty="0" err="1"/>
              <a:t>TripID</a:t>
            </a:r>
            <a:r>
              <a:rPr lang="en-US" dirty="0"/>
              <a:t> primary key field value can only be repeated once.</a:t>
            </a:r>
            <a:endParaRPr lang="lv-LV" dirty="0"/>
          </a:p>
        </p:txBody>
      </p:sp>
      <p:pic>
        <p:nvPicPr>
          <p:cNvPr id="8" name="Picture 7">
            <a:extLst>
              <a:ext uri="{FF2B5EF4-FFF2-40B4-BE49-F238E27FC236}">
                <a16:creationId xmlns:a16="http://schemas.microsoft.com/office/drawing/2014/main" id="{6C77E56C-6532-4D24-9FB6-693D20B89A35}"/>
              </a:ext>
            </a:extLst>
          </p:cNvPr>
          <p:cNvPicPr>
            <a:picLocks noChangeAspect="1"/>
          </p:cNvPicPr>
          <p:nvPr/>
        </p:nvPicPr>
        <p:blipFill>
          <a:blip r:embed="rId2"/>
          <a:stretch>
            <a:fillRect/>
          </a:stretch>
        </p:blipFill>
        <p:spPr>
          <a:xfrm>
            <a:off x="928108" y="4153745"/>
            <a:ext cx="7048500" cy="2276475"/>
          </a:xfrm>
          <a:prstGeom prst="rect">
            <a:avLst/>
          </a:prstGeom>
        </p:spPr>
      </p:pic>
    </p:spTree>
    <p:extLst>
      <p:ext uri="{BB962C8B-B14F-4D97-AF65-F5344CB8AC3E}">
        <p14:creationId xmlns:p14="http://schemas.microsoft.com/office/powerpoint/2010/main" val="830802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Relationships</a:t>
            </a:r>
            <a:endParaRPr lang="lv-LV" dirty="0"/>
          </a:p>
        </p:txBody>
      </p:sp>
      <p:sp>
        <p:nvSpPr>
          <p:cNvPr id="3" name="Content Placeholder 2"/>
          <p:cNvSpPr>
            <a:spLocks noGrp="1"/>
          </p:cNvSpPr>
          <p:nvPr>
            <p:ph idx="1"/>
          </p:nvPr>
        </p:nvSpPr>
        <p:spPr>
          <a:xfrm>
            <a:off x="628650" y="1825624"/>
            <a:ext cx="8234934" cy="5032375"/>
          </a:xfrm>
        </p:spPr>
        <p:txBody>
          <a:bodyPr>
            <a:normAutofit/>
          </a:bodyPr>
          <a:lstStyle/>
          <a:p>
            <a:pPr marL="0" indent="0" algn="just">
              <a:buNone/>
            </a:pPr>
            <a:r>
              <a:rPr lang="en-US" b="1" dirty="0"/>
              <a:t>M</a:t>
            </a:r>
            <a:r>
              <a:rPr lang="lv-LV" b="1" dirty="0" err="1"/>
              <a:t>any</a:t>
            </a:r>
            <a:r>
              <a:rPr lang="lv-LV" b="1" dirty="0"/>
              <a:t>-to-</a:t>
            </a:r>
            <a:r>
              <a:rPr lang="lv-LV" b="1" dirty="0" err="1"/>
              <a:t>many</a:t>
            </a:r>
            <a:r>
              <a:rPr lang="lv-LV" b="1" dirty="0"/>
              <a:t> </a:t>
            </a:r>
            <a:r>
              <a:rPr lang="lv-LV" b="1" dirty="0" err="1"/>
              <a:t>relation</a:t>
            </a:r>
            <a:endParaRPr lang="lv-LV" dirty="0"/>
          </a:p>
          <a:p>
            <a:pPr marL="0" indent="0" algn="just">
              <a:buNone/>
            </a:pPr>
            <a:r>
              <a:rPr lang="en-US" dirty="0"/>
              <a:t>The most common is the many-to-many relation, which indicates that each record in the first table can be related with several records in the second table, and  that each record in the second table can be related with several records in the first table. Such type of relation is usually denoted as follows: </a:t>
            </a:r>
            <a:r>
              <a:rPr lang="en-US" b="1" dirty="0"/>
              <a:t>∞ - ∞ </a:t>
            </a:r>
            <a:r>
              <a:rPr lang="en-US" dirty="0"/>
              <a:t>or</a:t>
            </a:r>
            <a:r>
              <a:rPr lang="en-US" b="1" dirty="0"/>
              <a:t> M-N</a:t>
            </a:r>
            <a:r>
              <a:rPr lang="en-US" dirty="0"/>
              <a:t>.</a:t>
            </a:r>
          </a:p>
          <a:p>
            <a:pPr marL="0" indent="0" algn="just">
              <a:buNone/>
            </a:pPr>
            <a:r>
              <a:rPr lang="en-US" dirty="0"/>
              <a:t>For example, one client can choose several trips and one trip can be chosen by several clients.</a:t>
            </a:r>
            <a:endParaRPr lang="lv-LV" dirty="0"/>
          </a:p>
        </p:txBody>
      </p:sp>
    </p:spTree>
    <p:extLst>
      <p:ext uri="{BB962C8B-B14F-4D97-AF65-F5344CB8AC3E}">
        <p14:creationId xmlns:p14="http://schemas.microsoft.com/office/powerpoint/2010/main" val="2198898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750"/>
            <a:ext cx="7886700" cy="1325563"/>
          </a:xfrm>
        </p:spPr>
        <p:txBody>
          <a:bodyPr/>
          <a:lstStyle/>
          <a:p>
            <a:pPr algn="ctr"/>
            <a:r>
              <a:rPr lang="en-US" dirty="0"/>
              <a:t>Types of Relationships</a:t>
            </a:r>
            <a:endParaRPr lang="lv-LV" dirty="0"/>
          </a:p>
        </p:txBody>
      </p:sp>
      <p:sp>
        <p:nvSpPr>
          <p:cNvPr id="3" name="Content Placeholder 2"/>
          <p:cNvSpPr>
            <a:spLocks noGrp="1"/>
          </p:cNvSpPr>
          <p:nvPr>
            <p:ph idx="1"/>
          </p:nvPr>
        </p:nvSpPr>
        <p:spPr>
          <a:xfrm>
            <a:off x="482346" y="1196410"/>
            <a:ext cx="8234934" cy="5289847"/>
          </a:xfrm>
        </p:spPr>
        <p:txBody>
          <a:bodyPr>
            <a:normAutofit/>
          </a:bodyPr>
          <a:lstStyle/>
          <a:p>
            <a:pPr marL="0" indent="0" algn="just">
              <a:buNone/>
            </a:pPr>
            <a:r>
              <a:rPr lang="en-US" dirty="0"/>
              <a:t>A many-to-many relation can not be established between two tables directly, this relation could be thought of as two one-to-many relationships, linked by an intermediary table.</a:t>
            </a:r>
          </a:p>
          <a:p>
            <a:pPr marL="0" indent="0" algn="just">
              <a:buNone/>
            </a:pPr>
            <a:endParaRPr lang="en-US" dirty="0"/>
          </a:p>
          <a:p>
            <a:pPr marL="0" indent="0" algn="just">
              <a:buNone/>
            </a:pPr>
            <a:r>
              <a:rPr lang="en-US" dirty="0"/>
              <a:t>The intermediary table is typically referred to as a “junction table” (also as a “cross-reference table”). This table is used to link the other two tables together. It does this by having two fields that reference the primary key of each of the other two tables. </a:t>
            </a:r>
            <a:endParaRPr lang="lv-LV" dirty="0"/>
          </a:p>
        </p:txBody>
      </p:sp>
    </p:spTree>
    <p:extLst>
      <p:ext uri="{BB962C8B-B14F-4D97-AF65-F5344CB8AC3E}">
        <p14:creationId xmlns:p14="http://schemas.microsoft.com/office/powerpoint/2010/main" val="4173559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750"/>
            <a:ext cx="7886700" cy="1325563"/>
          </a:xfrm>
        </p:spPr>
        <p:txBody>
          <a:bodyPr/>
          <a:lstStyle/>
          <a:p>
            <a:pPr algn="ctr"/>
            <a:r>
              <a:rPr lang="en-US" dirty="0"/>
              <a:t>Types of Relationships</a:t>
            </a:r>
            <a:endParaRPr lang="lv-LV" dirty="0"/>
          </a:p>
        </p:txBody>
      </p:sp>
      <p:sp>
        <p:nvSpPr>
          <p:cNvPr id="3" name="Content Placeholder 2"/>
          <p:cNvSpPr>
            <a:spLocks noGrp="1"/>
          </p:cNvSpPr>
          <p:nvPr>
            <p:ph idx="1"/>
          </p:nvPr>
        </p:nvSpPr>
        <p:spPr>
          <a:xfrm>
            <a:off x="482346" y="1512606"/>
            <a:ext cx="8234934" cy="4519815"/>
          </a:xfrm>
        </p:spPr>
        <p:txBody>
          <a:bodyPr>
            <a:normAutofit/>
          </a:bodyPr>
          <a:lstStyle/>
          <a:p>
            <a:pPr marL="0" indent="0" algn="just">
              <a:buNone/>
            </a:pPr>
            <a:r>
              <a:rPr lang="en-US" dirty="0"/>
              <a:t>For example, using the Tickets table, you can define a many-to-many relationship between the Clients and Trips tables.</a:t>
            </a:r>
          </a:p>
          <a:p>
            <a:pPr algn="just"/>
            <a:r>
              <a:rPr lang="en-US" dirty="0"/>
              <a:t>one client can choose several trips</a:t>
            </a:r>
            <a:r>
              <a:rPr lang="lv-LV" dirty="0"/>
              <a:t>;</a:t>
            </a:r>
          </a:p>
          <a:p>
            <a:pPr lvl="0" algn="just"/>
            <a:r>
              <a:rPr lang="en-US" dirty="0"/>
              <a:t>one trip can be chosen by several clients</a:t>
            </a:r>
            <a:r>
              <a:rPr lang="lv-LV" dirty="0"/>
              <a:t>.</a:t>
            </a:r>
          </a:p>
        </p:txBody>
      </p:sp>
      <p:pic>
        <p:nvPicPr>
          <p:cNvPr id="6" name="Picture 5">
            <a:extLst>
              <a:ext uri="{FF2B5EF4-FFF2-40B4-BE49-F238E27FC236}">
                <a16:creationId xmlns:a16="http://schemas.microsoft.com/office/drawing/2014/main" id="{073AFE7F-D5F4-4C3D-A468-753C8633F664}"/>
              </a:ext>
            </a:extLst>
          </p:cNvPr>
          <p:cNvPicPr>
            <a:picLocks noChangeAspect="1"/>
          </p:cNvPicPr>
          <p:nvPr/>
        </p:nvPicPr>
        <p:blipFill>
          <a:blip r:embed="rId2"/>
          <a:stretch>
            <a:fillRect/>
          </a:stretch>
        </p:blipFill>
        <p:spPr>
          <a:xfrm>
            <a:off x="57150" y="4492774"/>
            <a:ext cx="9029700" cy="2247900"/>
          </a:xfrm>
          <a:prstGeom prst="rect">
            <a:avLst/>
          </a:prstGeom>
        </p:spPr>
      </p:pic>
    </p:spTree>
    <p:extLst>
      <p:ext uri="{BB962C8B-B14F-4D97-AF65-F5344CB8AC3E}">
        <p14:creationId xmlns:p14="http://schemas.microsoft.com/office/powerpoint/2010/main" val="4149963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Referential</a:t>
            </a:r>
            <a:r>
              <a:rPr lang="lv-LV" dirty="0"/>
              <a:t> </a:t>
            </a:r>
            <a:r>
              <a:rPr lang="lv-LV" dirty="0" err="1"/>
              <a:t>Integrity</a:t>
            </a:r>
            <a:endParaRPr lang="lv-LV" dirty="0"/>
          </a:p>
        </p:txBody>
      </p:sp>
      <p:sp>
        <p:nvSpPr>
          <p:cNvPr id="3" name="Content Placeholder 2"/>
          <p:cNvSpPr>
            <a:spLocks noGrp="1"/>
          </p:cNvSpPr>
          <p:nvPr>
            <p:ph idx="1"/>
          </p:nvPr>
        </p:nvSpPr>
        <p:spPr/>
        <p:txBody>
          <a:bodyPr/>
          <a:lstStyle/>
          <a:p>
            <a:pPr marL="0" indent="0" algn="just">
              <a:buNone/>
            </a:pPr>
            <a:r>
              <a:rPr lang="en-US" b="1" dirty="0"/>
              <a:t>Referential integrity </a:t>
            </a:r>
            <a:r>
              <a:rPr lang="en-US" dirty="0"/>
              <a:t>means that security measures are taken in the database for activities with related fields. Records adding and deleting processes in a single table are under control to check how it affects the records in the related table.</a:t>
            </a:r>
          </a:p>
          <a:p>
            <a:pPr marL="0" indent="0" algn="just">
              <a:buNone/>
            </a:pPr>
            <a:r>
              <a:rPr lang="en-US" dirty="0"/>
              <a:t>For example, you can't delete a trip while at least one client has chosen it, or you can’t sell a customer a non-existent trip.</a:t>
            </a:r>
            <a:endParaRPr lang="lv-LV" dirty="0"/>
          </a:p>
        </p:txBody>
      </p:sp>
    </p:spTree>
    <p:extLst>
      <p:ext uri="{BB962C8B-B14F-4D97-AF65-F5344CB8AC3E}">
        <p14:creationId xmlns:p14="http://schemas.microsoft.com/office/powerpoint/2010/main" val="3435191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endParaRPr lang="lv-LV" dirty="0"/>
          </a:p>
        </p:txBody>
      </p:sp>
      <p:sp>
        <p:nvSpPr>
          <p:cNvPr id="3" name="Content Placeholder 2"/>
          <p:cNvSpPr>
            <a:spLocks noGrp="1"/>
          </p:cNvSpPr>
          <p:nvPr>
            <p:ph idx="1"/>
          </p:nvPr>
        </p:nvSpPr>
        <p:spPr>
          <a:xfrm>
            <a:off x="628650" y="1825625"/>
            <a:ext cx="7886700" cy="1771015"/>
          </a:xfrm>
        </p:spPr>
        <p:txBody>
          <a:bodyPr/>
          <a:lstStyle/>
          <a:p>
            <a:pPr marL="0" indent="0" algn="just">
              <a:buNone/>
            </a:pPr>
            <a:r>
              <a:rPr lang="en-US" dirty="0"/>
              <a:t>Define a primary key for the given tables. Select it from an existing fields or add your own.</a:t>
            </a:r>
            <a:endParaRPr lang="lv-LV" dirty="0"/>
          </a:p>
        </p:txBody>
      </p:sp>
      <p:graphicFrame>
        <p:nvGraphicFramePr>
          <p:cNvPr id="4" name="Table 4">
            <a:extLst>
              <a:ext uri="{FF2B5EF4-FFF2-40B4-BE49-F238E27FC236}">
                <a16:creationId xmlns:a16="http://schemas.microsoft.com/office/drawing/2014/main" id="{945F72DA-A1DB-4A9C-99B0-2AC28512161D}"/>
              </a:ext>
            </a:extLst>
          </p:cNvPr>
          <p:cNvGraphicFramePr>
            <a:graphicFrameLocks noGrp="1"/>
          </p:cNvGraphicFramePr>
          <p:nvPr>
            <p:extLst>
              <p:ext uri="{D42A27DB-BD31-4B8C-83A1-F6EECF244321}">
                <p14:modId xmlns:p14="http://schemas.microsoft.com/office/powerpoint/2010/main" val="1298092463"/>
              </p:ext>
            </p:extLst>
          </p:nvPr>
        </p:nvGraphicFramePr>
        <p:xfrm>
          <a:off x="725103" y="3444240"/>
          <a:ext cx="7514124" cy="1010920"/>
        </p:xfrm>
        <a:graphic>
          <a:graphicData uri="http://schemas.openxmlformats.org/drawingml/2006/table">
            <a:tbl>
              <a:tblPr firstRow="1" bandRow="1">
                <a:tableStyleId>{5C22544A-7EE6-4342-B048-85BDC9FD1C3A}</a:tableStyleId>
              </a:tblPr>
              <a:tblGrid>
                <a:gridCol w="1252354">
                  <a:extLst>
                    <a:ext uri="{9D8B030D-6E8A-4147-A177-3AD203B41FA5}">
                      <a16:colId xmlns:a16="http://schemas.microsoft.com/office/drawing/2014/main" val="4034007097"/>
                    </a:ext>
                  </a:extLst>
                </a:gridCol>
                <a:gridCol w="1252354">
                  <a:extLst>
                    <a:ext uri="{9D8B030D-6E8A-4147-A177-3AD203B41FA5}">
                      <a16:colId xmlns:a16="http://schemas.microsoft.com/office/drawing/2014/main" val="2547087157"/>
                    </a:ext>
                  </a:extLst>
                </a:gridCol>
                <a:gridCol w="1252354">
                  <a:extLst>
                    <a:ext uri="{9D8B030D-6E8A-4147-A177-3AD203B41FA5}">
                      <a16:colId xmlns:a16="http://schemas.microsoft.com/office/drawing/2014/main" val="1903494787"/>
                    </a:ext>
                  </a:extLst>
                </a:gridCol>
                <a:gridCol w="1252354">
                  <a:extLst>
                    <a:ext uri="{9D8B030D-6E8A-4147-A177-3AD203B41FA5}">
                      <a16:colId xmlns:a16="http://schemas.microsoft.com/office/drawing/2014/main" val="3553396005"/>
                    </a:ext>
                  </a:extLst>
                </a:gridCol>
                <a:gridCol w="1252354">
                  <a:extLst>
                    <a:ext uri="{9D8B030D-6E8A-4147-A177-3AD203B41FA5}">
                      <a16:colId xmlns:a16="http://schemas.microsoft.com/office/drawing/2014/main" val="3996089159"/>
                    </a:ext>
                  </a:extLst>
                </a:gridCol>
                <a:gridCol w="1252354">
                  <a:extLst>
                    <a:ext uri="{9D8B030D-6E8A-4147-A177-3AD203B41FA5}">
                      <a16:colId xmlns:a16="http://schemas.microsoft.com/office/drawing/2014/main" val="4014488905"/>
                    </a:ext>
                  </a:extLst>
                </a:gridCol>
              </a:tblGrid>
              <a:tr h="370840">
                <a:tc gridSpan="2">
                  <a:txBody>
                    <a:bodyPr/>
                    <a:lstStyle/>
                    <a:p>
                      <a:r>
                        <a:rPr lang="en-US" dirty="0">
                          <a:solidFill>
                            <a:schemeClr val="tx1"/>
                          </a:solidFill>
                        </a:rPr>
                        <a:t>Prescriptions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Doctor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Medical institution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Medicine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Quantity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graphicFrame>
        <p:nvGraphicFramePr>
          <p:cNvPr id="7" name="Table 4">
            <a:extLst>
              <a:ext uri="{FF2B5EF4-FFF2-40B4-BE49-F238E27FC236}">
                <a16:creationId xmlns:a16="http://schemas.microsoft.com/office/drawing/2014/main" id="{7E4B668C-61E9-45E9-BBBC-9A47E9EC6800}"/>
              </a:ext>
            </a:extLst>
          </p:cNvPr>
          <p:cNvGraphicFramePr>
            <a:graphicFrameLocks noGrp="1"/>
          </p:cNvGraphicFramePr>
          <p:nvPr>
            <p:extLst>
              <p:ext uri="{D42A27DB-BD31-4B8C-83A1-F6EECF244321}">
                <p14:modId xmlns:p14="http://schemas.microsoft.com/office/powerpoint/2010/main" val="2727353697"/>
              </p:ext>
            </p:extLst>
          </p:nvPr>
        </p:nvGraphicFramePr>
        <p:xfrm>
          <a:off x="725103" y="4953802"/>
          <a:ext cx="7514124" cy="1010920"/>
        </p:xfrm>
        <a:graphic>
          <a:graphicData uri="http://schemas.openxmlformats.org/drawingml/2006/table">
            <a:tbl>
              <a:tblPr firstRow="1" bandRow="1">
                <a:tableStyleId>{5C22544A-7EE6-4342-B048-85BDC9FD1C3A}</a:tableStyleId>
              </a:tblPr>
              <a:tblGrid>
                <a:gridCol w="1252354">
                  <a:extLst>
                    <a:ext uri="{9D8B030D-6E8A-4147-A177-3AD203B41FA5}">
                      <a16:colId xmlns:a16="http://schemas.microsoft.com/office/drawing/2014/main" val="4034007097"/>
                    </a:ext>
                  </a:extLst>
                </a:gridCol>
                <a:gridCol w="1252354">
                  <a:extLst>
                    <a:ext uri="{9D8B030D-6E8A-4147-A177-3AD203B41FA5}">
                      <a16:colId xmlns:a16="http://schemas.microsoft.com/office/drawing/2014/main" val="2547087157"/>
                    </a:ext>
                  </a:extLst>
                </a:gridCol>
                <a:gridCol w="1252354">
                  <a:extLst>
                    <a:ext uri="{9D8B030D-6E8A-4147-A177-3AD203B41FA5}">
                      <a16:colId xmlns:a16="http://schemas.microsoft.com/office/drawing/2014/main" val="1903494787"/>
                    </a:ext>
                  </a:extLst>
                </a:gridCol>
                <a:gridCol w="1252354">
                  <a:extLst>
                    <a:ext uri="{9D8B030D-6E8A-4147-A177-3AD203B41FA5}">
                      <a16:colId xmlns:a16="http://schemas.microsoft.com/office/drawing/2014/main" val="3553396005"/>
                    </a:ext>
                  </a:extLst>
                </a:gridCol>
                <a:gridCol w="1252354">
                  <a:extLst>
                    <a:ext uri="{9D8B030D-6E8A-4147-A177-3AD203B41FA5}">
                      <a16:colId xmlns:a16="http://schemas.microsoft.com/office/drawing/2014/main" val="3996089159"/>
                    </a:ext>
                  </a:extLst>
                </a:gridCol>
                <a:gridCol w="1252354">
                  <a:extLst>
                    <a:ext uri="{9D8B030D-6E8A-4147-A177-3AD203B41FA5}">
                      <a16:colId xmlns:a16="http://schemas.microsoft.com/office/drawing/2014/main" val="4014488905"/>
                    </a:ext>
                  </a:extLst>
                </a:gridCol>
              </a:tblGrid>
              <a:tr h="370840">
                <a:tc gridSpan="2">
                  <a:txBody>
                    <a:bodyPr/>
                    <a:lstStyle/>
                    <a:p>
                      <a:r>
                        <a:rPr lang="en-US" dirty="0">
                          <a:solidFill>
                            <a:schemeClr val="tx1"/>
                          </a:solidFill>
                        </a:rPr>
                        <a:t>Books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Publisher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Year of publishing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Number of copies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Annotation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spTree>
    <p:extLst>
      <p:ext uri="{BB962C8B-B14F-4D97-AF65-F5344CB8AC3E}">
        <p14:creationId xmlns:p14="http://schemas.microsoft.com/office/powerpoint/2010/main" val="817264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endParaRPr lang="lv-LV" dirty="0"/>
          </a:p>
        </p:txBody>
      </p:sp>
      <p:graphicFrame>
        <p:nvGraphicFramePr>
          <p:cNvPr id="4" name="Table 4">
            <a:extLst>
              <a:ext uri="{FF2B5EF4-FFF2-40B4-BE49-F238E27FC236}">
                <a16:creationId xmlns:a16="http://schemas.microsoft.com/office/drawing/2014/main" id="{81BF7AD7-AFB4-4759-8B73-A47E09D54ECA}"/>
              </a:ext>
            </a:extLst>
          </p:cNvPr>
          <p:cNvGraphicFramePr>
            <a:graphicFrameLocks noGrp="1"/>
          </p:cNvGraphicFramePr>
          <p:nvPr>
            <p:extLst>
              <p:ext uri="{D42A27DB-BD31-4B8C-83A1-F6EECF244321}">
                <p14:modId xmlns:p14="http://schemas.microsoft.com/office/powerpoint/2010/main" val="650922221"/>
              </p:ext>
            </p:extLst>
          </p:nvPr>
        </p:nvGraphicFramePr>
        <p:xfrm>
          <a:off x="628650" y="1854600"/>
          <a:ext cx="6261770" cy="1010920"/>
        </p:xfrm>
        <a:graphic>
          <a:graphicData uri="http://schemas.openxmlformats.org/drawingml/2006/table">
            <a:tbl>
              <a:tblPr firstRow="1" bandRow="1">
                <a:tableStyleId>{5C22544A-7EE6-4342-B048-85BDC9FD1C3A}</a:tableStyleId>
              </a:tblPr>
              <a:tblGrid>
                <a:gridCol w="1252354">
                  <a:extLst>
                    <a:ext uri="{9D8B030D-6E8A-4147-A177-3AD203B41FA5}">
                      <a16:colId xmlns:a16="http://schemas.microsoft.com/office/drawing/2014/main" val="4034007097"/>
                    </a:ext>
                  </a:extLst>
                </a:gridCol>
                <a:gridCol w="1252354">
                  <a:extLst>
                    <a:ext uri="{9D8B030D-6E8A-4147-A177-3AD203B41FA5}">
                      <a16:colId xmlns:a16="http://schemas.microsoft.com/office/drawing/2014/main" val="2547087157"/>
                    </a:ext>
                  </a:extLst>
                </a:gridCol>
                <a:gridCol w="1252354">
                  <a:extLst>
                    <a:ext uri="{9D8B030D-6E8A-4147-A177-3AD203B41FA5}">
                      <a16:colId xmlns:a16="http://schemas.microsoft.com/office/drawing/2014/main" val="1903494787"/>
                    </a:ext>
                  </a:extLst>
                </a:gridCol>
                <a:gridCol w="1252354">
                  <a:extLst>
                    <a:ext uri="{9D8B030D-6E8A-4147-A177-3AD203B41FA5}">
                      <a16:colId xmlns:a16="http://schemas.microsoft.com/office/drawing/2014/main" val="3553396005"/>
                    </a:ext>
                  </a:extLst>
                </a:gridCol>
                <a:gridCol w="1252354">
                  <a:extLst>
                    <a:ext uri="{9D8B030D-6E8A-4147-A177-3AD203B41FA5}">
                      <a16:colId xmlns:a16="http://schemas.microsoft.com/office/drawing/2014/main" val="3996089159"/>
                    </a:ext>
                  </a:extLst>
                </a:gridCol>
              </a:tblGrid>
              <a:tr h="370840">
                <a:tc gridSpan="2">
                  <a:txBody>
                    <a:bodyPr/>
                    <a:lstStyle/>
                    <a:p>
                      <a:r>
                        <a:rPr lang="en-US" dirty="0">
                          <a:solidFill>
                            <a:schemeClr val="tx1"/>
                          </a:solidFill>
                        </a:rPr>
                        <a:t>Library readers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err="1"/>
                        <a:t>ReaderID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Surname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Phone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Date of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graphicFrame>
        <p:nvGraphicFramePr>
          <p:cNvPr id="5" name="Table 4">
            <a:extLst>
              <a:ext uri="{FF2B5EF4-FFF2-40B4-BE49-F238E27FC236}">
                <a16:creationId xmlns:a16="http://schemas.microsoft.com/office/drawing/2014/main" id="{92FF94A8-97D4-4502-B8D3-64F9B0344970}"/>
              </a:ext>
            </a:extLst>
          </p:cNvPr>
          <p:cNvGraphicFramePr>
            <a:graphicFrameLocks noGrp="1"/>
          </p:cNvGraphicFramePr>
          <p:nvPr>
            <p:extLst>
              <p:ext uri="{D42A27DB-BD31-4B8C-83A1-F6EECF244321}">
                <p14:modId xmlns:p14="http://schemas.microsoft.com/office/powerpoint/2010/main" val="4248218772"/>
              </p:ext>
            </p:extLst>
          </p:nvPr>
        </p:nvGraphicFramePr>
        <p:xfrm>
          <a:off x="628650" y="3231474"/>
          <a:ext cx="7514124" cy="1010920"/>
        </p:xfrm>
        <a:graphic>
          <a:graphicData uri="http://schemas.openxmlformats.org/drawingml/2006/table">
            <a:tbl>
              <a:tblPr firstRow="1" bandRow="1">
                <a:tableStyleId>{5C22544A-7EE6-4342-B048-85BDC9FD1C3A}</a:tableStyleId>
              </a:tblPr>
              <a:tblGrid>
                <a:gridCol w="1252354">
                  <a:extLst>
                    <a:ext uri="{9D8B030D-6E8A-4147-A177-3AD203B41FA5}">
                      <a16:colId xmlns:a16="http://schemas.microsoft.com/office/drawing/2014/main" val="4034007097"/>
                    </a:ext>
                  </a:extLst>
                </a:gridCol>
                <a:gridCol w="1252354">
                  <a:extLst>
                    <a:ext uri="{9D8B030D-6E8A-4147-A177-3AD203B41FA5}">
                      <a16:colId xmlns:a16="http://schemas.microsoft.com/office/drawing/2014/main" val="2547087157"/>
                    </a:ext>
                  </a:extLst>
                </a:gridCol>
                <a:gridCol w="1252354">
                  <a:extLst>
                    <a:ext uri="{9D8B030D-6E8A-4147-A177-3AD203B41FA5}">
                      <a16:colId xmlns:a16="http://schemas.microsoft.com/office/drawing/2014/main" val="1903494787"/>
                    </a:ext>
                  </a:extLst>
                </a:gridCol>
                <a:gridCol w="1252354">
                  <a:extLst>
                    <a:ext uri="{9D8B030D-6E8A-4147-A177-3AD203B41FA5}">
                      <a16:colId xmlns:a16="http://schemas.microsoft.com/office/drawing/2014/main" val="3553396005"/>
                    </a:ext>
                  </a:extLst>
                </a:gridCol>
                <a:gridCol w="1252354">
                  <a:extLst>
                    <a:ext uri="{9D8B030D-6E8A-4147-A177-3AD203B41FA5}">
                      <a16:colId xmlns:a16="http://schemas.microsoft.com/office/drawing/2014/main" val="3996089159"/>
                    </a:ext>
                  </a:extLst>
                </a:gridCol>
                <a:gridCol w="1252354">
                  <a:extLst>
                    <a:ext uri="{9D8B030D-6E8A-4147-A177-3AD203B41FA5}">
                      <a16:colId xmlns:a16="http://schemas.microsoft.com/office/drawing/2014/main" val="4014488905"/>
                    </a:ext>
                  </a:extLst>
                </a:gridCol>
              </a:tblGrid>
              <a:tr h="370840">
                <a:tc gridSpan="2">
                  <a:txBody>
                    <a:bodyPr/>
                    <a:lstStyle/>
                    <a:p>
                      <a:r>
                        <a:rPr lang="en-US" dirty="0">
                          <a:solidFill>
                            <a:schemeClr val="tx1"/>
                          </a:solidFill>
                        </a:rPr>
                        <a:t>Hotel register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Surname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Date of birth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Room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Payment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graphicFrame>
        <p:nvGraphicFramePr>
          <p:cNvPr id="6" name="Table 5">
            <a:extLst>
              <a:ext uri="{FF2B5EF4-FFF2-40B4-BE49-F238E27FC236}">
                <a16:creationId xmlns:a16="http://schemas.microsoft.com/office/drawing/2014/main" id="{E4CE7B6C-86B2-4665-B253-7B91662C3BF7}"/>
              </a:ext>
            </a:extLst>
          </p:cNvPr>
          <p:cNvGraphicFramePr>
            <a:graphicFrameLocks noGrp="1"/>
          </p:cNvGraphicFramePr>
          <p:nvPr>
            <p:extLst>
              <p:ext uri="{D42A27DB-BD31-4B8C-83A1-F6EECF244321}">
                <p14:modId xmlns:p14="http://schemas.microsoft.com/office/powerpoint/2010/main" val="3184965524"/>
              </p:ext>
            </p:extLst>
          </p:nvPr>
        </p:nvGraphicFramePr>
        <p:xfrm>
          <a:off x="628650" y="4608349"/>
          <a:ext cx="6261770" cy="1010920"/>
        </p:xfrm>
        <a:graphic>
          <a:graphicData uri="http://schemas.openxmlformats.org/drawingml/2006/table">
            <a:tbl>
              <a:tblPr firstRow="1" bandRow="1">
                <a:tableStyleId>{5C22544A-7EE6-4342-B048-85BDC9FD1C3A}</a:tableStyleId>
              </a:tblPr>
              <a:tblGrid>
                <a:gridCol w="1252354">
                  <a:extLst>
                    <a:ext uri="{9D8B030D-6E8A-4147-A177-3AD203B41FA5}">
                      <a16:colId xmlns:a16="http://schemas.microsoft.com/office/drawing/2014/main" val="4034007097"/>
                    </a:ext>
                  </a:extLst>
                </a:gridCol>
                <a:gridCol w="1252354">
                  <a:extLst>
                    <a:ext uri="{9D8B030D-6E8A-4147-A177-3AD203B41FA5}">
                      <a16:colId xmlns:a16="http://schemas.microsoft.com/office/drawing/2014/main" val="2547087157"/>
                    </a:ext>
                  </a:extLst>
                </a:gridCol>
                <a:gridCol w="1252354">
                  <a:extLst>
                    <a:ext uri="{9D8B030D-6E8A-4147-A177-3AD203B41FA5}">
                      <a16:colId xmlns:a16="http://schemas.microsoft.com/office/drawing/2014/main" val="1903494787"/>
                    </a:ext>
                  </a:extLst>
                </a:gridCol>
                <a:gridCol w="1252354">
                  <a:extLst>
                    <a:ext uri="{9D8B030D-6E8A-4147-A177-3AD203B41FA5}">
                      <a16:colId xmlns:a16="http://schemas.microsoft.com/office/drawing/2014/main" val="3553396005"/>
                    </a:ext>
                  </a:extLst>
                </a:gridCol>
                <a:gridCol w="1252354">
                  <a:extLst>
                    <a:ext uri="{9D8B030D-6E8A-4147-A177-3AD203B41FA5}">
                      <a16:colId xmlns:a16="http://schemas.microsoft.com/office/drawing/2014/main" val="3996089159"/>
                    </a:ext>
                  </a:extLst>
                </a:gridCol>
              </a:tblGrid>
              <a:tr h="370840">
                <a:tc gridSpan="2">
                  <a:txBody>
                    <a:bodyPr/>
                    <a:lstStyle/>
                    <a:p>
                      <a:r>
                        <a:rPr lang="en-US" dirty="0">
                          <a:solidFill>
                            <a:schemeClr val="tx1"/>
                          </a:solidFill>
                        </a:rPr>
                        <a:t>Hotels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Guest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Phone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Director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spTree>
    <p:extLst>
      <p:ext uri="{BB962C8B-B14F-4D97-AF65-F5344CB8AC3E}">
        <p14:creationId xmlns:p14="http://schemas.microsoft.com/office/powerpoint/2010/main" val="2708864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endParaRPr lang="lv-LV" dirty="0"/>
          </a:p>
        </p:txBody>
      </p:sp>
      <p:graphicFrame>
        <p:nvGraphicFramePr>
          <p:cNvPr id="4" name="Table 3">
            <a:extLst>
              <a:ext uri="{FF2B5EF4-FFF2-40B4-BE49-F238E27FC236}">
                <a16:creationId xmlns:a16="http://schemas.microsoft.com/office/drawing/2014/main" id="{90814F6A-37FE-4404-AAE2-B21D224DAF58}"/>
              </a:ext>
            </a:extLst>
          </p:cNvPr>
          <p:cNvGraphicFramePr>
            <a:graphicFrameLocks noGrp="1"/>
          </p:cNvGraphicFramePr>
          <p:nvPr>
            <p:extLst>
              <p:ext uri="{D42A27DB-BD31-4B8C-83A1-F6EECF244321}">
                <p14:modId xmlns:p14="http://schemas.microsoft.com/office/powerpoint/2010/main" val="2777223060"/>
              </p:ext>
            </p:extLst>
          </p:nvPr>
        </p:nvGraphicFramePr>
        <p:xfrm>
          <a:off x="628648" y="3285086"/>
          <a:ext cx="7524752" cy="741680"/>
        </p:xfrm>
        <a:graphic>
          <a:graphicData uri="http://schemas.openxmlformats.org/drawingml/2006/table">
            <a:tbl>
              <a:tblPr firstRow="1" bandRow="1">
                <a:tableStyleId>{5C22544A-7EE6-4342-B048-85BDC9FD1C3A}</a:tableStyleId>
              </a:tblPr>
              <a:tblGrid>
                <a:gridCol w="1881188">
                  <a:extLst>
                    <a:ext uri="{9D8B030D-6E8A-4147-A177-3AD203B41FA5}">
                      <a16:colId xmlns:a16="http://schemas.microsoft.com/office/drawing/2014/main" val="4034007097"/>
                    </a:ext>
                  </a:extLst>
                </a:gridCol>
                <a:gridCol w="1881188">
                  <a:extLst>
                    <a:ext uri="{9D8B030D-6E8A-4147-A177-3AD203B41FA5}">
                      <a16:colId xmlns:a16="http://schemas.microsoft.com/office/drawing/2014/main" val="2547087157"/>
                    </a:ext>
                  </a:extLst>
                </a:gridCol>
                <a:gridCol w="1881188">
                  <a:extLst>
                    <a:ext uri="{9D8B030D-6E8A-4147-A177-3AD203B41FA5}">
                      <a16:colId xmlns:a16="http://schemas.microsoft.com/office/drawing/2014/main" val="1903494787"/>
                    </a:ext>
                  </a:extLst>
                </a:gridCol>
                <a:gridCol w="1881188">
                  <a:extLst>
                    <a:ext uri="{9D8B030D-6E8A-4147-A177-3AD203B41FA5}">
                      <a16:colId xmlns:a16="http://schemas.microsoft.com/office/drawing/2014/main" val="3553396005"/>
                    </a:ext>
                  </a:extLst>
                </a:gridCol>
              </a:tblGrid>
              <a:tr h="370840">
                <a:tc gridSpan="3">
                  <a:txBody>
                    <a:bodyPr/>
                    <a:lstStyle/>
                    <a:p>
                      <a:r>
                        <a:rPr lang="en-US" dirty="0">
                          <a:solidFill>
                            <a:schemeClr val="tx1"/>
                          </a:solidFill>
                        </a:rPr>
                        <a:t>Departments Wards Patients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Department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Ward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Bed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Patient surname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graphicFrame>
        <p:nvGraphicFramePr>
          <p:cNvPr id="5" name="Table 4">
            <a:extLst>
              <a:ext uri="{FF2B5EF4-FFF2-40B4-BE49-F238E27FC236}">
                <a16:creationId xmlns:a16="http://schemas.microsoft.com/office/drawing/2014/main" id="{D8C670FE-4D36-4E04-B4F0-160B98442FCD}"/>
              </a:ext>
            </a:extLst>
          </p:cNvPr>
          <p:cNvGraphicFramePr>
            <a:graphicFrameLocks noGrp="1"/>
          </p:cNvGraphicFramePr>
          <p:nvPr>
            <p:extLst>
              <p:ext uri="{D42A27DB-BD31-4B8C-83A1-F6EECF244321}">
                <p14:modId xmlns:p14="http://schemas.microsoft.com/office/powerpoint/2010/main" val="2633064498"/>
              </p:ext>
            </p:extLst>
          </p:nvPr>
        </p:nvGraphicFramePr>
        <p:xfrm>
          <a:off x="628650" y="1912774"/>
          <a:ext cx="4591050" cy="741680"/>
        </p:xfrm>
        <a:graphic>
          <a:graphicData uri="http://schemas.openxmlformats.org/drawingml/2006/table">
            <a:tbl>
              <a:tblPr firstRow="1" bandRow="1">
                <a:tableStyleId>{5C22544A-7EE6-4342-B048-85BDC9FD1C3A}</a:tableStyleId>
              </a:tblPr>
              <a:tblGrid>
                <a:gridCol w="1530350">
                  <a:extLst>
                    <a:ext uri="{9D8B030D-6E8A-4147-A177-3AD203B41FA5}">
                      <a16:colId xmlns:a16="http://schemas.microsoft.com/office/drawing/2014/main" val="4034007097"/>
                    </a:ext>
                  </a:extLst>
                </a:gridCol>
                <a:gridCol w="1530350">
                  <a:extLst>
                    <a:ext uri="{9D8B030D-6E8A-4147-A177-3AD203B41FA5}">
                      <a16:colId xmlns:a16="http://schemas.microsoft.com/office/drawing/2014/main" val="2547087157"/>
                    </a:ext>
                  </a:extLst>
                </a:gridCol>
                <a:gridCol w="1530350">
                  <a:extLst>
                    <a:ext uri="{9D8B030D-6E8A-4147-A177-3AD203B41FA5}">
                      <a16:colId xmlns:a16="http://schemas.microsoft.com/office/drawing/2014/main" val="1903494787"/>
                    </a:ext>
                  </a:extLst>
                </a:gridCol>
              </a:tblGrid>
              <a:tr h="370840">
                <a:tc gridSpan="2">
                  <a:txBody>
                    <a:bodyPr/>
                    <a:lstStyle/>
                    <a:p>
                      <a:r>
                        <a:rPr lang="en-US" dirty="0">
                          <a:solidFill>
                            <a:schemeClr val="tx1"/>
                          </a:solidFill>
                        </a:rPr>
                        <a:t>Books taken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Reader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Book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Return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graphicFrame>
        <p:nvGraphicFramePr>
          <p:cNvPr id="6" name="Table 5">
            <a:extLst>
              <a:ext uri="{FF2B5EF4-FFF2-40B4-BE49-F238E27FC236}">
                <a16:creationId xmlns:a16="http://schemas.microsoft.com/office/drawing/2014/main" id="{08B122DD-062D-457F-83C0-575ACAA015BC}"/>
              </a:ext>
            </a:extLst>
          </p:cNvPr>
          <p:cNvGraphicFramePr>
            <a:graphicFrameLocks noGrp="1"/>
          </p:cNvGraphicFramePr>
          <p:nvPr>
            <p:extLst>
              <p:ext uri="{D42A27DB-BD31-4B8C-83A1-F6EECF244321}">
                <p14:modId xmlns:p14="http://schemas.microsoft.com/office/powerpoint/2010/main" val="1701318677"/>
              </p:ext>
            </p:extLst>
          </p:nvPr>
        </p:nvGraphicFramePr>
        <p:xfrm>
          <a:off x="628648" y="4646122"/>
          <a:ext cx="4591050" cy="741680"/>
        </p:xfrm>
        <a:graphic>
          <a:graphicData uri="http://schemas.openxmlformats.org/drawingml/2006/table">
            <a:tbl>
              <a:tblPr firstRow="1" bandRow="1">
                <a:tableStyleId>{5C22544A-7EE6-4342-B048-85BDC9FD1C3A}</a:tableStyleId>
              </a:tblPr>
              <a:tblGrid>
                <a:gridCol w="1530350">
                  <a:extLst>
                    <a:ext uri="{9D8B030D-6E8A-4147-A177-3AD203B41FA5}">
                      <a16:colId xmlns:a16="http://schemas.microsoft.com/office/drawing/2014/main" val="4034007097"/>
                    </a:ext>
                  </a:extLst>
                </a:gridCol>
                <a:gridCol w="1530350">
                  <a:extLst>
                    <a:ext uri="{9D8B030D-6E8A-4147-A177-3AD203B41FA5}">
                      <a16:colId xmlns:a16="http://schemas.microsoft.com/office/drawing/2014/main" val="2547087157"/>
                    </a:ext>
                  </a:extLst>
                </a:gridCol>
                <a:gridCol w="1530350">
                  <a:extLst>
                    <a:ext uri="{9D8B030D-6E8A-4147-A177-3AD203B41FA5}">
                      <a16:colId xmlns:a16="http://schemas.microsoft.com/office/drawing/2014/main" val="1903494787"/>
                    </a:ext>
                  </a:extLst>
                </a:gridCol>
              </a:tblGrid>
              <a:tr h="370840">
                <a:tc gridSpan="2">
                  <a:txBody>
                    <a:bodyPr/>
                    <a:lstStyle/>
                    <a:p>
                      <a:r>
                        <a:rPr lang="en-US" dirty="0">
                          <a:solidFill>
                            <a:schemeClr val="tx1"/>
                          </a:solidFill>
                        </a:rPr>
                        <a:t>Computer class schedule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63530"/>
                  </a:ext>
                </a:extLst>
              </a:tr>
              <a:tr h="370840">
                <a:tc>
                  <a:txBody>
                    <a:bodyPr/>
                    <a:lstStyle/>
                    <a:p>
                      <a:r>
                        <a:rPr lang="en-US" dirty="0"/>
                        <a:t>Day of week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622647"/>
                  </a:ext>
                </a:extLst>
              </a:tr>
            </a:tbl>
          </a:graphicData>
        </a:graphic>
      </p:graphicFrame>
    </p:spTree>
    <p:extLst>
      <p:ext uri="{BB962C8B-B14F-4D97-AF65-F5344CB8AC3E}">
        <p14:creationId xmlns:p14="http://schemas.microsoft.com/office/powerpoint/2010/main" val="893835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endParaRPr lang="lv-LV" dirty="0"/>
          </a:p>
        </p:txBody>
      </p:sp>
      <p:sp>
        <p:nvSpPr>
          <p:cNvPr id="4" name="Rectangle 3"/>
          <p:cNvSpPr/>
          <p:nvPr/>
        </p:nvSpPr>
        <p:spPr>
          <a:xfrm>
            <a:off x="438150" y="2178939"/>
            <a:ext cx="8181975" cy="3416320"/>
          </a:xfrm>
          <a:prstGeom prst="rect">
            <a:avLst/>
          </a:prstGeom>
        </p:spPr>
        <p:txBody>
          <a:bodyPr wrap="square">
            <a:spAutoFit/>
          </a:bodyPr>
          <a:lstStyle/>
          <a:p>
            <a:pPr lvl="0">
              <a:spcAft>
                <a:spcPts val="0"/>
              </a:spcAft>
              <a:tabLst>
                <a:tab pos="457200" algn="l"/>
              </a:tabLst>
            </a:pPr>
            <a:r>
              <a:rPr lang="en-US" sz="2400" dirty="0">
                <a:latin typeface="Times New Roman" panose="02020603050405020304" pitchFamily="18" charset="0"/>
                <a:ea typeface="Times New Roman" panose="02020603050405020304" pitchFamily="18" charset="0"/>
              </a:rPr>
              <a:t>There is a 1:M relation between the tables. What happens if we try to:</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enter a value to the child table foreign key field which is missing in the parent table? </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enter new data to the parent table?</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delete a record from a child table?</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delete records from the parent table?</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change the foreign key field values ​​of the child table?</a:t>
            </a:r>
          </a:p>
          <a:p>
            <a:pPr marL="457200" lvl="0" indent="-457200">
              <a:spcAft>
                <a:spcPts val="0"/>
              </a:spcAft>
              <a:buFont typeface="+mj-lt"/>
              <a:buAutoNum type="arabicPeriod"/>
              <a:tabLst>
                <a:tab pos="457200" algn="l"/>
              </a:tabLst>
            </a:pPr>
            <a:r>
              <a:rPr lang="en-US" sz="2400" dirty="0">
                <a:latin typeface="Times New Roman" panose="02020603050405020304" pitchFamily="18" charset="0"/>
                <a:ea typeface="Times New Roman" panose="02020603050405020304" pitchFamily="18" charset="0"/>
              </a:rPr>
              <a:t>change the parent table primary key field values?</a:t>
            </a:r>
            <a:endParaRPr lang="lv-LV" sz="2400" dirty="0"/>
          </a:p>
        </p:txBody>
      </p:sp>
    </p:spTree>
    <p:extLst>
      <p:ext uri="{BB962C8B-B14F-4D97-AF65-F5344CB8AC3E}">
        <p14:creationId xmlns:p14="http://schemas.microsoft.com/office/powerpoint/2010/main" val="19215691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1277</TotalTime>
  <Words>2258</Words>
  <Application>Microsoft Office PowerPoint</Application>
  <PresentationFormat>On-screen Show (4:3)</PresentationFormat>
  <Paragraphs>205</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Times New Roman</vt:lpstr>
      <vt:lpstr>Office Theme</vt:lpstr>
      <vt:lpstr>Introduction to Databases
</vt:lpstr>
      <vt:lpstr>Database</vt:lpstr>
      <vt:lpstr>Database Management System (DBMS)</vt:lpstr>
      <vt:lpstr>Database Management System (DBMS)</vt:lpstr>
      <vt:lpstr>Database organisation</vt:lpstr>
      <vt:lpstr>Relational model</vt:lpstr>
      <vt:lpstr>Table</vt:lpstr>
      <vt:lpstr>Record</vt:lpstr>
      <vt:lpstr>Column</vt:lpstr>
      <vt:lpstr>Value</vt:lpstr>
      <vt:lpstr>Field</vt:lpstr>
      <vt:lpstr>Field name</vt:lpstr>
      <vt:lpstr>Field</vt:lpstr>
      <vt:lpstr>Primary Key</vt:lpstr>
      <vt:lpstr>Primary Key</vt:lpstr>
      <vt:lpstr>Primary Key</vt:lpstr>
      <vt:lpstr>Primary Key</vt:lpstr>
      <vt:lpstr>Indexing</vt:lpstr>
      <vt:lpstr>Index</vt:lpstr>
      <vt:lpstr>Table relationships (Relations)</vt:lpstr>
      <vt:lpstr>Table relationships (Relations)</vt:lpstr>
      <vt:lpstr>Table relationships (Relations)</vt:lpstr>
      <vt:lpstr>Table relationships (Relations)</vt:lpstr>
      <vt:lpstr>Foreign Key</vt:lpstr>
      <vt:lpstr>Foreign Key</vt:lpstr>
      <vt:lpstr>Types of Relationships</vt:lpstr>
      <vt:lpstr>Types of Relationships</vt:lpstr>
      <vt:lpstr>Types of Relationships</vt:lpstr>
      <vt:lpstr>Types of Relationships</vt:lpstr>
      <vt:lpstr>Types of Relationships</vt:lpstr>
      <vt:lpstr>Types of Relationships</vt:lpstr>
      <vt:lpstr>Types of Relationships</vt:lpstr>
      <vt:lpstr>Types of Relationships</vt:lpstr>
      <vt:lpstr>Referential Integrity</vt:lpstr>
      <vt:lpstr>Practice</vt:lpstr>
      <vt:lpstr>Practice</vt:lpstr>
      <vt:lpstr>Practice</vt:lpstr>
      <vt:lpstr>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Ievads Datu Bāzēs</dc:title>
  <dc:creator>Windows User</dc:creator>
  <cp:lastModifiedBy>Andrejs Liepiņš</cp:lastModifiedBy>
  <cp:revision>52</cp:revision>
  <dcterms:created xsi:type="dcterms:W3CDTF">2017-02-27T20:41:48Z</dcterms:created>
  <dcterms:modified xsi:type="dcterms:W3CDTF">2025-02-24T11:46:51Z</dcterms:modified>
</cp:coreProperties>
</file>