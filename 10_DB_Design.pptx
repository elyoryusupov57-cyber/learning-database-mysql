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 id="257" r:id="rId7"/>
    <p:sldId id="293" r:id="rId8"/>
    <p:sldId id="266" r:id="rId9"/>
    <p:sldId id="294" r:id="rId10"/>
    <p:sldId id="267" r:id="rId11"/>
    <p:sldId id="268" r:id="rId12"/>
    <p:sldId id="269" r:id="rId13"/>
    <p:sldId id="270" r:id="rId14"/>
    <p:sldId id="271" r:id="rId15"/>
    <p:sldId id="272" r:id="rId16"/>
    <p:sldId id="273" r:id="rId17"/>
    <p:sldId id="27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01" autoAdjust="0"/>
    <p:restoredTop sz="94660"/>
  </p:normalViewPr>
  <p:slideViewPr>
    <p:cSldViewPr snapToGrid="0">
      <p:cViewPr>
        <p:scale>
          <a:sx n="100" d="100"/>
          <a:sy n="100" d="100"/>
        </p:scale>
        <p:origin x="612" y="8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F262F54-4748-4922-9F37-1F9C31B393C6}" type="datetimeFigureOut">
              <a:rPr lang="en-US" smtClean="0"/>
              <a:t>3/7/2021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3019288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262F54-4748-4922-9F37-1F9C31B393C6}" type="datetimeFigureOut">
              <a:rPr lang="en-US" smtClean="0"/>
              <a:t>3/7/2021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3366632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F262F54-4748-4922-9F37-1F9C31B393C6}" type="datetimeFigureOut">
              <a:rPr lang="en-US" smtClean="0"/>
              <a:t>3/7/2021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31131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262F54-4748-4922-9F37-1F9C31B393C6}" type="datetimeFigureOut">
              <a:rPr lang="en-US" smtClean="0"/>
              <a:t>3/7/2021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525211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262F54-4748-4922-9F37-1F9C31B393C6}" type="datetimeFigureOut">
              <a:rPr lang="en-US" smtClean="0"/>
              <a:t>3/7/2021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379117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262F54-4748-4922-9F37-1F9C31B393C6}" type="datetimeFigureOut">
              <a:rPr lang="en-US" smtClean="0"/>
              <a:t>3/7/2021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104553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62F54-4748-4922-9F37-1F9C31B393C6}" type="datetimeFigureOut">
              <a:rPr lang="en-US" smtClean="0"/>
              <a:t>3/7/2021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143621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262F54-4748-4922-9F37-1F9C31B393C6}" type="datetimeFigureOut">
              <a:rPr lang="en-US" smtClean="0"/>
              <a:t>3/7/2021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2922882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262F54-4748-4922-9F37-1F9C31B393C6}" type="datetimeFigureOut">
              <a:rPr lang="en-US" smtClean="0"/>
              <a:t>3/7/2021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1683604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262F54-4748-4922-9F37-1F9C31B393C6}" type="datetimeFigureOut">
              <a:rPr lang="en-US" smtClean="0"/>
              <a:t>3/7/2021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4143584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262F54-4748-4922-9F37-1F9C31B393C6}" type="datetimeFigureOut">
              <a:rPr lang="en-US" smtClean="0"/>
              <a:t>3/7/2021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98FA3D-D665-4980-863E-ED10DDF3159F}" type="slidenum">
              <a:rPr lang="en-US" smtClean="0"/>
              <a:t>‹#›</a:t>
            </a:fld>
            <a:endParaRPr lang="en-US"/>
          </a:p>
        </p:txBody>
      </p:sp>
    </p:spTree>
    <p:extLst>
      <p:ext uri="{BB962C8B-B14F-4D97-AF65-F5344CB8AC3E}">
        <p14:creationId xmlns:p14="http://schemas.microsoft.com/office/powerpoint/2010/main" val="3047985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62F54-4748-4922-9F37-1F9C31B393C6}" type="datetimeFigureOut">
              <a:rPr lang="en-US" smtClean="0"/>
              <a:t>3/7/2021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98FA3D-D665-4980-863E-ED10DDF3159F}" type="slidenum">
              <a:rPr lang="en-US" smtClean="0"/>
              <a:t>‹#›</a:t>
            </a:fld>
            <a:endParaRPr lang="en-US"/>
          </a:p>
        </p:txBody>
      </p:sp>
    </p:spTree>
    <p:extLst>
      <p:ext uri="{BB962C8B-B14F-4D97-AF65-F5344CB8AC3E}">
        <p14:creationId xmlns:p14="http://schemas.microsoft.com/office/powerpoint/2010/main" val="1444466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lv-LV" dirty="0" err="1"/>
              <a:t>Database</a:t>
            </a:r>
            <a:r>
              <a:rPr lang="lv-LV" dirty="0"/>
              <a:t> </a:t>
            </a:r>
            <a:r>
              <a:rPr lang="lv-LV" dirty="0" err="1"/>
              <a:t>design</a:t>
            </a:r>
            <a:r>
              <a:rPr lang="lv-LV" dirty="0"/>
              <a:t>
</a:t>
            </a:r>
            <a:endParaRPr lang="en-US" dirty="0"/>
          </a:p>
        </p:txBody>
      </p:sp>
    </p:spTree>
    <p:extLst>
      <p:ext uri="{BB962C8B-B14F-4D97-AF65-F5344CB8AC3E}">
        <p14:creationId xmlns:p14="http://schemas.microsoft.com/office/powerpoint/2010/main" val="2954927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25563"/>
          </a:xfrm>
        </p:spPr>
        <p:txBody>
          <a:bodyPr/>
          <a:lstStyle/>
          <a:p>
            <a:pPr algn="ctr"/>
            <a:r>
              <a:rPr lang="en-US" dirty="0"/>
              <a:t>Database design</a:t>
            </a:r>
          </a:p>
        </p:txBody>
      </p:sp>
      <p:sp>
        <p:nvSpPr>
          <p:cNvPr id="3" name="Content Placeholder 2"/>
          <p:cNvSpPr>
            <a:spLocks noGrp="1"/>
          </p:cNvSpPr>
          <p:nvPr>
            <p:ph idx="1"/>
          </p:nvPr>
        </p:nvSpPr>
        <p:spPr>
          <a:xfrm>
            <a:off x="334977" y="1825625"/>
            <a:ext cx="8682273" cy="4699000"/>
          </a:xfrm>
        </p:spPr>
        <p:txBody>
          <a:bodyPr>
            <a:normAutofit fontScale="92500" lnSpcReduction="10000"/>
          </a:bodyPr>
          <a:lstStyle/>
          <a:p>
            <a:pPr marL="0" indent="0">
              <a:buNone/>
            </a:pPr>
            <a:r>
              <a:rPr lang="lv-LV" sz="3200" dirty="0"/>
              <a:t>DB </a:t>
            </a:r>
            <a:r>
              <a:rPr lang="en-US" sz="3200" dirty="0"/>
              <a:t>Design</a:t>
            </a:r>
            <a:r>
              <a:rPr lang="lv-LV" sz="3200" dirty="0"/>
              <a:t> </a:t>
            </a:r>
            <a:r>
              <a:rPr lang="en-US" sz="3200" dirty="0"/>
              <a:t>consist</a:t>
            </a:r>
            <a:r>
              <a:rPr lang="lv-LV" sz="3200" dirty="0"/>
              <a:t> </a:t>
            </a:r>
            <a:r>
              <a:rPr lang="en-US" sz="3200" dirty="0"/>
              <a:t>of  8 steps:</a:t>
            </a:r>
          </a:p>
          <a:p>
            <a:pPr marL="0" indent="0">
              <a:buNone/>
            </a:pPr>
            <a:r>
              <a:rPr lang="en-US" sz="3200" dirty="0"/>
              <a:t>Step 1: Determination of the purpose of your database</a:t>
            </a:r>
          </a:p>
          <a:p>
            <a:pPr marL="0" indent="0">
              <a:buNone/>
            </a:pPr>
            <a:r>
              <a:rPr lang="en-US" sz="3200" dirty="0"/>
              <a:t>Step 2: Definition of tables and relations</a:t>
            </a:r>
          </a:p>
          <a:p>
            <a:pPr marL="0" indent="0">
              <a:buNone/>
            </a:pPr>
            <a:r>
              <a:rPr lang="en-US" sz="3200" dirty="0"/>
              <a:t>Step 3: Decomposition of a Relations</a:t>
            </a:r>
          </a:p>
          <a:p>
            <a:pPr marL="0" indent="0">
              <a:buNone/>
            </a:pPr>
            <a:r>
              <a:rPr lang="en-US" sz="3200" dirty="0"/>
              <a:t>Step 4: Definition of attributes</a:t>
            </a:r>
          </a:p>
          <a:p>
            <a:pPr marL="0" indent="0">
              <a:buNone/>
            </a:pPr>
            <a:r>
              <a:rPr lang="en-US" sz="3200" dirty="0"/>
              <a:t>Step 5: Attribute decomposition</a:t>
            </a:r>
          </a:p>
          <a:p>
            <a:pPr marL="0" indent="0">
              <a:buNone/>
            </a:pPr>
            <a:r>
              <a:rPr lang="en-US" sz="3200" dirty="0"/>
              <a:t>Step 6: Definition of primary keys</a:t>
            </a:r>
          </a:p>
          <a:p>
            <a:pPr marL="0" indent="0">
              <a:buNone/>
            </a:pPr>
            <a:r>
              <a:rPr lang="en-US" sz="3200" dirty="0"/>
              <a:t>Step 7: Setting up table relationships</a:t>
            </a:r>
          </a:p>
          <a:p>
            <a:pPr marL="0" indent="0">
              <a:buNone/>
            </a:pPr>
            <a:r>
              <a:rPr lang="en-US" sz="3200" dirty="0"/>
              <a:t>Step 8: Implementation of the scheme</a:t>
            </a:r>
          </a:p>
        </p:txBody>
      </p:sp>
    </p:spTree>
    <p:extLst>
      <p:ext uri="{BB962C8B-B14F-4D97-AF65-F5344CB8AC3E}">
        <p14:creationId xmlns:p14="http://schemas.microsoft.com/office/powerpoint/2010/main" val="92789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marL="0" indent="0" algn="ctr">
              <a:buNone/>
            </a:pPr>
            <a:r>
              <a:rPr lang="en-US" sz="4400" dirty="0"/>
              <a:t>Step 1: Determination of the purpose of your database</a:t>
            </a:r>
          </a:p>
        </p:txBody>
      </p:sp>
      <p:sp>
        <p:nvSpPr>
          <p:cNvPr id="3" name="Content Placeholder 2"/>
          <p:cNvSpPr>
            <a:spLocks noGrp="1"/>
          </p:cNvSpPr>
          <p:nvPr>
            <p:ph idx="1"/>
          </p:nvPr>
        </p:nvSpPr>
        <p:spPr/>
        <p:txBody>
          <a:bodyPr/>
          <a:lstStyle/>
          <a:p>
            <a:pPr marL="0" indent="0" algn="just">
              <a:buNone/>
            </a:pPr>
            <a:r>
              <a:rPr lang="en-US" dirty="0"/>
              <a:t>Select the organization for which the database is created. This helps prepare you for the remaining steps. Gather all of the types of information you might want to record in the database.
Example: Create a database to automate user service in a library.
</a:t>
            </a:r>
          </a:p>
        </p:txBody>
      </p:sp>
    </p:spTree>
    <p:extLst>
      <p:ext uri="{BB962C8B-B14F-4D97-AF65-F5344CB8AC3E}">
        <p14:creationId xmlns:p14="http://schemas.microsoft.com/office/powerpoint/2010/main" val="2205629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marL="0" indent="0" algn="ctr">
              <a:buNone/>
            </a:pPr>
            <a:r>
              <a:rPr lang="en-US" sz="4400" dirty="0"/>
              <a:t>Step 2: Definition of tables and relations</a:t>
            </a:r>
          </a:p>
        </p:txBody>
      </p:sp>
      <p:sp>
        <p:nvSpPr>
          <p:cNvPr id="3" name="Content Placeholder 2"/>
          <p:cNvSpPr>
            <a:spLocks noGrp="1"/>
          </p:cNvSpPr>
          <p:nvPr>
            <p:ph idx="1"/>
          </p:nvPr>
        </p:nvSpPr>
        <p:spPr>
          <a:xfrm>
            <a:off x="304800" y="1825625"/>
            <a:ext cx="4371975" cy="4832350"/>
          </a:xfrm>
        </p:spPr>
        <p:txBody>
          <a:bodyPr/>
          <a:lstStyle/>
          <a:p>
            <a:pPr marL="0" indent="0" algn="just">
              <a:buNone/>
            </a:pPr>
            <a:r>
              <a:rPr lang="en-US" dirty="0"/>
              <a:t>At this stage, distinguish the objects of the subject area and their relations. It can be parts of physical or logical information.</a:t>
            </a:r>
          </a:p>
          <a:p>
            <a:pPr marL="0" indent="0" algn="just">
              <a:buNone/>
            </a:pPr>
            <a:r>
              <a:rPr lang="en-US" dirty="0"/>
              <a:t>In our example, these are: Readers, Librarians, Books, Services, and Reading Rooms. There are also links between objects.</a:t>
            </a:r>
          </a:p>
        </p:txBody>
      </p:sp>
      <p:pic>
        <p:nvPicPr>
          <p:cNvPr id="12" name="Picture 11" descr="Diagram, schematic&#10;&#10;Description automatically generated">
            <a:extLst>
              <a:ext uri="{FF2B5EF4-FFF2-40B4-BE49-F238E27FC236}">
                <a16:creationId xmlns:a16="http://schemas.microsoft.com/office/drawing/2014/main" id="{D35B0623-DB68-4277-882C-91205ADDC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6775" y="2408471"/>
            <a:ext cx="4239217" cy="3181794"/>
          </a:xfrm>
          <a:prstGeom prst="rect">
            <a:avLst/>
          </a:prstGeom>
        </p:spPr>
      </p:pic>
    </p:spTree>
    <p:extLst>
      <p:ext uri="{BB962C8B-B14F-4D97-AF65-F5344CB8AC3E}">
        <p14:creationId xmlns:p14="http://schemas.microsoft.com/office/powerpoint/2010/main" val="2041247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algn="ctr"/>
            <a:r>
              <a:rPr lang="en-US" sz="4400" dirty="0"/>
              <a:t>Step 3: </a:t>
            </a:r>
            <a:r>
              <a:rPr lang="en-US" dirty="0"/>
              <a:t>Decomposition of a Relations</a:t>
            </a:r>
          </a:p>
        </p:txBody>
      </p:sp>
      <p:sp>
        <p:nvSpPr>
          <p:cNvPr id="3" name="Content Placeholder 2"/>
          <p:cNvSpPr>
            <a:spLocks noGrp="1"/>
          </p:cNvSpPr>
          <p:nvPr>
            <p:ph idx="1"/>
          </p:nvPr>
        </p:nvSpPr>
        <p:spPr/>
        <p:txBody>
          <a:bodyPr/>
          <a:lstStyle/>
          <a:p>
            <a:pPr marL="0" indent="0" algn="just">
              <a:buNone/>
            </a:pPr>
            <a:r>
              <a:rPr lang="en-US" dirty="0"/>
              <a:t>Decomposition of a Relation: </a:t>
            </a:r>
          </a:p>
          <a:p>
            <a:pPr marL="0" indent="0" algn="just">
              <a:buNone/>
            </a:pPr>
            <a:r>
              <a:rPr lang="en-US" dirty="0"/>
              <a:t>The process of breaking up or dividing a single relation into two or more sub relations is called as decomposition of a relation.</a:t>
            </a:r>
          </a:p>
          <a:p>
            <a:pPr marL="0" indent="0" algn="just">
              <a:buNone/>
            </a:pPr>
            <a:r>
              <a:rPr lang="en-US" dirty="0"/>
              <a:t>At this step, decomposition of M:N links and sometimes recursive links is performed.</a:t>
            </a:r>
          </a:p>
        </p:txBody>
      </p:sp>
    </p:spTree>
    <p:extLst>
      <p:ext uri="{BB962C8B-B14F-4D97-AF65-F5344CB8AC3E}">
        <p14:creationId xmlns:p14="http://schemas.microsoft.com/office/powerpoint/2010/main" val="2864172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25563"/>
          </a:xfrm>
        </p:spPr>
        <p:txBody>
          <a:bodyPr/>
          <a:lstStyle/>
          <a:p>
            <a:pPr algn="ctr"/>
            <a:r>
              <a:rPr lang="en-US" dirty="0"/>
              <a:t>Decomposition of a Relations</a:t>
            </a:r>
          </a:p>
        </p:txBody>
      </p:sp>
      <p:sp>
        <p:nvSpPr>
          <p:cNvPr id="3" name="Content Placeholder 2"/>
          <p:cNvSpPr>
            <a:spLocks noGrp="1"/>
          </p:cNvSpPr>
          <p:nvPr>
            <p:ph idx="1"/>
          </p:nvPr>
        </p:nvSpPr>
        <p:spPr/>
        <p:txBody>
          <a:bodyPr>
            <a:normAutofit lnSpcReduction="10000"/>
          </a:bodyPr>
          <a:lstStyle/>
          <a:p>
            <a:pPr marL="0" indent="0" algn="just">
              <a:buNone/>
            </a:pPr>
            <a:r>
              <a:rPr lang="en-US" dirty="0"/>
              <a:t>A many-to-many relation can not be established between two tables directly, this relation could be thought of as two one-to-many relationships, linked by an intermediary table.</a:t>
            </a:r>
          </a:p>
          <a:p>
            <a:pPr marL="0" indent="0" algn="just">
              <a:buNone/>
            </a:pPr>
            <a:endParaRPr lang="en-US" dirty="0"/>
          </a:p>
          <a:p>
            <a:pPr marL="0" indent="0" algn="just">
              <a:buNone/>
            </a:pPr>
            <a:r>
              <a:rPr lang="en-US" dirty="0"/>
              <a:t>The intermediary table is typically referred to as a “junction table” (also as a “cross-reference table”). This table is used to link the other two tables together. It does this by having two fields that reference the primary key of each of the other two tables. </a:t>
            </a:r>
            <a:endParaRPr lang="lv-LV" dirty="0"/>
          </a:p>
          <a:p>
            <a:pPr marL="0" indent="0" algn="just">
              <a:buNone/>
            </a:pPr>
            <a:endParaRPr lang="en-US" dirty="0"/>
          </a:p>
        </p:txBody>
      </p:sp>
    </p:spTree>
    <p:extLst>
      <p:ext uri="{BB962C8B-B14F-4D97-AF65-F5344CB8AC3E}">
        <p14:creationId xmlns:p14="http://schemas.microsoft.com/office/powerpoint/2010/main" val="380232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750"/>
            <a:ext cx="7886700" cy="1325563"/>
          </a:xfrm>
        </p:spPr>
        <p:txBody>
          <a:bodyPr/>
          <a:lstStyle/>
          <a:p>
            <a:pPr algn="ctr"/>
            <a:r>
              <a:rPr lang="en-US" dirty="0"/>
              <a:t>Decomposition of a Relations</a:t>
            </a:r>
            <a:endParaRPr lang="lv-LV" dirty="0"/>
          </a:p>
        </p:txBody>
      </p:sp>
      <p:sp>
        <p:nvSpPr>
          <p:cNvPr id="3" name="Content Placeholder 2"/>
          <p:cNvSpPr>
            <a:spLocks noGrp="1"/>
          </p:cNvSpPr>
          <p:nvPr>
            <p:ph idx="1"/>
          </p:nvPr>
        </p:nvSpPr>
        <p:spPr>
          <a:xfrm>
            <a:off x="482346" y="1512606"/>
            <a:ext cx="8234934" cy="4519815"/>
          </a:xfrm>
        </p:spPr>
        <p:txBody>
          <a:bodyPr>
            <a:normAutofit/>
          </a:bodyPr>
          <a:lstStyle/>
          <a:p>
            <a:pPr marL="0" indent="0" algn="just">
              <a:buNone/>
            </a:pPr>
            <a:r>
              <a:rPr lang="en-US" dirty="0"/>
              <a:t>For example, using the Tickets table, you can define a many-to-many relationship between the Clients and Trips tables.</a:t>
            </a:r>
          </a:p>
          <a:p>
            <a:pPr algn="just"/>
            <a:r>
              <a:rPr lang="en-US" dirty="0"/>
              <a:t>one client can choose several trips</a:t>
            </a:r>
            <a:r>
              <a:rPr lang="lv-LV" dirty="0"/>
              <a:t>;</a:t>
            </a:r>
          </a:p>
          <a:p>
            <a:pPr lvl="0" algn="just"/>
            <a:r>
              <a:rPr lang="en-US" dirty="0"/>
              <a:t>one trip can be chosen by several clients</a:t>
            </a:r>
            <a:r>
              <a:rPr lang="lv-LV" dirty="0"/>
              <a:t>.</a:t>
            </a:r>
          </a:p>
        </p:txBody>
      </p:sp>
      <p:pic>
        <p:nvPicPr>
          <p:cNvPr id="6" name="Picture 5">
            <a:extLst>
              <a:ext uri="{FF2B5EF4-FFF2-40B4-BE49-F238E27FC236}">
                <a16:creationId xmlns:a16="http://schemas.microsoft.com/office/drawing/2014/main" id="{073AFE7F-D5F4-4C3D-A468-753C8633F664}"/>
              </a:ext>
            </a:extLst>
          </p:cNvPr>
          <p:cNvPicPr>
            <a:picLocks noChangeAspect="1"/>
          </p:cNvPicPr>
          <p:nvPr/>
        </p:nvPicPr>
        <p:blipFill>
          <a:blip r:embed="rId2"/>
          <a:stretch>
            <a:fillRect/>
          </a:stretch>
        </p:blipFill>
        <p:spPr>
          <a:xfrm>
            <a:off x="57150" y="4492774"/>
            <a:ext cx="9029700" cy="2247900"/>
          </a:xfrm>
          <a:prstGeom prst="rect">
            <a:avLst/>
          </a:prstGeom>
        </p:spPr>
      </p:pic>
    </p:spTree>
    <p:extLst>
      <p:ext uri="{BB962C8B-B14F-4D97-AF65-F5344CB8AC3E}">
        <p14:creationId xmlns:p14="http://schemas.microsoft.com/office/powerpoint/2010/main" val="4149963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25563"/>
          </a:xfrm>
        </p:spPr>
        <p:txBody>
          <a:bodyPr/>
          <a:lstStyle/>
          <a:p>
            <a:pPr algn="ctr"/>
            <a:r>
              <a:rPr lang="en-US" dirty="0"/>
              <a:t>Decomposition of a Relations</a:t>
            </a:r>
          </a:p>
        </p:txBody>
      </p:sp>
      <p:sp>
        <p:nvSpPr>
          <p:cNvPr id="3" name="Content Placeholder 2"/>
          <p:cNvSpPr>
            <a:spLocks noGrp="1"/>
          </p:cNvSpPr>
          <p:nvPr>
            <p:ph idx="1"/>
          </p:nvPr>
        </p:nvSpPr>
        <p:spPr>
          <a:xfrm>
            <a:off x="285750" y="1114425"/>
            <a:ext cx="4419600" cy="5562600"/>
          </a:xfrm>
        </p:spPr>
        <p:txBody>
          <a:bodyPr>
            <a:normAutofit fontScale="62500" lnSpcReduction="20000"/>
          </a:bodyPr>
          <a:lstStyle/>
          <a:p>
            <a:pPr marL="0" indent="0" algn="just">
              <a:lnSpc>
                <a:spcPct val="110000"/>
              </a:lnSpc>
              <a:buNone/>
            </a:pPr>
            <a:r>
              <a:rPr lang="en-US" dirty="0"/>
              <a:t>In our example, the relations between the tables:</a:t>
            </a:r>
          </a:p>
          <a:p>
            <a:pPr marL="0" indent="0" algn="just">
              <a:lnSpc>
                <a:spcPct val="110000"/>
              </a:lnSpc>
              <a:buNone/>
            </a:pPr>
            <a:r>
              <a:rPr lang="en-US" b="1" dirty="0"/>
              <a:t>Librarians</a:t>
            </a:r>
            <a:r>
              <a:rPr lang="en-US" dirty="0"/>
              <a:t> and </a:t>
            </a:r>
            <a:r>
              <a:rPr lang="en-US" b="1" dirty="0"/>
              <a:t>Services</a:t>
            </a:r>
          </a:p>
          <a:p>
            <a:pPr marL="0" indent="0" algn="just">
              <a:lnSpc>
                <a:spcPct val="110000"/>
              </a:lnSpc>
              <a:buNone/>
            </a:pPr>
            <a:r>
              <a:rPr lang="en-US" b="1" dirty="0"/>
              <a:t>Readers</a:t>
            </a:r>
            <a:r>
              <a:rPr lang="en-US" dirty="0"/>
              <a:t> and </a:t>
            </a:r>
            <a:r>
              <a:rPr lang="en-US" b="1" dirty="0"/>
              <a:t>Services</a:t>
            </a:r>
          </a:p>
          <a:p>
            <a:pPr marL="0" indent="0" algn="just">
              <a:lnSpc>
                <a:spcPct val="110000"/>
              </a:lnSpc>
              <a:buNone/>
            </a:pPr>
            <a:r>
              <a:rPr lang="en-US" b="1" dirty="0"/>
              <a:t>Reading Rooms</a:t>
            </a:r>
            <a:r>
              <a:rPr lang="en-US" dirty="0"/>
              <a:t> and </a:t>
            </a:r>
            <a:r>
              <a:rPr lang="en-US" b="1" dirty="0"/>
              <a:t>Services</a:t>
            </a:r>
          </a:p>
          <a:p>
            <a:pPr marL="0" indent="0" algn="just">
              <a:lnSpc>
                <a:spcPct val="110000"/>
              </a:lnSpc>
              <a:buNone/>
            </a:pPr>
            <a:r>
              <a:rPr lang="en-US" dirty="0"/>
              <a:t>will be transformed into links 1:M by creating an additional cross-reference table </a:t>
            </a:r>
            <a:r>
              <a:rPr lang="en-US" b="1" dirty="0"/>
              <a:t>Journal</a:t>
            </a:r>
            <a:r>
              <a:rPr lang="en-US" dirty="0"/>
              <a:t>. This table will collect the information about all library services provided.</a:t>
            </a:r>
          </a:p>
          <a:p>
            <a:pPr marL="0" indent="0" algn="just">
              <a:lnSpc>
                <a:spcPct val="110000"/>
              </a:lnSpc>
              <a:buNone/>
            </a:pPr>
            <a:r>
              <a:rPr lang="en-US" dirty="0"/>
              <a:t>Relation M:N between tables</a:t>
            </a:r>
          </a:p>
          <a:p>
            <a:pPr marL="0" indent="0" algn="just">
              <a:lnSpc>
                <a:spcPct val="110000"/>
              </a:lnSpc>
              <a:buNone/>
            </a:pPr>
            <a:r>
              <a:rPr lang="en-US" b="1" dirty="0"/>
              <a:t>Readers</a:t>
            </a:r>
            <a:r>
              <a:rPr lang="en-US" dirty="0"/>
              <a:t> and </a:t>
            </a:r>
            <a:r>
              <a:rPr lang="en-US" b="1" dirty="0"/>
              <a:t>Books</a:t>
            </a:r>
          </a:p>
          <a:p>
            <a:pPr marL="0" indent="0" algn="just">
              <a:lnSpc>
                <a:spcPct val="110000"/>
              </a:lnSpc>
              <a:buNone/>
            </a:pPr>
            <a:r>
              <a:rPr lang="en-US" dirty="0"/>
              <a:t>also will be transformed. The cross-reference table </a:t>
            </a:r>
            <a:r>
              <a:rPr lang="en-US" b="1" dirty="0" err="1"/>
              <a:t>Books_taken</a:t>
            </a:r>
            <a:r>
              <a:rPr lang="en-US" dirty="0"/>
              <a:t> will be created, to link the </a:t>
            </a:r>
            <a:r>
              <a:rPr lang="en-US" b="1" dirty="0"/>
              <a:t>Readers</a:t>
            </a:r>
            <a:r>
              <a:rPr lang="en-US" dirty="0"/>
              <a:t> and </a:t>
            </a:r>
            <a:r>
              <a:rPr lang="en-US" b="1" dirty="0"/>
              <a:t>Books</a:t>
            </a:r>
            <a:r>
              <a:rPr lang="en-US" dirty="0"/>
              <a:t> tables and to store the information about whom the book was issued. </a:t>
            </a:r>
          </a:p>
          <a:p>
            <a:pPr marL="0" indent="0" algn="just">
              <a:lnSpc>
                <a:spcPct val="110000"/>
              </a:lnSpc>
              <a:buNone/>
            </a:pPr>
            <a:r>
              <a:rPr lang="en-US" dirty="0"/>
              <a:t>As a result, a new scheme will be created.</a:t>
            </a:r>
          </a:p>
        </p:txBody>
      </p:sp>
      <p:sp>
        <p:nvSpPr>
          <p:cNvPr id="5" name="Rectangle 32">
            <a:extLst>
              <a:ext uri="{FF2B5EF4-FFF2-40B4-BE49-F238E27FC236}">
                <a16:creationId xmlns:a16="http://schemas.microsoft.com/office/drawing/2014/main" id="{7EC42138-696D-4C8C-B472-5924D4415708}"/>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6" name="Group 1">
            <a:extLst>
              <a:ext uri="{FF2B5EF4-FFF2-40B4-BE49-F238E27FC236}">
                <a16:creationId xmlns:a16="http://schemas.microsoft.com/office/drawing/2014/main" id="{38FBD796-6FBB-4BFA-93F3-6E0538ED8FF9}"/>
              </a:ext>
            </a:extLst>
          </p:cNvPr>
          <p:cNvGrpSpPr>
            <a:grpSpLocks noChangeAspect="1"/>
          </p:cNvGrpSpPr>
          <p:nvPr/>
        </p:nvGrpSpPr>
        <p:grpSpPr bwMode="auto">
          <a:xfrm>
            <a:off x="4172138" y="1325563"/>
            <a:ext cx="5829300" cy="4800600"/>
            <a:chOff x="7138" y="1376"/>
            <a:chExt cx="4590" cy="3780"/>
          </a:xfrm>
        </p:grpSpPr>
        <p:sp>
          <p:nvSpPr>
            <p:cNvPr id="7" name="AutoShape 31">
              <a:extLst>
                <a:ext uri="{FF2B5EF4-FFF2-40B4-BE49-F238E27FC236}">
                  <a16:creationId xmlns:a16="http://schemas.microsoft.com/office/drawing/2014/main" id="{F14DC4BF-B8BD-43AD-9178-948237BB70B0}"/>
                </a:ext>
              </a:extLst>
            </p:cNvPr>
            <p:cNvSpPr>
              <a:spLocks noChangeAspect="1" noChangeArrowheads="1" noTextEdit="1"/>
            </p:cNvSpPr>
            <p:nvPr/>
          </p:nvSpPr>
          <p:spPr bwMode="auto">
            <a:xfrm>
              <a:off x="7138" y="1376"/>
              <a:ext cx="4590" cy="37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 Box 30">
              <a:extLst>
                <a:ext uri="{FF2B5EF4-FFF2-40B4-BE49-F238E27FC236}">
                  <a16:creationId xmlns:a16="http://schemas.microsoft.com/office/drawing/2014/main" id="{F72F27E6-7E40-4871-8B99-B289308A9190}"/>
                </a:ext>
              </a:extLst>
            </p:cNvPr>
            <p:cNvSpPr txBox="1">
              <a:spLocks noChangeArrowheads="1"/>
            </p:cNvSpPr>
            <p:nvPr/>
          </p:nvSpPr>
          <p:spPr bwMode="auto">
            <a:xfrm>
              <a:off x="8398" y="1646"/>
              <a:ext cx="9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29">
              <a:extLst>
                <a:ext uri="{FF2B5EF4-FFF2-40B4-BE49-F238E27FC236}">
                  <a16:creationId xmlns:a16="http://schemas.microsoft.com/office/drawing/2014/main" id="{D45B2EA1-A8EC-4143-9F01-EEC667D0EB7C}"/>
                </a:ext>
              </a:extLst>
            </p:cNvPr>
            <p:cNvSpPr txBox="1">
              <a:spLocks noChangeArrowheads="1"/>
            </p:cNvSpPr>
            <p:nvPr/>
          </p:nvSpPr>
          <p:spPr bwMode="auto">
            <a:xfrm>
              <a:off x="7858" y="4616"/>
              <a:ext cx="117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dirty="0">
                  <a:latin typeface="Arial" panose="020B0604020202020204" pitchFamily="34" charset="0"/>
                </a:rPr>
                <a:t>Reading rooms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10" name="Line 28">
              <a:extLst>
                <a:ext uri="{FF2B5EF4-FFF2-40B4-BE49-F238E27FC236}">
                  <a16:creationId xmlns:a16="http://schemas.microsoft.com/office/drawing/2014/main" id="{AF1150EA-A5D9-4B1D-B9EC-4FE7F8B8C5C4}"/>
                </a:ext>
              </a:extLst>
            </p:cNvPr>
            <p:cNvSpPr>
              <a:spLocks noChangeShapeType="1"/>
            </p:cNvSpPr>
            <p:nvPr/>
          </p:nvSpPr>
          <p:spPr bwMode="auto">
            <a:xfrm>
              <a:off x="8488" y="2726"/>
              <a:ext cx="1" cy="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 Box 27">
              <a:extLst>
                <a:ext uri="{FF2B5EF4-FFF2-40B4-BE49-F238E27FC236}">
                  <a16:creationId xmlns:a16="http://schemas.microsoft.com/office/drawing/2014/main" id="{D65FB5D9-573B-41B4-8F61-F59568400E75}"/>
                </a:ext>
              </a:extLst>
            </p:cNvPr>
            <p:cNvSpPr txBox="1">
              <a:spLocks noChangeArrowheads="1"/>
            </p:cNvSpPr>
            <p:nvPr/>
          </p:nvSpPr>
          <p:spPr bwMode="auto">
            <a:xfrm>
              <a:off x="8128" y="182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2" name="Text Box 26">
              <a:extLst>
                <a:ext uri="{FF2B5EF4-FFF2-40B4-BE49-F238E27FC236}">
                  <a16:creationId xmlns:a16="http://schemas.microsoft.com/office/drawing/2014/main" id="{F5F73792-8A84-4555-8D19-34DA920E8ECD}"/>
                </a:ext>
              </a:extLst>
            </p:cNvPr>
            <p:cNvSpPr txBox="1">
              <a:spLocks noChangeArrowheads="1"/>
            </p:cNvSpPr>
            <p:nvPr/>
          </p:nvSpPr>
          <p:spPr bwMode="auto">
            <a:xfrm>
              <a:off x="9658" y="227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3" name="Text Box 25">
              <a:extLst>
                <a:ext uri="{FF2B5EF4-FFF2-40B4-BE49-F238E27FC236}">
                  <a16:creationId xmlns:a16="http://schemas.microsoft.com/office/drawing/2014/main" id="{3DBD8B98-5382-4458-864C-AF71C91B1FB6}"/>
                </a:ext>
              </a:extLst>
            </p:cNvPr>
            <p:cNvSpPr txBox="1">
              <a:spLocks noChangeArrowheads="1"/>
            </p:cNvSpPr>
            <p:nvPr/>
          </p:nvSpPr>
          <p:spPr bwMode="auto">
            <a:xfrm>
              <a:off x="7858" y="245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4" name="Line 24">
              <a:extLst>
                <a:ext uri="{FF2B5EF4-FFF2-40B4-BE49-F238E27FC236}">
                  <a16:creationId xmlns:a16="http://schemas.microsoft.com/office/drawing/2014/main" id="{E818BDA9-B328-4BB5-B46F-50B19079BC58}"/>
                </a:ext>
              </a:extLst>
            </p:cNvPr>
            <p:cNvSpPr>
              <a:spLocks noChangeShapeType="1"/>
            </p:cNvSpPr>
            <p:nvPr/>
          </p:nvSpPr>
          <p:spPr bwMode="auto">
            <a:xfrm flipH="1">
              <a:off x="8039" y="2006"/>
              <a:ext cx="3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23">
              <a:extLst>
                <a:ext uri="{FF2B5EF4-FFF2-40B4-BE49-F238E27FC236}">
                  <a16:creationId xmlns:a16="http://schemas.microsoft.com/office/drawing/2014/main" id="{138FDBBB-FE29-4BA3-B003-8B9AF56FA102}"/>
                </a:ext>
              </a:extLst>
            </p:cNvPr>
            <p:cNvSpPr>
              <a:spLocks noChangeShapeType="1"/>
            </p:cNvSpPr>
            <p:nvPr/>
          </p:nvSpPr>
          <p:spPr bwMode="auto">
            <a:xfrm flipH="1" flipV="1">
              <a:off x="8038" y="2007"/>
              <a:ext cx="1" cy="6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 Box 22">
              <a:extLst>
                <a:ext uri="{FF2B5EF4-FFF2-40B4-BE49-F238E27FC236}">
                  <a16:creationId xmlns:a16="http://schemas.microsoft.com/office/drawing/2014/main" id="{84BE6D1F-0812-4AAC-AE1C-5B392063AE36}"/>
                </a:ext>
              </a:extLst>
            </p:cNvPr>
            <p:cNvSpPr txBox="1">
              <a:spLocks noChangeArrowheads="1"/>
            </p:cNvSpPr>
            <p:nvPr/>
          </p:nvSpPr>
          <p:spPr bwMode="auto">
            <a:xfrm>
              <a:off x="8848" y="218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7" name="Text Box 21">
              <a:extLst>
                <a:ext uri="{FF2B5EF4-FFF2-40B4-BE49-F238E27FC236}">
                  <a16:creationId xmlns:a16="http://schemas.microsoft.com/office/drawing/2014/main" id="{4CCE4602-FCD2-4A3D-82F1-04201FCC7D65}"/>
                </a:ext>
              </a:extLst>
            </p:cNvPr>
            <p:cNvSpPr txBox="1">
              <a:spLocks noChangeArrowheads="1"/>
            </p:cNvSpPr>
            <p:nvPr/>
          </p:nvSpPr>
          <p:spPr bwMode="auto">
            <a:xfrm>
              <a:off x="7768" y="2636"/>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Readers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18" name="Text Box 20">
              <a:extLst>
                <a:ext uri="{FF2B5EF4-FFF2-40B4-BE49-F238E27FC236}">
                  <a16:creationId xmlns:a16="http://schemas.microsoft.com/office/drawing/2014/main" id="{9E27C580-6223-4121-B9AB-A19316601667}"/>
                </a:ext>
              </a:extLst>
            </p:cNvPr>
            <p:cNvSpPr txBox="1">
              <a:spLocks noChangeArrowheads="1"/>
            </p:cNvSpPr>
            <p:nvPr/>
          </p:nvSpPr>
          <p:spPr bwMode="auto">
            <a:xfrm>
              <a:off x="9748" y="3446"/>
              <a:ext cx="1192"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 Box 19">
              <a:extLst>
                <a:ext uri="{FF2B5EF4-FFF2-40B4-BE49-F238E27FC236}">
                  <a16:creationId xmlns:a16="http://schemas.microsoft.com/office/drawing/2014/main" id="{D15ED61A-2639-406B-A599-28F1F0967AAE}"/>
                </a:ext>
              </a:extLst>
            </p:cNvPr>
            <p:cNvSpPr txBox="1">
              <a:spLocks noChangeArrowheads="1"/>
            </p:cNvSpPr>
            <p:nvPr/>
          </p:nvSpPr>
          <p:spPr bwMode="auto">
            <a:xfrm>
              <a:off x="8398" y="3446"/>
              <a:ext cx="90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20" name="Text Box 18">
              <a:extLst>
                <a:ext uri="{FF2B5EF4-FFF2-40B4-BE49-F238E27FC236}">
                  <a16:creationId xmlns:a16="http://schemas.microsoft.com/office/drawing/2014/main" id="{493A7A7E-C40A-4E40-9AD9-FC8437A4A1F3}"/>
                </a:ext>
              </a:extLst>
            </p:cNvPr>
            <p:cNvSpPr txBox="1">
              <a:spLocks noChangeArrowheads="1"/>
            </p:cNvSpPr>
            <p:nvPr/>
          </p:nvSpPr>
          <p:spPr bwMode="auto">
            <a:xfrm>
              <a:off x="7138" y="3446"/>
              <a:ext cx="9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Librarians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21" name="Line 17">
              <a:extLst>
                <a:ext uri="{FF2B5EF4-FFF2-40B4-BE49-F238E27FC236}">
                  <a16:creationId xmlns:a16="http://schemas.microsoft.com/office/drawing/2014/main" id="{F67A8FFE-7799-478F-A6FB-79A2C09A12A2}"/>
                </a:ext>
              </a:extLst>
            </p:cNvPr>
            <p:cNvSpPr>
              <a:spLocks noChangeShapeType="1"/>
            </p:cNvSpPr>
            <p:nvPr/>
          </p:nvSpPr>
          <p:spPr bwMode="auto">
            <a:xfrm>
              <a:off x="8038" y="371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6">
              <a:extLst>
                <a:ext uri="{FF2B5EF4-FFF2-40B4-BE49-F238E27FC236}">
                  <a16:creationId xmlns:a16="http://schemas.microsoft.com/office/drawing/2014/main" id="{A2755999-4747-417E-8762-9DD4195D3E1D}"/>
                </a:ext>
              </a:extLst>
            </p:cNvPr>
            <p:cNvSpPr>
              <a:spLocks noChangeShapeType="1"/>
            </p:cNvSpPr>
            <p:nvPr/>
          </p:nvSpPr>
          <p:spPr bwMode="auto">
            <a:xfrm>
              <a:off x="8848" y="2456"/>
              <a:ext cx="10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15">
              <a:extLst>
                <a:ext uri="{FF2B5EF4-FFF2-40B4-BE49-F238E27FC236}">
                  <a16:creationId xmlns:a16="http://schemas.microsoft.com/office/drawing/2014/main" id="{3D935155-D90B-4EC9-8403-A8CB80083D6A}"/>
                </a:ext>
              </a:extLst>
            </p:cNvPr>
            <p:cNvSpPr>
              <a:spLocks noChangeShapeType="1"/>
            </p:cNvSpPr>
            <p:nvPr/>
          </p:nvSpPr>
          <p:spPr bwMode="auto">
            <a:xfrm flipV="1">
              <a:off x="8848" y="2186"/>
              <a:ext cx="1"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14">
              <a:extLst>
                <a:ext uri="{FF2B5EF4-FFF2-40B4-BE49-F238E27FC236}">
                  <a16:creationId xmlns:a16="http://schemas.microsoft.com/office/drawing/2014/main" id="{79D01515-AA88-4262-B611-F2DE311F14D2}"/>
                </a:ext>
              </a:extLst>
            </p:cNvPr>
            <p:cNvSpPr>
              <a:spLocks noChangeShapeType="1"/>
            </p:cNvSpPr>
            <p:nvPr/>
          </p:nvSpPr>
          <p:spPr bwMode="auto">
            <a:xfrm flipH="1">
              <a:off x="9298" y="3716"/>
              <a:ext cx="45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13">
              <a:extLst>
                <a:ext uri="{FF2B5EF4-FFF2-40B4-BE49-F238E27FC236}">
                  <a16:creationId xmlns:a16="http://schemas.microsoft.com/office/drawing/2014/main" id="{C0F1CD6B-1E6F-43FA-BAAB-A28BBAA662F3}"/>
                </a:ext>
              </a:extLst>
            </p:cNvPr>
            <p:cNvSpPr>
              <a:spLocks noChangeShapeType="1"/>
            </p:cNvSpPr>
            <p:nvPr/>
          </p:nvSpPr>
          <p:spPr bwMode="auto">
            <a:xfrm flipV="1">
              <a:off x="8755" y="3985"/>
              <a:ext cx="3" cy="6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Text Box 12">
              <a:extLst>
                <a:ext uri="{FF2B5EF4-FFF2-40B4-BE49-F238E27FC236}">
                  <a16:creationId xmlns:a16="http://schemas.microsoft.com/office/drawing/2014/main" id="{C3495D82-44A6-4243-A9D7-BB59049C4F0B}"/>
                </a:ext>
              </a:extLst>
            </p:cNvPr>
            <p:cNvSpPr txBox="1">
              <a:spLocks noChangeArrowheads="1"/>
            </p:cNvSpPr>
            <p:nvPr/>
          </p:nvSpPr>
          <p:spPr bwMode="auto">
            <a:xfrm>
              <a:off x="8488" y="290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27" name="Text Box 11">
              <a:extLst>
                <a:ext uri="{FF2B5EF4-FFF2-40B4-BE49-F238E27FC236}">
                  <a16:creationId xmlns:a16="http://schemas.microsoft.com/office/drawing/2014/main" id="{AE231D56-6495-41D0-8377-4EA85A9CD05F}"/>
                </a:ext>
              </a:extLst>
            </p:cNvPr>
            <p:cNvSpPr txBox="1">
              <a:spLocks noChangeArrowheads="1"/>
            </p:cNvSpPr>
            <p:nvPr/>
          </p:nvSpPr>
          <p:spPr bwMode="auto">
            <a:xfrm>
              <a:off x="8848" y="326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28" name="Text Box 10">
              <a:extLst>
                <a:ext uri="{FF2B5EF4-FFF2-40B4-BE49-F238E27FC236}">
                  <a16:creationId xmlns:a16="http://schemas.microsoft.com/office/drawing/2014/main" id="{5C957AE2-0611-48B3-B65F-FB77781C0C25}"/>
                </a:ext>
              </a:extLst>
            </p:cNvPr>
            <p:cNvSpPr txBox="1">
              <a:spLocks noChangeArrowheads="1"/>
            </p:cNvSpPr>
            <p:nvPr/>
          </p:nvSpPr>
          <p:spPr bwMode="auto">
            <a:xfrm>
              <a:off x="9208" y="3536"/>
              <a:ext cx="36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29" name="Text Box 9">
              <a:extLst>
                <a:ext uri="{FF2B5EF4-FFF2-40B4-BE49-F238E27FC236}">
                  <a16:creationId xmlns:a16="http://schemas.microsoft.com/office/drawing/2014/main" id="{853F727B-53F2-4DAB-9EDD-2BEB586345BB}"/>
                </a:ext>
              </a:extLst>
            </p:cNvPr>
            <p:cNvSpPr txBox="1">
              <a:spLocks noChangeArrowheads="1"/>
            </p:cNvSpPr>
            <p:nvPr/>
          </p:nvSpPr>
          <p:spPr bwMode="auto">
            <a:xfrm>
              <a:off x="8128" y="353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0" name="Text Box 8">
              <a:extLst>
                <a:ext uri="{FF2B5EF4-FFF2-40B4-BE49-F238E27FC236}">
                  <a16:creationId xmlns:a16="http://schemas.microsoft.com/office/drawing/2014/main" id="{264F2086-8554-4E2C-A4DC-29389E583793}"/>
                </a:ext>
              </a:extLst>
            </p:cNvPr>
            <p:cNvSpPr txBox="1">
              <a:spLocks noChangeArrowheads="1"/>
            </p:cNvSpPr>
            <p:nvPr/>
          </p:nvSpPr>
          <p:spPr bwMode="auto">
            <a:xfrm>
              <a:off x="8038" y="371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1" name="Text Box 7">
              <a:extLst>
                <a:ext uri="{FF2B5EF4-FFF2-40B4-BE49-F238E27FC236}">
                  <a16:creationId xmlns:a16="http://schemas.microsoft.com/office/drawing/2014/main" id="{B21CC297-7CCD-4143-96C2-BACE49EA8B88}"/>
                </a:ext>
              </a:extLst>
            </p:cNvPr>
            <p:cNvSpPr txBox="1">
              <a:spLocks noChangeArrowheads="1"/>
            </p:cNvSpPr>
            <p:nvPr/>
          </p:nvSpPr>
          <p:spPr bwMode="auto">
            <a:xfrm>
              <a:off x="9568" y="3716"/>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2" name="Text Box 6">
              <a:extLst>
                <a:ext uri="{FF2B5EF4-FFF2-40B4-BE49-F238E27FC236}">
                  <a16:creationId xmlns:a16="http://schemas.microsoft.com/office/drawing/2014/main" id="{BF5D0A04-E6EA-43EA-9CB2-8B765F84FD8B}"/>
                </a:ext>
              </a:extLst>
            </p:cNvPr>
            <p:cNvSpPr txBox="1">
              <a:spLocks noChangeArrowheads="1"/>
            </p:cNvSpPr>
            <p:nvPr/>
          </p:nvSpPr>
          <p:spPr bwMode="auto">
            <a:xfrm>
              <a:off x="8758" y="443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3" name="Text Box 5">
              <a:extLst>
                <a:ext uri="{FF2B5EF4-FFF2-40B4-BE49-F238E27FC236}">
                  <a16:creationId xmlns:a16="http://schemas.microsoft.com/office/drawing/2014/main" id="{B75C3023-D676-464E-8E3E-19B2E0DB76EE}"/>
                </a:ext>
              </a:extLst>
            </p:cNvPr>
            <p:cNvSpPr txBox="1">
              <a:spLocks noChangeArrowheads="1"/>
            </p:cNvSpPr>
            <p:nvPr/>
          </p:nvSpPr>
          <p:spPr bwMode="auto">
            <a:xfrm>
              <a:off x="8758" y="398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4" name="Text Box 4">
              <a:extLst>
                <a:ext uri="{FF2B5EF4-FFF2-40B4-BE49-F238E27FC236}">
                  <a16:creationId xmlns:a16="http://schemas.microsoft.com/office/drawing/2014/main" id="{1F9610B4-0FDA-4FC1-AD92-1BBD94F7A8A4}"/>
                </a:ext>
              </a:extLst>
            </p:cNvPr>
            <p:cNvSpPr txBox="1">
              <a:spLocks noChangeArrowheads="1"/>
            </p:cNvSpPr>
            <p:nvPr/>
          </p:nvSpPr>
          <p:spPr bwMode="auto">
            <a:xfrm>
              <a:off x="9928" y="2186"/>
              <a:ext cx="9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35" name="Line 3">
              <a:extLst>
                <a:ext uri="{FF2B5EF4-FFF2-40B4-BE49-F238E27FC236}">
                  <a16:creationId xmlns:a16="http://schemas.microsoft.com/office/drawing/2014/main" id="{376DE048-2840-488F-B279-AEA2409B7DE3}"/>
                </a:ext>
              </a:extLst>
            </p:cNvPr>
            <p:cNvSpPr>
              <a:spLocks noChangeShapeType="1"/>
            </p:cNvSpPr>
            <p:nvPr/>
          </p:nvSpPr>
          <p:spPr bwMode="auto">
            <a:xfrm>
              <a:off x="8848" y="2906"/>
              <a:ext cx="1"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2">
              <a:extLst>
                <a:ext uri="{FF2B5EF4-FFF2-40B4-BE49-F238E27FC236}">
                  <a16:creationId xmlns:a16="http://schemas.microsoft.com/office/drawing/2014/main" id="{990820B9-B232-4FC2-A522-5150AF34041E}"/>
                </a:ext>
              </a:extLst>
            </p:cNvPr>
            <p:cNvSpPr>
              <a:spLocks noChangeShapeType="1"/>
            </p:cNvSpPr>
            <p:nvPr/>
          </p:nvSpPr>
          <p:spPr bwMode="auto">
            <a:xfrm flipH="1">
              <a:off x="8488" y="290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58130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25563"/>
          </a:xfrm>
        </p:spPr>
        <p:txBody>
          <a:bodyPr/>
          <a:lstStyle/>
          <a:p>
            <a:pPr algn="ctr"/>
            <a:r>
              <a:rPr lang="en-US" sz="4400" dirty="0"/>
              <a:t>Step 3: </a:t>
            </a:r>
            <a:r>
              <a:rPr lang="en-US" dirty="0"/>
              <a:t>Decomposition of a Relations</a:t>
            </a:r>
          </a:p>
        </p:txBody>
      </p:sp>
      <p:sp>
        <p:nvSpPr>
          <p:cNvPr id="5" name="Rectangle 32">
            <a:extLst>
              <a:ext uri="{FF2B5EF4-FFF2-40B4-BE49-F238E27FC236}">
                <a16:creationId xmlns:a16="http://schemas.microsoft.com/office/drawing/2014/main" id="{7EC42138-696D-4C8C-B472-5924D4415708}"/>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6" name="Group 1">
            <a:extLst>
              <a:ext uri="{FF2B5EF4-FFF2-40B4-BE49-F238E27FC236}">
                <a16:creationId xmlns:a16="http://schemas.microsoft.com/office/drawing/2014/main" id="{38FBD796-6FBB-4BFA-93F3-6E0538ED8FF9}"/>
              </a:ext>
            </a:extLst>
          </p:cNvPr>
          <p:cNvGrpSpPr>
            <a:grpSpLocks noChangeAspect="1"/>
          </p:cNvGrpSpPr>
          <p:nvPr/>
        </p:nvGrpSpPr>
        <p:grpSpPr bwMode="auto">
          <a:xfrm>
            <a:off x="4257769" y="1773460"/>
            <a:ext cx="5829300" cy="4800600"/>
            <a:chOff x="7138" y="1376"/>
            <a:chExt cx="4590" cy="3780"/>
          </a:xfrm>
        </p:grpSpPr>
        <p:sp>
          <p:nvSpPr>
            <p:cNvPr id="7" name="AutoShape 31">
              <a:extLst>
                <a:ext uri="{FF2B5EF4-FFF2-40B4-BE49-F238E27FC236}">
                  <a16:creationId xmlns:a16="http://schemas.microsoft.com/office/drawing/2014/main" id="{F14DC4BF-B8BD-43AD-9178-948237BB70B0}"/>
                </a:ext>
              </a:extLst>
            </p:cNvPr>
            <p:cNvSpPr>
              <a:spLocks noChangeAspect="1" noChangeArrowheads="1" noTextEdit="1"/>
            </p:cNvSpPr>
            <p:nvPr/>
          </p:nvSpPr>
          <p:spPr bwMode="auto">
            <a:xfrm>
              <a:off x="7138" y="1376"/>
              <a:ext cx="4590" cy="37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 Box 30">
              <a:extLst>
                <a:ext uri="{FF2B5EF4-FFF2-40B4-BE49-F238E27FC236}">
                  <a16:creationId xmlns:a16="http://schemas.microsoft.com/office/drawing/2014/main" id="{F72F27E6-7E40-4871-8B99-B289308A9190}"/>
                </a:ext>
              </a:extLst>
            </p:cNvPr>
            <p:cNvSpPr txBox="1">
              <a:spLocks noChangeArrowheads="1"/>
            </p:cNvSpPr>
            <p:nvPr/>
          </p:nvSpPr>
          <p:spPr bwMode="auto">
            <a:xfrm>
              <a:off x="8398" y="1646"/>
              <a:ext cx="9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29">
              <a:extLst>
                <a:ext uri="{FF2B5EF4-FFF2-40B4-BE49-F238E27FC236}">
                  <a16:creationId xmlns:a16="http://schemas.microsoft.com/office/drawing/2014/main" id="{D45B2EA1-A8EC-4143-9F01-EEC667D0EB7C}"/>
                </a:ext>
              </a:extLst>
            </p:cNvPr>
            <p:cNvSpPr txBox="1">
              <a:spLocks noChangeArrowheads="1"/>
            </p:cNvSpPr>
            <p:nvPr/>
          </p:nvSpPr>
          <p:spPr bwMode="auto">
            <a:xfrm>
              <a:off x="7858" y="4616"/>
              <a:ext cx="117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dirty="0">
                  <a:latin typeface="Arial" panose="020B0604020202020204" pitchFamily="34" charset="0"/>
                </a:rPr>
                <a:t>Reading rooms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10" name="Line 28">
              <a:extLst>
                <a:ext uri="{FF2B5EF4-FFF2-40B4-BE49-F238E27FC236}">
                  <a16:creationId xmlns:a16="http://schemas.microsoft.com/office/drawing/2014/main" id="{AF1150EA-A5D9-4B1D-B9EC-4FE7F8B8C5C4}"/>
                </a:ext>
              </a:extLst>
            </p:cNvPr>
            <p:cNvSpPr>
              <a:spLocks noChangeShapeType="1"/>
            </p:cNvSpPr>
            <p:nvPr/>
          </p:nvSpPr>
          <p:spPr bwMode="auto">
            <a:xfrm>
              <a:off x="8488" y="2726"/>
              <a:ext cx="1" cy="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 Box 27">
              <a:extLst>
                <a:ext uri="{FF2B5EF4-FFF2-40B4-BE49-F238E27FC236}">
                  <a16:creationId xmlns:a16="http://schemas.microsoft.com/office/drawing/2014/main" id="{D65FB5D9-573B-41B4-8F61-F59568400E75}"/>
                </a:ext>
              </a:extLst>
            </p:cNvPr>
            <p:cNvSpPr txBox="1">
              <a:spLocks noChangeArrowheads="1"/>
            </p:cNvSpPr>
            <p:nvPr/>
          </p:nvSpPr>
          <p:spPr bwMode="auto">
            <a:xfrm>
              <a:off x="8128" y="182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2" name="Text Box 26">
              <a:extLst>
                <a:ext uri="{FF2B5EF4-FFF2-40B4-BE49-F238E27FC236}">
                  <a16:creationId xmlns:a16="http://schemas.microsoft.com/office/drawing/2014/main" id="{F5F73792-8A84-4555-8D19-34DA920E8ECD}"/>
                </a:ext>
              </a:extLst>
            </p:cNvPr>
            <p:cNvSpPr txBox="1">
              <a:spLocks noChangeArrowheads="1"/>
            </p:cNvSpPr>
            <p:nvPr/>
          </p:nvSpPr>
          <p:spPr bwMode="auto">
            <a:xfrm>
              <a:off x="9658" y="227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3" name="Text Box 25">
              <a:extLst>
                <a:ext uri="{FF2B5EF4-FFF2-40B4-BE49-F238E27FC236}">
                  <a16:creationId xmlns:a16="http://schemas.microsoft.com/office/drawing/2014/main" id="{3DBD8B98-5382-4458-864C-AF71C91B1FB6}"/>
                </a:ext>
              </a:extLst>
            </p:cNvPr>
            <p:cNvSpPr txBox="1">
              <a:spLocks noChangeArrowheads="1"/>
            </p:cNvSpPr>
            <p:nvPr/>
          </p:nvSpPr>
          <p:spPr bwMode="auto">
            <a:xfrm>
              <a:off x="7858" y="245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4" name="Line 24">
              <a:extLst>
                <a:ext uri="{FF2B5EF4-FFF2-40B4-BE49-F238E27FC236}">
                  <a16:creationId xmlns:a16="http://schemas.microsoft.com/office/drawing/2014/main" id="{E818BDA9-B328-4BB5-B46F-50B19079BC58}"/>
                </a:ext>
              </a:extLst>
            </p:cNvPr>
            <p:cNvSpPr>
              <a:spLocks noChangeShapeType="1"/>
            </p:cNvSpPr>
            <p:nvPr/>
          </p:nvSpPr>
          <p:spPr bwMode="auto">
            <a:xfrm flipH="1">
              <a:off x="8039" y="2006"/>
              <a:ext cx="3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23">
              <a:extLst>
                <a:ext uri="{FF2B5EF4-FFF2-40B4-BE49-F238E27FC236}">
                  <a16:creationId xmlns:a16="http://schemas.microsoft.com/office/drawing/2014/main" id="{138FDBBB-FE29-4BA3-B003-8B9AF56FA102}"/>
                </a:ext>
              </a:extLst>
            </p:cNvPr>
            <p:cNvSpPr>
              <a:spLocks noChangeShapeType="1"/>
            </p:cNvSpPr>
            <p:nvPr/>
          </p:nvSpPr>
          <p:spPr bwMode="auto">
            <a:xfrm flipH="1" flipV="1">
              <a:off x="8038" y="2007"/>
              <a:ext cx="1" cy="6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 Box 22">
              <a:extLst>
                <a:ext uri="{FF2B5EF4-FFF2-40B4-BE49-F238E27FC236}">
                  <a16:creationId xmlns:a16="http://schemas.microsoft.com/office/drawing/2014/main" id="{84BE6D1F-0812-4AAC-AE1C-5B392063AE36}"/>
                </a:ext>
              </a:extLst>
            </p:cNvPr>
            <p:cNvSpPr txBox="1">
              <a:spLocks noChangeArrowheads="1"/>
            </p:cNvSpPr>
            <p:nvPr/>
          </p:nvSpPr>
          <p:spPr bwMode="auto">
            <a:xfrm>
              <a:off x="8848" y="218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17" name="Text Box 21">
              <a:extLst>
                <a:ext uri="{FF2B5EF4-FFF2-40B4-BE49-F238E27FC236}">
                  <a16:creationId xmlns:a16="http://schemas.microsoft.com/office/drawing/2014/main" id="{4CCE4602-FCD2-4A3D-82F1-04201FCC7D65}"/>
                </a:ext>
              </a:extLst>
            </p:cNvPr>
            <p:cNvSpPr txBox="1">
              <a:spLocks noChangeArrowheads="1"/>
            </p:cNvSpPr>
            <p:nvPr/>
          </p:nvSpPr>
          <p:spPr bwMode="auto">
            <a:xfrm>
              <a:off x="7768" y="2636"/>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Readers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18" name="Text Box 20">
              <a:extLst>
                <a:ext uri="{FF2B5EF4-FFF2-40B4-BE49-F238E27FC236}">
                  <a16:creationId xmlns:a16="http://schemas.microsoft.com/office/drawing/2014/main" id="{9E27C580-6223-4121-B9AB-A19316601667}"/>
                </a:ext>
              </a:extLst>
            </p:cNvPr>
            <p:cNvSpPr txBox="1">
              <a:spLocks noChangeArrowheads="1"/>
            </p:cNvSpPr>
            <p:nvPr/>
          </p:nvSpPr>
          <p:spPr bwMode="auto">
            <a:xfrm>
              <a:off x="9748" y="3446"/>
              <a:ext cx="1192"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dirty="0">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 Box 19">
              <a:extLst>
                <a:ext uri="{FF2B5EF4-FFF2-40B4-BE49-F238E27FC236}">
                  <a16:creationId xmlns:a16="http://schemas.microsoft.com/office/drawing/2014/main" id="{D15ED61A-2639-406B-A599-28F1F0967AAE}"/>
                </a:ext>
              </a:extLst>
            </p:cNvPr>
            <p:cNvSpPr txBox="1">
              <a:spLocks noChangeArrowheads="1"/>
            </p:cNvSpPr>
            <p:nvPr/>
          </p:nvSpPr>
          <p:spPr bwMode="auto">
            <a:xfrm>
              <a:off x="8398" y="3446"/>
              <a:ext cx="90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20" name="Text Box 18">
              <a:extLst>
                <a:ext uri="{FF2B5EF4-FFF2-40B4-BE49-F238E27FC236}">
                  <a16:creationId xmlns:a16="http://schemas.microsoft.com/office/drawing/2014/main" id="{493A7A7E-C40A-4E40-9AD9-FC8437A4A1F3}"/>
                </a:ext>
              </a:extLst>
            </p:cNvPr>
            <p:cNvSpPr txBox="1">
              <a:spLocks noChangeArrowheads="1"/>
            </p:cNvSpPr>
            <p:nvPr/>
          </p:nvSpPr>
          <p:spPr bwMode="auto">
            <a:xfrm>
              <a:off x="7138" y="3446"/>
              <a:ext cx="9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Librarians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21" name="Line 17">
              <a:extLst>
                <a:ext uri="{FF2B5EF4-FFF2-40B4-BE49-F238E27FC236}">
                  <a16:creationId xmlns:a16="http://schemas.microsoft.com/office/drawing/2014/main" id="{F67A8FFE-7799-478F-A6FB-79A2C09A12A2}"/>
                </a:ext>
              </a:extLst>
            </p:cNvPr>
            <p:cNvSpPr>
              <a:spLocks noChangeShapeType="1"/>
            </p:cNvSpPr>
            <p:nvPr/>
          </p:nvSpPr>
          <p:spPr bwMode="auto">
            <a:xfrm>
              <a:off x="8038" y="371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6">
              <a:extLst>
                <a:ext uri="{FF2B5EF4-FFF2-40B4-BE49-F238E27FC236}">
                  <a16:creationId xmlns:a16="http://schemas.microsoft.com/office/drawing/2014/main" id="{A2755999-4747-417E-8762-9DD4195D3E1D}"/>
                </a:ext>
              </a:extLst>
            </p:cNvPr>
            <p:cNvSpPr>
              <a:spLocks noChangeShapeType="1"/>
            </p:cNvSpPr>
            <p:nvPr/>
          </p:nvSpPr>
          <p:spPr bwMode="auto">
            <a:xfrm>
              <a:off x="8848" y="2456"/>
              <a:ext cx="10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15">
              <a:extLst>
                <a:ext uri="{FF2B5EF4-FFF2-40B4-BE49-F238E27FC236}">
                  <a16:creationId xmlns:a16="http://schemas.microsoft.com/office/drawing/2014/main" id="{3D935155-D90B-4EC9-8403-A8CB80083D6A}"/>
                </a:ext>
              </a:extLst>
            </p:cNvPr>
            <p:cNvSpPr>
              <a:spLocks noChangeShapeType="1"/>
            </p:cNvSpPr>
            <p:nvPr/>
          </p:nvSpPr>
          <p:spPr bwMode="auto">
            <a:xfrm flipV="1">
              <a:off x="8848" y="2186"/>
              <a:ext cx="1"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14">
              <a:extLst>
                <a:ext uri="{FF2B5EF4-FFF2-40B4-BE49-F238E27FC236}">
                  <a16:creationId xmlns:a16="http://schemas.microsoft.com/office/drawing/2014/main" id="{79D01515-AA88-4262-B611-F2DE311F14D2}"/>
                </a:ext>
              </a:extLst>
            </p:cNvPr>
            <p:cNvSpPr>
              <a:spLocks noChangeShapeType="1"/>
            </p:cNvSpPr>
            <p:nvPr/>
          </p:nvSpPr>
          <p:spPr bwMode="auto">
            <a:xfrm flipH="1">
              <a:off x="9298" y="3716"/>
              <a:ext cx="45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13">
              <a:extLst>
                <a:ext uri="{FF2B5EF4-FFF2-40B4-BE49-F238E27FC236}">
                  <a16:creationId xmlns:a16="http://schemas.microsoft.com/office/drawing/2014/main" id="{C0F1CD6B-1E6F-43FA-BAAB-A28BBAA662F3}"/>
                </a:ext>
              </a:extLst>
            </p:cNvPr>
            <p:cNvSpPr>
              <a:spLocks noChangeShapeType="1"/>
            </p:cNvSpPr>
            <p:nvPr/>
          </p:nvSpPr>
          <p:spPr bwMode="auto">
            <a:xfrm flipV="1">
              <a:off x="8755" y="3985"/>
              <a:ext cx="3" cy="6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Text Box 12">
              <a:extLst>
                <a:ext uri="{FF2B5EF4-FFF2-40B4-BE49-F238E27FC236}">
                  <a16:creationId xmlns:a16="http://schemas.microsoft.com/office/drawing/2014/main" id="{C3495D82-44A6-4243-A9D7-BB59049C4F0B}"/>
                </a:ext>
              </a:extLst>
            </p:cNvPr>
            <p:cNvSpPr txBox="1">
              <a:spLocks noChangeArrowheads="1"/>
            </p:cNvSpPr>
            <p:nvPr/>
          </p:nvSpPr>
          <p:spPr bwMode="auto">
            <a:xfrm>
              <a:off x="8488" y="290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27" name="Text Box 11">
              <a:extLst>
                <a:ext uri="{FF2B5EF4-FFF2-40B4-BE49-F238E27FC236}">
                  <a16:creationId xmlns:a16="http://schemas.microsoft.com/office/drawing/2014/main" id="{AE231D56-6495-41D0-8377-4EA85A9CD05F}"/>
                </a:ext>
              </a:extLst>
            </p:cNvPr>
            <p:cNvSpPr txBox="1">
              <a:spLocks noChangeArrowheads="1"/>
            </p:cNvSpPr>
            <p:nvPr/>
          </p:nvSpPr>
          <p:spPr bwMode="auto">
            <a:xfrm>
              <a:off x="8848" y="326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28" name="Text Box 10">
              <a:extLst>
                <a:ext uri="{FF2B5EF4-FFF2-40B4-BE49-F238E27FC236}">
                  <a16:creationId xmlns:a16="http://schemas.microsoft.com/office/drawing/2014/main" id="{5C957AE2-0611-48B3-B65F-FB77781C0C25}"/>
                </a:ext>
              </a:extLst>
            </p:cNvPr>
            <p:cNvSpPr txBox="1">
              <a:spLocks noChangeArrowheads="1"/>
            </p:cNvSpPr>
            <p:nvPr/>
          </p:nvSpPr>
          <p:spPr bwMode="auto">
            <a:xfrm>
              <a:off x="9208" y="3536"/>
              <a:ext cx="36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29" name="Text Box 9">
              <a:extLst>
                <a:ext uri="{FF2B5EF4-FFF2-40B4-BE49-F238E27FC236}">
                  <a16:creationId xmlns:a16="http://schemas.microsoft.com/office/drawing/2014/main" id="{853F727B-53F2-4DAB-9EDD-2BEB586345BB}"/>
                </a:ext>
              </a:extLst>
            </p:cNvPr>
            <p:cNvSpPr txBox="1">
              <a:spLocks noChangeArrowheads="1"/>
            </p:cNvSpPr>
            <p:nvPr/>
          </p:nvSpPr>
          <p:spPr bwMode="auto">
            <a:xfrm>
              <a:off x="8128" y="353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0" name="Text Box 8">
              <a:extLst>
                <a:ext uri="{FF2B5EF4-FFF2-40B4-BE49-F238E27FC236}">
                  <a16:creationId xmlns:a16="http://schemas.microsoft.com/office/drawing/2014/main" id="{264F2086-8554-4E2C-A4DC-29389E583793}"/>
                </a:ext>
              </a:extLst>
            </p:cNvPr>
            <p:cNvSpPr txBox="1">
              <a:spLocks noChangeArrowheads="1"/>
            </p:cNvSpPr>
            <p:nvPr/>
          </p:nvSpPr>
          <p:spPr bwMode="auto">
            <a:xfrm>
              <a:off x="8038" y="371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1" name="Text Box 7">
              <a:extLst>
                <a:ext uri="{FF2B5EF4-FFF2-40B4-BE49-F238E27FC236}">
                  <a16:creationId xmlns:a16="http://schemas.microsoft.com/office/drawing/2014/main" id="{B21CC297-7CCD-4143-96C2-BACE49EA8B88}"/>
                </a:ext>
              </a:extLst>
            </p:cNvPr>
            <p:cNvSpPr txBox="1">
              <a:spLocks noChangeArrowheads="1"/>
            </p:cNvSpPr>
            <p:nvPr/>
          </p:nvSpPr>
          <p:spPr bwMode="auto">
            <a:xfrm>
              <a:off x="9568" y="3716"/>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2" name="Text Box 6">
              <a:extLst>
                <a:ext uri="{FF2B5EF4-FFF2-40B4-BE49-F238E27FC236}">
                  <a16:creationId xmlns:a16="http://schemas.microsoft.com/office/drawing/2014/main" id="{BF5D0A04-E6EA-43EA-9CB2-8B765F84FD8B}"/>
                </a:ext>
              </a:extLst>
            </p:cNvPr>
            <p:cNvSpPr txBox="1">
              <a:spLocks noChangeArrowheads="1"/>
            </p:cNvSpPr>
            <p:nvPr/>
          </p:nvSpPr>
          <p:spPr bwMode="auto">
            <a:xfrm>
              <a:off x="8758" y="443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3" name="Text Box 5">
              <a:extLst>
                <a:ext uri="{FF2B5EF4-FFF2-40B4-BE49-F238E27FC236}">
                  <a16:creationId xmlns:a16="http://schemas.microsoft.com/office/drawing/2014/main" id="{B75C3023-D676-464E-8E3E-19B2E0DB76EE}"/>
                </a:ext>
              </a:extLst>
            </p:cNvPr>
            <p:cNvSpPr txBox="1">
              <a:spLocks noChangeArrowheads="1"/>
            </p:cNvSpPr>
            <p:nvPr/>
          </p:nvSpPr>
          <p:spPr bwMode="auto">
            <a:xfrm>
              <a:off x="8758" y="398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3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800" b="0" i="0" u="none" strike="noStrike" cap="none" normalizeH="0" baseline="0">
                <a:ln>
                  <a:noFill/>
                </a:ln>
                <a:solidFill>
                  <a:schemeClr val="tx1"/>
                </a:solidFill>
                <a:effectLst/>
                <a:latin typeface="Arial" panose="020B0604020202020204" pitchFamily="34" charset="0"/>
              </a:endParaRPr>
            </a:p>
          </p:txBody>
        </p:sp>
        <p:sp>
          <p:nvSpPr>
            <p:cNvPr id="34" name="Text Box 4">
              <a:extLst>
                <a:ext uri="{FF2B5EF4-FFF2-40B4-BE49-F238E27FC236}">
                  <a16:creationId xmlns:a16="http://schemas.microsoft.com/office/drawing/2014/main" id="{1F9610B4-0FDA-4FC1-AD92-1BBD94F7A8A4}"/>
                </a:ext>
              </a:extLst>
            </p:cNvPr>
            <p:cNvSpPr txBox="1">
              <a:spLocks noChangeArrowheads="1"/>
            </p:cNvSpPr>
            <p:nvPr/>
          </p:nvSpPr>
          <p:spPr bwMode="auto">
            <a:xfrm>
              <a:off x="9928" y="2186"/>
              <a:ext cx="9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endParaRPr kumimoji="0" lang="lv-LV" altLang="en-US" sz="1800" b="0" i="0" u="none" strike="noStrike" cap="none" normalizeH="0" baseline="0" dirty="0">
                <a:ln>
                  <a:noFill/>
                </a:ln>
                <a:solidFill>
                  <a:schemeClr val="tx1"/>
                </a:solidFill>
                <a:effectLst/>
                <a:latin typeface="Arial" panose="020B0604020202020204" pitchFamily="34" charset="0"/>
              </a:endParaRPr>
            </a:p>
          </p:txBody>
        </p:sp>
        <p:sp>
          <p:nvSpPr>
            <p:cNvPr id="35" name="Line 3">
              <a:extLst>
                <a:ext uri="{FF2B5EF4-FFF2-40B4-BE49-F238E27FC236}">
                  <a16:creationId xmlns:a16="http://schemas.microsoft.com/office/drawing/2014/main" id="{376DE048-2840-488F-B279-AEA2409B7DE3}"/>
                </a:ext>
              </a:extLst>
            </p:cNvPr>
            <p:cNvSpPr>
              <a:spLocks noChangeShapeType="1"/>
            </p:cNvSpPr>
            <p:nvPr/>
          </p:nvSpPr>
          <p:spPr bwMode="auto">
            <a:xfrm>
              <a:off x="8848" y="2906"/>
              <a:ext cx="1"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2">
              <a:extLst>
                <a:ext uri="{FF2B5EF4-FFF2-40B4-BE49-F238E27FC236}">
                  <a16:creationId xmlns:a16="http://schemas.microsoft.com/office/drawing/2014/main" id="{990820B9-B232-4FC2-A522-5150AF34041E}"/>
                </a:ext>
              </a:extLst>
            </p:cNvPr>
            <p:cNvSpPr>
              <a:spLocks noChangeShapeType="1"/>
            </p:cNvSpPr>
            <p:nvPr/>
          </p:nvSpPr>
          <p:spPr bwMode="auto">
            <a:xfrm flipH="1">
              <a:off x="8488" y="290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38" name="Picture 37" descr="Diagram, schematic&#10;&#10;Description automatically generated">
            <a:extLst>
              <a:ext uri="{FF2B5EF4-FFF2-40B4-BE49-F238E27FC236}">
                <a16:creationId xmlns:a16="http://schemas.microsoft.com/office/drawing/2014/main" id="{71413B03-7809-4607-960A-67A632D3F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17" y="1325563"/>
            <a:ext cx="4239217" cy="3181794"/>
          </a:xfrm>
          <a:prstGeom prst="rect">
            <a:avLst/>
          </a:prstGeom>
        </p:spPr>
      </p:pic>
    </p:spTree>
    <p:extLst>
      <p:ext uri="{BB962C8B-B14F-4D97-AF65-F5344CB8AC3E}">
        <p14:creationId xmlns:p14="http://schemas.microsoft.com/office/powerpoint/2010/main" val="147810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6" y="-5992"/>
            <a:ext cx="8839200" cy="1325563"/>
          </a:xfrm>
        </p:spPr>
        <p:txBody>
          <a:bodyPr>
            <a:normAutofit/>
          </a:bodyPr>
          <a:lstStyle/>
          <a:p>
            <a:pPr marL="0" indent="0" algn="ctr">
              <a:buNone/>
            </a:pPr>
            <a:r>
              <a:rPr lang="en-US" sz="4400" dirty="0"/>
              <a:t>Step 4: Definition of attributes</a:t>
            </a:r>
          </a:p>
        </p:txBody>
      </p:sp>
      <p:sp>
        <p:nvSpPr>
          <p:cNvPr id="3" name="Content Placeholder 2"/>
          <p:cNvSpPr>
            <a:spLocks noGrp="1"/>
          </p:cNvSpPr>
          <p:nvPr>
            <p:ph idx="1"/>
          </p:nvPr>
        </p:nvSpPr>
        <p:spPr>
          <a:xfrm>
            <a:off x="123826" y="1825625"/>
            <a:ext cx="3316492" cy="4876006"/>
          </a:xfrm>
        </p:spPr>
        <p:txBody>
          <a:bodyPr/>
          <a:lstStyle/>
          <a:p>
            <a:pPr marL="0" indent="0" algn="just">
              <a:buNone/>
            </a:pPr>
            <a:r>
              <a:rPr lang="en-US" sz="2400" dirty="0"/>
              <a:t>At this step, each object is assigned attributes or properties.</a:t>
            </a:r>
          </a:p>
          <a:p>
            <a:pPr marL="0" indent="0" algn="just">
              <a:buNone/>
            </a:pPr>
            <a:endParaRPr lang="en-US" dirty="0"/>
          </a:p>
        </p:txBody>
      </p:sp>
      <p:sp>
        <p:nvSpPr>
          <p:cNvPr id="5" name="Rectangle 38">
            <a:extLst>
              <a:ext uri="{FF2B5EF4-FFF2-40B4-BE49-F238E27FC236}">
                <a16:creationId xmlns:a16="http://schemas.microsoft.com/office/drawing/2014/main" id="{85065400-242E-4898-8A05-542B2C9EB7CC}"/>
              </a:ext>
            </a:extLst>
          </p:cNvPr>
          <p:cNvSpPr>
            <a:spLocks noChangeArrowheads="1"/>
          </p:cNvSpPr>
          <p:nvPr/>
        </p:nvSpPr>
        <p:spPr bwMode="auto">
          <a:xfrm>
            <a:off x="3222233" y="1046141"/>
            <a:ext cx="85689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400"/>
          </a:p>
        </p:txBody>
      </p:sp>
      <p:grpSp>
        <p:nvGrpSpPr>
          <p:cNvPr id="6" name="Group 1">
            <a:extLst>
              <a:ext uri="{FF2B5EF4-FFF2-40B4-BE49-F238E27FC236}">
                <a16:creationId xmlns:a16="http://schemas.microsoft.com/office/drawing/2014/main" id="{EBC73E8A-E3B0-48F7-BB01-4976E7870C16}"/>
              </a:ext>
            </a:extLst>
          </p:cNvPr>
          <p:cNvGrpSpPr>
            <a:grpSpLocks noChangeAspect="1"/>
          </p:cNvGrpSpPr>
          <p:nvPr/>
        </p:nvGrpSpPr>
        <p:grpSpPr bwMode="auto">
          <a:xfrm>
            <a:off x="3222233" y="1045895"/>
            <a:ext cx="5797941" cy="5726097"/>
            <a:chOff x="7438" y="1433"/>
            <a:chExt cx="4860" cy="4088"/>
          </a:xfrm>
        </p:grpSpPr>
        <p:sp>
          <p:nvSpPr>
            <p:cNvPr id="7" name="AutoShape 37">
              <a:extLst>
                <a:ext uri="{FF2B5EF4-FFF2-40B4-BE49-F238E27FC236}">
                  <a16:creationId xmlns:a16="http://schemas.microsoft.com/office/drawing/2014/main" id="{6060BBA1-7ADE-4EC6-B5E6-C39768A6EC49}"/>
                </a:ext>
              </a:extLst>
            </p:cNvPr>
            <p:cNvSpPr>
              <a:spLocks noChangeAspect="1" noChangeArrowheads="1" noTextEdit="1"/>
            </p:cNvSpPr>
            <p:nvPr/>
          </p:nvSpPr>
          <p:spPr bwMode="auto">
            <a:xfrm>
              <a:off x="7438" y="1433"/>
              <a:ext cx="4860" cy="40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8" name="Text Box 36">
              <a:extLst>
                <a:ext uri="{FF2B5EF4-FFF2-40B4-BE49-F238E27FC236}">
                  <a16:creationId xmlns:a16="http://schemas.microsoft.com/office/drawing/2014/main" id="{1F32306E-D045-4420-AF44-42A489860A99}"/>
                </a:ext>
              </a:extLst>
            </p:cNvPr>
            <p:cNvSpPr txBox="1">
              <a:spLocks noChangeArrowheads="1"/>
            </p:cNvSpPr>
            <p:nvPr/>
          </p:nvSpPr>
          <p:spPr bwMode="auto">
            <a:xfrm>
              <a:off x="8068" y="1664"/>
              <a:ext cx="153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50" dirty="0" err="1">
                  <a:latin typeface="Arial" panose="020B0604020202020204" pitchFamily="34" charset="0"/>
                  <a:ea typeface="Times New Roman" panose="02020603050405020304" pitchFamily="18" charset="0"/>
                </a:rPr>
                <a:t>ReaderID</a:t>
              </a:r>
              <a:r>
                <a:rPr lang="en-US" altLang="en-US" sz="1050" dirty="0">
                  <a:latin typeface="Arial" panose="020B0604020202020204" pitchFamily="34" charset="0"/>
                  <a:ea typeface="Times New Roman" panose="02020603050405020304" pitchFamily="18" charset="0"/>
                </a:rPr>
                <a:t>
Book title
Return date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9" name="Line 35">
              <a:extLst>
                <a:ext uri="{FF2B5EF4-FFF2-40B4-BE49-F238E27FC236}">
                  <a16:creationId xmlns:a16="http://schemas.microsoft.com/office/drawing/2014/main" id="{AD21E2CA-D5DE-4F63-9524-27EF515C78A0}"/>
                </a:ext>
              </a:extLst>
            </p:cNvPr>
            <p:cNvSpPr>
              <a:spLocks noChangeShapeType="1"/>
            </p:cNvSpPr>
            <p:nvPr/>
          </p:nvSpPr>
          <p:spPr bwMode="auto">
            <a:xfrm flipV="1">
              <a:off x="9598" y="1973"/>
              <a:ext cx="90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10" name="Text Box 34">
              <a:extLst>
                <a:ext uri="{FF2B5EF4-FFF2-40B4-BE49-F238E27FC236}">
                  <a16:creationId xmlns:a16="http://schemas.microsoft.com/office/drawing/2014/main" id="{9C7C3630-4D63-445F-95BB-7FE86C7341D0}"/>
                </a:ext>
              </a:extLst>
            </p:cNvPr>
            <p:cNvSpPr txBox="1">
              <a:spLocks noChangeArrowheads="1"/>
            </p:cNvSpPr>
            <p:nvPr/>
          </p:nvSpPr>
          <p:spPr bwMode="auto">
            <a:xfrm>
              <a:off x="11128" y="421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11" name="Text Box 33">
              <a:extLst>
                <a:ext uri="{FF2B5EF4-FFF2-40B4-BE49-F238E27FC236}">
                  <a16:creationId xmlns:a16="http://schemas.microsoft.com/office/drawing/2014/main" id="{02F6B0E9-40A6-4251-A811-B9A79BE82EF8}"/>
                </a:ext>
              </a:extLst>
            </p:cNvPr>
            <p:cNvSpPr txBox="1">
              <a:spLocks noChangeArrowheads="1"/>
            </p:cNvSpPr>
            <p:nvPr/>
          </p:nvSpPr>
          <p:spPr bwMode="auto">
            <a:xfrm>
              <a:off x="8068" y="2744"/>
              <a:ext cx="1530" cy="72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50" dirty="0" err="1">
                  <a:latin typeface="Arial" panose="020B0604020202020204" pitchFamily="34" charset="0"/>
                  <a:ea typeface="Times New Roman" panose="02020603050405020304" pitchFamily="18" charset="0"/>
                </a:rPr>
                <a:t>ReaderID</a:t>
              </a:r>
              <a:r>
                <a:rPr lang="en-US" altLang="en-US" sz="1050" dirty="0">
                  <a:latin typeface="Arial" panose="020B0604020202020204" pitchFamily="34" charset="0"/>
                  <a:ea typeface="Times New Roman" panose="02020603050405020304" pitchFamily="18" charset="0"/>
                </a:rPr>
                <a:t>
Last Name
First Name
Address
Phone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2" name="Text Box 32">
              <a:extLst>
                <a:ext uri="{FF2B5EF4-FFF2-40B4-BE49-F238E27FC236}">
                  <a16:creationId xmlns:a16="http://schemas.microsoft.com/office/drawing/2014/main" id="{04F067D0-4001-4133-91DC-8F414D542172}"/>
                </a:ext>
              </a:extLst>
            </p:cNvPr>
            <p:cNvSpPr txBox="1">
              <a:spLocks noChangeArrowheads="1"/>
            </p:cNvSpPr>
            <p:nvPr/>
          </p:nvSpPr>
          <p:spPr bwMode="auto">
            <a:xfrm>
              <a:off x="10498" y="1664"/>
              <a:ext cx="1348" cy="89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50" dirty="0" err="1">
                  <a:latin typeface="Arial" panose="020B0604020202020204" pitchFamily="34" charset="0"/>
                  <a:ea typeface="Times New Roman" panose="02020603050405020304" pitchFamily="18" charset="0"/>
                </a:rPr>
                <a:t>BookID</a:t>
              </a:r>
              <a:r>
                <a:rPr lang="en-US" altLang="en-US" sz="1050" dirty="0">
                  <a:latin typeface="Arial" panose="020B0604020202020204" pitchFamily="34" charset="0"/>
                  <a:ea typeface="Times New Roman" panose="02020603050405020304" pitchFamily="18" charset="0"/>
                </a:rPr>
                <a:t>
Book title
Authors
Publisher
Year of publishing
Number of copies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3" name="Text Box 31">
              <a:extLst>
                <a:ext uri="{FF2B5EF4-FFF2-40B4-BE49-F238E27FC236}">
                  <a16:creationId xmlns:a16="http://schemas.microsoft.com/office/drawing/2014/main" id="{BF8DAC2B-6623-4E1A-9C26-ED511951A1DA}"/>
                </a:ext>
              </a:extLst>
            </p:cNvPr>
            <p:cNvSpPr txBox="1">
              <a:spLocks noChangeArrowheads="1"/>
            </p:cNvSpPr>
            <p:nvPr/>
          </p:nvSpPr>
          <p:spPr bwMode="auto">
            <a:xfrm>
              <a:off x="10678" y="1433"/>
              <a:ext cx="90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4" name="Text Box 30">
              <a:extLst>
                <a:ext uri="{FF2B5EF4-FFF2-40B4-BE49-F238E27FC236}">
                  <a16:creationId xmlns:a16="http://schemas.microsoft.com/office/drawing/2014/main" id="{430DD455-9254-4C84-8FB9-228E2D1D4006}"/>
                </a:ext>
              </a:extLst>
            </p:cNvPr>
            <p:cNvSpPr txBox="1">
              <a:spLocks noChangeArrowheads="1"/>
            </p:cNvSpPr>
            <p:nvPr/>
          </p:nvSpPr>
          <p:spPr bwMode="auto">
            <a:xfrm>
              <a:off x="11034" y="4801"/>
              <a:ext cx="125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Reading Rooms</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5" name="Text Box 29">
              <a:extLst>
                <a:ext uri="{FF2B5EF4-FFF2-40B4-BE49-F238E27FC236}">
                  <a16:creationId xmlns:a16="http://schemas.microsoft.com/office/drawing/2014/main" id="{34A7C5A7-DCC3-4E7B-8044-3F96D419EB31}"/>
                </a:ext>
              </a:extLst>
            </p:cNvPr>
            <p:cNvSpPr txBox="1">
              <a:spLocks noChangeArrowheads="1"/>
            </p:cNvSpPr>
            <p:nvPr/>
          </p:nvSpPr>
          <p:spPr bwMode="auto">
            <a:xfrm>
              <a:off x="8248" y="1433"/>
              <a:ext cx="13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6" name="Text Box 28">
              <a:extLst>
                <a:ext uri="{FF2B5EF4-FFF2-40B4-BE49-F238E27FC236}">
                  <a16:creationId xmlns:a16="http://schemas.microsoft.com/office/drawing/2014/main" id="{F2C30A3C-74D6-4032-8A74-AAF2B7818FBC}"/>
                </a:ext>
              </a:extLst>
            </p:cNvPr>
            <p:cNvSpPr txBox="1">
              <a:spLocks noChangeArrowheads="1"/>
            </p:cNvSpPr>
            <p:nvPr/>
          </p:nvSpPr>
          <p:spPr bwMode="auto">
            <a:xfrm>
              <a:off x="8068" y="3747"/>
              <a:ext cx="1170" cy="77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50" dirty="0" err="1">
                  <a:latin typeface="Arial" panose="020B0604020202020204" pitchFamily="34" charset="0"/>
                  <a:ea typeface="Times New Roman" panose="02020603050405020304" pitchFamily="18" charset="0"/>
                </a:rPr>
                <a:t>LibrarianID</a:t>
              </a:r>
              <a:r>
                <a:rPr lang="en-US" altLang="en-US" sz="1050" dirty="0">
                  <a:latin typeface="Arial" panose="020B0604020202020204" pitchFamily="34" charset="0"/>
                  <a:ea typeface="Times New Roman" panose="02020603050405020304" pitchFamily="18" charset="0"/>
                </a:rPr>
                <a:t>
Last Name
First Name
Phone
e-mail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7" name="Text Box 27">
              <a:extLst>
                <a:ext uri="{FF2B5EF4-FFF2-40B4-BE49-F238E27FC236}">
                  <a16:creationId xmlns:a16="http://schemas.microsoft.com/office/drawing/2014/main" id="{BAC8205C-100E-4451-82F5-E0D5BD084419}"/>
                </a:ext>
              </a:extLst>
            </p:cNvPr>
            <p:cNvSpPr txBox="1">
              <a:spLocks noChangeArrowheads="1"/>
            </p:cNvSpPr>
            <p:nvPr/>
          </p:nvSpPr>
          <p:spPr bwMode="auto">
            <a:xfrm>
              <a:off x="10228" y="3284"/>
              <a:ext cx="1350" cy="92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50" dirty="0">
                  <a:latin typeface="Arial" panose="020B0604020202020204" pitchFamily="34" charset="0"/>
                  <a:ea typeface="Times New Roman" panose="02020603050405020304" pitchFamily="18" charset="0"/>
                </a:rPr>
                <a:t>Reading Room
Service name
</a:t>
              </a:r>
              <a:r>
                <a:rPr lang="en-US" altLang="en-US" sz="1050" dirty="0" err="1">
                  <a:latin typeface="Arial" panose="020B0604020202020204" pitchFamily="34" charset="0"/>
                  <a:ea typeface="Times New Roman" panose="02020603050405020304" pitchFamily="18" charset="0"/>
                </a:rPr>
                <a:t>LibrarianID</a:t>
              </a:r>
              <a:r>
                <a:rPr lang="en-US" altLang="en-US" sz="1050" dirty="0">
                  <a:latin typeface="Arial" panose="020B0604020202020204" pitchFamily="34" charset="0"/>
                  <a:ea typeface="Times New Roman" panose="02020603050405020304" pitchFamily="18" charset="0"/>
                </a:rPr>
                <a:t>
</a:t>
              </a:r>
              <a:r>
                <a:rPr lang="en-US" altLang="en-US" sz="1050" dirty="0" err="1">
                  <a:latin typeface="Arial" panose="020B0604020202020204" pitchFamily="34" charset="0"/>
                  <a:ea typeface="Times New Roman" panose="02020603050405020304" pitchFamily="18" charset="0"/>
                </a:rPr>
                <a:t>ReaderID</a:t>
              </a:r>
              <a:r>
                <a:rPr lang="en-US" altLang="en-US" sz="1050" dirty="0">
                  <a:latin typeface="Arial" panose="020B0604020202020204" pitchFamily="34" charset="0"/>
                  <a:ea typeface="Times New Roman" panose="02020603050405020304" pitchFamily="18" charset="0"/>
                </a:rPr>
                <a:t>
Date
Start of service
End of service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8" name="Text Box 26">
              <a:extLst>
                <a:ext uri="{FF2B5EF4-FFF2-40B4-BE49-F238E27FC236}">
                  <a16:creationId xmlns:a16="http://schemas.microsoft.com/office/drawing/2014/main" id="{ED2B5589-410B-4982-9269-C614220F634F}"/>
                </a:ext>
              </a:extLst>
            </p:cNvPr>
            <p:cNvSpPr txBox="1">
              <a:spLocks noChangeArrowheads="1"/>
            </p:cNvSpPr>
            <p:nvPr/>
          </p:nvSpPr>
          <p:spPr bwMode="auto">
            <a:xfrm>
              <a:off x="8698" y="4904"/>
              <a:ext cx="1350" cy="46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lv-LV" altLang="en-US" sz="1050" dirty="0" err="1">
                  <a:latin typeface="Arial" panose="020B0604020202020204" pitchFamily="34" charset="0"/>
                  <a:ea typeface="Times New Roman" panose="02020603050405020304" pitchFamily="18" charset="0"/>
                </a:rPr>
                <a:t>Number</a:t>
              </a:r>
              <a:r>
                <a:rPr lang="lv-LV" altLang="en-US" sz="1050" dirty="0">
                  <a:latin typeface="Arial" panose="020B0604020202020204" pitchFamily="34" charset="0"/>
                  <a:ea typeface="Times New Roman" panose="02020603050405020304" pitchFamily="18" charset="0"/>
                </a:rPr>
                <a:t>
</a:t>
              </a:r>
              <a:r>
                <a:rPr lang="lv-LV" altLang="en-US" sz="1050" dirty="0" err="1">
                  <a:latin typeface="Arial" panose="020B0604020202020204" pitchFamily="34" charset="0"/>
                  <a:ea typeface="Times New Roman" panose="02020603050405020304" pitchFamily="18" charset="0"/>
                </a:rPr>
                <a:t>Name</a:t>
              </a:r>
              <a:r>
                <a:rPr lang="lv-LV" altLang="en-US" sz="1050" dirty="0">
                  <a:latin typeface="Arial" panose="020B0604020202020204" pitchFamily="34" charset="0"/>
                  <a:ea typeface="Times New Roman" panose="02020603050405020304" pitchFamily="18" charset="0"/>
                </a:rPr>
                <a:t>
</a:t>
              </a:r>
              <a:r>
                <a:rPr lang="lv-LV" altLang="en-US" sz="1050" dirty="0" err="1">
                  <a:latin typeface="Arial" panose="020B0604020202020204" pitchFamily="34" charset="0"/>
                  <a:ea typeface="Times New Roman" panose="02020603050405020304" pitchFamily="18" charset="0"/>
                </a:rPr>
                <a:t>Price</a:t>
              </a:r>
              <a:r>
                <a:rPr lang="lv-LV" altLang="en-US" sz="1050" dirty="0">
                  <a:latin typeface="Arial" panose="020B0604020202020204" pitchFamily="34" charset="0"/>
                  <a:ea typeface="Times New Roman" panose="02020603050405020304" pitchFamily="18" charset="0"/>
                </a:rPr>
                <a:t>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19" name="Text Box 25">
              <a:extLst>
                <a:ext uri="{FF2B5EF4-FFF2-40B4-BE49-F238E27FC236}">
                  <a16:creationId xmlns:a16="http://schemas.microsoft.com/office/drawing/2014/main" id="{64B83C10-2C2F-4B6E-9B2B-8F36270553BB}"/>
                </a:ext>
              </a:extLst>
            </p:cNvPr>
            <p:cNvSpPr txBox="1">
              <a:spLocks noChangeArrowheads="1"/>
            </p:cNvSpPr>
            <p:nvPr/>
          </p:nvSpPr>
          <p:spPr bwMode="auto">
            <a:xfrm>
              <a:off x="8068" y="2513"/>
              <a:ext cx="13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Readers</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20" name="Text Box 24">
              <a:extLst>
                <a:ext uri="{FF2B5EF4-FFF2-40B4-BE49-F238E27FC236}">
                  <a16:creationId xmlns:a16="http://schemas.microsoft.com/office/drawing/2014/main" id="{C8BC89D6-38E7-4E2A-B502-F536AEE62A49}"/>
                </a:ext>
              </a:extLst>
            </p:cNvPr>
            <p:cNvSpPr txBox="1">
              <a:spLocks noChangeArrowheads="1"/>
            </p:cNvSpPr>
            <p:nvPr/>
          </p:nvSpPr>
          <p:spPr bwMode="auto">
            <a:xfrm>
              <a:off x="7798" y="3555"/>
              <a:ext cx="13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Librarians</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21" name="Text Box 23">
              <a:extLst>
                <a:ext uri="{FF2B5EF4-FFF2-40B4-BE49-F238E27FC236}">
                  <a16:creationId xmlns:a16="http://schemas.microsoft.com/office/drawing/2014/main" id="{217E6C24-7538-4617-8C44-44A765397B9D}"/>
                </a:ext>
              </a:extLst>
            </p:cNvPr>
            <p:cNvSpPr txBox="1">
              <a:spLocks noChangeArrowheads="1"/>
            </p:cNvSpPr>
            <p:nvPr/>
          </p:nvSpPr>
          <p:spPr bwMode="auto">
            <a:xfrm>
              <a:off x="10228" y="3053"/>
              <a:ext cx="126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22" name="Text Box 22">
              <a:extLst>
                <a:ext uri="{FF2B5EF4-FFF2-40B4-BE49-F238E27FC236}">
                  <a16:creationId xmlns:a16="http://schemas.microsoft.com/office/drawing/2014/main" id="{3C720917-7F5D-488C-A7E3-7D6EC634623D}"/>
                </a:ext>
              </a:extLst>
            </p:cNvPr>
            <p:cNvSpPr txBox="1">
              <a:spLocks noChangeArrowheads="1"/>
            </p:cNvSpPr>
            <p:nvPr/>
          </p:nvSpPr>
          <p:spPr bwMode="auto">
            <a:xfrm>
              <a:off x="8734" y="4673"/>
              <a:ext cx="13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23" name="Line 21">
              <a:extLst>
                <a:ext uri="{FF2B5EF4-FFF2-40B4-BE49-F238E27FC236}">
                  <a16:creationId xmlns:a16="http://schemas.microsoft.com/office/drawing/2014/main" id="{7213078B-D14F-4E31-9407-DF40328BA6A2}"/>
                </a:ext>
              </a:extLst>
            </p:cNvPr>
            <p:cNvSpPr>
              <a:spLocks noChangeShapeType="1"/>
            </p:cNvSpPr>
            <p:nvPr/>
          </p:nvSpPr>
          <p:spPr bwMode="auto">
            <a:xfrm>
              <a:off x="7888" y="5136"/>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4" name="Line 20">
              <a:extLst>
                <a:ext uri="{FF2B5EF4-FFF2-40B4-BE49-F238E27FC236}">
                  <a16:creationId xmlns:a16="http://schemas.microsoft.com/office/drawing/2014/main" id="{77E32EE6-D619-46F9-AF80-BC1E2BE0854C}"/>
                </a:ext>
              </a:extLst>
            </p:cNvPr>
            <p:cNvSpPr>
              <a:spLocks noChangeShapeType="1"/>
            </p:cNvSpPr>
            <p:nvPr/>
          </p:nvSpPr>
          <p:spPr bwMode="auto">
            <a:xfrm flipH="1" flipV="1">
              <a:off x="8788" y="2204"/>
              <a:ext cx="1"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5" name="Text Box 19">
              <a:extLst>
                <a:ext uri="{FF2B5EF4-FFF2-40B4-BE49-F238E27FC236}">
                  <a16:creationId xmlns:a16="http://schemas.microsoft.com/office/drawing/2014/main" id="{E7D02167-DC3A-4C00-81F1-522BC832093C}"/>
                </a:ext>
              </a:extLst>
            </p:cNvPr>
            <p:cNvSpPr txBox="1">
              <a:spLocks noChangeArrowheads="1"/>
            </p:cNvSpPr>
            <p:nvPr/>
          </p:nvSpPr>
          <p:spPr bwMode="auto">
            <a:xfrm>
              <a:off x="11128" y="4827"/>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26" name="Text Box 18">
              <a:extLst>
                <a:ext uri="{FF2B5EF4-FFF2-40B4-BE49-F238E27FC236}">
                  <a16:creationId xmlns:a16="http://schemas.microsoft.com/office/drawing/2014/main" id="{B64781D8-2C9C-45F3-AFC0-4CC4D2536F60}"/>
                </a:ext>
              </a:extLst>
            </p:cNvPr>
            <p:cNvSpPr txBox="1">
              <a:spLocks noChangeArrowheads="1"/>
            </p:cNvSpPr>
            <p:nvPr/>
          </p:nvSpPr>
          <p:spPr bwMode="auto">
            <a:xfrm>
              <a:off x="10945" y="4981"/>
              <a:ext cx="1170" cy="4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lv-LV" altLang="en-US" sz="1050" dirty="0" err="1">
                  <a:latin typeface="Arial" panose="020B0604020202020204" pitchFamily="34" charset="0"/>
                  <a:ea typeface="Times New Roman" panose="02020603050405020304" pitchFamily="18" charset="0"/>
                </a:rPr>
                <a:t>Number</a:t>
              </a:r>
              <a:r>
                <a:rPr lang="lv-LV" altLang="en-US" sz="1050" dirty="0">
                  <a:latin typeface="Arial" panose="020B0604020202020204" pitchFamily="34" charset="0"/>
                  <a:ea typeface="Times New Roman" panose="02020603050405020304" pitchFamily="18" charset="0"/>
                </a:rPr>
                <a:t>
</a:t>
              </a:r>
              <a:r>
                <a:rPr lang="lv-LV" altLang="en-US" sz="1050" dirty="0" err="1">
                  <a:latin typeface="Arial" panose="020B0604020202020204" pitchFamily="34" charset="0"/>
                  <a:ea typeface="Times New Roman" panose="02020603050405020304" pitchFamily="18" charset="0"/>
                </a:rPr>
                <a:t>Name</a:t>
              </a:r>
              <a:r>
                <a:rPr lang="lv-LV" altLang="en-US" sz="1050" dirty="0">
                  <a:latin typeface="Arial" panose="020B0604020202020204" pitchFamily="34" charset="0"/>
                  <a:ea typeface="Times New Roman" panose="02020603050405020304" pitchFamily="18" charset="0"/>
                </a:rPr>
                <a:t>
</a:t>
              </a:r>
              <a:r>
                <a:rPr lang="lv-LV" altLang="en-US" sz="1050" dirty="0" err="1">
                  <a:latin typeface="Arial" panose="020B0604020202020204" pitchFamily="34" charset="0"/>
                  <a:ea typeface="Times New Roman" panose="02020603050405020304" pitchFamily="18" charset="0"/>
                </a:rPr>
                <a:t>Phone</a:t>
              </a:r>
              <a:r>
                <a:rPr lang="lv-LV" altLang="en-US" sz="1050" dirty="0">
                  <a:latin typeface="Arial" panose="020B0604020202020204" pitchFamily="34" charset="0"/>
                  <a:ea typeface="Times New Roman" panose="02020603050405020304" pitchFamily="18" charset="0"/>
                </a:rPr>
                <a:t>
</a:t>
              </a:r>
              <a:endParaRPr kumimoji="0" lang="lv-LV" altLang="en-US" sz="1400" b="0" i="0" u="none" strike="noStrike" cap="none" normalizeH="0" baseline="0" dirty="0">
                <a:ln>
                  <a:noFill/>
                </a:ln>
                <a:solidFill>
                  <a:schemeClr val="tx1"/>
                </a:solidFill>
                <a:effectLst/>
                <a:latin typeface="Arial" panose="020B0604020202020204" pitchFamily="34" charset="0"/>
              </a:endParaRPr>
            </a:p>
          </p:txBody>
        </p:sp>
        <p:sp>
          <p:nvSpPr>
            <p:cNvPr id="27" name="Line 17">
              <a:extLst>
                <a:ext uri="{FF2B5EF4-FFF2-40B4-BE49-F238E27FC236}">
                  <a16:creationId xmlns:a16="http://schemas.microsoft.com/office/drawing/2014/main" id="{55C8152A-BEBF-44A1-B119-43533E9EF321}"/>
                </a:ext>
              </a:extLst>
            </p:cNvPr>
            <p:cNvSpPr>
              <a:spLocks noChangeShapeType="1"/>
            </p:cNvSpPr>
            <p:nvPr/>
          </p:nvSpPr>
          <p:spPr bwMode="auto">
            <a:xfrm>
              <a:off x="9598" y="2976"/>
              <a:ext cx="9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8" name="Line 16">
              <a:extLst>
                <a:ext uri="{FF2B5EF4-FFF2-40B4-BE49-F238E27FC236}">
                  <a16:creationId xmlns:a16="http://schemas.microsoft.com/office/drawing/2014/main" id="{E1B9443C-DEFB-476F-9EAC-07C7FB55388B}"/>
                </a:ext>
              </a:extLst>
            </p:cNvPr>
            <p:cNvSpPr>
              <a:spLocks noChangeShapeType="1"/>
            </p:cNvSpPr>
            <p:nvPr/>
          </p:nvSpPr>
          <p:spPr bwMode="auto">
            <a:xfrm>
              <a:off x="10588" y="2976"/>
              <a:ext cx="0" cy="3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9" name="Line 15">
              <a:extLst>
                <a:ext uri="{FF2B5EF4-FFF2-40B4-BE49-F238E27FC236}">
                  <a16:creationId xmlns:a16="http://schemas.microsoft.com/office/drawing/2014/main" id="{B67CFE90-490E-4427-B985-B777E5FA8C34}"/>
                </a:ext>
              </a:extLst>
            </p:cNvPr>
            <p:cNvSpPr>
              <a:spLocks noChangeShapeType="1"/>
            </p:cNvSpPr>
            <p:nvPr/>
          </p:nvSpPr>
          <p:spPr bwMode="auto">
            <a:xfrm>
              <a:off x="9238" y="3978"/>
              <a:ext cx="9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0" name="Line 14">
              <a:extLst>
                <a:ext uri="{FF2B5EF4-FFF2-40B4-BE49-F238E27FC236}">
                  <a16:creationId xmlns:a16="http://schemas.microsoft.com/office/drawing/2014/main" id="{C9685EB9-B54C-4FBD-9DA4-8C91C44609DC}"/>
                </a:ext>
              </a:extLst>
            </p:cNvPr>
            <p:cNvSpPr>
              <a:spLocks noChangeShapeType="1"/>
            </p:cNvSpPr>
            <p:nvPr/>
          </p:nvSpPr>
          <p:spPr bwMode="auto">
            <a:xfrm flipH="1">
              <a:off x="10048" y="5135"/>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1" name="Line 13">
              <a:extLst>
                <a:ext uri="{FF2B5EF4-FFF2-40B4-BE49-F238E27FC236}">
                  <a16:creationId xmlns:a16="http://schemas.microsoft.com/office/drawing/2014/main" id="{C6C038A0-5EFF-4747-832A-75632EA24E00}"/>
                </a:ext>
              </a:extLst>
            </p:cNvPr>
            <p:cNvSpPr>
              <a:spLocks noChangeShapeType="1"/>
            </p:cNvSpPr>
            <p:nvPr/>
          </p:nvSpPr>
          <p:spPr bwMode="auto">
            <a:xfrm flipV="1">
              <a:off x="10588" y="4210"/>
              <a:ext cx="0" cy="9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2" name="Line 12">
              <a:extLst>
                <a:ext uri="{FF2B5EF4-FFF2-40B4-BE49-F238E27FC236}">
                  <a16:creationId xmlns:a16="http://schemas.microsoft.com/office/drawing/2014/main" id="{6D1170B4-5EA0-42A8-A0BA-B5389B5502ED}"/>
                </a:ext>
              </a:extLst>
            </p:cNvPr>
            <p:cNvSpPr>
              <a:spLocks noChangeShapeType="1"/>
            </p:cNvSpPr>
            <p:nvPr/>
          </p:nvSpPr>
          <p:spPr bwMode="auto">
            <a:xfrm>
              <a:off x="11128" y="4210"/>
              <a:ext cx="0" cy="7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3" name="Text Box 11">
              <a:extLst>
                <a:ext uri="{FF2B5EF4-FFF2-40B4-BE49-F238E27FC236}">
                  <a16:creationId xmlns:a16="http://schemas.microsoft.com/office/drawing/2014/main" id="{FFA5CB71-FAAA-47EA-8874-3BE5450B4350}"/>
                </a:ext>
              </a:extLst>
            </p:cNvPr>
            <p:cNvSpPr txBox="1">
              <a:spLocks noChangeArrowheads="1"/>
            </p:cNvSpPr>
            <p:nvPr/>
          </p:nvSpPr>
          <p:spPr bwMode="auto">
            <a:xfrm>
              <a:off x="10318" y="421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34" name="Text Box 10">
              <a:extLst>
                <a:ext uri="{FF2B5EF4-FFF2-40B4-BE49-F238E27FC236}">
                  <a16:creationId xmlns:a16="http://schemas.microsoft.com/office/drawing/2014/main" id="{85CCED80-FED7-4BC1-92FB-CF3D2CB32A4C}"/>
                </a:ext>
              </a:extLst>
            </p:cNvPr>
            <p:cNvSpPr txBox="1">
              <a:spLocks noChangeArrowheads="1"/>
            </p:cNvSpPr>
            <p:nvPr/>
          </p:nvSpPr>
          <p:spPr bwMode="auto">
            <a:xfrm>
              <a:off x="9958" y="382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35" name="Text Box 9">
              <a:extLst>
                <a:ext uri="{FF2B5EF4-FFF2-40B4-BE49-F238E27FC236}">
                  <a16:creationId xmlns:a16="http://schemas.microsoft.com/office/drawing/2014/main" id="{9B8FE478-8702-4E11-A21A-3279B96C6C62}"/>
                </a:ext>
              </a:extLst>
            </p:cNvPr>
            <p:cNvSpPr txBox="1">
              <a:spLocks noChangeArrowheads="1"/>
            </p:cNvSpPr>
            <p:nvPr/>
          </p:nvSpPr>
          <p:spPr bwMode="auto">
            <a:xfrm>
              <a:off x="959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36" name="Text Box 8">
              <a:extLst>
                <a:ext uri="{FF2B5EF4-FFF2-40B4-BE49-F238E27FC236}">
                  <a16:creationId xmlns:a16="http://schemas.microsoft.com/office/drawing/2014/main" id="{C83366F5-B3BE-436B-902B-CCB2BF05ED07}"/>
                </a:ext>
              </a:extLst>
            </p:cNvPr>
            <p:cNvSpPr txBox="1">
              <a:spLocks noChangeArrowheads="1"/>
            </p:cNvSpPr>
            <p:nvPr/>
          </p:nvSpPr>
          <p:spPr bwMode="auto">
            <a:xfrm>
              <a:off x="10588" y="313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37" name="Text Box 7">
              <a:extLst>
                <a:ext uri="{FF2B5EF4-FFF2-40B4-BE49-F238E27FC236}">
                  <a16:creationId xmlns:a16="http://schemas.microsoft.com/office/drawing/2014/main" id="{0D6B008B-C375-4AAD-8CD4-1153C6B2CA59}"/>
                </a:ext>
              </a:extLst>
            </p:cNvPr>
            <p:cNvSpPr txBox="1">
              <a:spLocks noChangeArrowheads="1"/>
            </p:cNvSpPr>
            <p:nvPr/>
          </p:nvSpPr>
          <p:spPr bwMode="auto">
            <a:xfrm>
              <a:off x="8608" y="259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38" name="Text Box 6">
              <a:extLst>
                <a:ext uri="{FF2B5EF4-FFF2-40B4-BE49-F238E27FC236}">
                  <a16:creationId xmlns:a16="http://schemas.microsoft.com/office/drawing/2014/main" id="{1D4B8DBC-6F9F-41E3-A33C-119F4335CCA4}"/>
                </a:ext>
              </a:extLst>
            </p:cNvPr>
            <p:cNvSpPr txBox="1">
              <a:spLocks noChangeArrowheads="1"/>
            </p:cNvSpPr>
            <p:nvPr/>
          </p:nvSpPr>
          <p:spPr bwMode="auto">
            <a:xfrm>
              <a:off x="8608" y="220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39" name="Text Box 5">
              <a:extLst>
                <a:ext uri="{FF2B5EF4-FFF2-40B4-BE49-F238E27FC236}">
                  <a16:creationId xmlns:a16="http://schemas.microsoft.com/office/drawing/2014/main" id="{55C84ECB-F946-4AA6-8C18-0C73DBB743DF}"/>
                </a:ext>
              </a:extLst>
            </p:cNvPr>
            <p:cNvSpPr txBox="1">
              <a:spLocks noChangeArrowheads="1"/>
            </p:cNvSpPr>
            <p:nvPr/>
          </p:nvSpPr>
          <p:spPr bwMode="auto">
            <a:xfrm>
              <a:off x="9598" y="2821"/>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40" name="Text Box 4">
              <a:extLst>
                <a:ext uri="{FF2B5EF4-FFF2-40B4-BE49-F238E27FC236}">
                  <a16:creationId xmlns:a16="http://schemas.microsoft.com/office/drawing/2014/main" id="{2DD4660B-7A85-42E0-B5AA-C4D0BE8A7084}"/>
                </a:ext>
              </a:extLst>
            </p:cNvPr>
            <p:cNvSpPr txBox="1">
              <a:spLocks noChangeArrowheads="1"/>
            </p:cNvSpPr>
            <p:nvPr/>
          </p:nvSpPr>
          <p:spPr bwMode="auto">
            <a:xfrm>
              <a:off x="1022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41" name="Text Box 3">
              <a:extLst>
                <a:ext uri="{FF2B5EF4-FFF2-40B4-BE49-F238E27FC236}">
                  <a16:creationId xmlns:a16="http://schemas.microsoft.com/office/drawing/2014/main" id="{A61D6587-21F1-4620-947C-D494321FC9D4}"/>
                </a:ext>
              </a:extLst>
            </p:cNvPr>
            <p:cNvSpPr txBox="1">
              <a:spLocks noChangeArrowheads="1"/>
            </p:cNvSpPr>
            <p:nvPr/>
          </p:nvSpPr>
          <p:spPr bwMode="auto">
            <a:xfrm>
              <a:off x="9238" y="382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sp>
          <p:nvSpPr>
            <p:cNvPr id="42" name="Text Box 2">
              <a:extLst>
                <a:ext uri="{FF2B5EF4-FFF2-40B4-BE49-F238E27FC236}">
                  <a16:creationId xmlns:a16="http://schemas.microsoft.com/office/drawing/2014/main" id="{F6C41A71-8333-442C-BFE1-9A2A9F3AC04E}"/>
                </a:ext>
              </a:extLst>
            </p:cNvPr>
            <p:cNvSpPr txBox="1">
              <a:spLocks noChangeArrowheads="1"/>
            </p:cNvSpPr>
            <p:nvPr/>
          </p:nvSpPr>
          <p:spPr bwMode="auto">
            <a:xfrm>
              <a:off x="10048" y="4981"/>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4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468312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marL="0" indent="0" algn="ctr">
              <a:buNone/>
            </a:pPr>
            <a:r>
              <a:rPr lang="en-US" sz="4400" dirty="0"/>
              <a:t>Step 5: Attribute decomposition</a:t>
            </a:r>
          </a:p>
        </p:txBody>
      </p:sp>
      <p:sp>
        <p:nvSpPr>
          <p:cNvPr id="3" name="Content Placeholder 2"/>
          <p:cNvSpPr>
            <a:spLocks noGrp="1"/>
          </p:cNvSpPr>
          <p:nvPr>
            <p:ph idx="1"/>
          </p:nvPr>
        </p:nvSpPr>
        <p:spPr>
          <a:xfrm>
            <a:off x="628650" y="1825625"/>
            <a:ext cx="5495925" cy="4870450"/>
          </a:xfrm>
        </p:spPr>
        <p:txBody>
          <a:bodyPr>
            <a:normAutofit lnSpcReduction="10000"/>
          </a:bodyPr>
          <a:lstStyle/>
          <a:p>
            <a:pPr algn="just"/>
            <a:r>
              <a:rPr lang="en-US" dirty="0"/>
              <a:t>If multiple (M) copies of an attribute can be assigned to one (1) record, the attribute need to be transformed into a separate object, the relation is defined, and decomposition of the relation is performed if necessary.</a:t>
            </a:r>
          </a:p>
          <a:p>
            <a:pPr algn="just"/>
            <a:r>
              <a:rPr lang="en-US" dirty="0"/>
              <a:t>If only one (1) instance of an attribute can be assigned to one (1) record, but the attribute consists of several attributes (is complex), it is replaced by the attributes of which it consists.</a:t>
            </a:r>
          </a:p>
        </p:txBody>
      </p:sp>
      <p:sp>
        <p:nvSpPr>
          <p:cNvPr id="6" name="Text Box 32">
            <a:extLst>
              <a:ext uri="{FF2B5EF4-FFF2-40B4-BE49-F238E27FC236}">
                <a16:creationId xmlns:a16="http://schemas.microsoft.com/office/drawing/2014/main" id="{6C4D56C9-6260-449E-B631-D7FDEBE32D5B}"/>
              </a:ext>
            </a:extLst>
          </p:cNvPr>
          <p:cNvSpPr txBox="1">
            <a:spLocks noChangeArrowheads="1"/>
          </p:cNvSpPr>
          <p:nvPr/>
        </p:nvSpPr>
        <p:spPr bwMode="auto">
          <a:xfrm>
            <a:off x="6836574" y="1912667"/>
            <a:ext cx="1608153" cy="125923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200" dirty="0" err="1">
                <a:latin typeface="Arial" panose="020B0604020202020204" pitchFamily="34" charset="0"/>
                <a:ea typeface="Times New Roman" panose="02020603050405020304" pitchFamily="18" charset="0"/>
              </a:rPr>
              <a:t>BookID</a:t>
            </a:r>
            <a:r>
              <a:rPr lang="en-US" altLang="en-US" sz="1200" dirty="0">
                <a:latin typeface="Arial" panose="020B0604020202020204" pitchFamily="34" charset="0"/>
                <a:ea typeface="Times New Roman" panose="02020603050405020304" pitchFamily="18" charset="0"/>
              </a:rPr>
              <a:t>
Book title
</a:t>
            </a:r>
            <a:r>
              <a:rPr lang="en-US" altLang="en-US" sz="1200" b="1" dirty="0">
                <a:solidFill>
                  <a:srgbClr val="FF0000"/>
                </a:solidFill>
                <a:latin typeface="Arial" panose="020B0604020202020204" pitchFamily="34" charset="0"/>
                <a:ea typeface="Times New Roman" panose="02020603050405020304" pitchFamily="18" charset="0"/>
              </a:rPr>
              <a:t>Authors</a:t>
            </a:r>
            <a:r>
              <a:rPr lang="en-US" altLang="en-US" sz="1200" dirty="0">
                <a:latin typeface="Arial" panose="020B0604020202020204" pitchFamily="34" charset="0"/>
                <a:ea typeface="Times New Roman" panose="02020603050405020304" pitchFamily="18" charset="0"/>
              </a:rPr>
              <a:t>
Publisher
Year of publishing
Number of copies
</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
        <p:nvSpPr>
          <p:cNvPr id="8" name="Text Box 31">
            <a:extLst>
              <a:ext uri="{FF2B5EF4-FFF2-40B4-BE49-F238E27FC236}">
                <a16:creationId xmlns:a16="http://schemas.microsoft.com/office/drawing/2014/main" id="{33A4542E-9337-4B18-B8CE-5B5D63CF6D89}"/>
              </a:ext>
            </a:extLst>
          </p:cNvPr>
          <p:cNvSpPr txBox="1">
            <a:spLocks noChangeArrowheads="1"/>
          </p:cNvSpPr>
          <p:nvPr/>
        </p:nvSpPr>
        <p:spPr bwMode="auto">
          <a:xfrm>
            <a:off x="6836575" y="1589103"/>
            <a:ext cx="1288432" cy="37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
        <p:nvSpPr>
          <p:cNvPr id="9" name="Text Box 33">
            <a:extLst>
              <a:ext uri="{FF2B5EF4-FFF2-40B4-BE49-F238E27FC236}">
                <a16:creationId xmlns:a16="http://schemas.microsoft.com/office/drawing/2014/main" id="{EB0AA25B-20AB-49DF-A68F-0436D45F13F8}"/>
              </a:ext>
            </a:extLst>
          </p:cNvPr>
          <p:cNvSpPr txBox="1">
            <a:spLocks noChangeArrowheads="1"/>
          </p:cNvSpPr>
          <p:nvPr/>
        </p:nvSpPr>
        <p:spPr bwMode="auto">
          <a:xfrm>
            <a:off x="6836574" y="4647650"/>
            <a:ext cx="1825278" cy="100991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200" dirty="0" err="1">
                <a:latin typeface="Arial" panose="020B0604020202020204" pitchFamily="34" charset="0"/>
                <a:ea typeface="Times New Roman" panose="02020603050405020304" pitchFamily="18" charset="0"/>
              </a:rPr>
              <a:t>ReaderID</a:t>
            </a:r>
            <a:r>
              <a:rPr lang="en-US" altLang="en-US" sz="1200" dirty="0">
                <a:latin typeface="Arial" panose="020B0604020202020204" pitchFamily="34" charset="0"/>
                <a:ea typeface="Times New Roman" panose="02020603050405020304" pitchFamily="18" charset="0"/>
              </a:rPr>
              <a:t>
Last Name
First Name
</a:t>
            </a:r>
            <a:r>
              <a:rPr lang="en-US" altLang="en-US" sz="1200" b="1" dirty="0">
                <a:solidFill>
                  <a:srgbClr val="FF0000"/>
                </a:solidFill>
                <a:latin typeface="Arial" panose="020B0604020202020204" pitchFamily="34" charset="0"/>
                <a:ea typeface="Times New Roman" panose="02020603050405020304" pitchFamily="18" charset="0"/>
              </a:rPr>
              <a:t>Address</a:t>
            </a:r>
            <a:r>
              <a:rPr lang="en-US" altLang="en-US" sz="1200" dirty="0">
                <a:latin typeface="Arial" panose="020B0604020202020204" pitchFamily="34" charset="0"/>
                <a:ea typeface="Times New Roman" panose="02020603050405020304" pitchFamily="18" charset="0"/>
              </a:rPr>
              <a:t>
Phone
</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
        <p:nvSpPr>
          <p:cNvPr id="10" name="Text Box 25">
            <a:extLst>
              <a:ext uri="{FF2B5EF4-FFF2-40B4-BE49-F238E27FC236}">
                <a16:creationId xmlns:a16="http://schemas.microsoft.com/office/drawing/2014/main" id="{59648DD1-2F2E-4BFD-9BA7-38673A638E30}"/>
              </a:ext>
            </a:extLst>
          </p:cNvPr>
          <p:cNvSpPr txBox="1">
            <a:spLocks noChangeArrowheads="1"/>
          </p:cNvSpPr>
          <p:nvPr/>
        </p:nvSpPr>
        <p:spPr bwMode="auto">
          <a:xfrm>
            <a:off x="6836574" y="4324086"/>
            <a:ext cx="1610539" cy="2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Readers</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9675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algn="ctr"/>
            <a:r>
              <a:rPr lang="en-US" sz="4400" dirty="0"/>
              <a:t>Step 5: Attribute decomposition</a:t>
            </a:r>
            <a:endParaRPr lang="en-US" dirty="0"/>
          </a:p>
        </p:txBody>
      </p:sp>
      <p:sp>
        <p:nvSpPr>
          <p:cNvPr id="3" name="Content Placeholder 2"/>
          <p:cNvSpPr>
            <a:spLocks noGrp="1"/>
          </p:cNvSpPr>
          <p:nvPr>
            <p:ph idx="1"/>
          </p:nvPr>
        </p:nvSpPr>
        <p:spPr>
          <a:xfrm>
            <a:off x="190500" y="1866900"/>
            <a:ext cx="5934075" cy="4914900"/>
          </a:xfrm>
        </p:spPr>
        <p:txBody>
          <a:bodyPr>
            <a:normAutofit fontScale="70000" lnSpcReduction="20000"/>
          </a:bodyPr>
          <a:lstStyle/>
          <a:p>
            <a:pPr marL="0" indent="0" algn="just">
              <a:lnSpc>
                <a:spcPct val="120000"/>
              </a:lnSpc>
              <a:buNone/>
            </a:pPr>
            <a:r>
              <a:rPr lang="en-US" dirty="0"/>
              <a:t>In our example, among the defined attributes of the Book object is the Authors attribute. There is a relation 1:M between any copy of the Book and the Authors attributes. This situation prompts you to create an Authors table. 
There is an M:N relation between the Authors and Books tables. This means that the relation must also be decomposed.
Our example also contains a complex attribute – the Address attribute of the Readers object. The link between the copy of the Reader object and the Address attribute is 1:1, but the attribute consists of several attributes. This means that it needs to be expanded.</a:t>
            </a:r>
          </a:p>
        </p:txBody>
      </p:sp>
      <p:sp>
        <p:nvSpPr>
          <p:cNvPr id="6" name="Text Box 32">
            <a:extLst>
              <a:ext uri="{FF2B5EF4-FFF2-40B4-BE49-F238E27FC236}">
                <a16:creationId xmlns:a16="http://schemas.microsoft.com/office/drawing/2014/main" id="{BE6ED898-52E1-4CB8-9E0F-07A74C083357}"/>
              </a:ext>
            </a:extLst>
          </p:cNvPr>
          <p:cNvSpPr txBox="1">
            <a:spLocks noChangeArrowheads="1"/>
          </p:cNvSpPr>
          <p:nvPr/>
        </p:nvSpPr>
        <p:spPr bwMode="auto">
          <a:xfrm>
            <a:off x="6890895" y="2190464"/>
            <a:ext cx="1608153" cy="125923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200" dirty="0" err="1">
                <a:latin typeface="Arial" panose="020B0604020202020204" pitchFamily="34" charset="0"/>
                <a:ea typeface="Times New Roman" panose="02020603050405020304" pitchFamily="18" charset="0"/>
              </a:rPr>
              <a:t>BookID</a:t>
            </a:r>
            <a:r>
              <a:rPr lang="en-US" altLang="en-US" sz="1200" dirty="0">
                <a:latin typeface="Arial" panose="020B0604020202020204" pitchFamily="34" charset="0"/>
                <a:ea typeface="Times New Roman" panose="02020603050405020304" pitchFamily="18" charset="0"/>
              </a:rPr>
              <a:t>
Book title
</a:t>
            </a:r>
            <a:r>
              <a:rPr lang="en-US" altLang="en-US" sz="1200" b="1" dirty="0">
                <a:solidFill>
                  <a:srgbClr val="FF0000"/>
                </a:solidFill>
                <a:latin typeface="Arial" panose="020B0604020202020204" pitchFamily="34" charset="0"/>
                <a:ea typeface="Times New Roman" panose="02020603050405020304" pitchFamily="18" charset="0"/>
              </a:rPr>
              <a:t>Authors</a:t>
            </a:r>
            <a:r>
              <a:rPr lang="en-US" altLang="en-US" sz="1200" dirty="0">
                <a:latin typeface="Arial" panose="020B0604020202020204" pitchFamily="34" charset="0"/>
                <a:ea typeface="Times New Roman" panose="02020603050405020304" pitchFamily="18" charset="0"/>
              </a:rPr>
              <a:t>
Publisher
Year of publishing
Number of copies
</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
        <p:nvSpPr>
          <p:cNvPr id="8" name="Text Box 31">
            <a:extLst>
              <a:ext uri="{FF2B5EF4-FFF2-40B4-BE49-F238E27FC236}">
                <a16:creationId xmlns:a16="http://schemas.microsoft.com/office/drawing/2014/main" id="{D41C6440-673D-420A-BBEC-1C3CC18ACB91}"/>
              </a:ext>
            </a:extLst>
          </p:cNvPr>
          <p:cNvSpPr txBox="1">
            <a:spLocks noChangeArrowheads="1"/>
          </p:cNvSpPr>
          <p:nvPr/>
        </p:nvSpPr>
        <p:spPr bwMode="auto">
          <a:xfrm>
            <a:off x="6890896" y="1866900"/>
            <a:ext cx="1288432" cy="37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
        <p:nvSpPr>
          <p:cNvPr id="9" name="Text Box 33">
            <a:extLst>
              <a:ext uri="{FF2B5EF4-FFF2-40B4-BE49-F238E27FC236}">
                <a16:creationId xmlns:a16="http://schemas.microsoft.com/office/drawing/2014/main" id="{D79A517A-85EB-400D-82EB-83E525A332D4}"/>
              </a:ext>
            </a:extLst>
          </p:cNvPr>
          <p:cNvSpPr txBox="1">
            <a:spLocks noChangeArrowheads="1"/>
          </p:cNvSpPr>
          <p:nvPr/>
        </p:nvSpPr>
        <p:spPr bwMode="auto">
          <a:xfrm>
            <a:off x="6890895" y="4925447"/>
            <a:ext cx="1825278" cy="100991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200" dirty="0" err="1">
                <a:latin typeface="Arial" panose="020B0604020202020204" pitchFamily="34" charset="0"/>
                <a:ea typeface="Times New Roman" panose="02020603050405020304" pitchFamily="18" charset="0"/>
              </a:rPr>
              <a:t>ReaderID</a:t>
            </a:r>
            <a:r>
              <a:rPr lang="en-US" altLang="en-US" sz="1200" dirty="0">
                <a:latin typeface="Arial" panose="020B0604020202020204" pitchFamily="34" charset="0"/>
                <a:ea typeface="Times New Roman" panose="02020603050405020304" pitchFamily="18" charset="0"/>
              </a:rPr>
              <a:t>
Last Name
First Name
</a:t>
            </a:r>
            <a:r>
              <a:rPr lang="en-US" altLang="en-US" sz="1200" b="1" dirty="0">
                <a:solidFill>
                  <a:srgbClr val="FF0000"/>
                </a:solidFill>
                <a:latin typeface="Arial" panose="020B0604020202020204" pitchFamily="34" charset="0"/>
                <a:ea typeface="Times New Roman" panose="02020603050405020304" pitchFamily="18" charset="0"/>
              </a:rPr>
              <a:t>Address</a:t>
            </a:r>
            <a:r>
              <a:rPr lang="en-US" altLang="en-US" sz="1200" dirty="0">
                <a:latin typeface="Arial" panose="020B0604020202020204" pitchFamily="34" charset="0"/>
                <a:ea typeface="Times New Roman" panose="02020603050405020304" pitchFamily="18" charset="0"/>
              </a:rPr>
              <a:t>
Phone
</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
        <p:nvSpPr>
          <p:cNvPr id="10" name="Text Box 25">
            <a:extLst>
              <a:ext uri="{FF2B5EF4-FFF2-40B4-BE49-F238E27FC236}">
                <a16:creationId xmlns:a16="http://schemas.microsoft.com/office/drawing/2014/main" id="{1663EF59-9FB1-44E6-998A-3C6900AA99AF}"/>
              </a:ext>
            </a:extLst>
          </p:cNvPr>
          <p:cNvSpPr txBox="1">
            <a:spLocks noChangeArrowheads="1"/>
          </p:cNvSpPr>
          <p:nvPr/>
        </p:nvSpPr>
        <p:spPr bwMode="auto">
          <a:xfrm>
            <a:off x="6890895" y="4601883"/>
            <a:ext cx="1610539" cy="2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Readers</a:t>
            </a:r>
            <a:endParaRPr kumimoji="0" lang="lv-LV"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2706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12701"/>
            <a:ext cx="8839200" cy="1325563"/>
          </a:xfrm>
        </p:spPr>
        <p:txBody>
          <a:bodyPr>
            <a:normAutofit/>
          </a:bodyPr>
          <a:lstStyle/>
          <a:p>
            <a:pPr algn="ctr"/>
            <a:r>
              <a:rPr lang="en-US" sz="4400" dirty="0"/>
              <a:t>Step 5: Attribute decomposition</a:t>
            </a:r>
            <a:endParaRPr lang="en-US" dirty="0"/>
          </a:p>
        </p:txBody>
      </p:sp>
      <p:sp>
        <p:nvSpPr>
          <p:cNvPr id="10" name="Arrow: Right 9"/>
          <p:cNvSpPr/>
          <p:nvPr/>
        </p:nvSpPr>
        <p:spPr>
          <a:xfrm>
            <a:off x="3428907" y="2897054"/>
            <a:ext cx="828675" cy="561975"/>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1">
            <a:extLst>
              <a:ext uri="{FF2B5EF4-FFF2-40B4-BE49-F238E27FC236}">
                <a16:creationId xmlns:a16="http://schemas.microsoft.com/office/drawing/2014/main" id="{61EFDE95-11AF-487A-BB4B-C9CBA17BA676}"/>
              </a:ext>
            </a:extLst>
          </p:cNvPr>
          <p:cNvGrpSpPr>
            <a:grpSpLocks noChangeAspect="1"/>
          </p:cNvGrpSpPr>
          <p:nvPr/>
        </p:nvGrpSpPr>
        <p:grpSpPr bwMode="auto">
          <a:xfrm>
            <a:off x="-117642" y="1348871"/>
            <a:ext cx="4062244" cy="4679268"/>
            <a:chOff x="7798" y="1433"/>
            <a:chExt cx="4557" cy="4010"/>
          </a:xfrm>
        </p:grpSpPr>
        <p:sp>
          <p:nvSpPr>
            <p:cNvPr id="11" name="Text Box 36">
              <a:extLst>
                <a:ext uri="{FF2B5EF4-FFF2-40B4-BE49-F238E27FC236}">
                  <a16:creationId xmlns:a16="http://schemas.microsoft.com/office/drawing/2014/main" id="{0120564D-0AFB-4535-ADD6-71B846BE5EE9}"/>
                </a:ext>
              </a:extLst>
            </p:cNvPr>
            <p:cNvSpPr txBox="1">
              <a:spLocks noChangeArrowheads="1"/>
            </p:cNvSpPr>
            <p:nvPr/>
          </p:nvSpPr>
          <p:spPr bwMode="auto">
            <a:xfrm>
              <a:off x="8068" y="1664"/>
              <a:ext cx="153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Book title
Return date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2" name="Line 35">
              <a:extLst>
                <a:ext uri="{FF2B5EF4-FFF2-40B4-BE49-F238E27FC236}">
                  <a16:creationId xmlns:a16="http://schemas.microsoft.com/office/drawing/2014/main" id="{62879B0E-C1C9-4233-800B-4D0DBE2AA986}"/>
                </a:ext>
              </a:extLst>
            </p:cNvPr>
            <p:cNvSpPr>
              <a:spLocks noChangeShapeType="1"/>
            </p:cNvSpPr>
            <p:nvPr/>
          </p:nvSpPr>
          <p:spPr bwMode="auto">
            <a:xfrm flipV="1">
              <a:off x="9598" y="1973"/>
              <a:ext cx="90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13" name="Text Box 34">
              <a:extLst>
                <a:ext uri="{FF2B5EF4-FFF2-40B4-BE49-F238E27FC236}">
                  <a16:creationId xmlns:a16="http://schemas.microsoft.com/office/drawing/2014/main" id="{8B565BC2-E88B-4D28-9552-F7AB8B36893F}"/>
                </a:ext>
              </a:extLst>
            </p:cNvPr>
            <p:cNvSpPr txBox="1">
              <a:spLocks noChangeArrowheads="1"/>
            </p:cNvSpPr>
            <p:nvPr/>
          </p:nvSpPr>
          <p:spPr bwMode="auto">
            <a:xfrm>
              <a:off x="11128" y="421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4" name="Text Box 33">
              <a:extLst>
                <a:ext uri="{FF2B5EF4-FFF2-40B4-BE49-F238E27FC236}">
                  <a16:creationId xmlns:a16="http://schemas.microsoft.com/office/drawing/2014/main" id="{14A74C13-5251-4B1F-9FAA-3AC0CA495198}"/>
                </a:ext>
              </a:extLst>
            </p:cNvPr>
            <p:cNvSpPr txBox="1">
              <a:spLocks noChangeArrowheads="1"/>
            </p:cNvSpPr>
            <p:nvPr/>
          </p:nvSpPr>
          <p:spPr bwMode="auto">
            <a:xfrm>
              <a:off x="8068" y="2744"/>
              <a:ext cx="1530" cy="72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Last Name
First Name
</a:t>
              </a:r>
              <a:r>
                <a:rPr lang="en-US" altLang="en-US" sz="1000" b="1" dirty="0">
                  <a:solidFill>
                    <a:srgbClr val="FF0000"/>
                  </a:solidFill>
                  <a:latin typeface="Arial" panose="020B0604020202020204" pitchFamily="34" charset="0"/>
                  <a:ea typeface="Times New Roman" panose="02020603050405020304" pitchFamily="18" charset="0"/>
                </a:rPr>
                <a:t>Address</a:t>
              </a:r>
              <a:r>
                <a:rPr lang="en-US" altLang="en-US" sz="1000" dirty="0">
                  <a:latin typeface="Arial" panose="020B0604020202020204" pitchFamily="34" charset="0"/>
                  <a:ea typeface="Times New Roman" panose="02020603050405020304" pitchFamily="18" charset="0"/>
                </a:rPr>
                <a:t>
Phone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5" name="Text Box 32">
              <a:extLst>
                <a:ext uri="{FF2B5EF4-FFF2-40B4-BE49-F238E27FC236}">
                  <a16:creationId xmlns:a16="http://schemas.microsoft.com/office/drawing/2014/main" id="{31B014E3-EE65-45FE-8D4F-04D655337710}"/>
                </a:ext>
              </a:extLst>
            </p:cNvPr>
            <p:cNvSpPr txBox="1">
              <a:spLocks noChangeArrowheads="1"/>
            </p:cNvSpPr>
            <p:nvPr/>
          </p:nvSpPr>
          <p:spPr bwMode="auto">
            <a:xfrm>
              <a:off x="10498" y="1664"/>
              <a:ext cx="1348" cy="89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BookID</a:t>
              </a:r>
              <a:r>
                <a:rPr lang="en-US" altLang="en-US" sz="1000" dirty="0">
                  <a:latin typeface="Arial" panose="020B0604020202020204" pitchFamily="34" charset="0"/>
                  <a:ea typeface="Times New Roman" panose="02020603050405020304" pitchFamily="18" charset="0"/>
                </a:rPr>
                <a:t>
Book title
</a:t>
              </a:r>
              <a:r>
                <a:rPr lang="en-US" altLang="en-US" sz="1000" b="1" dirty="0">
                  <a:solidFill>
                    <a:srgbClr val="FF0000"/>
                  </a:solidFill>
                  <a:latin typeface="Arial" panose="020B0604020202020204" pitchFamily="34" charset="0"/>
                  <a:ea typeface="Times New Roman" panose="02020603050405020304" pitchFamily="18" charset="0"/>
                </a:rPr>
                <a:t>Authors</a:t>
              </a:r>
              <a:r>
                <a:rPr lang="en-US" altLang="en-US" sz="1000" dirty="0">
                  <a:latin typeface="Arial" panose="020B0604020202020204" pitchFamily="34" charset="0"/>
                  <a:ea typeface="Times New Roman" panose="02020603050405020304" pitchFamily="18" charset="0"/>
                </a:rPr>
                <a:t>
Publisher
Year of publishing
Number of copies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6" name="Text Box 31">
              <a:extLst>
                <a:ext uri="{FF2B5EF4-FFF2-40B4-BE49-F238E27FC236}">
                  <a16:creationId xmlns:a16="http://schemas.microsoft.com/office/drawing/2014/main" id="{787B0915-8615-4FB5-99D4-FF0D8362AFFF}"/>
                </a:ext>
              </a:extLst>
            </p:cNvPr>
            <p:cNvSpPr txBox="1">
              <a:spLocks noChangeArrowheads="1"/>
            </p:cNvSpPr>
            <p:nvPr/>
          </p:nvSpPr>
          <p:spPr bwMode="auto">
            <a:xfrm>
              <a:off x="10678" y="1433"/>
              <a:ext cx="90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7" name="Text Box 30">
              <a:extLst>
                <a:ext uri="{FF2B5EF4-FFF2-40B4-BE49-F238E27FC236}">
                  <a16:creationId xmlns:a16="http://schemas.microsoft.com/office/drawing/2014/main" id="{B7D2563D-5D17-4F67-BEA0-0656B88DB379}"/>
                </a:ext>
              </a:extLst>
            </p:cNvPr>
            <p:cNvSpPr txBox="1">
              <a:spLocks noChangeArrowheads="1"/>
            </p:cNvSpPr>
            <p:nvPr/>
          </p:nvSpPr>
          <p:spPr bwMode="auto">
            <a:xfrm>
              <a:off x="11156" y="4673"/>
              <a:ext cx="119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Reading Rooms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8" name="Text Box 29">
              <a:extLst>
                <a:ext uri="{FF2B5EF4-FFF2-40B4-BE49-F238E27FC236}">
                  <a16:creationId xmlns:a16="http://schemas.microsoft.com/office/drawing/2014/main" id="{48B08044-462A-4AE8-A77B-DA69E5B410C2}"/>
                </a:ext>
              </a:extLst>
            </p:cNvPr>
            <p:cNvSpPr txBox="1">
              <a:spLocks noChangeArrowheads="1"/>
            </p:cNvSpPr>
            <p:nvPr/>
          </p:nvSpPr>
          <p:spPr bwMode="auto">
            <a:xfrm>
              <a:off x="8248" y="1433"/>
              <a:ext cx="13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9" name="Text Box 28">
              <a:extLst>
                <a:ext uri="{FF2B5EF4-FFF2-40B4-BE49-F238E27FC236}">
                  <a16:creationId xmlns:a16="http://schemas.microsoft.com/office/drawing/2014/main" id="{F579AB8B-CC73-4B5B-924E-4A65B441778C}"/>
                </a:ext>
              </a:extLst>
            </p:cNvPr>
            <p:cNvSpPr txBox="1">
              <a:spLocks noChangeArrowheads="1"/>
            </p:cNvSpPr>
            <p:nvPr/>
          </p:nvSpPr>
          <p:spPr bwMode="auto">
            <a:xfrm>
              <a:off x="8068" y="3747"/>
              <a:ext cx="1170" cy="77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LibrarianID</a:t>
              </a:r>
              <a:r>
                <a:rPr lang="en-US" altLang="en-US" sz="1000" dirty="0">
                  <a:latin typeface="Arial" panose="020B0604020202020204" pitchFamily="34" charset="0"/>
                  <a:ea typeface="Times New Roman" panose="02020603050405020304" pitchFamily="18" charset="0"/>
                </a:rPr>
                <a:t>
Last Name
First Name
Phone
e-mail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0" name="Text Box 27">
              <a:extLst>
                <a:ext uri="{FF2B5EF4-FFF2-40B4-BE49-F238E27FC236}">
                  <a16:creationId xmlns:a16="http://schemas.microsoft.com/office/drawing/2014/main" id="{6AF042CC-949A-4956-883D-3089DB22B57E}"/>
                </a:ext>
              </a:extLst>
            </p:cNvPr>
            <p:cNvSpPr txBox="1">
              <a:spLocks noChangeArrowheads="1"/>
            </p:cNvSpPr>
            <p:nvPr/>
          </p:nvSpPr>
          <p:spPr bwMode="auto">
            <a:xfrm>
              <a:off x="10228" y="3284"/>
              <a:ext cx="1350" cy="95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00" dirty="0">
                  <a:latin typeface="Arial" panose="020B0604020202020204" pitchFamily="34" charset="0"/>
                  <a:ea typeface="Times New Roman" panose="02020603050405020304" pitchFamily="18" charset="0"/>
                </a:rPr>
                <a:t>Reading Room
Service name
</a:t>
              </a:r>
              <a:r>
                <a:rPr lang="en-US" altLang="en-US" sz="1000" dirty="0" err="1">
                  <a:latin typeface="Arial" panose="020B0604020202020204" pitchFamily="34" charset="0"/>
                  <a:ea typeface="Times New Roman" panose="02020603050405020304" pitchFamily="18" charset="0"/>
                </a:rPr>
                <a:t>LibrarianID</a:t>
              </a:r>
              <a:r>
                <a:rPr lang="en-US" altLang="en-US" sz="1000" dirty="0">
                  <a:latin typeface="Arial" panose="020B0604020202020204" pitchFamily="34" charset="0"/>
                  <a:ea typeface="Times New Roman" panose="02020603050405020304" pitchFamily="18" charset="0"/>
                </a:rPr>
                <a:t>
</a:t>
              </a:r>
              <a:r>
                <a:rPr lang="en-US" altLang="en-US" sz="1000"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Date
Start of service
End of service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1" name="Text Box 26">
              <a:extLst>
                <a:ext uri="{FF2B5EF4-FFF2-40B4-BE49-F238E27FC236}">
                  <a16:creationId xmlns:a16="http://schemas.microsoft.com/office/drawing/2014/main" id="{8929CA85-8EA4-4A72-B0D3-7971BF08BEAA}"/>
                </a:ext>
              </a:extLst>
            </p:cNvPr>
            <p:cNvSpPr txBox="1">
              <a:spLocks noChangeArrowheads="1"/>
            </p:cNvSpPr>
            <p:nvPr/>
          </p:nvSpPr>
          <p:spPr bwMode="auto">
            <a:xfrm>
              <a:off x="8698" y="4904"/>
              <a:ext cx="1350" cy="46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lv-LV" altLang="en-US" sz="1000" dirty="0" err="1">
                  <a:latin typeface="Arial" panose="020B0604020202020204" pitchFamily="34" charset="0"/>
                  <a:ea typeface="Times New Roman" panose="02020603050405020304" pitchFamily="18" charset="0"/>
                </a:rPr>
                <a:t>Number</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Price</a:t>
              </a:r>
              <a:r>
                <a:rPr lang="lv-LV" altLang="en-US" sz="1000"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2" name="Text Box 25">
              <a:extLst>
                <a:ext uri="{FF2B5EF4-FFF2-40B4-BE49-F238E27FC236}">
                  <a16:creationId xmlns:a16="http://schemas.microsoft.com/office/drawing/2014/main" id="{2E55C81B-2A72-4CE0-A5CA-49A6D9F6117F}"/>
                </a:ext>
              </a:extLst>
            </p:cNvPr>
            <p:cNvSpPr txBox="1">
              <a:spLocks noChangeArrowheads="1"/>
            </p:cNvSpPr>
            <p:nvPr/>
          </p:nvSpPr>
          <p:spPr bwMode="auto">
            <a:xfrm>
              <a:off x="8068" y="2513"/>
              <a:ext cx="13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Readers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3" name="Text Box 24">
              <a:extLst>
                <a:ext uri="{FF2B5EF4-FFF2-40B4-BE49-F238E27FC236}">
                  <a16:creationId xmlns:a16="http://schemas.microsoft.com/office/drawing/2014/main" id="{F892E168-0BC2-4038-9E7F-B17F33CE12F2}"/>
                </a:ext>
              </a:extLst>
            </p:cNvPr>
            <p:cNvSpPr txBox="1">
              <a:spLocks noChangeArrowheads="1"/>
            </p:cNvSpPr>
            <p:nvPr/>
          </p:nvSpPr>
          <p:spPr bwMode="auto">
            <a:xfrm>
              <a:off x="7798" y="3555"/>
              <a:ext cx="13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Librarians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4" name="Text Box 23">
              <a:extLst>
                <a:ext uri="{FF2B5EF4-FFF2-40B4-BE49-F238E27FC236}">
                  <a16:creationId xmlns:a16="http://schemas.microsoft.com/office/drawing/2014/main" id="{B25F8551-13B1-470D-9044-654620EC5EF5}"/>
                </a:ext>
              </a:extLst>
            </p:cNvPr>
            <p:cNvSpPr txBox="1">
              <a:spLocks noChangeArrowheads="1"/>
            </p:cNvSpPr>
            <p:nvPr/>
          </p:nvSpPr>
          <p:spPr bwMode="auto">
            <a:xfrm>
              <a:off x="10228" y="3053"/>
              <a:ext cx="126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5" name="Text Box 22">
              <a:extLst>
                <a:ext uri="{FF2B5EF4-FFF2-40B4-BE49-F238E27FC236}">
                  <a16:creationId xmlns:a16="http://schemas.microsoft.com/office/drawing/2014/main" id="{5C501A35-5E91-44D6-85AE-F269F1305A26}"/>
                </a:ext>
              </a:extLst>
            </p:cNvPr>
            <p:cNvSpPr txBox="1">
              <a:spLocks noChangeArrowheads="1"/>
            </p:cNvSpPr>
            <p:nvPr/>
          </p:nvSpPr>
          <p:spPr bwMode="auto">
            <a:xfrm>
              <a:off x="8734" y="4673"/>
              <a:ext cx="13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6" name="Line 21">
              <a:extLst>
                <a:ext uri="{FF2B5EF4-FFF2-40B4-BE49-F238E27FC236}">
                  <a16:creationId xmlns:a16="http://schemas.microsoft.com/office/drawing/2014/main" id="{33545593-2E96-44E1-8E1B-9F23D8D7CE5F}"/>
                </a:ext>
              </a:extLst>
            </p:cNvPr>
            <p:cNvSpPr>
              <a:spLocks noChangeShapeType="1"/>
            </p:cNvSpPr>
            <p:nvPr/>
          </p:nvSpPr>
          <p:spPr bwMode="auto">
            <a:xfrm>
              <a:off x="7888" y="5136"/>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27" name="Line 20">
              <a:extLst>
                <a:ext uri="{FF2B5EF4-FFF2-40B4-BE49-F238E27FC236}">
                  <a16:creationId xmlns:a16="http://schemas.microsoft.com/office/drawing/2014/main" id="{700EA909-BFB4-4DB6-BBD3-495AB243AB9C}"/>
                </a:ext>
              </a:extLst>
            </p:cNvPr>
            <p:cNvSpPr>
              <a:spLocks noChangeShapeType="1"/>
            </p:cNvSpPr>
            <p:nvPr/>
          </p:nvSpPr>
          <p:spPr bwMode="auto">
            <a:xfrm flipH="1" flipV="1">
              <a:off x="8788" y="2204"/>
              <a:ext cx="1"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28" name="Text Box 19">
              <a:extLst>
                <a:ext uri="{FF2B5EF4-FFF2-40B4-BE49-F238E27FC236}">
                  <a16:creationId xmlns:a16="http://schemas.microsoft.com/office/drawing/2014/main" id="{8C7DFCA6-3CB4-46B3-B405-CCB86C7885AE}"/>
                </a:ext>
              </a:extLst>
            </p:cNvPr>
            <p:cNvSpPr txBox="1">
              <a:spLocks noChangeArrowheads="1"/>
            </p:cNvSpPr>
            <p:nvPr/>
          </p:nvSpPr>
          <p:spPr bwMode="auto">
            <a:xfrm>
              <a:off x="11128" y="4827"/>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29" name="Text Box 18">
              <a:extLst>
                <a:ext uri="{FF2B5EF4-FFF2-40B4-BE49-F238E27FC236}">
                  <a16:creationId xmlns:a16="http://schemas.microsoft.com/office/drawing/2014/main" id="{BB4AC3B0-F098-41F0-9E9C-F2939995FEAA}"/>
                </a:ext>
              </a:extLst>
            </p:cNvPr>
            <p:cNvSpPr txBox="1">
              <a:spLocks noChangeArrowheads="1"/>
            </p:cNvSpPr>
            <p:nvPr/>
          </p:nvSpPr>
          <p:spPr bwMode="auto">
            <a:xfrm>
              <a:off x="10945" y="4981"/>
              <a:ext cx="1170" cy="4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lv-LV" altLang="en-US" sz="1000" dirty="0" err="1">
                  <a:latin typeface="Arial" panose="020B0604020202020204" pitchFamily="34" charset="0"/>
                  <a:ea typeface="Times New Roman" panose="02020603050405020304" pitchFamily="18" charset="0"/>
                </a:rPr>
                <a:t>Number</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Phone</a:t>
              </a:r>
              <a:r>
                <a:rPr lang="lv-LV" altLang="en-US" sz="1000"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30" name="Line 17">
              <a:extLst>
                <a:ext uri="{FF2B5EF4-FFF2-40B4-BE49-F238E27FC236}">
                  <a16:creationId xmlns:a16="http://schemas.microsoft.com/office/drawing/2014/main" id="{07B2D848-1D97-4776-8371-7AD679546072}"/>
                </a:ext>
              </a:extLst>
            </p:cNvPr>
            <p:cNvSpPr>
              <a:spLocks noChangeShapeType="1"/>
            </p:cNvSpPr>
            <p:nvPr/>
          </p:nvSpPr>
          <p:spPr bwMode="auto">
            <a:xfrm>
              <a:off x="9598" y="2976"/>
              <a:ext cx="9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1" name="Line 16">
              <a:extLst>
                <a:ext uri="{FF2B5EF4-FFF2-40B4-BE49-F238E27FC236}">
                  <a16:creationId xmlns:a16="http://schemas.microsoft.com/office/drawing/2014/main" id="{BEAB2C25-8F7D-4AAB-AE87-CF4B11BB5E95}"/>
                </a:ext>
              </a:extLst>
            </p:cNvPr>
            <p:cNvSpPr>
              <a:spLocks noChangeShapeType="1"/>
            </p:cNvSpPr>
            <p:nvPr/>
          </p:nvSpPr>
          <p:spPr bwMode="auto">
            <a:xfrm>
              <a:off x="10588" y="2976"/>
              <a:ext cx="0" cy="3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2" name="Line 15">
              <a:extLst>
                <a:ext uri="{FF2B5EF4-FFF2-40B4-BE49-F238E27FC236}">
                  <a16:creationId xmlns:a16="http://schemas.microsoft.com/office/drawing/2014/main" id="{3359E307-662D-4647-9A30-29287367B306}"/>
                </a:ext>
              </a:extLst>
            </p:cNvPr>
            <p:cNvSpPr>
              <a:spLocks noChangeShapeType="1"/>
            </p:cNvSpPr>
            <p:nvPr/>
          </p:nvSpPr>
          <p:spPr bwMode="auto">
            <a:xfrm>
              <a:off x="9238" y="3978"/>
              <a:ext cx="9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3" name="Line 14">
              <a:extLst>
                <a:ext uri="{FF2B5EF4-FFF2-40B4-BE49-F238E27FC236}">
                  <a16:creationId xmlns:a16="http://schemas.microsoft.com/office/drawing/2014/main" id="{32D0B40B-EC6C-439C-ADA2-AD3EA17E1021}"/>
                </a:ext>
              </a:extLst>
            </p:cNvPr>
            <p:cNvSpPr>
              <a:spLocks noChangeShapeType="1"/>
            </p:cNvSpPr>
            <p:nvPr/>
          </p:nvSpPr>
          <p:spPr bwMode="auto">
            <a:xfrm flipH="1">
              <a:off x="10048" y="5135"/>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4" name="Line 13">
              <a:extLst>
                <a:ext uri="{FF2B5EF4-FFF2-40B4-BE49-F238E27FC236}">
                  <a16:creationId xmlns:a16="http://schemas.microsoft.com/office/drawing/2014/main" id="{B10EC77C-EB64-405A-A7B8-DFD460BA3A7E}"/>
                </a:ext>
              </a:extLst>
            </p:cNvPr>
            <p:cNvSpPr>
              <a:spLocks noChangeShapeType="1"/>
            </p:cNvSpPr>
            <p:nvPr/>
          </p:nvSpPr>
          <p:spPr bwMode="auto">
            <a:xfrm flipV="1">
              <a:off x="10588" y="4210"/>
              <a:ext cx="0" cy="9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5" name="Line 12">
              <a:extLst>
                <a:ext uri="{FF2B5EF4-FFF2-40B4-BE49-F238E27FC236}">
                  <a16:creationId xmlns:a16="http://schemas.microsoft.com/office/drawing/2014/main" id="{8694C654-57F8-4483-AB1A-FF9562C0B709}"/>
                </a:ext>
              </a:extLst>
            </p:cNvPr>
            <p:cNvSpPr>
              <a:spLocks noChangeShapeType="1"/>
            </p:cNvSpPr>
            <p:nvPr/>
          </p:nvSpPr>
          <p:spPr bwMode="auto">
            <a:xfrm>
              <a:off x="11128" y="4210"/>
              <a:ext cx="0" cy="7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6" name="Text Box 11">
              <a:extLst>
                <a:ext uri="{FF2B5EF4-FFF2-40B4-BE49-F238E27FC236}">
                  <a16:creationId xmlns:a16="http://schemas.microsoft.com/office/drawing/2014/main" id="{5876AB71-C7A4-43E8-846D-160C3BEAA195}"/>
                </a:ext>
              </a:extLst>
            </p:cNvPr>
            <p:cNvSpPr txBox="1">
              <a:spLocks noChangeArrowheads="1"/>
            </p:cNvSpPr>
            <p:nvPr/>
          </p:nvSpPr>
          <p:spPr bwMode="auto">
            <a:xfrm>
              <a:off x="10318" y="421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37" name="Text Box 10">
              <a:extLst>
                <a:ext uri="{FF2B5EF4-FFF2-40B4-BE49-F238E27FC236}">
                  <a16:creationId xmlns:a16="http://schemas.microsoft.com/office/drawing/2014/main" id="{85A2EC82-BEC3-494C-AD5B-2EB9B419A7EC}"/>
                </a:ext>
              </a:extLst>
            </p:cNvPr>
            <p:cNvSpPr txBox="1">
              <a:spLocks noChangeArrowheads="1"/>
            </p:cNvSpPr>
            <p:nvPr/>
          </p:nvSpPr>
          <p:spPr bwMode="auto">
            <a:xfrm>
              <a:off x="9958" y="382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38" name="Text Box 9">
              <a:extLst>
                <a:ext uri="{FF2B5EF4-FFF2-40B4-BE49-F238E27FC236}">
                  <a16:creationId xmlns:a16="http://schemas.microsoft.com/office/drawing/2014/main" id="{9F15370C-17C6-4D72-8100-330A4F992060}"/>
                </a:ext>
              </a:extLst>
            </p:cNvPr>
            <p:cNvSpPr txBox="1">
              <a:spLocks noChangeArrowheads="1"/>
            </p:cNvSpPr>
            <p:nvPr/>
          </p:nvSpPr>
          <p:spPr bwMode="auto">
            <a:xfrm>
              <a:off x="959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39" name="Text Box 8">
              <a:extLst>
                <a:ext uri="{FF2B5EF4-FFF2-40B4-BE49-F238E27FC236}">
                  <a16:creationId xmlns:a16="http://schemas.microsoft.com/office/drawing/2014/main" id="{B5F5FDCD-0F37-4FDE-A601-DA2FA330124A}"/>
                </a:ext>
              </a:extLst>
            </p:cNvPr>
            <p:cNvSpPr txBox="1">
              <a:spLocks noChangeArrowheads="1"/>
            </p:cNvSpPr>
            <p:nvPr/>
          </p:nvSpPr>
          <p:spPr bwMode="auto">
            <a:xfrm>
              <a:off x="10588" y="313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0" name="Text Box 7">
              <a:extLst>
                <a:ext uri="{FF2B5EF4-FFF2-40B4-BE49-F238E27FC236}">
                  <a16:creationId xmlns:a16="http://schemas.microsoft.com/office/drawing/2014/main" id="{D56309C9-EF69-4CD5-A2A9-173076CF3DAE}"/>
                </a:ext>
              </a:extLst>
            </p:cNvPr>
            <p:cNvSpPr txBox="1">
              <a:spLocks noChangeArrowheads="1"/>
            </p:cNvSpPr>
            <p:nvPr/>
          </p:nvSpPr>
          <p:spPr bwMode="auto">
            <a:xfrm>
              <a:off x="8608" y="259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1" name="Text Box 6">
              <a:extLst>
                <a:ext uri="{FF2B5EF4-FFF2-40B4-BE49-F238E27FC236}">
                  <a16:creationId xmlns:a16="http://schemas.microsoft.com/office/drawing/2014/main" id="{6C5830E9-78B9-4F79-9020-3834C39B1F25}"/>
                </a:ext>
              </a:extLst>
            </p:cNvPr>
            <p:cNvSpPr txBox="1">
              <a:spLocks noChangeArrowheads="1"/>
            </p:cNvSpPr>
            <p:nvPr/>
          </p:nvSpPr>
          <p:spPr bwMode="auto">
            <a:xfrm>
              <a:off x="8608" y="220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2" name="Text Box 5">
              <a:extLst>
                <a:ext uri="{FF2B5EF4-FFF2-40B4-BE49-F238E27FC236}">
                  <a16:creationId xmlns:a16="http://schemas.microsoft.com/office/drawing/2014/main" id="{9B57AA13-A3FD-4352-B8AE-B5A74F9EFDC9}"/>
                </a:ext>
              </a:extLst>
            </p:cNvPr>
            <p:cNvSpPr txBox="1">
              <a:spLocks noChangeArrowheads="1"/>
            </p:cNvSpPr>
            <p:nvPr/>
          </p:nvSpPr>
          <p:spPr bwMode="auto">
            <a:xfrm>
              <a:off x="9598" y="2821"/>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3" name="Text Box 4">
              <a:extLst>
                <a:ext uri="{FF2B5EF4-FFF2-40B4-BE49-F238E27FC236}">
                  <a16:creationId xmlns:a16="http://schemas.microsoft.com/office/drawing/2014/main" id="{32C9CA90-5491-4DE3-8173-253071E4CEFC}"/>
                </a:ext>
              </a:extLst>
            </p:cNvPr>
            <p:cNvSpPr txBox="1">
              <a:spLocks noChangeArrowheads="1"/>
            </p:cNvSpPr>
            <p:nvPr/>
          </p:nvSpPr>
          <p:spPr bwMode="auto">
            <a:xfrm>
              <a:off x="1022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4" name="Text Box 3">
              <a:extLst>
                <a:ext uri="{FF2B5EF4-FFF2-40B4-BE49-F238E27FC236}">
                  <a16:creationId xmlns:a16="http://schemas.microsoft.com/office/drawing/2014/main" id="{1413893B-125A-4668-BB18-7DBC57B16ABE}"/>
                </a:ext>
              </a:extLst>
            </p:cNvPr>
            <p:cNvSpPr txBox="1">
              <a:spLocks noChangeArrowheads="1"/>
            </p:cNvSpPr>
            <p:nvPr/>
          </p:nvSpPr>
          <p:spPr bwMode="auto">
            <a:xfrm>
              <a:off x="9238" y="382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5" name="Text Box 2">
              <a:extLst>
                <a:ext uri="{FF2B5EF4-FFF2-40B4-BE49-F238E27FC236}">
                  <a16:creationId xmlns:a16="http://schemas.microsoft.com/office/drawing/2014/main" id="{4B0E05AE-69CE-406C-92F7-30DA82286D31}"/>
                </a:ext>
              </a:extLst>
            </p:cNvPr>
            <p:cNvSpPr txBox="1">
              <a:spLocks noChangeArrowheads="1"/>
            </p:cNvSpPr>
            <p:nvPr/>
          </p:nvSpPr>
          <p:spPr bwMode="auto">
            <a:xfrm>
              <a:off x="10048" y="4981"/>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grpSp>
      <p:grpSp>
        <p:nvGrpSpPr>
          <p:cNvPr id="4" name="Group 1">
            <a:extLst>
              <a:ext uri="{FF2B5EF4-FFF2-40B4-BE49-F238E27FC236}">
                <a16:creationId xmlns:a16="http://schemas.microsoft.com/office/drawing/2014/main" id="{00BE1622-E599-4330-BA99-82212570F861}"/>
              </a:ext>
            </a:extLst>
          </p:cNvPr>
          <p:cNvGrpSpPr>
            <a:grpSpLocks noChangeAspect="1"/>
          </p:cNvGrpSpPr>
          <p:nvPr/>
        </p:nvGrpSpPr>
        <p:grpSpPr bwMode="auto">
          <a:xfrm>
            <a:off x="4247753" y="959951"/>
            <a:ext cx="5847887" cy="5784827"/>
            <a:chOff x="7385" y="1433"/>
            <a:chExt cx="4868" cy="4127"/>
          </a:xfrm>
        </p:grpSpPr>
        <p:sp>
          <p:nvSpPr>
            <p:cNvPr id="5" name="AutoShape 52">
              <a:extLst>
                <a:ext uri="{FF2B5EF4-FFF2-40B4-BE49-F238E27FC236}">
                  <a16:creationId xmlns:a16="http://schemas.microsoft.com/office/drawing/2014/main" id="{D480F147-B3C0-4E36-BD5A-ED43CDBEBEF9}"/>
                </a:ext>
              </a:extLst>
            </p:cNvPr>
            <p:cNvSpPr>
              <a:spLocks noChangeAspect="1" noChangeArrowheads="1" noTextEdit="1"/>
            </p:cNvSpPr>
            <p:nvPr/>
          </p:nvSpPr>
          <p:spPr bwMode="auto">
            <a:xfrm>
              <a:off x="7393" y="1472"/>
              <a:ext cx="4860" cy="40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46" name="Text Box 51">
              <a:extLst>
                <a:ext uri="{FF2B5EF4-FFF2-40B4-BE49-F238E27FC236}">
                  <a16:creationId xmlns:a16="http://schemas.microsoft.com/office/drawing/2014/main" id="{F62BE852-6F89-420C-B8DF-42C21A8D509D}"/>
                </a:ext>
              </a:extLst>
            </p:cNvPr>
            <p:cNvSpPr txBox="1">
              <a:spLocks noChangeArrowheads="1"/>
            </p:cNvSpPr>
            <p:nvPr/>
          </p:nvSpPr>
          <p:spPr bwMode="auto">
            <a:xfrm>
              <a:off x="7618" y="1664"/>
              <a:ext cx="153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Book title
Return date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47" name="Line 50">
              <a:extLst>
                <a:ext uri="{FF2B5EF4-FFF2-40B4-BE49-F238E27FC236}">
                  <a16:creationId xmlns:a16="http://schemas.microsoft.com/office/drawing/2014/main" id="{0BE5C007-632D-423D-B029-C8DBBED8738D}"/>
                </a:ext>
              </a:extLst>
            </p:cNvPr>
            <p:cNvSpPr>
              <a:spLocks noChangeShapeType="1"/>
            </p:cNvSpPr>
            <p:nvPr/>
          </p:nvSpPr>
          <p:spPr bwMode="auto">
            <a:xfrm>
              <a:off x="9148" y="1974"/>
              <a:ext cx="777"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48" name="Text Box 49">
              <a:extLst>
                <a:ext uri="{FF2B5EF4-FFF2-40B4-BE49-F238E27FC236}">
                  <a16:creationId xmlns:a16="http://schemas.microsoft.com/office/drawing/2014/main" id="{0F80F02E-A5CD-4F14-9E47-B1D2ED93AD54}"/>
                </a:ext>
              </a:extLst>
            </p:cNvPr>
            <p:cNvSpPr txBox="1">
              <a:spLocks noChangeArrowheads="1"/>
            </p:cNvSpPr>
            <p:nvPr/>
          </p:nvSpPr>
          <p:spPr bwMode="auto">
            <a:xfrm>
              <a:off x="7528" y="2513"/>
              <a:ext cx="1205" cy="120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Last Name
First Name
Street
House
Apartment
City
District
Post code
Phone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49" name="Text Box 48">
              <a:extLst>
                <a:ext uri="{FF2B5EF4-FFF2-40B4-BE49-F238E27FC236}">
                  <a16:creationId xmlns:a16="http://schemas.microsoft.com/office/drawing/2014/main" id="{407483FE-B333-4A03-AE1F-0FADBCE1212B}"/>
                </a:ext>
              </a:extLst>
            </p:cNvPr>
            <p:cNvSpPr txBox="1">
              <a:spLocks noChangeArrowheads="1"/>
            </p:cNvSpPr>
            <p:nvPr/>
          </p:nvSpPr>
          <p:spPr bwMode="auto">
            <a:xfrm>
              <a:off x="9929" y="1670"/>
              <a:ext cx="1117" cy="6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BookID</a:t>
              </a:r>
              <a:r>
                <a:rPr lang="en-US" altLang="en-US" sz="1000" dirty="0">
                  <a:latin typeface="Arial" panose="020B0604020202020204" pitchFamily="34" charset="0"/>
                  <a:ea typeface="Times New Roman" panose="02020603050405020304" pitchFamily="18" charset="0"/>
                </a:rPr>
                <a:t>
Book title
Publisher
Year of publishing
Number of copies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0" name="Text Box 47">
              <a:extLst>
                <a:ext uri="{FF2B5EF4-FFF2-40B4-BE49-F238E27FC236}">
                  <a16:creationId xmlns:a16="http://schemas.microsoft.com/office/drawing/2014/main" id="{ADC6EB78-A129-489A-939B-3C9387B74C10}"/>
                </a:ext>
              </a:extLst>
            </p:cNvPr>
            <p:cNvSpPr txBox="1">
              <a:spLocks noChangeArrowheads="1"/>
            </p:cNvSpPr>
            <p:nvPr/>
          </p:nvSpPr>
          <p:spPr bwMode="auto">
            <a:xfrm>
              <a:off x="9823" y="1440"/>
              <a:ext cx="915"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Books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1" name="Text Box 46">
              <a:extLst>
                <a:ext uri="{FF2B5EF4-FFF2-40B4-BE49-F238E27FC236}">
                  <a16:creationId xmlns:a16="http://schemas.microsoft.com/office/drawing/2014/main" id="{668233A2-A517-4552-BDF7-C322A5B31577}"/>
                </a:ext>
              </a:extLst>
            </p:cNvPr>
            <p:cNvSpPr txBox="1">
              <a:spLocks noChangeArrowheads="1"/>
            </p:cNvSpPr>
            <p:nvPr/>
          </p:nvSpPr>
          <p:spPr bwMode="auto">
            <a:xfrm>
              <a:off x="10722" y="4725"/>
              <a:ext cx="6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Reading Rooms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2" name="Text Box 45">
              <a:extLst>
                <a:ext uri="{FF2B5EF4-FFF2-40B4-BE49-F238E27FC236}">
                  <a16:creationId xmlns:a16="http://schemas.microsoft.com/office/drawing/2014/main" id="{3B4F6D3F-84E6-485D-AFA9-C64269012151}"/>
                </a:ext>
              </a:extLst>
            </p:cNvPr>
            <p:cNvSpPr txBox="1">
              <a:spLocks noChangeArrowheads="1"/>
            </p:cNvSpPr>
            <p:nvPr/>
          </p:nvSpPr>
          <p:spPr bwMode="auto">
            <a:xfrm>
              <a:off x="7888" y="1433"/>
              <a:ext cx="117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3" name="Text Box 44">
              <a:extLst>
                <a:ext uri="{FF2B5EF4-FFF2-40B4-BE49-F238E27FC236}">
                  <a16:creationId xmlns:a16="http://schemas.microsoft.com/office/drawing/2014/main" id="{53399865-58C5-485A-B6DA-BB04D2C3FAD4}"/>
                </a:ext>
              </a:extLst>
            </p:cNvPr>
            <p:cNvSpPr txBox="1">
              <a:spLocks noChangeArrowheads="1"/>
            </p:cNvSpPr>
            <p:nvPr/>
          </p:nvSpPr>
          <p:spPr bwMode="auto">
            <a:xfrm>
              <a:off x="7618" y="4287"/>
              <a:ext cx="720" cy="77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err="1">
                  <a:latin typeface="Arial" panose="020B0604020202020204" pitchFamily="34" charset="0"/>
                  <a:ea typeface="Times New Roman" panose="02020603050405020304" pitchFamily="18" charset="0"/>
                </a:rPr>
                <a:t>LibrarianID</a:t>
              </a:r>
              <a:r>
                <a:rPr lang="en-US" altLang="en-US" sz="1000" dirty="0">
                  <a:latin typeface="Arial" panose="020B0604020202020204" pitchFamily="34" charset="0"/>
                  <a:ea typeface="Times New Roman" panose="02020603050405020304" pitchFamily="18" charset="0"/>
                </a:rPr>
                <a:t>
Last Name
First Name
Phone
e-mail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4" name="Text Box 43">
              <a:extLst>
                <a:ext uri="{FF2B5EF4-FFF2-40B4-BE49-F238E27FC236}">
                  <a16:creationId xmlns:a16="http://schemas.microsoft.com/office/drawing/2014/main" id="{FA84EABB-2A5C-48C9-AC49-612AB64AAFC6}"/>
                </a:ext>
              </a:extLst>
            </p:cNvPr>
            <p:cNvSpPr txBox="1">
              <a:spLocks noChangeArrowheads="1"/>
            </p:cNvSpPr>
            <p:nvPr/>
          </p:nvSpPr>
          <p:spPr bwMode="auto">
            <a:xfrm>
              <a:off x="8990" y="3670"/>
              <a:ext cx="1081" cy="92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00" dirty="0">
                  <a:latin typeface="Arial" panose="020B0604020202020204" pitchFamily="34" charset="0"/>
                  <a:ea typeface="Times New Roman" panose="02020603050405020304" pitchFamily="18" charset="0"/>
                </a:rPr>
                <a:t>Reading Room
Service name
</a:t>
              </a:r>
              <a:r>
                <a:rPr lang="en-US" altLang="en-US" sz="1000" dirty="0" err="1">
                  <a:latin typeface="Arial" panose="020B0604020202020204" pitchFamily="34" charset="0"/>
                  <a:ea typeface="Times New Roman" panose="02020603050405020304" pitchFamily="18" charset="0"/>
                </a:rPr>
                <a:t>LibrarianID</a:t>
              </a:r>
              <a:r>
                <a:rPr lang="en-US" altLang="en-US" sz="1000" dirty="0">
                  <a:latin typeface="Arial" panose="020B0604020202020204" pitchFamily="34" charset="0"/>
                  <a:ea typeface="Times New Roman" panose="02020603050405020304" pitchFamily="18" charset="0"/>
                </a:rPr>
                <a:t>
</a:t>
              </a:r>
              <a:r>
                <a:rPr lang="en-US" altLang="en-US" sz="1000"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Date
Start of service
End of service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5" name="Text Box 42">
              <a:extLst>
                <a:ext uri="{FF2B5EF4-FFF2-40B4-BE49-F238E27FC236}">
                  <a16:creationId xmlns:a16="http://schemas.microsoft.com/office/drawing/2014/main" id="{634DCA34-C767-44F8-80DC-834BD3EBFD22}"/>
                </a:ext>
              </a:extLst>
            </p:cNvPr>
            <p:cNvSpPr txBox="1">
              <a:spLocks noChangeArrowheads="1"/>
            </p:cNvSpPr>
            <p:nvPr/>
          </p:nvSpPr>
          <p:spPr bwMode="auto">
            <a:xfrm>
              <a:off x="9238" y="4981"/>
              <a:ext cx="765" cy="46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lv-LV" altLang="en-US" sz="1000" dirty="0" err="1">
                  <a:latin typeface="Arial" panose="020B0604020202020204" pitchFamily="34" charset="0"/>
                  <a:ea typeface="Times New Roman" panose="02020603050405020304" pitchFamily="18" charset="0"/>
                </a:rPr>
                <a:t>Number</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Price</a:t>
              </a:r>
              <a:r>
                <a:rPr lang="lv-LV" altLang="en-US" sz="1000"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6" name="Text Box 41">
              <a:extLst>
                <a:ext uri="{FF2B5EF4-FFF2-40B4-BE49-F238E27FC236}">
                  <a16:creationId xmlns:a16="http://schemas.microsoft.com/office/drawing/2014/main" id="{501DA9DA-F8C5-431B-B80A-A810AD1A51B9}"/>
                </a:ext>
              </a:extLst>
            </p:cNvPr>
            <p:cNvSpPr txBox="1">
              <a:spLocks noChangeArrowheads="1"/>
            </p:cNvSpPr>
            <p:nvPr/>
          </p:nvSpPr>
          <p:spPr bwMode="auto">
            <a:xfrm>
              <a:off x="7385" y="2320"/>
              <a:ext cx="78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Readers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7" name="Text Box 40">
              <a:extLst>
                <a:ext uri="{FF2B5EF4-FFF2-40B4-BE49-F238E27FC236}">
                  <a16:creationId xmlns:a16="http://schemas.microsoft.com/office/drawing/2014/main" id="{479556FF-5ED1-4FF7-B4D0-E11289A285B2}"/>
                </a:ext>
              </a:extLst>
            </p:cNvPr>
            <p:cNvSpPr txBox="1">
              <a:spLocks noChangeArrowheads="1"/>
            </p:cNvSpPr>
            <p:nvPr/>
          </p:nvSpPr>
          <p:spPr bwMode="auto">
            <a:xfrm>
              <a:off x="7618" y="4056"/>
              <a:ext cx="72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Librarians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8" name="Text Box 39">
              <a:extLst>
                <a:ext uri="{FF2B5EF4-FFF2-40B4-BE49-F238E27FC236}">
                  <a16:creationId xmlns:a16="http://schemas.microsoft.com/office/drawing/2014/main" id="{B2DC1F74-370B-4662-9148-9E6B23532929}"/>
                </a:ext>
              </a:extLst>
            </p:cNvPr>
            <p:cNvSpPr txBox="1">
              <a:spLocks noChangeArrowheads="1"/>
            </p:cNvSpPr>
            <p:nvPr/>
          </p:nvSpPr>
          <p:spPr bwMode="auto">
            <a:xfrm>
              <a:off x="9328" y="3507"/>
              <a:ext cx="8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9" name="Text Box 38">
              <a:extLst>
                <a:ext uri="{FF2B5EF4-FFF2-40B4-BE49-F238E27FC236}">
                  <a16:creationId xmlns:a16="http://schemas.microsoft.com/office/drawing/2014/main" id="{BD7635D3-AC81-43E9-B165-48693FC91A39}"/>
                </a:ext>
              </a:extLst>
            </p:cNvPr>
            <p:cNvSpPr txBox="1">
              <a:spLocks noChangeArrowheads="1"/>
            </p:cNvSpPr>
            <p:nvPr/>
          </p:nvSpPr>
          <p:spPr bwMode="auto">
            <a:xfrm>
              <a:off x="9238" y="4807"/>
              <a:ext cx="113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0" name="Line 37">
              <a:extLst>
                <a:ext uri="{FF2B5EF4-FFF2-40B4-BE49-F238E27FC236}">
                  <a16:creationId xmlns:a16="http://schemas.microsoft.com/office/drawing/2014/main" id="{71BE34C4-C45D-461E-B75D-B1B042283DDA}"/>
                </a:ext>
              </a:extLst>
            </p:cNvPr>
            <p:cNvSpPr>
              <a:spLocks noChangeShapeType="1"/>
            </p:cNvSpPr>
            <p:nvPr/>
          </p:nvSpPr>
          <p:spPr bwMode="auto">
            <a:xfrm>
              <a:off x="7888" y="5136"/>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61" name="Text Box 36">
              <a:extLst>
                <a:ext uri="{FF2B5EF4-FFF2-40B4-BE49-F238E27FC236}">
                  <a16:creationId xmlns:a16="http://schemas.microsoft.com/office/drawing/2014/main" id="{0464F15E-888F-4292-A705-66C1AB5A649A}"/>
                </a:ext>
              </a:extLst>
            </p:cNvPr>
            <p:cNvSpPr txBox="1">
              <a:spLocks noChangeArrowheads="1"/>
            </p:cNvSpPr>
            <p:nvPr/>
          </p:nvSpPr>
          <p:spPr bwMode="auto">
            <a:xfrm>
              <a:off x="10449" y="4981"/>
              <a:ext cx="834" cy="4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lang="lv-LV" altLang="en-US" sz="1000" dirty="0" err="1">
                  <a:latin typeface="Arial" panose="020B0604020202020204" pitchFamily="34" charset="0"/>
                  <a:ea typeface="Times New Roman" panose="02020603050405020304" pitchFamily="18" charset="0"/>
                </a:rPr>
                <a:t>Number</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Phone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2" name="Text Box 35">
              <a:extLst>
                <a:ext uri="{FF2B5EF4-FFF2-40B4-BE49-F238E27FC236}">
                  <a16:creationId xmlns:a16="http://schemas.microsoft.com/office/drawing/2014/main" id="{C2335579-55AE-44D0-8B2F-499DFBDBD2D7}"/>
                </a:ext>
              </a:extLst>
            </p:cNvPr>
            <p:cNvSpPr txBox="1">
              <a:spLocks noChangeArrowheads="1"/>
            </p:cNvSpPr>
            <p:nvPr/>
          </p:nvSpPr>
          <p:spPr bwMode="auto">
            <a:xfrm>
              <a:off x="914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63" name="Text Box 34">
              <a:extLst>
                <a:ext uri="{FF2B5EF4-FFF2-40B4-BE49-F238E27FC236}">
                  <a16:creationId xmlns:a16="http://schemas.microsoft.com/office/drawing/2014/main" id="{9A81041D-3132-4C08-BCE7-2FA0AE9ADFF5}"/>
                </a:ext>
              </a:extLst>
            </p:cNvPr>
            <p:cNvSpPr txBox="1">
              <a:spLocks noChangeArrowheads="1"/>
            </p:cNvSpPr>
            <p:nvPr/>
          </p:nvSpPr>
          <p:spPr bwMode="auto">
            <a:xfrm>
              <a:off x="9698" y="179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64" name="Text Box 33">
              <a:extLst>
                <a:ext uri="{FF2B5EF4-FFF2-40B4-BE49-F238E27FC236}">
                  <a16:creationId xmlns:a16="http://schemas.microsoft.com/office/drawing/2014/main" id="{456F40A3-EDE5-433C-9888-7E493839E4F9}"/>
                </a:ext>
              </a:extLst>
            </p:cNvPr>
            <p:cNvSpPr txBox="1">
              <a:spLocks noChangeArrowheads="1"/>
            </p:cNvSpPr>
            <p:nvPr/>
          </p:nvSpPr>
          <p:spPr bwMode="auto">
            <a:xfrm>
              <a:off x="10667" y="3289"/>
              <a:ext cx="731" cy="61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err="1">
                  <a:latin typeface="Arial" panose="020B0604020202020204" pitchFamily="34" charset="0"/>
                  <a:ea typeface="Times New Roman" panose="02020603050405020304" pitchFamily="18" charset="0"/>
                </a:rPr>
                <a:t>AuthorID</a:t>
              </a:r>
              <a:r>
                <a:rPr lang="en-US" altLang="en-US" sz="1000" dirty="0">
                  <a:latin typeface="Arial" panose="020B0604020202020204" pitchFamily="34" charset="0"/>
                  <a:ea typeface="Times New Roman" panose="02020603050405020304" pitchFamily="18" charset="0"/>
                </a:rPr>
                <a:t>
Last name
First name
Year of birth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5" name="Text Box 32">
              <a:extLst>
                <a:ext uri="{FF2B5EF4-FFF2-40B4-BE49-F238E27FC236}">
                  <a16:creationId xmlns:a16="http://schemas.microsoft.com/office/drawing/2014/main" id="{6E3F5230-C041-4B98-851E-54709C358338}"/>
                </a:ext>
              </a:extLst>
            </p:cNvPr>
            <p:cNvSpPr txBox="1">
              <a:spLocks noChangeArrowheads="1"/>
            </p:cNvSpPr>
            <p:nvPr/>
          </p:nvSpPr>
          <p:spPr bwMode="auto">
            <a:xfrm>
              <a:off x="9418" y="2821"/>
              <a:ext cx="1036"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dirty="0">
                  <a:latin typeface="Arial" panose="020B0604020202020204" pitchFamily="34" charset="0"/>
                  <a:ea typeface="Times New Roman" panose="02020603050405020304" pitchFamily="18" charset="0"/>
                </a:rPr>
                <a:t>Author's last name
Author’s first name
Book title
Year of publishing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6" name="Line 31">
              <a:extLst>
                <a:ext uri="{FF2B5EF4-FFF2-40B4-BE49-F238E27FC236}">
                  <a16:creationId xmlns:a16="http://schemas.microsoft.com/office/drawing/2014/main" id="{C8FA484A-E653-465E-8395-61B9541D265D}"/>
                </a:ext>
              </a:extLst>
            </p:cNvPr>
            <p:cNvSpPr>
              <a:spLocks noChangeShapeType="1"/>
            </p:cNvSpPr>
            <p:nvPr/>
          </p:nvSpPr>
          <p:spPr bwMode="auto">
            <a:xfrm flipV="1">
              <a:off x="8338" y="2204"/>
              <a:ext cx="1" cy="3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67" name="Line 30">
              <a:extLst>
                <a:ext uri="{FF2B5EF4-FFF2-40B4-BE49-F238E27FC236}">
                  <a16:creationId xmlns:a16="http://schemas.microsoft.com/office/drawing/2014/main" id="{8A50828F-E1A9-4335-A505-0AD409FDBE80}"/>
                </a:ext>
              </a:extLst>
            </p:cNvPr>
            <p:cNvSpPr>
              <a:spLocks noChangeShapeType="1"/>
            </p:cNvSpPr>
            <p:nvPr/>
          </p:nvSpPr>
          <p:spPr bwMode="auto">
            <a:xfrm flipV="1">
              <a:off x="9688" y="2590"/>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68" name="Line 29">
              <a:extLst>
                <a:ext uri="{FF2B5EF4-FFF2-40B4-BE49-F238E27FC236}">
                  <a16:creationId xmlns:a16="http://schemas.microsoft.com/office/drawing/2014/main" id="{B9C96496-F59C-4C4A-A30A-3AB32BE400F9}"/>
                </a:ext>
              </a:extLst>
            </p:cNvPr>
            <p:cNvSpPr>
              <a:spLocks noChangeShapeType="1"/>
            </p:cNvSpPr>
            <p:nvPr/>
          </p:nvSpPr>
          <p:spPr bwMode="auto">
            <a:xfrm>
              <a:off x="9688" y="2590"/>
              <a:ext cx="1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69" name="Line 28">
              <a:extLst>
                <a:ext uri="{FF2B5EF4-FFF2-40B4-BE49-F238E27FC236}">
                  <a16:creationId xmlns:a16="http://schemas.microsoft.com/office/drawing/2014/main" id="{88CB2A93-7F8F-463B-A134-6E0CB537C795}"/>
                </a:ext>
              </a:extLst>
            </p:cNvPr>
            <p:cNvSpPr>
              <a:spLocks noChangeShapeType="1"/>
            </p:cNvSpPr>
            <p:nvPr/>
          </p:nvSpPr>
          <p:spPr bwMode="auto">
            <a:xfrm flipV="1">
              <a:off x="10858" y="2359"/>
              <a:ext cx="0"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0" name="Line 27">
              <a:extLst>
                <a:ext uri="{FF2B5EF4-FFF2-40B4-BE49-F238E27FC236}">
                  <a16:creationId xmlns:a16="http://schemas.microsoft.com/office/drawing/2014/main" id="{A55B7FAB-558A-47F6-8FD6-85EA5DC1CA8E}"/>
                </a:ext>
              </a:extLst>
            </p:cNvPr>
            <p:cNvSpPr>
              <a:spLocks noChangeShapeType="1"/>
            </p:cNvSpPr>
            <p:nvPr/>
          </p:nvSpPr>
          <p:spPr bwMode="auto">
            <a:xfrm flipV="1">
              <a:off x="10838" y="2983"/>
              <a:ext cx="0" cy="2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1" name="Line 26">
              <a:extLst>
                <a:ext uri="{FF2B5EF4-FFF2-40B4-BE49-F238E27FC236}">
                  <a16:creationId xmlns:a16="http://schemas.microsoft.com/office/drawing/2014/main" id="{88207DBD-CF09-473E-83BE-CE6767F98D1B}"/>
                </a:ext>
              </a:extLst>
            </p:cNvPr>
            <p:cNvSpPr>
              <a:spLocks noChangeShapeType="1"/>
            </p:cNvSpPr>
            <p:nvPr/>
          </p:nvSpPr>
          <p:spPr bwMode="auto">
            <a:xfrm>
              <a:off x="9148" y="2976"/>
              <a:ext cx="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2" name="Line 25">
              <a:extLst>
                <a:ext uri="{FF2B5EF4-FFF2-40B4-BE49-F238E27FC236}">
                  <a16:creationId xmlns:a16="http://schemas.microsoft.com/office/drawing/2014/main" id="{CCB28AFA-1F01-4EC2-B0C5-B274E78F84FA}"/>
                </a:ext>
              </a:extLst>
            </p:cNvPr>
            <p:cNvSpPr>
              <a:spLocks noChangeShapeType="1"/>
            </p:cNvSpPr>
            <p:nvPr/>
          </p:nvSpPr>
          <p:spPr bwMode="auto">
            <a:xfrm>
              <a:off x="9328" y="2976"/>
              <a:ext cx="1" cy="6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3" name="Line 24">
              <a:extLst>
                <a:ext uri="{FF2B5EF4-FFF2-40B4-BE49-F238E27FC236}">
                  <a16:creationId xmlns:a16="http://schemas.microsoft.com/office/drawing/2014/main" id="{B5890A00-FDAB-4D19-B98D-F2281520D175}"/>
                </a:ext>
              </a:extLst>
            </p:cNvPr>
            <p:cNvSpPr>
              <a:spLocks noChangeShapeType="1"/>
            </p:cNvSpPr>
            <p:nvPr/>
          </p:nvSpPr>
          <p:spPr bwMode="auto">
            <a:xfrm>
              <a:off x="9238" y="2976"/>
              <a:ext cx="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4" name="Line 23">
              <a:extLst>
                <a:ext uri="{FF2B5EF4-FFF2-40B4-BE49-F238E27FC236}">
                  <a16:creationId xmlns:a16="http://schemas.microsoft.com/office/drawing/2014/main" id="{3E0AA11F-B964-497E-B7CA-755633430689}"/>
                </a:ext>
              </a:extLst>
            </p:cNvPr>
            <p:cNvSpPr>
              <a:spLocks noChangeShapeType="1"/>
            </p:cNvSpPr>
            <p:nvPr/>
          </p:nvSpPr>
          <p:spPr bwMode="auto">
            <a:xfrm flipV="1">
              <a:off x="9508" y="4595"/>
              <a:ext cx="1" cy="3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5" name="Line 22">
              <a:extLst>
                <a:ext uri="{FF2B5EF4-FFF2-40B4-BE49-F238E27FC236}">
                  <a16:creationId xmlns:a16="http://schemas.microsoft.com/office/drawing/2014/main" id="{D47FEF80-1183-4AFF-8FBD-749DDAB2811E}"/>
                </a:ext>
              </a:extLst>
            </p:cNvPr>
            <p:cNvSpPr>
              <a:spLocks noChangeShapeType="1"/>
            </p:cNvSpPr>
            <p:nvPr/>
          </p:nvSpPr>
          <p:spPr bwMode="auto">
            <a:xfrm flipV="1">
              <a:off x="10722" y="4133"/>
              <a:ext cx="0" cy="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6" name="Line 21">
              <a:extLst>
                <a:ext uri="{FF2B5EF4-FFF2-40B4-BE49-F238E27FC236}">
                  <a16:creationId xmlns:a16="http://schemas.microsoft.com/office/drawing/2014/main" id="{683EB9D2-98BC-4E34-84FD-3576D4AF17B2}"/>
                </a:ext>
              </a:extLst>
            </p:cNvPr>
            <p:cNvSpPr>
              <a:spLocks noChangeShapeType="1"/>
            </p:cNvSpPr>
            <p:nvPr/>
          </p:nvSpPr>
          <p:spPr bwMode="auto">
            <a:xfrm flipH="1">
              <a:off x="10092" y="4133"/>
              <a:ext cx="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7" name="Text Box 20">
              <a:extLst>
                <a:ext uri="{FF2B5EF4-FFF2-40B4-BE49-F238E27FC236}">
                  <a16:creationId xmlns:a16="http://schemas.microsoft.com/office/drawing/2014/main" id="{E9670ED1-7094-4D64-9534-A08A64C03639}"/>
                </a:ext>
              </a:extLst>
            </p:cNvPr>
            <p:cNvSpPr txBox="1">
              <a:spLocks noChangeArrowheads="1"/>
            </p:cNvSpPr>
            <p:nvPr/>
          </p:nvSpPr>
          <p:spPr bwMode="auto">
            <a:xfrm>
              <a:off x="10780" y="3117"/>
              <a:ext cx="5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Authors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8" name="Text Box 19">
              <a:extLst>
                <a:ext uri="{FF2B5EF4-FFF2-40B4-BE49-F238E27FC236}">
                  <a16:creationId xmlns:a16="http://schemas.microsoft.com/office/drawing/2014/main" id="{E22E9B84-4794-470A-BC30-285514D0B3FF}"/>
                </a:ext>
              </a:extLst>
            </p:cNvPr>
            <p:cNvSpPr txBox="1">
              <a:spLocks noChangeArrowheads="1"/>
            </p:cNvSpPr>
            <p:nvPr/>
          </p:nvSpPr>
          <p:spPr bwMode="auto">
            <a:xfrm>
              <a:off x="9454" y="2590"/>
              <a:ext cx="9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Title page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9" name="Text Box 18">
              <a:extLst>
                <a:ext uri="{FF2B5EF4-FFF2-40B4-BE49-F238E27FC236}">
                  <a16:creationId xmlns:a16="http://schemas.microsoft.com/office/drawing/2014/main" id="{ED2B44A0-7EA9-42FB-8B5C-7A24A2EEFAE2}"/>
                </a:ext>
              </a:extLst>
            </p:cNvPr>
            <p:cNvSpPr txBox="1">
              <a:spLocks noChangeArrowheads="1"/>
            </p:cNvSpPr>
            <p:nvPr/>
          </p:nvSpPr>
          <p:spPr bwMode="auto">
            <a:xfrm>
              <a:off x="8068" y="220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80" name="Text Box 17">
              <a:extLst>
                <a:ext uri="{FF2B5EF4-FFF2-40B4-BE49-F238E27FC236}">
                  <a16:creationId xmlns:a16="http://schemas.microsoft.com/office/drawing/2014/main" id="{762AADAA-6C3C-40FD-9BAB-4564525CE602}"/>
                </a:ext>
              </a:extLst>
            </p:cNvPr>
            <p:cNvSpPr txBox="1">
              <a:spLocks noChangeArrowheads="1"/>
            </p:cNvSpPr>
            <p:nvPr/>
          </p:nvSpPr>
          <p:spPr bwMode="auto">
            <a:xfrm>
              <a:off x="9418" y="2667"/>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81" name="Line 16">
              <a:extLst>
                <a:ext uri="{FF2B5EF4-FFF2-40B4-BE49-F238E27FC236}">
                  <a16:creationId xmlns:a16="http://schemas.microsoft.com/office/drawing/2014/main" id="{A11998CB-5EC3-4989-A1A7-F022E3B7032A}"/>
                </a:ext>
              </a:extLst>
            </p:cNvPr>
            <p:cNvSpPr>
              <a:spLocks noChangeShapeType="1"/>
            </p:cNvSpPr>
            <p:nvPr/>
          </p:nvSpPr>
          <p:spPr bwMode="auto">
            <a:xfrm flipH="1">
              <a:off x="10453" y="2974"/>
              <a:ext cx="393"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2" name="Text Box 15">
              <a:extLst>
                <a:ext uri="{FF2B5EF4-FFF2-40B4-BE49-F238E27FC236}">
                  <a16:creationId xmlns:a16="http://schemas.microsoft.com/office/drawing/2014/main" id="{6D39326C-8613-4466-BD38-607D997C2104}"/>
                </a:ext>
              </a:extLst>
            </p:cNvPr>
            <p:cNvSpPr txBox="1">
              <a:spLocks noChangeArrowheads="1"/>
            </p:cNvSpPr>
            <p:nvPr/>
          </p:nvSpPr>
          <p:spPr bwMode="auto">
            <a:xfrm>
              <a:off x="9328" y="351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83" name="Text Box 14">
              <a:extLst>
                <a:ext uri="{FF2B5EF4-FFF2-40B4-BE49-F238E27FC236}">
                  <a16:creationId xmlns:a16="http://schemas.microsoft.com/office/drawing/2014/main" id="{DB2AEEE6-B2E8-4B3D-B47F-A35448288E28}"/>
                </a:ext>
              </a:extLst>
            </p:cNvPr>
            <p:cNvSpPr txBox="1">
              <a:spLocks noChangeArrowheads="1"/>
            </p:cNvSpPr>
            <p:nvPr/>
          </p:nvSpPr>
          <p:spPr bwMode="auto">
            <a:xfrm>
              <a:off x="10432" y="2801"/>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84" name="Text Box 13">
              <a:extLst>
                <a:ext uri="{FF2B5EF4-FFF2-40B4-BE49-F238E27FC236}">
                  <a16:creationId xmlns:a16="http://schemas.microsoft.com/office/drawing/2014/main" id="{C93DA34D-5341-4500-8BC8-36C0349060F7}"/>
                </a:ext>
              </a:extLst>
            </p:cNvPr>
            <p:cNvSpPr txBox="1">
              <a:spLocks noChangeArrowheads="1"/>
            </p:cNvSpPr>
            <p:nvPr/>
          </p:nvSpPr>
          <p:spPr bwMode="auto">
            <a:xfrm>
              <a:off x="10092" y="3978"/>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85" name="Text Box 12">
              <a:extLst>
                <a:ext uri="{FF2B5EF4-FFF2-40B4-BE49-F238E27FC236}">
                  <a16:creationId xmlns:a16="http://schemas.microsoft.com/office/drawing/2014/main" id="{5C65D156-81D5-4D82-AE57-12CD975E4211}"/>
                </a:ext>
              </a:extLst>
            </p:cNvPr>
            <p:cNvSpPr txBox="1">
              <a:spLocks noChangeArrowheads="1"/>
            </p:cNvSpPr>
            <p:nvPr/>
          </p:nvSpPr>
          <p:spPr bwMode="auto">
            <a:xfrm>
              <a:off x="9238" y="4595"/>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86" name="Text Box 11">
              <a:extLst>
                <a:ext uri="{FF2B5EF4-FFF2-40B4-BE49-F238E27FC236}">
                  <a16:creationId xmlns:a16="http://schemas.microsoft.com/office/drawing/2014/main" id="{A59B0B62-09F5-4995-B7C4-2035C35B0BF9}"/>
                </a:ext>
              </a:extLst>
            </p:cNvPr>
            <p:cNvSpPr txBox="1">
              <a:spLocks noChangeArrowheads="1"/>
            </p:cNvSpPr>
            <p:nvPr/>
          </p:nvSpPr>
          <p:spPr bwMode="auto">
            <a:xfrm>
              <a:off x="8158" y="2590"/>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87" name="Text Box 10">
              <a:extLst>
                <a:ext uri="{FF2B5EF4-FFF2-40B4-BE49-F238E27FC236}">
                  <a16:creationId xmlns:a16="http://schemas.microsoft.com/office/drawing/2014/main" id="{87F45227-0408-4729-A84D-207CDA8B6348}"/>
                </a:ext>
              </a:extLst>
            </p:cNvPr>
            <p:cNvSpPr txBox="1">
              <a:spLocks noChangeArrowheads="1"/>
            </p:cNvSpPr>
            <p:nvPr/>
          </p:nvSpPr>
          <p:spPr bwMode="auto">
            <a:xfrm>
              <a:off x="8733" y="2976"/>
              <a:ext cx="59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88" name="Text Box 9">
              <a:extLst>
                <a:ext uri="{FF2B5EF4-FFF2-40B4-BE49-F238E27FC236}">
                  <a16:creationId xmlns:a16="http://schemas.microsoft.com/office/drawing/2014/main" id="{1923C983-D845-4A22-8247-E7D370EF6709}"/>
                </a:ext>
              </a:extLst>
            </p:cNvPr>
            <p:cNvSpPr txBox="1">
              <a:spLocks noChangeArrowheads="1"/>
            </p:cNvSpPr>
            <p:nvPr/>
          </p:nvSpPr>
          <p:spPr bwMode="auto">
            <a:xfrm>
              <a:off x="10667" y="310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89" name="Text Box 8">
              <a:extLst>
                <a:ext uri="{FF2B5EF4-FFF2-40B4-BE49-F238E27FC236}">
                  <a16:creationId xmlns:a16="http://schemas.microsoft.com/office/drawing/2014/main" id="{736E5B5E-D0A7-462E-8DF3-4913D0CFD914}"/>
                </a:ext>
              </a:extLst>
            </p:cNvPr>
            <p:cNvSpPr txBox="1">
              <a:spLocks noChangeArrowheads="1"/>
            </p:cNvSpPr>
            <p:nvPr/>
          </p:nvSpPr>
          <p:spPr bwMode="auto">
            <a:xfrm>
              <a:off x="10479" y="482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90" name="Line 7">
              <a:extLst>
                <a:ext uri="{FF2B5EF4-FFF2-40B4-BE49-F238E27FC236}">
                  <a16:creationId xmlns:a16="http://schemas.microsoft.com/office/drawing/2014/main" id="{F78A410E-478A-48D0-8067-AC8895E99E04}"/>
                </a:ext>
              </a:extLst>
            </p:cNvPr>
            <p:cNvSpPr>
              <a:spLocks noChangeShapeType="1"/>
            </p:cNvSpPr>
            <p:nvPr/>
          </p:nvSpPr>
          <p:spPr bwMode="auto">
            <a:xfrm>
              <a:off x="8346" y="4441"/>
              <a:ext cx="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91" name="Text Box 6">
              <a:extLst>
                <a:ext uri="{FF2B5EF4-FFF2-40B4-BE49-F238E27FC236}">
                  <a16:creationId xmlns:a16="http://schemas.microsoft.com/office/drawing/2014/main" id="{0A48083A-DA7D-4BDC-89FF-05EA6881AC76}"/>
                </a:ext>
              </a:extLst>
            </p:cNvPr>
            <p:cNvSpPr txBox="1">
              <a:spLocks noChangeArrowheads="1"/>
            </p:cNvSpPr>
            <p:nvPr/>
          </p:nvSpPr>
          <p:spPr bwMode="auto">
            <a:xfrm>
              <a:off x="8733" y="428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2" name="Text Box 5">
              <a:extLst>
                <a:ext uri="{FF2B5EF4-FFF2-40B4-BE49-F238E27FC236}">
                  <a16:creationId xmlns:a16="http://schemas.microsoft.com/office/drawing/2014/main" id="{66DECD62-E069-4177-9FD5-5654213CF9CE}"/>
                </a:ext>
              </a:extLst>
            </p:cNvPr>
            <p:cNvSpPr txBox="1">
              <a:spLocks noChangeArrowheads="1"/>
            </p:cNvSpPr>
            <p:nvPr/>
          </p:nvSpPr>
          <p:spPr bwMode="auto">
            <a:xfrm>
              <a:off x="8338" y="235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3" name="Text Box 4">
              <a:extLst>
                <a:ext uri="{FF2B5EF4-FFF2-40B4-BE49-F238E27FC236}">
                  <a16:creationId xmlns:a16="http://schemas.microsoft.com/office/drawing/2014/main" id="{0B23CBAA-A422-4AB4-B1FE-244191BC551E}"/>
                </a:ext>
              </a:extLst>
            </p:cNvPr>
            <p:cNvSpPr txBox="1">
              <a:spLocks noChangeArrowheads="1"/>
            </p:cNvSpPr>
            <p:nvPr/>
          </p:nvSpPr>
          <p:spPr bwMode="auto">
            <a:xfrm>
              <a:off x="10678" y="235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4" name="Text Box 3">
              <a:extLst>
                <a:ext uri="{FF2B5EF4-FFF2-40B4-BE49-F238E27FC236}">
                  <a16:creationId xmlns:a16="http://schemas.microsoft.com/office/drawing/2014/main" id="{8E1FCAEE-AB18-4EA9-A01A-C694B380CD2E}"/>
                </a:ext>
              </a:extLst>
            </p:cNvPr>
            <p:cNvSpPr txBox="1">
              <a:spLocks noChangeArrowheads="1"/>
            </p:cNvSpPr>
            <p:nvPr/>
          </p:nvSpPr>
          <p:spPr bwMode="auto">
            <a:xfrm>
              <a:off x="9328" y="4827"/>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5" name="Text Box 2">
              <a:extLst>
                <a:ext uri="{FF2B5EF4-FFF2-40B4-BE49-F238E27FC236}">
                  <a16:creationId xmlns:a16="http://schemas.microsoft.com/office/drawing/2014/main" id="{1780EA2A-7CF8-4A9F-A156-2412B913C246}"/>
                </a:ext>
              </a:extLst>
            </p:cNvPr>
            <p:cNvSpPr txBox="1">
              <a:spLocks noChangeArrowheads="1"/>
            </p:cNvSpPr>
            <p:nvPr/>
          </p:nvSpPr>
          <p:spPr bwMode="auto">
            <a:xfrm>
              <a:off x="8353" y="444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grpSp>
      <p:sp>
        <p:nvSpPr>
          <p:cNvPr id="96" name="Line 50">
            <a:extLst>
              <a:ext uri="{FF2B5EF4-FFF2-40B4-BE49-F238E27FC236}">
                <a16:creationId xmlns:a16="http://schemas.microsoft.com/office/drawing/2014/main" id="{A5B11DE2-12F2-4709-953B-B2A637868B1A}"/>
              </a:ext>
            </a:extLst>
          </p:cNvPr>
          <p:cNvSpPr>
            <a:spLocks noChangeShapeType="1"/>
          </p:cNvSpPr>
          <p:nvPr/>
        </p:nvSpPr>
        <p:spPr bwMode="auto">
          <a:xfrm flipV="1">
            <a:off x="5867094" y="3122777"/>
            <a:ext cx="713567" cy="47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Tree>
    <p:extLst>
      <p:ext uri="{BB962C8B-B14F-4D97-AF65-F5344CB8AC3E}">
        <p14:creationId xmlns:p14="http://schemas.microsoft.com/office/powerpoint/2010/main" val="443092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157"/>
            <a:ext cx="8839200" cy="1325563"/>
          </a:xfrm>
        </p:spPr>
        <p:txBody>
          <a:bodyPr>
            <a:normAutofit/>
          </a:bodyPr>
          <a:lstStyle/>
          <a:p>
            <a:pPr marL="0" indent="0" algn="ctr">
              <a:buNone/>
            </a:pPr>
            <a:r>
              <a:rPr lang="en-US" sz="4400" dirty="0"/>
              <a:t>Step 6: Definition of primary keys</a:t>
            </a:r>
          </a:p>
        </p:txBody>
      </p:sp>
      <p:sp>
        <p:nvSpPr>
          <p:cNvPr id="3" name="Content Placeholder 2"/>
          <p:cNvSpPr>
            <a:spLocks noGrp="1"/>
          </p:cNvSpPr>
          <p:nvPr>
            <p:ph idx="1"/>
          </p:nvPr>
        </p:nvSpPr>
        <p:spPr>
          <a:xfrm>
            <a:off x="247650" y="1825624"/>
            <a:ext cx="3160071" cy="4822826"/>
          </a:xfrm>
        </p:spPr>
        <p:txBody>
          <a:bodyPr/>
          <a:lstStyle/>
          <a:p>
            <a:pPr marL="0" indent="0" algn="just">
              <a:buNone/>
            </a:pPr>
            <a:r>
              <a:rPr lang="en-US" dirty="0"/>
              <a:t>At this step, </a:t>
            </a:r>
            <a:r>
              <a:rPr lang="en-US" dirty="0">
                <a:solidFill>
                  <a:srgbClr val="1E1E1E"/>
                </a:solidFill>
              </a:rPr>
              <a:t>c</a:t>
            </a:r>
            <a:r>
              <a:rPr lang="en-US" b="0" i="0" dirty="0">
                <a:solidFill>
                  <a:srgbClr val="1E1E1E"/>
                </a:solidFill>
                <a:effectLst/>
              </a:rPr>
              <a:t>hoose each table’s primary key. The primary key is a column that is used to uniquely identify each row.</a:t>
            </a:r>
            <a:endParaRPr lang="en-US" dirty="0"/>
          </a:p>
        </p:txBody>
      </p:sp>
      <p:grpSp>
        <p:nvGrpSpPr>
          <p:cNvPr id="59" name="Group 1">
            <a:extLst>
              <a:ext uri="{FF2B5EF4-FFF2-40B4-BE49-F238E27FC236}">
                <a16:creationId xmlns:a16="http://schemas.microsoft.com/office/drawing/2014/main" id="{2AC414E5-9113-4BC7-A342-1B5D45C4E694}"/>
              </a:ext>
            </a:extLst>
          </p:cNvPr>
          <p:cNvGrpSpPr>
            <a:grpSpLocks noChangeAspect="1"/>
          </p:cNvGrpSpPr>
          <p:nvPr/>
        </p:nvGrpSpPr>
        <p:grpSpPr bwMode="auto">
          <a:xfrm>
            <a:off x="3790554" y="1073173"/>
            <a:ext cx="5838277" cy="5789032"/>
            <a:chOff x="7385" y="1433"/>
            <a:chExt cx="4860" cy="4130"/>
          </a:xfrm>
        </p:grpSpPr>
        <p:sp>
          <p:nvSpPr>
            <p:cNvPr id="60" name="AutoShape 52">
              <a:extLst>
                <a:ext uri="{FF2B5EF4-FFF2-40B4-BE49-F238E27FC236}">
                  <a16:creationId xmlns:a16="http://schemas.microsoft.com/office/drawing/2014/main" id="{883C0CFA-F0E9-4E38-AAC8-9F259C83A915}"/>
                </a:ext>
              </a:extLst>
            </p:cNvPr>
            <p:cNvSpPr>
              <a:spLocks noChangeAspect="1" noChangeArrowheads="1" noTextEdit="1"/>
            </p:cNvSpPr>
            <p:nvPr/>
          </p:nvSpPr>
          <p:spPr bwMode="auto">
            <a:xfrm>
              <a:off x="7385" y="1475"/>
              <a:ext cx="4860" cy="40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61" name="Text Box 51">
              <a:extLst>
                <a:ext uri="{FF2B5EF4-FFF2-40B4-BE49-F238E27FC236}">
                  <a16:creationId xmlns:a16="http://schemas.microsoft.com/office/drawing/2014/main" id="{827AC0B0-5C63-4DD7-8CA3-7C14740361A9}"/>
                </a:ext>
              </a:extLst>
            </p:cNvPr>
            <p:cNvSpPr txBox="1">
              <a:spLocks noChangeArrowheads="1"/>
            </p:cNvSpPr>
            <p:nvPr/>
          </p:nvSpPr>
          <p:spPr bwMode="auto">
            <a:xfrm>
              <a:off x="7618" y="1664"/>
              <a:ext cx="153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b="1" dirty="0" err="1">
                  <a:latin typeface="Arial" panose="020B0604020202020204" pitchFamily="34" charset="0"/>
                  <a:ea typeface="Times New Roman" panose="02020603050405020304" pitchFamily="18" charset="0"/>
                </a:rPr>
                <a:t>ReaderID</a:t>
              </a:r>
              <a:r>
                <a:rPr lang="en-US" altLang="en-US" sz="1000" b="1" dirty="0">
                  <a:latin typeface="Arial" panose="020B0604020202020204" pitchFamily="34" charset="0"/>
                  <a:ea typeface="Times New Roman" panose="02020603050405020304" pitchFamily="18" charset="0"/>
                </a:rPr>
                <a:t>
Book title</a:t>
              </a:r>
              <a:r>
                <a:rPr lang="en-US" altLang="en-US" sz="1000" dirty="0">
                  <a:latin typeface="Arial" panose="020B0604020202020204" pitchFamily="34" charset="0"/>
                  <a:ea typeface="Times New Roman" panose="02020603050405020304" pitchFamily="18" charset="0"/>
                </a:rPr>
                <a:t>
Return date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2" name="Line 50">
              <a:extLst>
                <a:ext uri="{FF2B5EF4-FFF2-40B4-BE49-F238E27FC236}">
                  <a16:creationId xmlns:a16="http://schemas.microsoft.com/office/drawing/2014/main" id="{ED065D5D-C265-4D8F-A6A3-2473BDE162DA}"/>
                </a:ext>
              </a:extLst>
            </p:cNvPr>
            <p:cNvSpPr>
              <a:spLocks noChangeShapeType="1"/>
            </p:cNvSpPr>
            <p:nvPr/>
          </p:nvSpPr>
          <p:spPr bwMode="auto">
            <a:xfrm>
              <a:off x="9148" y="1974"/>
              <a:ext cx="777"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63" name="Text Box 49">
              <a:extLst>
                <a:ext uri="{FF2B5EF4-FFF2-40B4-BE49-F238E27FC236}">
                  <a16:creationId xmlns:a16="http://schemas.microsoft.com/office/drawing/2014/main" id="{F3C54C4E-F8C6-468D-AA75-18ED2B4CD5C3}"/>
                </a:ext>
              </a:extLst>
            </p:cNvPr>
            <p:cNvSpPr txBox="1">
              <a:spLocks noChangeArrowheads="1"/>
            </p:cNvSpPr>
            <p:nvPr/>
          </p:nvSpPr>
          <p:spPr bwMode="auto">
            <a:xfrm>
              <a:off x="7528" y="2513"/>
              <a:ext cx="1205" cy="120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Last Name
First Name
Street
House
Apartment
City
District
Post code
Phone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4" name="Text Box 48">
              <a:extLst>
                <a:ext uri="{FF2B5EF4-FFF2-40B4-BE49-F238E27FC236}">
                  <a16:creationId xmlns:a16="http://schemas.microsoft.com/office/drawing/2014/main" id="{B263DF90-6B7F-4EDE-ABA8-F83023B1C23B}"/>
                </a:ext>
              </a:extLst>
            </p:cNvPr>
            <p:cNvSpPr txBox="1">
              <a:spLocks noChangeArrowheads="1"/>
            </p:cNvSpPr>
            <p:nvPr/>
          </p:nvSpPr>
          <p:spPr bwMode="auto">
            <a:xfrm>
              <a:off x="9929" y="1670"/>
              <a:ext cx="1117" cy="6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BookID</a:t>
              </a:r>
              <a:r>
                <a:rPr lang="en-US" altLang="en-US" sz="1000" dirty="0">
                  <a:latin typeface="Arial" panose="020B0604020202020204" pitchFamily="34" charset="0"/>
                  <a:ea typeface="Times New Roman" panose="02020603050405020304" pitchFamily="18" charset="0"/>
                </a:rPr>
                <a:t>
Book title
Publisher
Year of publishing
Number of copies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5" name="Text Box 47">
              <a:extLst>
                <a:ext uri="{FF2B5EF4-FFF2-40B4-BE49-F238E27FC236}">
                  <a16:creationId xmlns:a16="http://schemas.microsoft.com/office/drawing/2014/main" id="{F0A4588E-D1C3-4050-8CF2-003F3B5D96DA}"/>
                </a:ext>
              </a:extLst>
            </p:cNvPr>
            <p:cNvSpPr txBox="1">
              <a:spLocks noChangeArrowheads="1"/>
            </p:cNvSpPr>
            <p:nvPr/>
          </p:nvSpPr>
          <p:spPr bwMode="auto">
            <a:xfrm>
              <a:off x="9823" y="1440"/>
              <a:ext cx="915"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Books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6" name="Text Box 46">
              <a:extLst>
                <a:ext uri="{FF2B5EF4-FFF2-40B4-BE49-F238E27FC236}">
                  <a16:creationId xmlns:a16="http://schemas.microsoft.com/office/drawing/2014/main" id="{7463B9F1-EC9D-4730-8BCF-3085E32E98BB}"/>
                </a:ext>
              </a:extLst>
            </p:cNvPr>
            <p:cNvSpPr txBox="1">
              <a:spLocks noChangeArrowheads="1"/>
            </p:cNvSpPr>
            <p:nvPr/>
          </p:nvSpPr>
          <p:spPr bwMode="auto">
            <a:xfrm>
              <a:off x="10722" y="4725"/>
              <a:ext cx="6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Reading Rooms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7" name="Text Box 45">
              <a:extLst>
                <a:ext uri="{FF2B5EF4-FFF2-40B4-BE49-F238E27FC236}">
                  <a16:creationId xmlns:a16="http://schemas.microsoft.com/office/drawing/2014/main" id="{E30A4D11-8F63-411D-94BB-0BB7C78088A1}"/>
                </a:ext>
              </a:extLst>
            </p:cNvPr>
            <p:cNvSpPr txBox="1">
              <a:spLocks noChangeArrowheads="1"/>
            </p:cNvSpPr>
            <p:nvPr/>
          </p:nvSpPr>
          <p:spPr bwMode="auto">
            <a:xfrm>
              <a:off x="7888" y="1433"/>
              <a:ext cx="117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8" name="Text Box 44">
              <a:extLst>
                <a:ext uri="{FF2B5EF4-FFF2-40B4-BE49-F238E27FC236}">
                  <a16:creationId xmlns:a16="http://schemas.microsoft.com/office/drawing/2014/main" id="{1C6AA214-7C40-4B61-B0FD-142DCB49BAEC}"/>
                </a:ext>
              </a:extLst>
            </p:cNvPr>
            <p:cNvSpPr txBox="1">
              <a:spLocks noChangeArrowheads="1"/>
            </p:cNvSpPr>
            <p:nvPr/>
          </p:nvSpPr>
          <p:spPr bwMode="auto">
            <a:xfrm>
              <a:off x="7618" y="4287"/>
              <a:ext cx="720" cy="77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b="1" dirty="0" err="1">
                  <a:latin typeface="Arial" panose="020B0604020202020204" pitchFamily="34" charset="0"/>
                  <a:ea typeface="Times New Roman" panose="02020603050405020304" pitchFamily="18" charset="0"/>
                </a:rPr>
                <a:t>LibrarianID</a:t>
              </a:r>
              <a:r>
                <a:rPr lang="en-US" altLang="en-US" sz="1000" dirty="0">
                  <a:latin typeface="Arial" panose="020B0604020202020204" pitchFamily="34" charset="0"/>
                  <a:ea typeface="Times New Roman" panose="02020603050405020304" pitchFamily="18" charset="0"/>
                </a:rPr>
                <a:t>
Last Name
First Name
Phone
e-mail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69" name="Text Box 43">
              <a:extLst>
                <a:ext uri="{FF2B5EF4-FFF2-40B4-BE49-F238E27FC236}">
                  <a16:creationId xmlns:a16="http://schemas.microsoft.com/office/drawing/2014/main" id="{FFABAF9A-9993-4B1E-A82E-F20F0208F159}"/>
                </a:ext>
              </a:extLst>
            </p:cNvPr>
            <p:cNvSpPr txBox="1">
              <a:spLocks noChangeArrowheads="1"/>
            </p:cNvSpPr>
            <p:nvPr/>
          </p:nvSpPr>
          <p:spPr bwMode="auto">
            <a:xfrm>
              <a:off x="8990" y="3670"/>
              <a:ext cx="1081" cy="92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00" b="1" dirty="0">
                  <a:latin typeface="Arial" panose="020B0604020202020204" pitchFamily="34" charset="0"/>
                  <a:ea typeface="Times New Roman" panose="02020603050405020304" pitchFamily="18" charset="0"/>
                </a:rPr>
                <a:t>Reading Room
Service name
</a:t>
              </a:r>
              <a:r>
                <a:rPr lang="en-US" altLang="en-US" sz="1000" b="1" dirty="0" err="1">
                  <a:latin typeface="Arial" panose="020B0604020202020204" pitchFamily="34" charset="0"/>
                  <a:ea typeface="Times New Roman" panose="02020603050405020304" pitchFamily="18" charset="0"/>
                </a:rPr>
                <a:t>LibrarianID</a:t>
              </a:r>
              <a:r>
                <a:rPr lang="en-US" altLang="en-US" sz="1000" b="1" dirty="0">
                  <a:latin typeface="Arial" panose="020B0604020202020204" pitchFamily="34" charset="0"/>
                  <a:ea typeface="Times New Roman" panose="02020603050405020304" pitchFamily="18" charset="0"/>
                </a:rPr>
                <a:t>
</a:t>
              </a:r>
              <a:r>
                <a:rPr lang="en-US" altLang="en-US" sz="1000" b="1" dirty="0" err="1">
                  <a:latin typeface="Arial" panose="020B0604020202020204" pitchFamily="34" charset="0"/>
                  <a:ea typeface="Times New Roman" panose="02020603050405020304" pitchFamily="18" charset="0"/>
                </a:rPr>
                <a:t>ReaderID</a:t>
              </a:r>
              <a:r>
                <a:rPr lang="en-US" altLang="en-US" sz="1000" b="1" dirty="0">
                  <a:latin typeface="Arial" panose="020B0604020202020204" pitchFamily="34" charset="0"/>
                  <a:ea typeface="Times New Roman" panose="02020603050405020304" pitchFamily="18" charset="0"/>
                </a:rPr>
                <a:t>
Date
Start of service</a:t>
              </a:r>
              <a:r>
                <a:rPr lang="en-US" altLang="en-US" sz="1000" dirty="0">
                  <a:latin typeface="Arial" panose="020B0604020202020204" pitchFamily="34" charset="0"/>
                  <a:ea typeface="Times New Roman" panose="02020603050405020304" pitchFamily="18" charset="0"/>
                </a:rPr>
                <a:t>
End of service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0" name="Text Box 42">
              <a:extLst>
                <a:ext uri="{FF2B5EF4-FFF2-40B4-BE49-F238E27FC236}">
                  <a16:creationId xmlns:a16="http://schemas.microsoft.com/office/drawing/2014/main" id="{FED004EF-D451-48CF-8507-7CA055288015}"/>
                </a:ext>
              </a:extLst>
            </p:cNvPr>
            <p:cNvSpPr txBox="1">
              <a:spLocks noChangeArrowheads="1"/>
            </p:cNvSpPr>
            <p:nvPr/>
          </p:nvSpPr>
          <p:spPr bwMode="auto">
            <a:xfrm>
              <a:off x="9238" y="4981"/>
              <a:ext cx="765" cy="46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Number</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Price</a:t>
              </a:r>
              <a:r>
                <a:rPr lang="lv-LV" altLang="en-US" sz="1000"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1" name="Text Box 41">
              <a:extLst>
                <a:ext uri="{FF2B5EF4-FFF2-40B4-BE49-F238E27FC236}">
                  <a16:creationId xmlns:a16="http://schemas.microsoft.com/office/drawing/2014/main" id="{F59B3D74-AE49-4785-AA11-878204DDB763}"/>
                </a:ext>
              </a:extLst>
            </p:cNvPr>
            <p:cNvSpPr txBox="1">
              <a:spLocks noChangeArrowheads="1"/>
            </p:cNvSpPr>
            <p:nvPr/>
          </p:nvSpPr>
          <p:spPr bwMode="auto">
            <a:xfrm>
              <a:off x="7385" y="2320"/>
              <a:ext cx="78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Readers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2" name="Text Box 40">
              <a:extLst>
                <a:ext uri="{FF2B5EF4-FFF2-40B4-BE49-F238E27FC236}">
                  <a16:creationId xmlns:a16="http://schemas.microsoft.com/office/drawing/2014/main" id="{40C58075-6244-401B-9E21-3CB6D8FBB648}"/>
                </a:ext>
              </a:extLst>
            </p:cNvPr>
            <p:cNvSpPr txBox="1">
              <a:spLocks noChangeArrowheads="1"/>
            </p:cNvSpPr>
            <p:nvPr/>
          </p:nvSpPr>
          <p:spPr bwMode="auto">
            <a:xfrm>
              <a:off x="7618" y="4056"/>
              <a:ext cx="72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Librarians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3" name="Text Box 39">
              <a:extLst>
                <a:ext uri="{FF2B5EF4-FFF2-40B4-BE49-F238E27FC236}">
                  <a16:creationId xmlns:a16="http://schemas.microsoft.com/office/drawing/2014/main" id="{EFCC5524-5213-475B-A364-F9984776F160}"/>
                </a:ext>
              </a:extLst>
            </p:cNvPr>
            <p:cNvSpPr txBox="1">
              <a:spLocks noChangeArrowheads="1"/>
            </p:cNvSpPr>
            <p:nvPr/>
          </p:nvSpPr>
          <p:spPr bwMode="auto">
            <a:xfrm>
              <a:off x="9328" y="3507"/>
              <a:ext cx="8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4" name="Text Box 38">
              <a:extLst>
                <a:ext uri="{FF2B5EF4-FFF2-40B4-BE49-F238E27FC236}">
                  <a16:creationId xmlns:a16="http://schemas.microsoft.com/office/drawing/2014/main" id="{1985BF31-A32C-40C5-BD23-573A056910BF}"/>
                </a:ext>
              </a:extLst>
            </p:cNvPr>
            <p:cNvSpPr txBox="1">
              <a:spLocks noChangeArrowheads="1"/>
            </p:cNvSpPr>
            <p:nvPr/>
          </p:nvSpPr>
          <p:spPr bwMode="auto">
            <a:xfrm>
              <a:off x="9238" y="4807"/>
              <a:ext cx="113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5" name="Line 37">
              <a:extLst>
                <a:ext uri="{FF2B5EF4-FFF2-40B4-BE49-F238E27FC236}">
                  <a16:creationId xmlns:a16="http://schemas.microsoft.com/office/drawing/2014/main" id="{85FFF683-11D3-4B08-91F9-8FAD1B6D2E37}"/>
                </a:ext>
              </a:extLst>
            </p:cNvPr>
            <p:cNvSpPr>
              <a:spLocks noChangeShapeType="1"/>
            </p:cNvSpPr>
            <p:nvPr/>
          </p:nvSpPr>
          <p:spPr bwMode="auto">
            <a:xfrm>
              <a:off x="7888" y="5136"/>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76" name="Text Box 36">
              <a:extLst>
                <a:ext uri="{FF2B5EF4-FFF2-40B4-BE49-F238E27FC236}">
                  <a16:creationId xmlns:a16="http://schemas.microsoft.com/office/drawing/2014/main" id="{D62FF60E-F21C-4539-B7E9-7DFA291F9307}"/>
                </a:ext>
              </a:extLst>
            </p:cNvPr>
            <p:cNvSpPr txBox="1">
              <a:spLocks noChangeArrowheads="1"/>
            </p:cNvSpPr>
            <p:nvPr/>
          </p:nvSpPr>
          <p:spPr bwMode="auto">
            <a:xfrm>
              <a:off x="10449" y="4981"/>
              <a:ext cx="834" cy="4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lang="lv-LV" altLang="en-US" sz="1000" b="1" dirty="0" err="1">
                  <a:latin typeface="Arial" panose="020B0604020202020204" pitchFamily="34" charset="0"/>
                  <a:ea typeface="Times New Roman" panose="02020603050405020304" pitchFamily="18" charset="0"/>
                </a:rPr>
                <a:t>Number</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Phone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77" name="Text Box 35">
              <a:extLst>
                <a:ext uri="{FF2B5EF4-FFF2-40B4-BE49-F238E27FC236}">
                  <a16:creationId xmlns:a16="http://schemas.microsoft.com/office/drawing/2014/main" id="{E3C6A62B-EF55-4494-A70D-11786A203230}"/>
                </a:ext>
              </a:extLst>
            </p:cNvPr>
            <p:cNvSpPr txBox="1">
              <a:spLocks noChangeArrowheads="1"/>
            </p:cNvSpPr>
            <p:nvPr/>
          </p:nvSpPr>
          <p:spPr bwMode="auto">
            <a:xfrm>
              <a:off x="914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78" name="Text Box 34">
              <a:extLst>
                <a:ext uri="{FF2B5EF4-FFF2-40B4-BE49-F238E27FC236}">
                  <a16:creationId xmlns:a16="http://schemas.microsoft.com/office/drawing/2014/main" id="{524379B0-2DE5-422C-8270-D73BF695D1A4}"/>
                </a:ext>
              </a:extLst>
            </p:cNvPr>
            <p:cNvSpPr txBox="1">
              <a:spLocks noChangeArrowheads="1"/>
            </p:cNvSpPr>
            <p:nvPr/>
          </p:nvSpPr>
          <p:spPr bwMode="auto">
            <a:xfrm>
              <a:off x="9698" y="179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79" name="Text Box 33">
              <a:extLst>
                <a:ext uri="{FF2B5EF4-FFF2-40B4-BE49-F238E27FC236}">
                  <a16:creationId xmlns:a16="http://schemas.microsoft.com/office/drawing/2014/main" id="{7F7A5D43-8012-4361-AEFB-0B21A93D44DB}"/>
                </a:ext>
              </a:extLst>
            </p:cNvPr>
            <p:cNvSpPr txBox="1">
              <a:spLocks noChangeArrowheads="1"/>
            </p:cNvSpPr>
            <p:nvPr/>
          </p:nvSpPr>
          <p:spPr bwMode="auto">
            <a:xfrm>
              <a:off x="10667" y="3289"/>
              <a:ext cx="731" cy="61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AuthorID</a:t>
              </a:r>
              <a:r>
                <a:rPr lang="en-US" altLang="en-US" sz="1000" dirty="0">
                  <a:latin typeface="Arial" panose="020B0604020202020204" pitchFamily="34" charset="0"/>
                  <a:ea typeface="Times New Roman" panose="02020603050405020304" pitchFamily="18" charset="0"/>
                </a:rPr>
                <a:t>
Last name
First name
Year of birth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80" name="Text Box 32">
              <a:extLst>
                <a:ext uri="{FF2B5EF4-FFF2-40B4-BE49-F238E27FC236}">
                  <a16:creationId xmlns:a16="http://schemas.microsoft.com/office/drawing/2014/main" id="{12C9FF3E-5F53-4D40-B251-FBABA68AD536}"/>
                </a:ext>
              </a:extLst>
            </p:cNvPr>
            <p:cNvSpPr txBox="1">
              <a:spLocks noChangeArrowheads="1"/>
            </p:cNvSpPr>
            <p:nvPr/>
          </p:nvSpPr>
          <p:spPr bwMode="auto">
            <a:xfrm>
              <a:off x="9418" y="2821"/>
              <a:ext cx="1123"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a:latin typeface="Arial" panose="020B0604020202020204" pitchFamily="34" charset="0"/>
                  <a:ea typeface="Times New Roman" panose="02020603050405020304" pitchFamily="18" charset="0"/>
                </a:rPr>
                <a:t>Author's last name
Author’s first name
Book title</a:t>
              </a:r>
              <a:r>
                <a:rPr lang="en-US" altLang="en-US" sz="1000" dirty="0">
                  <a:latin typeface="Arial" panose="020B0604020202020204" pitchFamily="34" charset="0"/>
                  <a:ea typeface="Times New Roman" panose="02020603050405020304" pitchFamily="18" charset="0"/>
                </a:rPr>
                <a:t>
Year of publishing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81" name="Line 31">
              <a:extLst>
                <a:ext uri="{FF2B5EF4-FFF2-40B4-BE49-F238E27FC236}">
                  <a16:creationId xmlns:a16="http://schemas.microsoft.com/office/drawing/2014/main" id="{51591010-AF41-4CC2-AC1B-06D9A0C19745}"/>
                </a:ext>
              </a:extLst>
            </p:cNvPr>
            <p:cNvSpPr>
              <a:spLocks noChangeShapeType="1"/>
            </p:cNvSpPr>
            <p:nvPr/>
          </p:nvSpPr>
          <p:spPr bwMode="auto">
            <a:xfrm flipV="1">
              <a:off x="8338" y="2204"/>
              <a:ext cx="1" cy="3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2" name="Line 30">
              <a:extLst>
                <a:ext uri="{FF2B5EF4-FFF2-40B4-BE49-F238E27FC236}">
                  <a16:creationId xmlns:a16="http://schemas.microsoft.com/office/drawing/2014/main" id="{59F336B2-8E65-4FA3-A056-89CBBAEBBF32}"/>
                </a:ext>
              </a:extLst>
            </p:cNvPr>
            <p:cNvSpPr>
              <a:spLocks noChangeShapeType="1"/>
            </p:cNvSpPr>
            <p:nvPr/>
          </p:nvSpPr>
          <p:spPr bwMode="auto">
            <a:xfrm flipV="1">
              <a:off x="9688" y="2590"/>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3" name="Line 29">
              <a:extLst>
                <a:ext uri="{FF2B5EF4-FFF2-40B4-BE49-F238E27FC236}">
                  <a16:creationId xmlns:a16="http://schemas.microsoft.com/office/drawing/2014/main" id="{98510096-6E15-4B85-81A8-A163D33C31A4}"/>
                </a:ext>
              </a:extLst>
            </p:cNvPr>
            <p:cNvSpPr>
              <a:spLocks noChangeShapeType="1"/>
            </p:cNvSpPr>
            <p:nvPr/>
          </p:nvSpPr>
          <p:spPr bwMode="auto">
            <a:xfrm>
              <a:off x="9688" y="2590"/>
              <a:ext cx="1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4" name="Line 28">
              <a:extLst>
                <a:ext uri="{FF2B5EF4-FFF2-40B4-BE49-F238E27FC236}">
                  <a16:creationId xmlns:a16="http://schemas.microsoft.com/office/drawing/2014/main" id="{A5A650DE-9A56-4861-A558-498571DE0D35}"/>
                </a:ext>
              </a:extLst>
            </p:cNvPr>
            <p:cNvSpPr>
              <a:spLocks noChangeShapeType="1"/>
            </p:cNvSpPr>
            <p:nvPr/>
          </p:nvSpPr>
          <p:spPr bwMode="auto">
            <a:xfrm flipV="1">
              <a:off x="10858" y="2359"/>
              <a:ext cx="0"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5" name="Line 27">
              <a:extLst>
                <a:ext uri="{FF2B5EF4-FFF2-40B4-BE49-F238E27FC236}">
                  <a16:creationId xmlns:a16="http://schemas.microsoft.com/office/drawing/2014/main" id="{8B6A4CFB-9E2F-4BBB-A00E-4CD7681461EE}"/>
                </a:ext>
              </a:extLst>
            </p:cNvPr>
            <p:cNvSpPr>
              <a:spLocks noChangeShapeType="1"/>
            </p:cNvSpPr>
            <p:nvPr/>
          </p:nvSpPr>
          <p:spPr bwMode="auto">
            <a:xfrm flipV="1">
              <a:off x="10838" y="2983"/>
              <a:ext cx="0" cy="2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6" name="Line 26">
              <a:extLst>
                <a:ext uri="{FF2B5EF4-FFF2-40B4-BE49-F238E27FC236}">
                  <a16:creationId xmlns:a16="http://schemas.microsoft.com/office/drawing/2014/main" id="{C1A3D750-12D6-429D-B6D5-A4045E253501}"/>
                </a:ext>
              </a:extLst>
            </p:cNvPr>
            <p:cNvSpPr>
              <a:spLocks noChangeShapeType="1"/>
            </p:cNvSpPr>
            <p:nvPr/>
          </p:nvSpPr>
          <p:spPr bwMode="auto">
            <a:xfrm>
              <a:off x="9148" y="2976"/>
              <a:ext cx="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7" name="Line 25">
              <a:extLst>
                <a:ext uri="{FF2B5EF4-FFF2-40B4-BE49-F238E27FC236}">
                  <a16:creationId xmlns:a16="http://schemas.microsoft.com/office/drawing/2014/main" id="{87889BA1-9DDE-41BF-ADF2-AF0F2060730E}"/>
                </a:ext>
              </a:extLst>
            </p:cNvPr>
            <p:cNvSpPr>
              <a:spLocks noChangeShapeType="1"/>
            </p:cNvSpPr>
            <p:nvPr/>
          </p:nvSpPr>
          <p:spPr bwMode="auto">
            <a:xfrm>
              <a:off x="9328" y="2976"/>
              <a:ext cx="1" cy="6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8" name="Line 24">
              <a:extLst>
                <a:ext uri="{FF2B5EF4-FFF2-40B4-BE49-F238E27FC236}">
                  <a16:creationId xmlns:a16="http://schemas.microsoft.com/office/drawing/2014/main" id="{C111EAA6-0F21-4AFF-AB8C-F02C0F7C3312}"/>
                </a:ext>
              </a:extLst>
            </p:cNvPr>
            <p:cNvSpPr>
              <a:spLocks noChangeShapeType="1"/>
            </p:cNvSpPr>
            <p:nvPr/>
          </p:nvSpPr>
          <p:spPr bwMode="auto">
            <a:xfrm>
              <a:off x="9238" y="2976"/>
              <a:ext cx="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9" name="Line 23">
              <a:extLst>
                <a:ext uri="{FF2B5EF4-FFF2-40B4-BE49-F238E27FC236}">
                  <a16:creationId xmlns:a16="http://schemas.microsoft.com/office/drawing/2014/main" id="{036FB3A4-7E66-48A5-9CE9-F8BF252AA79B}"/>
                </a:ext>
              </a:extLst>
            </p:cNvPr>
            <p:cNvSpPr>
              <a:spLocks noChangeShapeType="1"/>
            </p:cNvSpPr>
            <p:nvPr/>
          </p:nvSpPr>
          <p:spPr bwMode="auto">
            <a:xfrm flipV="1">
              <a:off x="9508" y="4595"/>
              <a:ext cx="1" cy="3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90" name="Line 22">
              <a:extLst>
                <a:ext uri="{FF2B5EF4-FFF2-40B4-BE49-F238E27FC236}">
                  <a16:creationId xmlns:a16="http://schemas.microsoft.com/office/drawing/2014/main" id="{7CA0331E-39DE-42DA-BFF7-FD03131EFD74}"/>
                </a:ext>
              </a:extLst>
            </p:cNvPr>
            <p:cNvSpPr>
              <a:spLocks noChangeShapeType="1"/>
            </p:cNvSpPr>
            <p:nvPr/>
          </p:nvSpPr>
          <p:spPr bwMode="auto">
            <a:xfrm flipV="1">
              <a:off x="10722" y="4133"/>
              <a:ext cx="0" cy="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91" name="Line 21">
              <a:extLst>
                <a:ext uri="{FF2B5EF4-FFF2-40B4-BE49-F238E27FC236}">
                  <a16:creationId xmlns:a16="http://schemas.microsoft.com/office/drawing/2014/main" id="{2A5DF0E2-385A-4327-9955-8A214B6EB731}"/>
                </a:ext>
              </a:extLst>
            </p:cNvPr>
            <p:cNvSpPr>
              <a:spLocks noChangeShapeType="1"/>
            </p:cNvSpPr>
            <p:nvPr/>
          </p:nvSpPr>
          <p:spPr bwMode="auto">
            <a:xfrm flipH="1">
              <a:off x="10092" y="4133"/>
              <a:ext cx="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92" name="Text Box 20">
              <a:extLst>
                <a:ext uri="{FF2B5EF4-FFF2-40B4-BE49-F238E27FC236}">
                  <a16:creationId xmlns:a16="http://schemas.microsoft.com/office/drawing/2014/main" id="{4C3F8121-CDE9-453F-A370-5709AD1138F8}"/>
                </a:ext>
              </a:extLst>
            </p:cNvPr>
            <p:cNvSpPr txBox="1">
              <a:spLocks noChangeArrowheads="1"/>
            </p:cNvSpPr>
            <p:nvPr/>
          </p:nvSpPr>
          <p:spPr bwMode="auto">
            <a:xfrm>
              <a:off x="10780" y="3117"/>
              <a:ext cx="5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Authors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93" name="Text Box 19">
              <a:extLst>
                <a:ext uri="{FF2B5EF4-FFF2-40B4-BE49-F238E27FC236}">
                  <a16:creationId xmlns:a16="http://schemas.microsoft.com/office/drawing/2014/main" id="{4D723F32-CEDE-4478-8E68-F0F430CF1526}"/>
                </a:ext>
              </a:extLst>
            </p:cNvPr>
            <p:cNvSpPr txBox="1">
              <a:spLocks noChangeArrowheads="1"/>
            </p:cNvSpPr>
            <p:nvPr/>
          </p:nvSpPr>
          <p:spPr bwMode="auto">
            <a:xfrm>
              <a:off x="9454" y="2590"/>
              <a:ext cx="9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Title page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94" name="Text Box 18">
              <a:extLst>
                <a:ext uri="{FF2B5EF4-FFF2-40B4-BE49-F238E27FC236}">
                  <a16:creationId xmlns:a16="http://schemas.microsoft.com/office/drawing/2014/main" id="{E9491F1F-F791-4CAA-BA9B-F6F38F6FA36E}"/>
                </a:ext>
              </a:extLst>
            </p:cNvPr>
            <p:cNvSpPr txBox="1">
              <a:spLocks noChangeArrowheads="1"/>
            </p:cNvSpPr>
            <p:nvPr/>
          </p:nvSpPr>
          <p:spPr bwMode="auto">
            <a:xfrm>
              <a:off x="8068" y="220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5" name="Text Box 17">
              <a:extLst>
                <a:ext uri="{FF2B5EF4-FFF2-40B4-BE49-F238E27FC236}">
                  <a16:creationId xmlns:a16="http://schemas.microsoft.com/office/drawing/2014/main" id="{64C6FA11-ED70-43B8-9FA8-017DF3773E9E}"/>
                </a:ext>
              </a:extLst>
            </p:cNvPr>
            <p:cNvSpPr txBox="1">
              <a:spLocks noChangeArrowheads="1"/>
            </p:cNvSpPr>
            <p:nvPr/>
          </p:nvSpPr>
          <p:spPr bwMode="auto">
            <a:xfrm>
              <a:off x="9418" y="2667"/>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6" name="Line 16">
              <a:extLst>
                <a:ext uri="{FF2B5EF4-FFF2-40B4-BE49-F238E27FC236}">
                  <a16:creationId xmlns:a16="http://schemas.microsoft.com/office/drawing/2014/main" id="{F0CEE0E7-321C-4B8C-A688-48EC5866359E}"/>
                </a:ext>
              </a:extLst>
            </p:cNvPr>
            <p:cNvSpPr>
              <a:spLocks noChangeShapeType="1"/>
            </p:cNvSpPr>
            <p:nvPr/>
          </p:nvSpPr>
          <p:spPr bwMode="auto">
            <a:xfrm flipH="1">
              <a:off x="10541" y="2974"/>
              <a:ext cx="30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97" name="Text Box 15">
              <a:extLst>
                <a:ext uri="{FF2B5EF4-FFF2-40B4-BE49-F238E27FC236}">
                  <a16:creationId xmlns:a16="http://schemas.microsoft.com/office/drawing/2014/main" id="{F82B7F0B-DD96-478D-8C6E-E74A1C617578}"/>
                </a:ext>
              </a:extLst>
            </p:cNvPr>
            <p:cNvSpPr txBox="1">
              <a:spLocks noChangeArrowheads="1"/>
            </p:cNvSpPr>
            <p:nvPr/>
          </p:nvSpPr>
          <p:spPr bwMode="auto">
            <a:xfrm>
              <a:off x="9328" y="351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98" name="Text Box 14">
              <a:extLst>
                <a:ext uri="{FF2B5EF4-FFF2-40B4-BE49-F238E27FC236}">
                  <a16:creationId xmlns:a16="http://schemas.microsoft.com/office/drawing/2014/main" id="{00C4B220-C812-4EC7-AAF1-1484672DD673}"/>
                </a:ext>
              </a:extLst>
            </p:cNvPr>
            <p:cNvSpPr txBox="1">
              <a:spLocks noChangeArrowheads="1"/>
            </p:cNvSpPr>
            <p:nvPr/>
          </p:nvSpPr>
          <p:spPr bwMode="auto">
            <a:xfrm>
              <a:off x="10510" y="280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99" name="Text Box 13">
              <a:extLst>
                <a:ext uri="{FF2B5EF4-FFF2-40B4-BE49-F238E27FC236}">
                  <a16:creationId xmlns:a16="http://schemas.microsoft.com/office/drawing/2014/main" id="{8F1614E7-0D73-47E9-B82F-9F972B0FAFE4}"/>
                </a:ext>
              </a:extLst>
            </p:cNvPr>
            <p:cNvSpPr txBox="1">
              <a:spLocks noChangeArrowheads="1"/>
            </p:cNvSpPr>
            <p:nvPr/>
          </p:nvSpPr>
          <p:spPr bwMode="auto">
            <a:xfrm>
              <a:off x="10092" y="3978"/>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00" name="Text Box 12">
              <a:extLst>
                <a:ext uri="{FF2B5EF4-FFF2-40B4-BE49-F238E27FC236}">
                  <a16:creationId xmlns:a16="http://schemas.microsoft.com/office/drawing/2014/main" id="{B9535312-A6F5-40A1-A233-6546F23ACE73}"/>
                </a:ext>
              </a:extLst>
            </p:cNvPr>
            <p:cNvSpPr txBox="1">
              <a:spLocks noChangeArrowheads="1"/>
            </p:cNvSpPr>
            <p:nvPr/>
          </p:nvSpPr>
          <p:spPr bwMode="auto">
            <a:xfrm>
              <a:off x="9238" y="4595"/>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01" name="Text Box 11">
              <a:extLst>
                <a:ext uri="{FF2B5EF4-FFF2-40B4-BE49-F238E27FC236}">
                  <a16:creationId xmlns:a16="http://schemas.microsoft.com/office/drawing/2014/main" id="{C4F9CD1F-A904-4DAB-847B-3D714C3D75B8}"/>
                </a:ext>
              </a:extLst>
            </p:cNvPr>
            <p:cNvSpPr txBox="1">
              <a:spLocks noChangeArrowheads="1"/>
            </p:cNvSpPr>
            <p:nvPr/>
          </p:nvSpPr>
          <p:spPr bwMode="auto">
            <a:xfrm>
              <a:off x="8158" y="2590"/>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102" name="Text Box 10">
              <a:extLst>
                <a:ext uri="{FF2B5EF4-FFF2-40B4-BE49-F238E27FC236}">
                  <a16:creationId xmlns:a16="http://schemas.microsoft.com/office/drawing/2014/main" id="{21A313AC-95EF-4916-BF8E-ACFA871FB1B5}"/>
                </a:ext>
              </a:extLst>
            </p:cNvPr>
            <p:cNvSpPr txBox="1">
              <a:spLocks noChangeArrowheads="1"/>
            </p:cNvSpPr>
            <p:nvPr/>
          </p:nvSpPr>
          <p:spPr bwMode="auto">
            <a:xfrm>
              <a:off x="8733" y="2976"/>
              <a:ext cx="59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03" name="Text Box 9">
              <a:extLst>
                <a:ext uri="{FF2B5EF4-FFF2-40B4-BE49-F238E27FC236}">
                  <a16:creationId xmlns:a16="http://schemas.microsoft.com/office/drawing/2014/main" id="{213ABF8C-142B-4A3A-9F9E-3DFF58C4CC2D}"/>
                </a:ext>
              </a:extLst>
            </p:cNvPr>
            <p:cNvSpPr txBox="1">
              <a:spLocks noChangeArrowheads="1"/>
            </p:cNvSpPr>
            <p:nvPr/>
          </p:nvSpPr>
          <p:spPr bwMode="auto">
            <a:xfrm>
              <a:off x="10667" y="310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04" name="Text Box 8">
              <a:extLst>
                <a:ext uri="{FF2B5EF4-FFF2-40B4-BE49-F238E27FC236}">
                  <a16:creationId xmlns:a16="http://schemas.microsoft.com/office/drawing/2014/main" id="{035721F8-87C6-4E6A-A030-71E9A900D42F}"/>
                </a:ext>
              </a:extLst>
            </p:cNvPr>
            <p:cNvSpPr txBox="1">
              <a:spLocks noChangeArrowheads="1"/>
            </p:cNvSpPr>
            <p:nvPr/>
          </p:nvSpPr>
          <p:spPr bwMode="auto">
            <a:xfrm>
              <a:off x="10479" y="482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05" name="Line 7">
              <a:extLst>
                <a:ext uri="{FF2B5EF4-FFF2-40B4-BE49-F238E27FC236}">
                  <a16:creationId xmlns:a16="http://schemas.microsoft.com/office/drawing/2014/main" id="{9587D086-4DAB-4357-B2B5-FF40E4C7AFD3}"/>
                </a:ext>
              </a:extLst>
            </p:cNvPr>
            <p:cNvSpPr>
              <a:spLocks noChangeShapeType="1"/>
            </p:cNvSpPr>
            <p:nvPr/>
          </p:nvSpPr>
          <p:spPr bwMode="auto">
            <a:xfrm>
              <a:off x="8346" y="4441"/>
              <a:ext cx="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106" name="Text Box 6">
              <a:extLst>
                <a:ext uri="{FF2B5EF4-FFF2-40B4-BE49-F238E27FC236}">
                  <a16:creationId xmlns:a16="http://schemas.microsoft.com/office/drawing/2014/main" id="{1F212A38-A6DC-4CDF-ABB0-4DF7D23EC096}"/>
                </a:ext>
              </a:extLst>
            </p:cNvPr>
            <p:cNvSpPr txBox="1">
              <a:spLocks noChangeArrowheads="1"/>
            </p:cNvSpPr>
            <p:nvPr/>
          </p:nvSpPr>
          <p:spPr bwMode="auto">
            <a:xfrm>
              <a:off x="8733" y="428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07" name="Text Box 5">
              <a:extLst>
                <a:ext uri="{FF2B5EF4-FFF2-40B4-BE49-F238E27FC236}">
                  <a16:creationId xmlns:a16="http://schemas.microsoft.com/office/drawing/2014/main" id="{B90EF922-295C-4709-9999-CB28CEFEF0DD}"/>
                </a:ext>
              </a:extLst>
            </p:cNvPr>
            <p:cNvSpPr txBox="1">
              <a:spLocks noChangeArrowheads="1"/>
            </p:cNvSpPr>
            <p:nvPr/>
          </p:nvSpPr>
          <p:spPr bwMode="auto">
            <a:xfrm>
              <a:off x="8338" y="235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08" name="Text Box 4">
              <a:extLst>
                <a:ext uri="{FF2B5EF4-FFF2-40B4-BE49-F238E27FC236}">
                  <a16:creationId xmlns:a16="http://schemas.microsoft.com/office/drawing/2014/main" id="{49495058-562C-41E2-94FD-610814EC5DA7}"/>
                </a:ext>
              </a:extLst>
            </p:cNvPr>
            <p:cNvSpPr txBox="1">
              <a:spLocks noChangeArrowheads="1"/>
            </p:cNvSpPr>
            <p:nvPr/>
          </p:nvSpPr>
          <p:spPr bwMode="auto">
            <a:xfrm>
              <a:off x="10678" y="235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09" name="Text Box 3">
              <a:extLst>
                <a:ext uri="{FF2B5EF4-FFF2-40B4-BE49-F238E27FC236}">
                  <a16:creationId xmlns:a16="http://schemas.microsoft.com/office/drawing/2014/main" id="{9FF43AF4-D4A1-4EE1-BFF1-ABFA9944961D}"/>
                </a:ext>
              </a:extLst>
            </p:cNvPr>
            <p:cNvSpPr txBox="1">
              <a:spLocks noChangeArrowheads="1"/>
            </p:cNvSpPr>
            <p:nvPr/>
          </p:nvSpPr>
          <p:spPr bwMode="auto">
            <a:xfrm>
              <a:off x="9328" y="4827"/>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110" name="Text Box 2">
              <a:extLst>
                <a:ext uri="{FF2B5EF4-FFF2-40B4-BE49-F238E27FC236}">
                  <a16:creationId xmlns:a16="http://schemas.microsoft.com/office/drawing/2014/main" id="{795EECC4-C35E-444D-8A25-2920597B6802}"/>
                </a:ext>
              </a:extLst>
            </p:cNvPr>
            <p:cNvSpPr txBox="1">
              <a:spLocks noChangeArrowheads="1"/>
            </p:cNvSpPr>
            <p:nvPr/>
          </p:nvSpPr>
          <p:spPr bwMode="auto">
            <a:xfrm>
              <a:off x="8353" y="444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grpSp>
      <p:sp>
        <p:nvSpPr>
          <p:cNvPr id="111" name="Line 16">
            <a:extLst>
              <a:ext uri="{FF2B5EF4-FFF2-40B4-BE49-F238E27FC236}">
                <a16:creationId xmlns:a16="http://schemas.microsoft.com/office/drawing/2014/main" id="{BA011E43-F2E8-49D6-8CD5-0B7A6CD19F56}"/>
              </a:ext>
            </a:extLst>
          </p:cNvPr>
          <p:cNvSpPr>
            <a:spLocks noChangeShapeType="1"/>
          </p:cNvSpPr>
          <p:nvPr/>
        </p:nvSpPr>
        <p:spPr bwMode="auto">
          <a:xfrm flipH="1">
            <a:off x="5411375" y="3243008"/>
            <a:ext cx="565530" cy="28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Tree>
    <p:extLst>
      <p:ext uri="{BB962C8B-B14F-4D97-AF65-F5344CB8AC3E}">
        <p14:creationId xmlns:p14="http://schemas.microsoft.com/office/powerpoint/2010/main" val="625183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algn="ctr"/>
            <a:r>
              <a:rPr lang="en-US" sz="4400" dirty="0"/>
              <a:t>Step 7: Setting up table relationships</a:t>
            </a:r>
            <a:endParaRPr lang="en-US" dirty="0"/>
          </a:p>
        </p:txBody>
      </p:sp>
      <p:sp>
        <p:nvSpPr>
          <p:cNvPr id="3" name="Content Placeholder 2"/>
          <p:cNvSpPr>
            <a:spLocks noGrp="1"/>
          </p:cNvSpPr>
          <p:nvPr>
            <p:ph idx="1"/>
          </p:nvPr>
        </p:nvSpPr>
        <p:spPr>
          <a:xfrm>
            <a:off x="571500" y="1825624"/>
            <a:ext cx="8039100" cy="4822826"/>
          </a:xfrm>
        </p:spPr>
        <p:txBody>
          <a:bodyPr>
            <a:normAutofit/>
          </a:bodyPr>
          <a:lstStyle/>
          <a:p>
            <a:pPr marL="0" indent="0" algn="just">
              <a:buNone/>
            </a:pPr>
            <a:r>
              <a:rPr lang="en-US" dirty="0"/>
              <a:t>You can create a relation between two tables only by using the attributes with matching data types.</a:t>
            </a:r>
          </a:p>
          <a:p>
            <a:pPr marL="0" indent="0" algn="just">
              <a:buNone/>
            </a:pPr>
            <a:endParaRPr lang="en-US" dirty="0"/>
          </a:p>
          <a:p>
            <a:pPr marL="0" indent="0" algn="just">
              <a:buNone/>
            </a:pPr>
            <a:r>
              <a:rPr lang="en-US" dirty="0"/>
              <a:t>In our example, the difficulties will appear while linking the attributes:</a:t>
            </a:r>
          </a:p>
          <a:p>
            <a:pPr marL="0" indent="0" algn="just">
              <a:buNone/>
            </a:pPr>
            <a:r>
              <a:rPr lang="en-US" sz="2200" i="1" dirty="0" err="1"/>
              <a:t>BookTitle</a:t>
            </a:r>
            <a:r>
              <a:rPr lang="en-US" sz="2200" dirty="0"/>
              <a:t> from the </a:t>
            </a:r>
            <a:r>
              <a:rPr lang="en-US" sz="2200" b="1" dirty="0" err="1"/>
              <a:t>Books_taken</a:t>
            </a:r>
            <a:r>
              <a:rPr lang="en-US" sz="2200" dirty="0"/>
              <a:t> and the </a:t>
            </a:r>
            <a:r>
              <a:rPr lang="en-US" sz="2200" i="1" dirty="0" err="1"/>
              <a:t>BookID</a:t>
            </a:r>
            <a:r>
              <a:rPr lang="en-US" sz="2200" dirty="0"/>
              <a:t> from the </a:t>
            </a:r>
            <a:r>
              <a:rPr lang="en-US" sz="2200" b="1" dirty="0"/>
              <a:t>Books</a:t>
            </a:r>
          </a:p>
          <a:p>
            <a:pPr marL="0" indent="0" algn="just">
              <a:buNone/>
            </a:pPr>
            <a:r>
              <a:rPr lang="en-US" sz="2200" i="1" dirty="0" err="1"/>
              <a:t>BookID</a:t>
            </a:r>
            <a:r>
              <a:rPr lang="en-US" sz="2200" dirty="0"/>
              <a:t> from </a:t>
            </a:r>
            <a:r>
              <a:rPr lang="en-US" sz="2200" b="1" dirty="0"/>
              <a:t>Books</a:t>
            </a:r>
            <a:r>
              <a:rPr lang="en-US" sz="2200" dirty="0"/>
              <a:t> with </a:t>
            </a:r>
            <a:r>
              <a:rPr lang="en-US" sz="2200" i="1" dirty="0" err="1"/>
              <a:t>BookTitle</a:t>
            </a:r>
            <a:r>
              <a:rPr lang="en-US" sz="2200" dirty="0"/>
              <a:t> from </a:t>
            </a:r>
            <a:r>
              <a:rPr lang="en-US" sz="2200" b="1" dirty="0"/>
              <a:t>Title Page</a:t>
            </a:r>
          </a:p>
          <a:p>
            <a:pPr marL="0" indent="0" algn="just">
              <a:buNone/>
            </a:pPr>
            <a:r>
              <a:rPr lang="en-US" sz="2200" i="1" dirty="0" err="1"/>
              <a:t>AuthorID</a:t>
            </a:r>
            <a:r>
              <a:rPr lang="en-US" sz="2200" dirty="0"/>
              <a:t> from </a:t>
            </a:r>
            <a:r>
              <a:rPr lang="en-US" sz="2200" b="1" dirty="0"/>
              <a:t>Authors</a:t>
            </a:r>
            <a:r>
              <a:rPr lang="en-US" sz="2200" dirty="0"/>
              <a:t> with </a:t>
            </a:r>
            <a:r>
              <a:rPr lang="en-US" sz="2200" i="1" dirty="0"/>
              <a:t>Author’s </a:t>
            </a:r>
            <a:r>
              <a:rPr lang="en-US" sz="2200" i="1" dirty="0" err="1"/>
              <a:t>Lastname</a:t>
            </a:r>
            <a:r>
              <a:rPr lang="en-US" sz="2200" i="1" dirty="0"/>
              <a:t> </a:t>
            </a:r>
            <a:r>
              <a:rPr lang="en-US" sz="2200" dirty="0"/>
              <a:t>from </a:t>
            </a:r>
            <a:r>
              <a:rPr lang="en-US" sz="2200" b="1" dirty="0"/>
              <a:t>Title Page</a:t>
            </a:r>
          </a:p>
          <a:p>
            <a:pPr marL="0" indent="0" algn="just">
              <a:buNone/>
            </a:pPr>
            <a:r>
              <a:rPr lang="en-US" sz="2200" dirty="0"/>
              <a:t>and so on…</a:t>
            </a:r>
          </a:p>
        </p:txBody>
      </p:sp>
    </p:spTree>
    <p:extLst>
      <p:ext uri="{BB962C8B-B14F-4D97-AF65-F5344CB8AC3E}">
        <p14:creationId xmlns:p14="http://schemas.microsoft.com/office/powerpoint/2010/main" val="1028856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0"/>
            <a:ext cx="8839200" cy="1325563"/>
          </a:xfrm>
        </p:spPr>
        <p:txBody>
          <a:bodyPr>
            <a:normAutofit/>
          </a:bodyPr>
          <a:lstStyle/>
          <a:p>
            <a:pPr marL="0" indent="0" algn="ctr">
              <a:buNone/>
            </a:pPr>
            <a:r>
              <a:rPr lang="en-US" sz="4400" dirty="0"/>
              <a:t>Step 7: Setting up table relationships</a:t>
            </a:r>
          </a:p>
        </p:txBody>
      </p:sp>
      <p:sp>
        <p:nvSpPr>
          <p:cNvPr id="3" name="Content Placeholder 2"/>
          <p:cNvSpPr>
            <a:spLocks noGrp="1"/>
          </p:cNvSpPr>
          <p:nvPr>
            <p:ph idx="1"/>
          </p:nvPr>
        </p:nvSpPr>
        <p:spPr>
          <a:xfrm>
            <a:off x="172939" y="1547381"/>
            <a:ext cx="3241611" cy="4822826"/>
          </a:xfrm>
        </p:spPr>
        <p:txBody>
          <a:bodyPr>
            <a:normAutofit/>
          </a:bodyPr>
          <a:lstStyle/>
          <a:p>
            <a:pPr marL="0" indent="0" algn="just">
              <a:lnSpc>
                <a:spcPct val="100000"/>
              </a:lnSpc>
              <a:buNone/>
            </a:pPr>
            <a:r>
              <a:rPr lang="en-US" sz="2400" dirty="0"/>
              <a:t>The scheme needs to be redesigned again.
Now, for example, </a:t>
            </a:r>
            <a:r>
              <a:rPr lang="en-US" sz="2400" b="1" dirty="0"/>
              <a:t>Books</a:t>
            </a:r>
            <a:r>
              <a:rPr lang="en-US" sz="2400" dirty="0"/>
              <a:t> and </a:t>
            </a:r>
            <a:r>
              <a:rPr lang="en-US" sz="2400" b="1" dirty="0" err="1"/>
              <a:t>Books_taken</a:t>
            </a:r>
            <a:r>
              <a:rPr lang="en-US" sz="2400" b="1" dirty="0"/>
              <a:t> </a:t>
            </a:r>
            <a:r>
              <a:rPr lang="en-US" sz="2400" dirty="0"/>
              <a:t>are related by attributes called </a:t>
            </a:r>
            <a:r>
              <a:rPr lang="en-US" sz="2400" i="1" dirty="0" err="1"/>
              <a:t>BookID</a:t>
            </a:r>
            <a:r>
              <a:rPr lang="en-US" sz="2400" dirty="0"/>
              <a:t>.
</a:t>
            </a:r>
            <a:endParaRPr lang="en-US" sz="2000" dirty="0"/>
          </a:p>
        </p:txBody>
      </p:sp>
      <p:grpSp>
        <p:nvGrpSpPr>
          <p:cNvPr id="5" name="Group 1">
            <a:extLst>
              <a:ext uri="{FF2B5EF4-FFF2-40B4-BE49-F238E27FC236}">
                <a16:creationId xmlns:a16="http://schemas.microsoft.com/office/drawing/2014/main" id="{3C8BE9A1-AEF5-46D1-803B-EE705A70B087}"/>
              </a:ext>
            </a:extLst>
          </p:cNvPr>
          <p:cNvGrpSpPr>
            <a:grpSpLocks noChangeAspect="1"/>
          </p:cNvGrpSpPr>
          <p:nvPr/>
        </p:nvGrpSpPr>
        <p:grpSpPr bwMode="auto">
          <a:xfrm>
            <a:off x="3790554" y="1073173"/>
            <a:ext cx="5838277" cy="5789032"/>
            <a:chOff x="7385" y="1433"/>
            <a:chExt cx="4860" cy="4130"/>
          </a:xfrm>
        </p:grpSpPr>
        <p:sp>
          <p:nvSpPr>
            <p:cNvPr id="7" name="AutoShape 52">
              <a:extLst>
                <a:ext uri="{FF2B5EF4-FFF2-40B4-BE49-F238E27FC236}">
                  <a16:creationId xmlns:a16="http://schemas.microsoft.com/office/drawing/2014/main" id="{6533E45E-96D8-4CD0-8E70-66C333CFF7BE}"/>
                </a:ext>
              </a:extLst>
            </p:cNvPr>
            <p:cNvSpPr>
              <a:spLocks noChangeAspect="1" noChangeArrowheads="1" noTextEdit="1"/>
            </p:cNvSpPr>
            <p:nvPr/>
          </p:nvSpPr>
          <p:spPr bwMode="auto">
            <a:xfrm>
              <a:off x="7385" y="1475"/>
              <a:ext cx="4860" cy="40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8" name="Text Box 51">
              <a:extLst>
                <a:ext uri="{FF2B5EF4-FFF2-40B4-BE49-F238E27FC236}">
                  <a16:creationId xmlns:a16="http://schemas.microsoft.com/office/drawing/2014/main" id="{712DA989-E9C5-4172-9DB8-9552447610C1}"/>
                </a:ext>
              </a:extLst>
            </p:cNvPr>
            <p:cNvSpPr txBox="1">
              <a:spLocks noChangeArrowheads="1"/>
            </p:cNvSpPr>
            <p:nvPr/>
          </p:nvSpPr>
          <p:spPr bwMode="auto">
            <a:xfrm>
              <a:off x="7618" y="1664"/>
              <a:ext cx="1530" cy="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b="1" dirty="0" err="1">
                  <a:latin typeface="Arial" panose="020B0604020202020204" pitchFamily="34" charset="0"/>
                  <a:ea typeface="Times New Roman" panose="02020603050405020304" pitchFamily="18" charset="0"/>
                </a:rPr>
                <a:t>ReaderID</a:t>
              </a:r>
              <a:r>
                <a:rPr lang="en-US" altLang="en-US" sz="1000" b="1" dirty="0">
                  <a:latin typeface="Arial" panose="020B0604020202020204" pitchFamily="34" charset="0"/>
                  <a:ea typeface="Times New Roman" panose="02020603050405020304" pitchFamily="18" charset="0"/>
                </a:rPr>
                <a:t>
</a:t>
              </a:r>
              <a:r>
                <a:rPr lang="en-US" altLang="en-US" sz="1000" b="1" dirty="0" err="1">
                  <a:latin typeface="Arial" panose="020B0604020202020204" pitchFamily="34" charset="0"/>
                  <a:ea typeface="Times New Roman" panose="02020603050405020304" pitchFamily="18" charset="0"/>
                </a:rPr>
                <a:t>BookID</a:t>
              </a:r>
              <a:r>
                <a:rPr lang="en-US" altLang="en-US" sz="1000" dirty="0">
                  <a:latin typeface="Arial" panose="020B0604020202020204" pitchFamily="34" charset="0"/>
                  <a:ea typeface="Times New Roman" panose="02020603050405020304" pitchFamily="18" charset="0"/>
                </a:rPr>
                <a:t>
Return date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9" name="Line 50">
              <a:extLst>
                <a:ext uri="{FF2B5EF4-FFF2-40B4-BE49-F238E27FC236}">
                  <a16:creationId xmlns:a16="http://schemas.microsoft.com/office/drawing/2014/main" id="{2DB75141-21D6-4E16-B927-C06DC28401AE}"/>
                </a:ext>
              </a:extLst>
            </p:cNvPr>
            <p:cNvSpPr>
              <a:spLocks noChangeShapeType="1"/>
            </p:cNvSpPr>
            <p:nvPr/>
          </p:nvSpPr>
          <p:spPr bwMode="auto">
            <a:xfrm>
              <a:off x="9148" y="1974"/>
              <a:ext cx="777"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10" name="Text Box 49">
              <a:extLst>
                <a:ext uri="{FF2B5EF4-FFF2-40B4-BE49-F238E27FC236}">
                  <a16:creationId xmlns:a16="http://schemas.microsoft.com/office/drawing/2014/main" id="{F9F7EDB9-241D-4D8C-9256-BCCF16E2B848}"/>
                </a:ext>
              </a:extLst>
            </p:cNvPr>
            <p:cNvSpPr txBox="1">
              <a:spLocks noChangeArrowheads="1"/>
            </p:cNvSpPr>
            <p:nvPr/>
          </p:nvSpPr>
          <p:spPr bwMode="auto">
            <a:xfrm>
              <a:off x="7528" y="2513"/>
              <a:ext cx="1205" cy="120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ReaderID</a:t>
              </a:r>
              <a:r>
                <a:rPr lang="en-US" altLang="en-US" sz="1000" dirty="0">
                  <a:latin typeface="Arial" panose="020B0604020202020204" pitchFamily="34" charset="0"/>
                  <a:ea typeface="Times New Roman" panose="02020603050405020304" pitchFamily="18" charset="0"/>
                </a:rPr>
                <a:t>
Last Name
First Name
Street
House
Apartment
City
District
Post code
Phone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1" name="Text Box 48">
              <a:extLst>
                <a:ext uri="{FF2B5EF4-FFF2-40B4-BE49-F238E27FC236}">
                  <a16:creationId xmlns:a16="http://schemas.microsoft.com/office/drawing/2014/main" id="{8CCA84FB-3BC4-438E-853A-E311EB6FE5DD}"/>
                </a:ext>
              </a:extLst>
            </p:cNvPr>
            <p:cNvSpPr txBox="1">
              <a:spLocks noChangeArrowheads="1"/>
            </p:cNvSpPr>
            <p:nvPr/>
          </p:nvSpPr>
          <p:spPr bwMode="auto">
            <a:xfrm>
              <a:off x="9929" y="1670"/>
              <a:ext cx="1117" cy="69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BookID</a:t>
              </a:r>
              <a:r>
                <a:rPr lang="en-US" altLang="en-US" sz="1000" dirty="0">
                  <a:latin typeface="Arial" panose="020B0604020202020204" pitchFamily="34" charset="0"/>
                  <a:ea typeface="Times New Roman" panose="02020603050405020304" pitchFamily="18" charset="0"/>
                </a:rPr>
                <a:t>
Book title
Publisher
Year of publishing
Number of copies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2" name="Text Box 47">
              <a:extLst>
                <a:ext uri="{FF2B5EF4-FFF2-40B4-BE49-F238E27FC236}">
                  <a16:creationId xmlns:a16="http://schemas.microsoft.com/office/drawing/2014/main" id="{428DA052-0BE4-476E-91AD-67FA140335C1}"/>
                </a:ext>
              </a:extLst>
            </p:cNvPr>
            <p:cNvSpPr txBox="1">
              <a:spLocks noChangeArrowheads="1"/>
            </p:cNvSpPr>
            <p:nvPr/>
          </p:nvSpPr>
          <p:spPr bwMode="auto">
            <a:xfrm>
              <a:off x="9823" y="1440"/>
              <a:ext cx="915"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Books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3" name="Text Box 46">
              <a:extLst>
                <a:ext uri="{FF2B5EF4-FFF2-40B4-BE49-F238E27FC236}">
                  <a16:creationId xmlns:a16="http://schemas.microsoft.com/office/drawing/2014/main" id="{B5DF7D77-C3AB-47E6-B7FD-18275E05FB4C}"/>
                </a:ext>
              </a:extLst>
            </p:cNvPr>
            <p:cNvSpPr txBox="1">
              <a:spLocks noChangeArrowheads="1"/>
            </p:cNvSpPr>
            <p:nvPr/>
          </p:nvSpPr>
          <p:spPr bwMode="auto">
            <a:xfrm>
              <a:off x="10722" y="4725"/>
              <a:ext cx="6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Reading Rooms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4" name="Text Box 45">
              <a:extLst>
                <a:ext uri="{FF2B5EF4-FFF2-40B4-BE49-F238E27FC236}">
                  <a16:creationId xmlns:a16="http://schemas.microsoft.com/office/drawing/2014/main" id="{820E3028-EBCA-40EE-B484-40B17F156237}"/>
                </a:ext>
              </a:extLst>
            </p:cNvPr>
            <p:cNvSpPr txBox="1">
              <a:spLocks noChangeArrowheads="1"/>
            </p:cNvSpPr>
            <p:nvPr/>
          </p:nvSpPr>
          <p:spPr bwMode="auto">
            <a:xfrm>
              <a:off x="7888" y="1433"/>
              <a:ext cx="117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Books_taken</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5" name="Text Box 44">
              <a:extLst>
                <a:ext uri="{FF2B5EF4-FFF2-40B4-BE49-F238E27FC236}">
                  <a16:creationId xmlns:a16="http://schemas.microsoft.com/office/drawing/2014/main" id="{B4F5B397-CBBB-43D2-A781-62F55EFBEC78}"/>
                </a:ext>
              </a:extLst>
            </p:cNvPr>
            <p:cNvSpPr txBox="1">
              <a:spLocks noChangeArrowheads="1"/>
            </p:cNvSpPr>
            <p:nvPr/>
          </p:nvSpPr>
          <p:spPr bwMode="auto">
            <a:xfrm>
              <a:off x="7618" y="4287"/>
              <a:ext cx="720" cy="77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b="1" dirty="0" err="1">
                  <a:latin typeface="Arial" panose="020B0604020202020204" pitchFamily="34" charset="0"/>
                  <a:ea typeface="Times New Roman" panose="02020603050405020304" pitchFamily="18" charset="0"/>
                </a:rPr>
                <a:t>LibrarianID</a:t>
              </a:r>
              <a:r>
                <a:rPr lang="en-US" altLang="en-US" sz="1000" dirty="0">
                  <a:latin typeface="Arial" panose="020B0604020202020204" pitchFamily="34" charset="0"/>
                  <a:ea typeface="Times New Roman" panose="02020603050405020304" pitchFamily="18" charset="0"/>
                </a:rPr>
                <a:t>
Last Name
First Name
Phone
e-mail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6" name="Text Box 43">
              <a:extLst>
                <a:ext uri="{FF2B5EF4-FFF2-40B4-BE49-F238E27FC236}">
                  <a16:creationId xmlns:a16="http://schemas.microsoft.com/office/drawing/2014/main" id="{2168AAD4-4733-44D1-BB5F-11EA3F2067CE}"/>
                </a:ext>
              </a:extLst>
            </p:cNvPr>
            <p:cNvSpPr txBox="1">
              <a:spLocks noChangeArrowheads="1"/>
            </p:cNvSpPr>
            <p:nvPr/>
          </p:nvSpPr>
          <p:spPr bwMode="auto">
            <a:xfrm>
              <a:off x="8990" y="3670"/>
              <a:ext cx="1081" cy="92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RoomID</a:t>
              </a:r>
              <a:r>
                <a:rPr lang="en-US" altLang="en-US" sz="1000" b="1" dirty="0">
                  <a:latin typeface="Arial" panose="020B0604020202020204" pitchFamily="34" charset="0"/>
                  <a:ea typeface="Times New Roman" panose="02020603050405020304" pitchFamily="18" charset="0"/>
                </a:rPr>
                <a:t>
</a:t>
              </a:r>
              <a:r>
                <a:rPr lang="en-US" altLang="en-US" sz="1000" b="1" dirty="0" err="1">
                  <a:latin typeface="Arial" panose="020B0604020202020204" pitchFamily="34" charset="0"/>
                  <a:ea typeface="Times New Roman" panose="02020603050405020304" pitchFamily="18" charset="0"/>
                </a:rPr>
                <a:t>ServiceID</a:t>
              </a:r>
              <a:r>
                <a:rPr lang="en-US" altLang="en-US" sz="1000" b="1" dirty="0">
                  <a:latin typeface="Arial" panose="020B0604020202020204" pitchFamily="34" charset="0"/>
                  <a:ea typeface="Times New Roman" panose="02020603050405020304" pitchFamily="18" charset="0"/>
                </a:rPr>
                <a:t>
</a:t>
              </a:r>
              <a:r>
                <a:rPr lang="en-US" altLang="en-US" sz="1000" b="1" dirty="0" err="1">
                  <a:latin typeface="Arial" panose="020B0604020202020204" pitchFamily="34" charset="0"/>
                  <a:ea typeface="Times New Roman" panose="02020603050405020304" pitchFamily="18" charset="0"/>
                </a:rPr>
                <a:t>LibrarianID</a:t>
              </a:r>
              <a:r>
                <a:rPr lang="en-US" altLang="en-US" sz="1000" b="1" dirty="0">
                  <a:latin typeface="Arial" panose="020B0604020202020204" pitchFamily="34" charset="0"/>
                  <a:ea typeface="Times New Roman" panose="02020603050405020304" pitchFamily="18" charset="0"/>
                </a:rPr>
                <a:t>
</a:t>
              </a:r>
              <a:r>
                <a:rPr lang="en-US" altLang="en-US" sz="1000" b="1" dirty="0" err="1">
                  <a:latin typeface="Arial" panose="020B0604020202020204" pitchFamily="34" charset="0"/>
                  <a:ea typeface="Times New Roman" panose="02020603050405020304" pitchFamily="18" charset="0"/>
                </a:rPr>
                <a:t>ReaderID</a:t>
              </a:r>
              <a:r>
                <a:rPr lang="en-US" altLang="en-US" sz="1000" b="1" dirty="0">
                  <a:latin typeface="Arial" panose="020B0604020202020204" pitchFamily="34" charset="0"/>
                  <a:ea typeface="Times New Roman" panose="02020603050405020304" pitchFamily="18" charset="0"/>
                </a:rPr>
                <a:t>
Date
Start of service</a:t>
              </a:r>
              <a:r>
                <a:rPr lang="en-US" altLang="en-US" sz="1000" dirty="0">
                  <a:latin typeface="Arial" panose="020B0604020202020204" pitchFamily="34" charset="0"/>
                  <a:ea typeface="Times New Roman" panose="02020603050405020304" pitchFamily="18" charset="0"/>
                </a:rPr>
                <a:t>
End of service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7" name="Text Box 42">
              <a:extLst>
                <a:ext uri="{FF2B5EF4-FFF2-40B4-BE49-F238E27FC236}">
                  <a16:creationId xmlns:a16="http://schemas.microsoft.com/office/drawing/2014/main" id="{F12C3C31-2C87-4476-B640-27635AA00A93}"/>
                </a:ext>
              </a:extLst>
            </p:cNvPr>
            <p:cNvSpPr txBox="1">
              <a:spLocks noChangeArrowheads="1"/>
            </p:cNvSpPr>
            <p:nvPr/>
          </p:nvSpPr>
          <p:spPr bwMode="auto">
            <a:xfrm>
              <a:off x="9238" y="4981"/>
              <a:ext cx="765" cy="46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algn="just"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ServiceID</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Price</a:t>
              </a:r>
              <a:r>
                <a:rPr lang="lv-LV" altLang="en-US" sz="1000"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8" name="Text Box 41">
              <a:extLst>
                <a:ext uri="{FF2B5EF4-FFF2-40B4-BE49-F238E27FC236}">
                  <a16:creationId xmlns:a16="http://schemas.microsoft.com/office/drawing/2014/main" id="{EDC6627C-0128-4512-9308-DD68C30050BA}"/>
                </a:ext>
              </a:extLst>
            </p:cNvPr>
            <p:cNvSpPr txBox="1">
              <a:spLocks noChangeArrowheads="1"/>
            </p:cNvSpPr>
            <p:nvPr/>
          </p:nvSpPr>
          <p:spPr bwMode="auto">
            <a:xfrm>
              <a:off x="7385" y="2320"/>
              <a:ext cx="78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Readers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19" name="Text Box 40">
              <a:extLst>
                <a:ext uri="{FF2B5EF4-FFF2-40B4-BE49-F238E27FC236}">
                  <a16:creationId xmlns:a16="http://schemas.microsoft.com/office/drawing/2014/main" id="{BDA432D3-6BA0-4241-BA28-62ADAC1A39DE}"/>
                </a:ext>
              </a:extLst>
            </p:cNvPr>
            <p:cNvSpPr txBox="1">
              <a:spLocks noChangeArrowheads="1"/>
            </p:cNvSpPr>
            <p:nvPr/>
          </p:nvSpPr>
          <p:spPr bwMode="auto">
            <a:xfrm>
              <a:off x="7618" y="4056"/>
              <a:ext cx="72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Librarians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0" name="Text Box 39">
              <a:extLst>
                <a:ext uri="{FF2B5EF4-FFF2-40B4-BE49-F238E27FC236}">
                  <a16:creationId xmlns:a16="http://schemas.microsoft.com/office/drawing/2014/main" id="{D4EC9581-0E6B-411A-9B5A-8977DA238B28}"/>
                </a:ext>
              </a:extLst>
            </p:cNvPr>
            <p:cNvSpPr txBox="1">
              <a:spLocks noChangeArrowheads="1"/>
            </p:cNvSpPr>
            <p:nvPr/>
          </p:nvSpPr>
          <p:spPr bwMode="auto">
            <a:xfrm>
              <a:off x="9328" y="3507"/>
              <a:ext cx="8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Journal</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1" name="Text Box 38">
              <a:extLst>
                <a:ext uri="{FF2B5EF4-FFF2-40B4-BE49-F238E27FC236}">
                  <a16:creationId xmlns:a16="http://schemas.microsoft.com/office/drawing/2014/main" id="{C8904A02-8B2F-4374-8413-F1023C0DB015}"/>
                </a:ext>
              </a:extLst>
            </p:cNvPr>
            <p:cNvSpPr txBox="1">
              <a:spLocks noChangeArrowheads="1"/>
            </p:cNvSpPr>
            <p:nvPr/>
          </p:nvSpPr>
          <p:spPr bwMode="auto">
            <a:xfrm>
              <a:off x="9238" y="4807"/>
              <a:ext cx="113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Services</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2" name="Line 37">
              <a:extLst>
                <a:ext uri="{FF2B5EF4-FFF2-40B4-BE49-F238E27FC236}">
                  <a16:creationId xmlns:a16="http://schemas.microsoft.com/office/drawing/2014/main" id="{7B4E30F5-4777-4893-90E5-A2E530CE454D}"/>
                </a:ext>
              </a:extLst>
            </p:cNvPr>
            <p:cNvSpPr>
              <a:spLocks noChangeShapeType="1"/>
            </p:cNvSpPr>
            <p:nvPr/>
          </p:nvSpPr>
          <p:spPr bwMode="auto">
            <a:xfrm>
              <a:off x="7888" y="5136"/>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23" name="Text Box 36">
              <a:extLst>
                <a:ext uri="{FF2B5EF4-FFF2-40B4-BE49-F238E27FC236}">
                  <a16:creationId xmlns:a16="http://schemas.microsoft.com/office/drawing/2014/main" id="{12709681-A957-4441-8472-594AF1FA1A43}"/>
                </a:ext>
              </a:extLst>
            </p:cNvPr>
            <p:cNvSpPr txBox="1">
              <a:spLocks noChangeArrowheads="1"/>
            </p:cNvSpPr>
            <p:nvPr/>
          </p:nvSpPr>
          <p:spPr bwMode="auto">
            <a:xfrm>
              <a:off x="10449" y="4981"/>
              <a:ext cx="834" cy="4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1000" b="1" dirty="0" err="1">
                  <a:latin typeface="Arial" panose="020B0604020202020204" pitchFamily="34" charset="0"/>
                  <a:ea typeface="Times New Roman" panose="02020603050405020304" pitchFamily="18" charset="0"/>
                </a:rPr>
                <a:t>RoomID</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Name</a:t>
              </a:r>
              <a:r>
                <a:rPr lang="lv-LV" altLang="en-US" sz="1000" dirty="0">
                  <a:latin typeface="Arial" panose="020B0604020202020204" pitchFamily="34" charset="0"/>
                  <a:ea typeface="Times New Roman" panose="02020603050405020304" pitchFamily="18" charset="0"/>
                </a:rPr>
                <a:t>
</a:t>
              </a:r>
              <a:r>
                <a:rPr lang="lv-LV" altLang="en-US" sz="1000" dirty="0" err="1">
                  <a:latin typeface="Arial" panose="020B0604020202020204" pitchFamily="34" charset="0"/>
                  <a:ea typeface="Times New Roman" panose="02020603050405020304" pitchFamily="18" charset="0"/>
                </a:rPr>
                <a:t>Phone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4" name="Text Box 35">
              <a:extLst>
                <a:ext uri="{FF2B5EF4-FFF2-40B4-BE49-F238E27FC236}">
                  <a16:creationId xmlns:a16="http://schemas.microsoft.com/office/drawing/2014/main" id="{2D31FA91-54BB-4DE2-8B37-FF7C5F48476D}"/>
                </a:ext>
              </a:extLst>
            </p:cNvPr>
            <p:cNvSpPr txBox="1">
              <a:spLocks noChangeArrowheads="1"/>
            </p:cNvSpPr>
            <p:nvPr/>
          </p:nvSpPr>
          <p:spPr bwMode="auto">
            <a:xfrm>
              <a:off x="9148" y="181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25" name="Text Box 34">
              <a:extLst>
                <a:ext uri="{FF2B5EF4-FFF2-40B4-BE49-F238E27FC236}">
                  <a16:creationId xmlns:a16="http://schemas.microsoft.com/office/drawing/2014/main" id="{CE7A518C-61B3-4AD8-BB72-26E4D848D67D}"/>
                </a:ext>
              </a:extLst>
            </p:cNvPr>
            <p:cNvSpPr txBox="1">
              <a:spLocks noChangeArrowheads="1"/>
            </p:cNvSpPr>
            <p:nvPr/>
          </p:nvSpPr>
          <p:spPr bwMode="auto">
            <a:xfrm>
              <a:off x="9698" y="179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26" name="Text Box 33">
              <a:extLst>
                <a:ext uri="{FF2B5EF4-FFF2-40B4-BE49-F238E27FC236}">
                  <a16:creationId xmlns:a16="http://schemas.microsoft.com/office/drawing/2014/main" id="{2BA634BB-DD1B-483B-B524-8A04EDAA7094}"/>
                </a:ext>
              </a:extLst>
            </p:cNvPr>
            <p:cNvSpPr txBox="1">
              <a:spLocks noChangeArrowheads="1"/>
            </p:cNvSpPr>
            <p:nvPr/>
          </p:nvSpPr>
          <p:spPr bwMode="auto">
            <a:xfrm>
              <a:off x="10667" y="3289"/>
              <a:ext cx="731" cy="61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AuthorID</a:t>
              </a:r>
              <a:r>
                <a:rPr lang="en-US" altLang="en-US" sz="1000" dirty="0">
                  <a:latin typeface="Arial" panose="020B0604020202020204" pitchFamily="34" charset="0"/>
                  <a:ea typeface="Times New Roman" panose="02020603050405020304" pitchFamily="18" charset="0"/>
                </a:rPr>
                <a:t>
Last name
First name
Year of birth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7" name="Text Box 32">
              <a:extLst>
                <a:ext uri="{FF2B5EF4-FFF2-40B4-BE49-F238E27FC236}">
                  <a16:creationId xmlns:a16="http://schemas.microsoft.com/office/drawing/2014/main" id="{FBE65324-0DEA-4E6A-9AA7-8E5375CDB0E0}"/>
                </a:ext>
              </a:extLst>
            </p:cNvPr>
            <p:cNvSpPr txBox="1">
              <a:spLocks noChangeArrowheads="1"/>
            </p:cNvSpPr>
            <p:nvPr/>
          </p:nvSpPr>
          <p:spPr bwMode="auto">
            <a:xfrm>
              <a:off x="9418" y="2821"/>
              <a:ext cx="1123"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eaLnBrk="0" fontAlgn="base" hangingPunct="0">
                <a:spcBef>
                  <a:spcPct val="0"/>
                </a:spcBef>
                <a:spcAft>
                  <a:spcPct val="0"/>
                </a:spcAft>
              </a:pPr>
              <a:r>
                <a:rPr lang="en-US" altLang="en-US" sz="1000" b="1" dirty="0" err="1">
                  <a:latin typeface="Arial" panose="020B0604020202020204" pitchFamily="34" charset="0"/>
                  <a:ea typeface="Times New Roman" panose="02020603050405020304" pitchFamily="18" charset="0"/>
                </a:rPr>
                <a:t>AuthorID</a:t>
              </a:r>
              <a:r>
                <a:rPr lang="en-US" altLang="en-US" sz="1000" b="1" dirty="0">
                  <a:latin typeface="Arial" panose="020B0604020202020204" pitchFamily="34" charset="0"/>
                  <a:ea typeface="Times New Roman" panose="02020603050405020304" pitchFamily="18" charset="0"/>
                </a:rPr>
                <a:t>
</a:t>
              </a:r>
              <a:r>
                <a:rPr lang="en-US" altLang="en-US" sz="1000" b="1" dirty="0" err="1">
                  <a:latin typeface="Arial" panose="020B0604020202020204" pitchFamily="34" charset="0"/>
                  <a:ea typeface="Times New Roman" panose="02020603050405020304" pitchFamily="18" charset="0"/>
                </a:rPr>
                <a:t>BookID</a:t>
              </a:r>
              <a:r>
                <a:rPr lang="en-US" altLang="en-US" sz="1000" dirty="0">
                  <a:latin typeface="Arial" panose="020B0604020202020204" pitchFamily="34" charset="0"/>
                  <a:ea typeface="Times New Roman" panose="02020603050405020304" pitchFamily="18" charset="0"/>
                </a:rPr>
                <a:t>
Year of publishing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28" name="Line 31">
              <a:extLst>
                <a:ext uri="{FF2B5EF4-FFF2-40B4-BE49-F238E27FC236}">
                  <a16:creationId xmlns:a16="http://schemas.microsoft.com/office/drawing/2014/main" id="{6357BB6B-68E6-4E6F-AA45-45CB01A9C366}"/>
                </a:ext>
              </a:extLst>
            </p:cNvPr>
            <p:cNvSpPr>
              <a:spLocks noChangeShapeType="1"/>
            </p:cNvSpPr>
            <p:nvPr/>
          </p:nvSpPr>
          <p:spPr bwMode="auto">
            <a:xfrm flipV="1">
              <a:off x="8338" y="2204"/>
              <a:ext cx="1" cy="3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29" name="Line 30">
              <a:extLst>
                <a:ext uri="{FF2B5EF4-FFF2-40B4-BE49-F238E27FC236}">
                  <a16:creationId xmlns:a16="http://schemas.microsoft.com/office/drawing/2014/main" id="{3D1923E6-AB72-42F8-A634-4307E6627B41}"/>
                </a:ext>
              </a:extLst>
            </p:cNvPr>
            <p:cNvSpPr>
              <a:spLocks noChangeShapeType="1"/>
            </p:cNvSpPr>
            <p:nvPr/>
          </p:nvSpPr>
          <p:spPr bwMode="auto">
            <a:xfrm flipV="1">
              <a:off x="9688" y="2590"/>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0" name="Line 29">
              <a:extLst>
                <a:ext uri="{FF2B5EF4-FFF2-40B4-BE49-F238E27FC236}">
                  <a16:creationId xmlns:a16="http://schemas.microsoft.com/office/drawing/2014/main" id="{BB57B5BB-CA8A-42C5-99D8-10C36719EE3A}"/>
                </a:ext>
              </a:extLst>
            </p:cNvPr>
            <p:cNvSpPr>
              <a:spLocks noChangeShapeType="1"/>
            </p:cNvSpPr>
            <p:nvPr/>
          </p:nvSpPr>
          <p:spPr bwMode="auto">
            <a:xfrm>
              <a:off x="9688" y="2590"/>
              <a:ext cx="1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1" name="Line 28">
              <a:extLst>
                <a:ext uri="{FF2B5EF4-FFF2-40B4-BE49-F238E27FC236}">
                  <a16:creationId xmlns:a16="http://schemas.microsoft.com/office/drawing/2014/main" id="{0181D402-1C46-473A-B1A6-2B6965573933}"/>
                </a:ext>
              </a:extLst>
            </p:cNvPr>
            <p:cNvSpPr>
              <a:spLocks noChangeShapeType="1"/>
            </p:cNvSpPr>
            <p:nvPr/>
          </p:nvSpPr>
          <p:spPr bwMode="auto">
            <a:xfrm flipV="1">
              <a:off x="10858" y="2359"/>
              <a:ext cx="0"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2" name="Line 27">
              <a:extLst>
                <a:ext uri="{FF2B5EF4-FFF2-40B4-BE49-F238E27FC236}">
                  <a16:creationId xmlns:a16="http://schemas.microsoft.com/office/drawing/2014/main" id="{13A050E9-8DF3-4019-BC21-73D637AF2C60}"/>
                </a:ext>
              </a:extLst>
            </p:cNvPr>
            <p:cNvSpPr>
              <a:spLocks noChangeShapeType="1"/>
            </p:cNvSpPr>
            <p:nvPr/>
          </p:nvSpPr>
          <p:spPr bwMode="auto">
            <a:xfrm flipV="1">
              <a:off x="10838" y="2983"/>
              <a:ext cx="0" cy="2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3" name="Line 26">
              <a:extLst>
                <a:ext uri="{FF2B5EF4-FFF2-40B4-BE49-F238E27FC236}">
                  <a16:creationId xmlns:a16="http://schemas.microsoft.com/office/drawing/2014/main" id="{0BE2019E-A97A-49C6-92F2-99F1B97A960A}"/>
                </a:ext>
              </a:extLst>
            </p:cNvPr>
            <p:cNvSpPr>
              <a:spLocks noChangeShapeType="1"/>
            </p:cNvSpPr>
            <p:nvPr/>
          </p:nvSpPr>
          <p:spPr bwMode="auto">
            <a:xfrm>
              <a:off x="9148" y="2976"/>
              <a:ext cx="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4" name="Line 25">
              <a:extLst>
                <a:ext uri="{FF2B5EF4-FFF2-40B4-BE49-F238E27FC236}">
                  <a16:creationId xmlns:a16="http://schemas.microsoft.com/office/drawing/2014/main" id="{4B0B7D88-E37B-491F-B1FF-E103D2AA4CFF}"/>
                </a:ext>
              </a:extLst>
            </p:cNvPr>
            <p:cNvSpPr>
              <a:spLocks noChangeShapeType="1"/>
            </p:cNvSpPr>
            <p:nvPr/>
          </p:nvSpPr>
          <p:spPr bwMode="auto">
            <a:xfrm>
              <a:off x="9328" y="2976"/>
              <a:ext cx="1" cy="6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5" name="Line 24">
              <a:extLst>
                <a:ext uri="{FF2B5EF4-FFF2-40B4-BE49-F238E27FC236}">
                  <a16:creationId xmlns:a16="http://schemas.microsoft.com/office/drawing/2014/main" id="{DF4DB933-5E25-40C7-972D-3AD5B801C075}"/>
                </a:ext>
              </a:extLst>
            </p:cNvPr>
            <p:cNvSpPr>
              <a:spLocks noChangeShapeType="1"/>
            </p:cNvSpPr>
            <p:nvPr/>
          </p:nvSpPr>
          <p:spPr bwMode="auto">
            <a:xfrm>
              <a:off x="9238" y="2976"/>
              <a:ext cx="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6" name="Line 23">
              <a:extLst>
                <a:ext uri="{FF2B5EF4-FFF2-40B4-BE49-F238E27FC236}">
                  <a16:creationId xmlns:a16="http://schemas.microsoft.com/office/drawing/2014/main" id="{31B768D9-65FC-4B80-ACAA-E466A5A48078}"/>
                </a:ext>
              </a:extLst>
            </p:cNvPr>
            <p:cNvSpPr>
              <a:spLocks noChangeShapeType="1"/>
            </p:cNvSpPr>
            <p:nvPr/>
          </p:nvSpPr>
          <p:spPr bwMode="auto">
            <a:xfrm flipV="1">
              <a:off x="9508" y="4595"/>
              <a:ext cx="1" cy="3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7" name="Line 22">
              <a:extLst>
                <a:ext uri="{FF2B5EF4-FFF2-40B4-BE49-F238E27FC236}">
                  <a16:creationId xmlns:a16="http://schemas.microsoft.com/office/drawing/2014/main" id="{8EFB7AF0-E3EB-4066-A40F-33C35FEAFB51}"/>
                </a:ext>
              </a:extLst>
            </p:cNvPr>
            <p:cNvSpPr>
              <a:spLocks noChangeShapeType="1"/>
            </p:cNvSpPr>
            <p:nvPr/>
          </p:nvSpPr>
          <p:spPr bwMode="auto">
            <a:xfrm flipV="1">
              <a:off x="10722" y="4133"/>
              <a:ext cx="0" cy="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8" name="Line 21">
              <a:extLst>
                <a:ext uri="{FF2B5EF4-FFF2-40B4-BE49-F238E27FC236}">
                  <a16:creationId xmlns:a16="http://schemas.microsoft.com/office/drawing/2014/main" id="{3B44A727-6E56-4164-88E2-165AC75E21F5}"/>
                </a:ext>
              </a:extLst>
            </p:cNvPr>
            <p:cNvSpPr>
              <a:spLocks noChangeShapeType="1"/>
            </p:cNvSpPr>
            <p:nvPr/>
          </p:nvSpPr>
          <p:spPr bwMode="auto">
            <a:xfrm flipH="1">
              <a:off x="10092" y="4133"/>
              <a:ext cx="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39" name="Text Box 20">
              <a:extLst>
                <a:ext uri="{FF2B5EF4-FFF2-40B4-BE49-F238E27FC236}">
                  <a16:creationId xmlns:a16="http://schemas.microsoft.com/office/drawing/2014/main" id="{C1EDA9A0-E009-483F-AF7C-2CFFCD5B61B8}"/>
                </a:ext>
              </a:extLst>
            </p:cNvPr>
            <p:cNvSpPr txBox="1">
              <a:spLocks noChangeArrowheads="1"/>
            </p:cNvSpPr>
            <p:nvPr/>
          </p:nvSpPr>
          <p:spPr bwMode="auto">
            <a:xfrm>
              <a:off x="10780" y="3117"/>
              <a:ext cx="5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lgn="r" eaLnBrk="0" fontAlgn="base" hangingPunct="0">
                <a:spcBef>
                  <a:spcPct val="0"/>
                </a:spcBef>
                <a:spcAft>
                  <a:spcPct val="0"/>
                </a:spcAft>
              </a:pPr>
              <a:r>
                <a:rPr lang="lv-LV" altLang="en-US" sz="1000" b="1" dirty="0" err="1">
                  <a:latin typeface="Arial" panose="020B0604020202020204" pitchFamily="34" charset="0"/>
                  <a:ea typeface="Times New Roman" panose="02020603050405020304" pitchFamily="18" charset="0"/>
                </a:rPr>
                <a:t>Authors</a:t>
              </a:r>
              <a:r>
                <a:rPr lang="lv-LV" altLang="en-US" sz="1000" b="1" dirty="0">
                  <a:latin typeface="Arial" panose="020B0604020202020204" pitchFamily="34" charset="0"/>
                  <a:ea typeface="Times New Roman" panose="02020603050405020304" pitchFamily="18" charset="0"/>
                </a:rPr>
                <a:t>
</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40" name="Text Box 19">
              <a:extLst>
                <a:ext uri="{FF2B5EF4-FFF2-40B4-BE49-F238E27FC236}">
                  <a16:creationId xmlns:a16="http://schemas.microsoft.com/office/drawing/2014/main" id="{4BAFB3CA-40DA-4BD9-AC7A-E0D66B8899C8}"/>
                </a:ext>
              </a:extLst>
            </p:cNvPr>
            <p:cNvSpPr txBox="1">
              <a:spLocks noChangeArrowheads="1"/>
            </p:cNvSpPr>
            <p:nvPr/>
          </p:nvSpPr>
          <p:spPr bwMode="auto">
            <a:xfrm>
              <a:off x="9454" y="2590"/>
              <a:ext cx="9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Title page</a:t>
              </a: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41" name="Text Box 18">
              <a:extLst>
                <a:ext uri="{FF2B5EF4-FFF2-40B4-BE49-F238E27FC236}">
                  <a16:creationId xmlns:a16="http://schemas.microsoft.com/office/drawing/2014/main" id="{8630CE23-79EB-4CE3-AD82-76F4808C924C}"/>
                </a:ext>
              </a:extLst>
            </p:cNvPr>
            <p:cNvSpPr txBox="1">
              <a:spLocks noChangeArrowheads="1"/>
            </p:cNvSpPr>
            <p:nvPr/>
          </p:nvSpPr>
          <p:spPr bwMode="auto">
            <a:xfrm>
              <a:off x="8068" y="2204"/>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2" name="Text Box 17">
              <a:extLst>
                <a:ext uri="{FF2B5EF4-FFF2-40B4-BE49-F238E27FC236}">
                  <a16:creationId xmlns:a16="http://schemas.microsoft.com/office/drawing/2014/main" id="{F619C713-F397-4D22-B134-63F0CB68770B}"/>
                </a:ext>
              </a:extLst>
            </p:cNvPr>
            <p:cNvSpPr txBox="1">
              <a:spLocks noChangeArrowheads="1"/>
            </p:cNvSpPr>
            <p:nvPr/>
          </p:nvSpPr>
          <p:spPr bwMode="auto">
            <a:xfrm>
              <a:off x="9418" y="2667"/>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3" name="Line 16">
              <a:extLst>
                <a:ext uri="{FF2B5EF4-FFF2-40B4-BE49-F238E27FC236}">
                  <a16:creationId xmlns:a16="http://schemas.microsoft.com/office/drawing/2014/main" id="{A9AAB4EE-BF7E-4E42-B6C0-B24852FE2BE7}"/>
                </a:ext>
              </a:extLst>
            </p:cNvPr>
            <p:cNvSpPr>
              <a:spLocks noChangeShapeType="1"/>
            </p:cNvSpPr>
            <p:nvPr/>
          </p:nvSpPr>
          <p:spPr bwMode="auto">
            <a:xfrm flipH="1">
              <a:off x="10541" y="2974"/>
              <a:ext cx="30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44" name="Text Box 15">
              <a:extLst>
                <a:ext uri="{FF2B5EF4-FFF2-40B4-BE49-F238E27FC236}">
                  <a16:creationId xmlns:a16="http://schemas.microsoft.com/office/drawing/2014/main" id="{645CA517-DA34-46FA-B000-7DF4F4DD6E04}"/>
                </a:ext>
              </a:extLst>
            </p:cNvPr>
            <p:cNvSpPr txBox="1">
              <a:spLocks noChangeArrowheads="1"/>
            </p:cNvSpPr>
            <p:nvPr/>
          </p:nvSpPr>
          <p:spPr bwMode="auto">
            <a:xfrm>
              <a:off x="9328" y="3516"/>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5" name="Text Box 14">
              <a:extLst>
                <a:ext uri="{FF2B5EF4-FFF2-40B4-BE49-F238E27FC236}">
                  <a16:creationId xmlns:a16="http://schemas.microsoft.com/office/drawing/2014/main" id="{B9F406B7-2751-4D3A-BAA5-4AB15A9C81ED}"/>
                </a:ext>
              </a:extLst>
            </p:cNvPr>
            <p:cNvSpPr txBox="1">
              <a:spLocks noChangeArrowheads="1"/>
            </p:cNvSpPr>
            <p:nvPr/>
          </p:nvSpPr>
          <p:spPr bwMode="auto">
            <a:xfrm>
              <a:off x="10510" y="2809"/>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46" name="Text Box 13">
              <a:extLst>
                <a:ext uri="{FF2B5EF4-FFF2-40B4-BE49-F238E27FC236}">
                  <a16:creationId xmlns:a16="http://schemas.microsoft.com/office/drawing/2014/main" id="{F7C0EBFD-2A3C-4233-9210-E467F6D8C982}"/>
                </a:ext>
              </a:extLst>
            </p:cNvPr>
            <p:cNvSpPr txBox="1">
              <a:spLocks noChangeArrowheads="1"/>
            </p:cNvSpPr>
            <p:nvPr/>
          </p:nvSpPr>
          <p:spPr bwMode="auto">
            <a:xfrm>
              <a:off x="10092" y="3978"/>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47" name="Text Box 12">
              <a:extLst>
                <a:ext uri="{FF2B5EF4-FFF2-40B4-BE49-F238E27FC236}">
                  <a16:creationId xmlns:a16="http://schemas.microsoft.com/office/drawing/2014/main" id="{31887D65-8B7B-4920-AB43-AD94709A1B0B}"/>
                </a:ext>
              </a:extLst>
            </p:cNvPr>
            <p:cNvSpPr txBox="1">
              <a:spLocks noChangeArrowheads="1"/>
            </p:cNvSpPr>
            <p:nvPr/>
          </p:nvSpPr>
          <p:spPr bwMode="auto">
            <a:xfrm>
              <a:off x="9238" y="4595"/>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48" name="Text Box 11">
              <a:extLst>
                <a:ext uri="{FF2B5EF4-FFF2-40B4-BE49-F238E27FC236}">
                  <a16:creationId xmlns:a16="http://schemas.microsoft.com/office/drawing/2014/main" id="{3D306AA0-0CA1-403F-97A3-BD61C701C9CC}"/>
                </a:ext>
              </a:extLst>
            </p:cNvPr>
            <p:cNvSpPr txBox="1">
              <a:spLocks noChangeArrowheads="1"/>
            </p:cNvSpPr>
            <p:nvPr/>
          </p:nvSpPr>
          <p:spPr bwMode="auto">
            <a:xfrm>
              <a:off x="8158" y="2590"/>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9" name="Text Box 10">
              <a:extLst>
                <a:ext uri="{FF2B5EF4-FFF2-40B4-BE49-F238E27FC236}">
                  <a16:creationId xmlns:a16="http://schemas.microsoft.com/office/drawing/2014/main" id="{5F862946-EA75-4AD4-AE8D-E88BB6331566}"/>
                </a:ext>
              </a:extLst>
            </p:cNvPr>
            <p:cNvSpPr txBox="1">
              <a:spLocks noChangeArrowheads="1"/>
            </p:cNvSpPr>
            <p:nvPr/>
          </p:nvSpPr>
          <p:spPr bwMode="auto">
            <a:xfrm>
              <a:off x="8733" y="2976"/>
              <a:ext cx="59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50" name="Text Box 9">
              <a:extLst>
                <a:ext uri="{FF2B5EF4-FFF2-40B4-BE49-F238E27FC236}">
                  <a16:creationId xmlns:a16="http://schemas.microsoft.com/office/drawing/2014/main" id="{9741DD23-7BFC-4821-AA2D-F38198174666}"/>
                </a:ext>
              </a:extLst>
            </p:cNvPr>
            <p:cNvSpPr txBox="1">
              <a:spLocks noChangeArrowheads="1"/>
            </p:cNvSpPr>
            <p:nvPr/>
          </p:nvSpPr>
          <p:spPr bwMode="auto">
            <a:xfrm>
              <a:off x="10667" y="310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1" name="Text Box 8">
              <a:extLst>
                <a:ext uri="{FF2B5EF4-FFF2-40B4-BE49-F238E27FC236}">
                  <a16:creationId xmlns:a16="http://schemas.microsoft.com/office/drawing/2014/main" id="{7E86B157-CF8B-40D5-B01F-F59DC46AD55B}"/>
                </a:ext>
              </a:extLst>
            </p:cNvPr>
            <p:cNvSpPr txBox="1">
              <a:spLocks noChangeArrowheads="1"/>
            </p:cNvSpPr>
            <p:nvPr/>
          </p:nvSpPr>
          <p:spPr bwMode="auto">
            <a:xfrm>
              <a:off x="10479" y="482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dirty="0">
                <a:ln>
                  <a:noFill/>
                </a:ln>
                <a:solidFill>
                  <a:schemeClr val="tx1"/>
                </a:solidFill>
                <a:effectLst/>
                <a:latin typeface="Arial" panose="020B0604020202020204" pitchFamily="34" charset="0"/>
              </a:endParaRPr>
            </a:p>
          </p:txBody>
        </p:sp>
        <p:sp>
          <p:nvSpPr>
            <p:cNvPr id="52" name="Line 7">
              <a:extLst>
                <a:ext uri="{FF2B5EF4-FFF2-40B4-BE49-F238E27FC236}">
                  <a16:creationId xmlns:a16="http://schemas.microsoft.com/office/drawing/2014/main" id="{F990AA35-3271-4281-8454-FBEEF5B34DB2}"/>
                </a:ext>
              </a:extLst>
            </p:cNvPr>
            <p:cNvSpPr>
              <a:spLocks noChangeShapeType="1"/>
            </p:cNvSpPr>
            <p:nvPr/>
          </p:nvSpPr>
          <p:spPr bwMode="auto">
            <a:xfrm>
              <a:off x="8346" y="4441"/>
              <a:ext cx="6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
          <p:nvSpPr>
            <p:cNvPr id="53" name="Text Box 6">
              <a:extLst>
                <a:ext uri="{FF2B5EF4-FFF2-40B4-BE49-F238E27FC236}">
                  <a16:creationId xmlns:a16="http://schemas.microsoft.com/office/drawing/2014/main" id="{EDBBA583-B2E0-4223-BE55-091A89432E68}"/>
                </a:ext>
              </a:extLst>
            </p:cNvPr>
            <p:cNvSpPr txBox="1">
              <a:spLocks noChangeArrowheads="1"/>
            </p:cNvSpPr>
            <p:nvPr/>
          </p:nvSpPr>
          <p:spPr bwMode="auto">
            <a:xfrm>
              <a:off x="8733" y="4280"/>
              <a:ext cx="27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N</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54" name="Text Box 5">
              <a:extLst>
                <a:ext uri="{FF2B5EF4-FFF2-40B4-BE49-F238E27FC236}">
                  <a16:creationId xmlns:a16="http://schemas.microsoft.com/office/drawing/2014/main" id="{E4F9A9C8-33BB-48A5-A651-9A1E7AC13ACD}"/>
                </a:ext>
              </a:extLst>
            </p:cNvPr>
            <p:cNvSpPr txBox="1">
              <a:spLocks noChangeArrowheads="1"/>
            </p:cNvSpPr>
            <p:nvPr/>
          </p:nvSpPr>
          <p:spPr bwMode="auto">
            <a:xfrm>
              <a:off x="8338" y="235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55" name="Text Box 4">
              <a:extLst>
                <a:ext uri="{FF2B5EF4-FFF2-40B4-BE49-F238E27FC236}">
                  <a16:creationId xmlns:a16="http://schemas.microsoft.com/office/drawing/2014/main" id="{7E521DAE-0ABF-46EF-B22D-43C625DF45B2}"/>
                </a:ext>
              </a:extLst>
            </p:cNvPr>
            <p:cNvSpPr txBox="1">
              <a:spLocks noChangeArrowheads="1"/>
            </p:cNvSpPr>
            <p:nvPr/>
          </p:nvSpPr>
          <p:spPr bwMode="auto">
            <a:xfrm>
              <a:off x="10678" y="2359"/>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56" name="Text Box 3">
              <a:extLst>
                <a:ext uri="{FF2B5EF4-FFF2-40B4-BE49-F238E27FC236}">
                  <a16:creationId xmlns:a16="http://schemas.microsoft.com/office/drawing/2014/main" id="{6E021231-9D16-40F7-AA80-33A3C7E80E66}"/>
                </a:ext>
              </a:extLst>
            </p:cNvPr>
            <p:cNvSpPr txBox="1">
              <a:spLocks noChangeArrowheads="1"/>
            </p:cNvSpPr>
            <p:nvPr/>
          </p:nvSpPr>
          <p:spPr bwMode="auto">
            <a:xfrm>
              <a:off x="9328" y="4827"/>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sp>
          <p:nvSpPr>
            <p:cNvPr id="57" name="Text Box 2">
              <a:extLst>
                <a:ext uri="{FF2B5EF4-FFF2-40B4-BE49-F238E27FC236}">
                  <a16:creationId xmlns:a16="http://schemas.microsoft.com/office/drawing/2014/main" id="{D56D14B6-7A50-49B9-B59D-BAE8F2391E29}"/>
                </a:ext>
              </a:extLst>
            </p:cNvPr>
            <p:cNvSpPr txBox="1">
              <a:spLocks noChangeArrowheads="1"/>
            </p:cNvSpPr>
            <p:nvPr/>
          </p:nvSpPr>
          <p:spPr bwMode="auto">
            <a:xfrm>
              <a:off x="8353" y="4441"/>
              <a:ext cx="18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en-US" sz="9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1</a:t>
              </a:r>
              <a:endParaRPr kumimoji="0" lang="lv-LV" altLang="en-US" sz="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v-LV" altLang="en-US" sz="1200" b="0" i="0" u="none" strike="noStrike" cap="none" normalizeH="0" baseline="0">
                <a:ln>
                  <a:noFill/>
                </a:ln>
                <a:solidFill>
                  <a:schemeClr val="tx1"/>
                </a:solidFill>
                <a:effectLst/>
                <a:latin typeface="Arial" panose="020B0604020202020204" pitchFamily="34" charset="0"/>
              </a:endParaRPr>
            </a:p>
          </p:txBody>
        </p:sp>
      </p:grpSp>
      <p:sp>
        <p:nvSpPr>
          <p:cNvPr id="58" name="Line 16">
            <a:extLst>
              <a:ext uri="{FF2B5EF4-FFF2-40B4-BE49-F238E27FC236}">
                <a16:creationId xmlns:a16="http://schemas.microsoft.com/office/drawing/2014/main" id="{D681E427-7322-431F-B9D4-19D7A73F4CEB}"/>
              </a:ext>
            </a:extLst>
          </p:cNvPr>
          <p:cNvSpPr>
            <a:spLocks noChangeShapeType="1"/>
          </p:cNvSpPr>
          <p:nvPr/>
        </p:nvSpPr>
        <p:spPr bwMode="auto">
          <a:xfrm flipH="1">
            <a:off x="5411375" y="3243008"/>
            <a:ext cx="565530" cy="28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p>
        </p:txBody>
      </p:sp>
    </p:spTree>
    <p:extLst>
      <p:ext uri="{BB962C8B-B14F-4D97-AF65-F5344CB8AC3E}">
        <p14:creationId xmlns:p14="http://schemas.microsoft.com/office/powerpoint/2010/main" val="978873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6"/>
            <a:ext cx="8839200" cy="1325563"/>
          </a:xfrm>
        </p:spPr>
        <p:txBody>
          <a:bodyPr>
            <a:normAutofit/>
          </a:bodyPr>
          <a:lstStyle/>
          <a:p>
            <a:pPr marL="0" indent="0">
              <a:buNone/>
            </a:pPr>
            <a:r>
              <a:rPr lang="en-US" sz="4400" dirty="0"/>
              <a:t>Step 8: Implementation of the scheme</a:t>
            </a:r>
          </a:p>
        </p:txBody>
      </p:sp>
      <p:sp>
        <p:nvSpPr>
          <p:cNvPr id="3" name="Content Placeholder 2"/>
          <p:cNvSpPr>
            <a:spLocks noGrp="1"/>
          </p:cNvSpPr>
          <p:nvPr>
            <p:ph idx="1"/>
          </p:nvPr>
        </p:nvSpPr>
        <p:spPr>
          <a:xfrm>
            <a:off x="571500" y="1825624"/>
            <a:ext cx="8039100" cy="4822826"/>
          </a:xfrm>
        </p:spPr>
        <p:txBody>
          <a:bodyPr>
            <a:normAutofit/>
          </a:bodyPr>
          <a:lstStyle/>
          <a:p>
            <a:pPr marL="0" indent="0" algn="just">
              <a:buNone/>
            </a:pPr>
            <a:r>
              <a:rPr lang="en-US" dirty="0"/>
              <a:t>Implementation</a:t>
            </a:r>
            <a:r>
              <a:rPr lang="lv-LV" dirty="0"/>
              <a:t>…</a:t>
            </a:r>
            <a:endParaRPr lang="en-US" dirty="0"/>
          </a:p>
        </p:txBody>
      </p:sp>
    </p:spTree>
    <p:extLst>
      <p:ext uri="{BB962C8B-B14F-4D97-AF65-F5344CB8AC3E}">
        <p14:creationId xmlns:p14="http://schemas.microsoft.com/office/powerpoint/2010/main" val="1491289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1609</Words>
  <Application>Microsoft Office PowerPoint</Application>
  <PresentationFormat>On-screen Show (4:3)</PresentationFormat>
  <Paragraphs>275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Database design
</vt:lpstr>
      <vt:lpstr>Database design</vt:lpstr>
      <vt:lpstr>Step 1: Determination of the purpose of your database</vt:lpstr>
      <vt:lpstr>Step 2: Definition of tables and relations</vt:lpstr>
      <vt:lpstr>Step 3: Decomposition of a Relations</vt:lpstr>
      <vt:lpstr>Decomposition of a Relations</vt:lpstr>
      <vt:lpstr>Decomposition of a Relations</vt:lpstr>
      <vt:lpstr>Decomposition of a Relations</vt:lpstr>
      <vt:lpstr>Step 3: Decomposition of a Relations</vt:lpstr>
      <vt:lpstr>Step 4: Definition of attributes</vt:lpstr>
      <vt:lpstr>Step 5: Attribute decomposition</vt:lpstr>
      <vt:lpstr>Step 5: Attribute decomposition</vt:lpstr>
      <vt:lpstr>Step 5: Attribute decomposition</vt:lpstr>
      <vt:lpstr>Step 6: Definition of primary keys</vt:lpstr>
      <vt:lpstr>Step 7: Setting up table relationships</vt:lpstr>
      <vt:lpstr>Step 7: Setting up table relationships</vt:lpstr>
      <vt:lpstr>Step 8: Implementation of the scheme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Datu bāzes projektēšana</dc:title>
  <dc:creator>Lipa</dc:creator>
  <cp:lastModifiedBy>Andrej Liepiņš</cp:lastModifiedBy>
  <cp:revision>28</cp:revision>
  <dcterms:created xsi:type="dcterms:W3CDTF">2017-03-12T15:37:18Z</dcterms:created>
  <dcterms:modified xsi:type="dcterms:W3CDTF">2021-03-07T16:28:51Z</dcterms:modified>
</cp:coreProperties>
</file>