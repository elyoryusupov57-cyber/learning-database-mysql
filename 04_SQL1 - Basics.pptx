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2" r:id="rId35"/>
    <p:sldId id="290" r:id="rId36"/>
    <p:sldId id="291" r:id="rId37"/>
  </p:sldIdLst>
  <p:sldSz cx="9144000" cy="6858000" type="screen4x3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132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59FD5E-E377-48FF-9A8B-825856AF8DF6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E743D-22D7-479B-A5AF-08F379E91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15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BE743D-22D7-479B-A5AF-08F379E9134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01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796877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504117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2205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430631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89438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182773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2810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6729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080097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494513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260793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7B505-3EE4-451A-B69C-0D14803500C0}" type="datetimeFigureOut">
              <a:rPr lang="lv-LV" smtClean="0"/>
              <a:t>24.02.2025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62F8F-4B14-42EF-BB0A-682B80BD47B7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67899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lv-LV" dirty="0"/>
              <a:t>SQL</a:t>
            </a:r>
          </a:p>
        </p:txBody>
      </p:sp>
    </p:spTree>
    <p:extLst>
      <p:ext uri="{BB962C8B-B14F-4D97-AF65-F5344CB8AC3E}">
        <p14:creationId xmlns:p14="http://schemas.microsoft.com/office/powerpoint/2010/main" val="941981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9684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The SQL language works with tables called input tables, transforming them into output tables. To perform this transformation, you must compile and execute a query that contains SQL commands.</a:t>
            </a:r>
          </a:p>
          <a:p>
            <a:pPr marL="0" indent="0" algn="just">
              <a:buNone/>
            </a:pPr>
            <a:r>
              <a:rPr lang="en-US" dirty="0"/>
              <a:t>All SQL commands can </a:t>
            </a:r>
            <a:r>
              <a:rPr lang="en-US"/>
              <a:t>be divided </a:t>
            </a:r>
            <a:r>
              <a:rPr lang="en-US" dirty="0"/>
              <a:t>into two groups:</a:t>
            </a:r>
          </a:p>
          <a:p>
            <a:pPr marL="0" indent="0" algn="just">
              <a:buNone/>
            </a:pPr>
            <a:r>
              <a:rPr lang="en-US" dirty="0"/>
              <a:t>DDL (Data Definition Language) commands for defining the structure of a database</a:t>
            </a:r>
          </a:p>
          <a:p>
            <a:pPr marL="0" indent="0" algn="just">
              <a:buNone/>
            </a:pPr>
            <a:r>
              <a:rPr lang="en-US" dirty="0"/>
              <a:t>DML (Data Management Language) commands for selecting and modifying data tables data.</a:t>
            </a:r>
          </a:p>
          <a:p>
            <a:pPr marL="0" indent="0" algn="just">
              <a:buNone/>
            </a:pPr>
            <a:r>
              <a:rPr lang="en-US" dirty="0"/>
              <a:t>The SQL language contains only DDL and DML commands. It does not contain any if-then-else or do-while commands.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212536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/>
              <a:t>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6724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SQL language can be used in real time, the user creates a query in SQL language and runs it, the DBMS (database management system ) executes the query and outputs the result to the user.</a:t>
            </a:r>
          </a:p>
          <a:p>
            <a:pPr marL="0" indent="0" algn="just">
              <a:buNone/>
            </a:pPr>
            <a:r>
              <a:rPr lang="en-US" dirty="0"/>
              <a:t>SQL commands can also be included in other programs written in different programming languages. In this case, the built-in SQL commands will be used. SQL language queries can be built into many programming languages ​​such as C, C </a:t>
            </a:r>
            <a:r>
              <a:rPr lang="en-US"/>
              <a:t>++, Java</a:t>
            </a:r>
            <a:r>
              <a:rPr lang="en-US" dirty="0"/>
              <a:t>, Perl, PHP</a:t>
            </a:r>
            <a:r>
              <a:rPr lang="en-US"/>
              <a:t>, VBA</a:t>
            </a:r>
            <a:r>
              <a:rPr lang="en-US" dirty="0"/>
              <a:t>, etc.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462874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Data</a:t>
            </a:r>
            <a:r>
              <a:rPr lang="lv-LV" dirty="0"/>
              <a:t> </a:t>
            </a:r>
            <a:r>
              <a:rPr lang="lv-LV" dirty="0" err="1"/>
              <a:t>Manipulation</a:t>
            </a:r>
            <a:r>
              <a:rPr lang="lv-LV" dirty="0"/>
              <a:t> (DML)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Following commands are used for data manipulating:</a:t>
            </a:r>
          </a:p>
          <a:p>
            <a:pPr algn="just"/>
            <a:r>
              <a:rPr lang="en-US" dirty="0"/>
              <a:t>SELECT - extracts data from a database</a:t>
            </a:r>
          </a:p>
          <a:p>
            <a:pPr algn="just"/>
            <a:r>
              <a:rPr lang="en-US" dirty="0"/>
              <a:t>UPDATE - updates data in a database</a:t>
            </a:r>
          </a:p>
          <a:p>
            <a:pPr algn="just"/>
            <a:r>
              <a:rPr lang="en-US" dirty="0"/>
              <a:t>DELETE - deletes data from a database</a:t>
            </a:r>
          </a:p>
          <a:p>
            <a:pPr algn="just"/>
            <a:r>
              <a:rPr lang="en-US" dirty="0"/>
              <a:t>INSERT INTO - inserts new data into a database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4226377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Single table data selection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7005"/>
            <a:ext cx="7886700" cy="13255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The SELECT statement is used to select data from single or multiple database tables. The data returned is stored in a result table, called the result-set.</a:t>
            </a:r>
            <a:endParaRPr lang="lv-LV" dirty="0"/>
          </a:p>
        </p:txBody>
      </p:sp>
      <p:sp>
        <p:nvSpPr>
          <p:cNvPr id="4" name="Rectangle 3"/>
          <p:cNvSpPr/>
          <p:nvPr/>
        </p:nvSpPr>
        <p:spPr>
          <a:xfrm>
            <a:off x="628650" y="3077241"/>
            <a:ext cx="4572000" cy="224676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</a:pP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Format</a:t>
            </a:r>
            <a:r>
              <a:rPr lang="lv-LV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>
              <a:spcAft>
                <a:spcPts val="0"/>
              </a:spcAft>
            </a:pP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SELECT            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columns</a:t>
            </a:r>
            <a:endParaRPr lang="lv-LV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FROM               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table name</a:t>
            </a: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lv-LV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[WHERE           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condition</a:t>
            </a: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lv-LV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[GROUP BY     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columns</a:t>
            </a: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lv-LV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lv-LV" sz="2000" i="1">
                <a:latin typeface="Times New Roman" panose="02020603050405020304" pitchFamily="18" charset="0"/>
                <a:ea typeface="Times New Roman" panose="02020603050405020304" pitchFamily="18" charset="0"/>
              </a:rPr>
              <a:t>[HAVING         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group condition</a:t>
            </a: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</a:t>
            </a:r>
            <a:endParaRPr lang="lv-LV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[ORDER BY      </a:t>
            </a:r>
            <a:r>
              <a:rPr lang="en-US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columns for sorting</a:t>
            </a:r>
            <a:r>
              <a:rPr lang="lv-LV" sz="20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];</a:t>
            </a:r>
            <a:endParaRPr lang="lv-LV" sz="2000" dirty="0"/>
          </a:p>
        </p:txBody>
      </p:sp>
      <p:sp>
        <p:nvSpPr>
          <p:cNvPr id="5" name="Rectangle 4"/>
          <p:cNvSpPr/>
          <p:nvPr/>
        </p:nvSpPr>
        <p:spPr>
          <a:xfrm>
            <a:off x="628649" y="5633667"/>
            <a:ext cx="815209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ea typeface="Times New Roman" panose="02020603050405020304" pitchFamily="18" charset="0"/>
              </a:rPr>
              <a:t>Square bracket </a:t>
            </a:r>
            <a:r>
              <a:rPr lang="en-US" sz="2800" dirty="0">
                <a:ea typeface="Times New Roman" panose="02020603050405020304" pitchFamily="18" charset="0"/>
              </a:rPr>
              <a:t>means that the command in a particular statement implementation may not exist.</a:t>
            </a:r>
            <a:endParaRPr lang="lv-LV" sz="2800" dirty="0"/>
          </a:p>
        </p:txBody>
      </p:sp>
    </p:spTree>
    <p:extLst>
      <p:ext uri="{BB962C8B-B14F-4D97-AF65-F5344CB8AC3E}">
        <p14:creationId xmlns:p14="http://schemas.microsoft.com/office/powerpoint/2010/main" val="15938185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Single table data selection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2" y="1875729"/>
            <a:ext cx="8635999" cy="4462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lv-LV" b="1" dirty="0"/>
              <a:t>SELECT</a:t>
            </a:r>
            <a:r>
              <a:rPr lang="lv-LV" dirty="0"/>
              <a:t> – </a:t>
            </a:r>
            <a:r>
              <a:rPr lang="en-US" dirty="0"/>
              <a:t>defines the columns that should appear in result</a:t>
            </a:r>
            <a:r>
              <a:rPr lang="lv-LV" dirty="0"/>
              <a:t>.</a:t>
            </a:r>
          </a:p>
          <a:p>
            <a:pPr marL="0" indent="0">
              <a:buNone/>
            </a:pPr>
            <a:r>
              <a:rPr lang="lv-LV" b="1" dirty="0"/>
              <a:t>FROM</a:t>
            </a:r>
            <a:r>
              <a:rPr lang="lv-LV" dirty="0"/>
              <a:t> – </a:t>
            </a:r>
            <a:r>
              <a:rPr lang="en-US" dirty="0"/>
              <a:t>define the output table(s)</a:t>
            </a:r>
          </a:p>
          <a:p>
            <a:pPr marL="0" indent="0">
              <a:buNone/>
            </a:pPr>
            <a:r>
              <a:rPr lang="lv-LV" b="1" dirty="0"/>
              <a:t>WHERE</a:t>
            </a:r>
            <a:r>
              <a:rPr lang="lv-LV" dirty="0"/>
              <a:t> – </a:t>
            </a:r>
            <a:r>
              <a:rPr lang="en-US" dirty="0"/>
              <a:t>performs row selection according to the condition</a:t>
            </a:r>
            <a:endParaRPr lang="lv-LV" dirty="0"/>
          </a:p>
          <a:p>
            <a:pPr marL="0" indent="0">
              <a:buNone/>
            </a:pPr>
            <a:r>
              <a:rPr lang="lv-LV" b="1" dirty="0"/>
              <a:t>GROUP BY</a:t>
            </a:r>
            <a:r>
              <a:rPr lang="lv-LV" dirty="0"/>
              <a:t> – </a:t>
            </a:r>
            <a:r>
              <a:rPr lang="en-US" dirty="0"/>
              <a:t>creates row groups </a:t>
            </a:r>
            <a:r>
              <a:rPr lang="en-US"/>
              <a:t>that have </a:t>
            </a:r>
            <a:r>
              <a:rPr lang="en-US" dirty="0"/>
              <a:t>the </a:t>
            </a:r>
            <a:r>
              <a:rPr lang="en-US"/>
              <a:t>same value </a:t>
            </a:r>
            <a:r>
              <a:rPr lang="en-US" dirty="0"/>
              <a:t>in a specific column (column group)</a:t>
            </a:r>
          </a:p>
          <a:p>
            <a:pPr marL="0" indent="0">
              <a:buNone/>
            </a:pPr>
            <a:r>
              <a:rPr lang="lv-LV" b="1"/>
              <a:t>HAVING </a:t>
            </a:r>
            <a:r>
              <a:rPr lang="lv-LV" dirty="0"/>
              <a:t>– </a:t>
            </a:r>
            <a:r>
              <a:rPr lang="en-US" dirty="0"/>
              <a:t>selects row groups according to the condition</a:t>
            </a:r>
            <a:endParaRPr lang="lv-LV" dirty="0"/>
          </a:p>
          <a:p>
            <a:pPr marL="0" indent="0">
              <a:buNone/>
            </a:pPr>
            <a:r>
              <a:rPr lang="lv-LV" b="1" dirty="0"/>
              <a:t>ORDER BY</a:t>
            </a:r>
            <a:r>
              <a:rPr lang="lv-LV" dirty="0"/>
              <a:t> – </a:t>
            </a:r>
            <a:r>
              <a:rPr lang="lv-LV" dirty="0" err="1"/>
              <a:t>performs</a:t>
            </a:r>
            <a:r>
              <a:rPr lang="lv-LV" dirty="0"/>
              <a:t> </a:t>
            </a:r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sorting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315467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Single table data selection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b="1" i="1" dirty="0"/>
              <a:t>SELECT *				</a:t>
            </a:r>
            <a:endParaRPr lang="lv-LV" dirty="0"/>
          </a:p>
          <a:p>
            <a:pPr marL="0" indent="0">
              <a:buNone/>
            </a:pPr>
            <a:r>
              <a:rPr lang="lv-LV" b="1" i="1" dirty="0"/>
              <a:t>FROM Aut</a:t>
            </a:r>
            <a:r>
              <a:rPr lang="en-US" b="1" i="1" dirty="0"/>
              <a:t>h</a:t>
            </a:r>
            <a:r>
              <a:rPr lang="lv-LV" b="1" i="1" dirty="0" err="1"/>
              <a:t>ors</a:t>
            </a:r>
            <a:r>
              <a:rPr lang="lv-LV" b="1" i="1" dirty="0"/>
              <a:t>;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DFCA02-86FE-1459-2696-061AD90D5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815" y="2985643"/>
            <a:ext cx="3905795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238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Single table data selection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1" dirty="0"/>
              <a:t>SELECT </a:t>
            </a:r>
            <a:r>
              <a:rPr lang="en-US" b="1" i="1" dirty="0" err="1"/>
              <a:t>AuthorSur</a:t>
            </a:r>
            <a:r>
              <a:rPr lang="en-US" b="1" i="1" dirty="0"/>
              <a:t>, </a:t>
            </a:r>
            <a:r>
              <a:rPr lang="en-US" b="1" i="1" dirty="0" err="1"/>
              <a:t>AuthorName</a:t>
            </a:r>
            <a:endParaRPr lang="en-US" b="1" i="1" dirty="0"/>
          </a:p>
          <a:p>
            <a:pPr marL="0" indent="0">
              <a:buNone/>
            </a:pPr>
            <a:r>
              <a:rPr lang="en-US" b="1" i="1" dirty="0"/>
              <a:t>FROM Authors;</a:t>
            </a:r>
            <a:endParaRPr lang="lv-LV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010DAF-BE70-BA63-DD59-3DE277FC2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64" y="2995169"/>
            <a:ext cx="213389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86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Column</a:t>
            </a:r>
            <a:r>
              <a:rPr lang="lv-LV" dirty="0"/>
              <a:t> </a:t>
            </a:r>
            <a:r>
              <a:rPr lang="lv-LV" dirty="0" err="1"/>
              <a:t>aliases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781" y="1825625"/>
            <a:ext cx="843001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SELECT Author</a:t>
            </a:r>
            <a:r>
              <a:rPr lang="lv-LV" sz="2000" b="1" i="1" dirty="0" err="1"/>
              <a:t>Name</a:t>
            </a:r>
            <a:r>
              <a:rPr lang="en-US" sz="2000" b="1" i="1" dirty="0"/>
              <a:t> AS </a:t>
            </a:r>
            <a:r>
              <a:rPr lang="lv-LV" sz="2000" b="1" i="1" dirty="0"/>
              <a:t>`</a:t>
            </a:r>
            <a:r>
              <a:rPr lang="en-US" sz="2000" b="1" i="1" dirty="0"/>
              <a:t>Author name</a:t>
            </a:r>
            <a:r>
              <a:rPr lang="lv-LV" sz="2000" b="1" i="1" dirty="0"/>
              <a:t>`</a:t>
            </a:r>
            <a:r>
              <a:rPr lang="en-US" sz="2000" b="1" i="1" dirty="0"/>
              <a:t>, Author</a:t>
            </a:r>
            <a:r>
              <a:rPr lang="lv-LV" sz="2000" b="1" i="1" dirty="0" err="1"/>
              <a:t>Sur</a:t>
            </a:r>
            <a:r>
              <a:rPr lang="en-US" sz="2000" b="1" i="1" dirty="0"/>
              <a:t> AS </a:t>
            </a:r>
            <a:r>
              <a:rPr lang="lv-LV" sz="2000" b="1" i="1" dirty="0"/>
              <a:t>`</a:t>
            </a:r>
            <a:r>
              <a:rPr lang="en-US" sz="2000" b="1" i="1" dirty="0"/>
              <a:t>Author surname</a:t>
            </a:r>
            <a:r>
              <a:rPr lang="lv-LV" sz="2000" b="1" i="1" dirty="0"/>
              <a:t>`</a:t>
            </a:r>
            <a:endParaRPr lang="en-US" sz="2000" b="1" i="1" dirty="0"/>
          </a:p>
          <a:p>
            <a:pPr marL="0" indent="0">
              <a:buNone/>
            </a:pPr>
            <a:r>
              <a:rPr lang="en-US" sz="2000" b="1" i="1" dirty="0"/>
              <a:t>FROM Authors;</a:t>
            </a:r>
            <a:endParaRPr lang="lv-LV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36B86-0C30-C914-EDEF-6A44A57A2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611" y="2610667"/>
            <a:ext cx="2514951" cy="313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79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Column</a:t>
            </a:r>
            <a:r>
              <a:rPr lang="lv-LV" dirty="0"/>
              <a:t> </a:t>
            </a:r>
            <a:r>
              <a:rPr lang="lv-LV" dirty="0" err="1"/>
              <a:t>aliases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781" y="1795670"/>
            <a:ext cx="8430016" cy="46972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1" dirty="0"/>
              <a:t>SELECT CONCAT(</a:t>
            </a:r>
            <a:r>
              <a:rPr lang="en-US" sz="2000" b="1" i="1" dirty="0" err="1"/>
              <a:t>AuthorName</a:t>
            </a:r>
            <a:r>
              <a:rPr lang="en-US" sz="2000" b="1" i="1" dirty="0"/>
              <a:t>, ' ', </a:t>
            </a:r>
            <a:r>
              <a:rPr lang="en-US" sz="2000" b="1" i="1" dirty="0" err="1"/>
              <a:t>AuthorSur</a:t>
            </a:r>
            <a:r>
              <a:rPr lang="en-US" sz="2000" b="1" i="1" dirty="0"/>
              <a:t>) AS ` Name Surname ` </a:t>
            </a:r>
          </a:p>
          <a:p>
            <a:pPr marL="0" indent="0">
              <a:buNone/>
            </a:pPr>
            <a:r>
              <a:rPr lang="en-US" sz="2000" b="1" i="1" dirty="0"/>
              <a:t>FROM Authors;</a:t>
            </a:r>
            <a:endParaRPr lang="lv-LV" sz="2000" b="1" i="1" dirty="0"/>
          </a:p>
          <a:p>
            <a:pPr marL="0" indent="0">
              <a:buNone/>
            </a:pPr>
            <a:endParaRPr lang="lv-LV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768BB-C3C1-F8E4-2CA3-53CD7D18C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707" y="3429000"/>
            <a:ext cx="1505160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40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Ignoring </a:t>
            </a:r>
            <a:r>
              <a:rPr lang="en-US"/>
              <a:t>duplicate values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</a:p>
          <a:p>
            <a:pPr marL="0" indent="0">
              <a:buNone/>
            </a:pPr>
            <a:r>
              <a:rPr lang="lv-LV" i="1" dirty="0"/>
              <a:t>SELECT DISTINCT </a:t>
            </a:r>
            <a:r>
              <a:rPr lang="en-US" i="1" dirty="0"/>
              <a:t>columns</a:t>
            </a:r>
            <a:r>
              <a:rPr lang="lv-LV" i="1" dirty="0"/>
              <a:t>			</a:t>
            </a:r>
          </a:p>
          <a:p>
            <a:pPr marL="0" indent="0">
              <a:buNone/>
            </a:pPr>
            <a:r>
              <a:rPr lang="lv-LV" i="1" dirty="0"/>
              <a:t>FROM	</a:t>
            </a:r>
            <a:r>
              <a:rPr lang="en-US" i="1" dirty="0"/>
              <a:t> table</a:t>
            </a:r>
            <a:r>
              <a:rPr lang="lv-LV" i="1" dirty="0"/>
              <a:t>;</a:t>
            </a:r>
          </a:p>
          <a:p>
            <a:pPr marL="0" indent="0">
              <a:buNone/>
            </a:pPr>
            <a:r>
              <a:rPr lang="lv-LV" b="1" dirty="0"/>
              <a:t>SELECT Publisher</a:t>
            </a:r>
          </a:p>
          <a:p>
            <a:pPr marL="0" indent="0">
              <a:buNone/>
            </a:pPr>
            <a:r>
              <a:rPr lang="lv-LV" b="1" dirty="0"/>
              <a:t>FROM </a:t>
            </a:r>
            <a:r>
              <a:rPr lang="lv-LV" b="1" dirty="0" err="1"/>
              <a:t>Books</a:t>
            </a:r>
            <a:r>
              <a:rPr lang="lv-LV" b="1" dirty="0"/>
              <a:t>;</a:t>
            </a:r>
          </a:p>
          <a:p>
            <a:endParaRPr lang="lv-LV" dirty="0"/>
          </a:p>
        </p:txBody>
      </p:sp>
      <p:sp>
        <p:nvSpPr>
          <p:cNvPr id="5" name="Rectangle 4"/>
          <p:cNvSpPr/>
          <p:nvPr/>
        </p:nvSpPr>
        <p:spPr>
          <a:xfrm>
            <a:off x="4572000" y="3343830"/>
            <a:ext cx="4572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lv-LV" sz="2800" b="1" dirty="0"/>
              <a:t>SELECT </a:t>
            </a:r>
            <a:r>
              <a:rPr lang="lv-LV" sz="2800" b="1" dirty="0" err="1"/>
              <a:t>Distinct</a:t>
            </a:r>
            <a:r>
              <a:rPr lang="lv-LV" sz="2800" b="1" dirty="0"/>
              <a:t> Publisher</a:t>
            </a:r>
          </a:p>
          <a:p>
            <a:r>
              <a:rPr lang="lv-LV" sz="2800" b="1" dirty="0"/>
              <a:t>FROM </a:t>
            </a:r>
            <a:r>
              <a:rPr lang="lv-LV" sz="2800" b="1" dirty="0" err="1"/>
              <a:t>Books</a:t>
            </a:r>
            <a:r>
              <a:rPr lang="lv-LV" sz="2800" b="1" dirty="0"/>
              <a:t>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88177-8D65-F40C-E3F2-EA7512B11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786" y="4474735"/>
            <a:ext cx="905001" cy="2162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1D7455-227A-78C9-3876-587FEC4A8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917" y="4474735"/>
            <a:ext cx="952633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25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Ignoring </a:t>
            </a:r>
            <a:r>
              <a:rPr lang="en-US"/>
              <a:t>duplicate values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If multiple columns are included in a SELECT DISTINCT sentence, the same combination of values ​​will not be repeated, even if the columns may contain iterations.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The SELECT DISTINCT statement treats two NULL values ​​as equal values.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508938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Sorting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2"/>
            <a:ext cx="7886700" cy="516312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After executing the query, the DBMS outputs unordered rows. Use the ORDER BY statement to sort the rows.</a:t>
            </a:r>
          </a:p>
          <a:p>
            <a:pPr marL="0" indent="0" algn="just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</a:p>
          <a:p>
            <a:pPr marL="0" indent="0" algn="just">
              <a:buNone/>
            </a:pPr>
            <a:r>
              <a:rPr lang="lv-LV" i="1" dirty="0"/>
              <a:t>SELECT </a:t>
            </a:r>
            <a:r>
              <a:rPr lang="en-US" i="1" dirty="0"/>
              <a:t>columns</a:t>
            </a:r>
            <a:r>
              <a:rPr lang="lv-LV" i="1" dirty="0"/>
              <a:t>					</a:t>
            </a:r>
          </a:p>
          <a:p>
            <a:pPr marL="0" indent="0" algn="just">
              <a:buNone/>
            </a:pPr>
            <a:r>
              <a:rPr lang="lv-LV" i="1" dirty="0"/>
              <a:t>FROM	 </a:t>
            </a:r>
            <a:r>
              <a:rPr lang="en-US" i="1" dirty="0"/>
              <a:t>table</a:t>
            </a:r>
            <a:r>
              <a:rPr lang="lv-LV" i="1" dirty="0"/>
              <a:t>					</a:t>
            </a:r>
          </a:p>
          <a:p>
            <a:pPr marL="0" indent="0" algn="just">
              <a:buNone/>
            </a:pPr>
            <a:r>
              <a:rPr lang="lv-LV" i="1" dirty="0"/>
              <a:t>ORDER BY </a:t>
            </a:r>
            <a:r>
              <a:rPr lang="en-US" i="1" dirty="0"/>
              <a:t>columns</a:t>
            </a:r>
            <a:r>
              <a:rPr lang="lv-LV" i="1" dirty="0"/>
              <a:t> [ASC|DESC]</a:t>
            </a:r>
          </a:p>
          <a:p>
            <a:pPr marL="0" indent="0" algn="just">
              <a:buNone/>
            </a:pPr>
            <a:endParaRPr lang="lv-LV" i="1" dirty="0"/>
          </a:p>
          <a:p>
            <a:pPr marL="0" indent="0" algn="just">
              <a:buNone/>
            </a:pPr>
            <a:r>
              <a:rPr lang="en-US" i="1" dirty="0"/>
              <a:t>where</a:t>
            </a:r>
            <a:endParaRPr lang="lv-LV" dirty="0"/>
          </a:p>
          <a:p>
            <a:pPr marL="0" indent="0" algn="just">
              <a:buNone/>
            </a:pPr>
            <a:r>
              <a:rPr lang="lv-LV" b="1" dirty="0"/>
              <a:t>ASC </a:t>
            </a:r>
            <a:r>
              <a:rPr lang="lv-LV" dirty="0"/>
              <a:t>– </a:t>
            </a:r>
            <a:r>
              <a:rPr lang="en-US" dirty="0"/>
              <a:t>ascending order</a:t>
            </a:r>
            <a:endParaRPr lang="lv-LV" dirty="0"/>
          </a:p>
          <a:p>
            <a:pPr marL="0" indent="0" algn="just">
              <a:buNone/>
            </a:pPr>
            <a:r>
              <a:rPr lang="lv-LV" b="1" dirty="0"/>
              <a:t>DESC </a:t>
            </a:r>
            <a:r>
              <a:rPr lang="lv-LV" dirty="0"/>
              <a:t>– </a:t>
            </a:r>
            <a:r>
              <a:rPr lang="en-US" dirty="0"/>
              <a:t>descending</a:t>
            </a: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</a:endParaRP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</a:rPr>
              <a:t>The ORDER BY keyword sorts the records in ascending order by default. To sort the records in descending order, use the DESC keyword.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1959759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Sorting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378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lv-LV" sz="2000" b="1" dirty="0"/>
              <a:t>SELECT </a:t>
            </a:r>
            <a:r>
              <a:rPr lang="lv-LV" sz="2000" b="1" dirty="0" err="1"/>
              <a:t>AuthorSur</a:t>
            </a:r>
            <a:r>
              <a:rPr lang="lv-LV" sz="2000" b="1" dirty="0"/>
              <a:t> AS </a:t>
            </a:r>
            <a:r>
              <a:rPr lang="en-US" sz="2000" b="1" dirty="0"/>
              <a:t>Surname</a:t>
            </a:r>
            <a:r>
              <a:rPr lang="lv-LV" sz="2000" b="1" dirty="0"/>
              <a:t>, </a:t>
            </a:r>
            <a:r>
              <a:rPr lang="lv-LV" sz="2000" b="1" dirty="0" err="1"/>
              <a:t>AuthorName</a:t>
            </a:r>
            <a:r>
              <a:rPr lang="lv-LV" sz="2000" b="1" dirty="0"/>
              <a:t> AS </a:t>
            </a:r>
            <a:r>
              <a:rPr lang="en-US" sz="2000" b="1" dirty="0"/>
              <a:t>Name</a:t>
            </a:r>
            <a:r>
              <a:rPr lang="lv-LV" sz="2000" b="1" dirty="0"/>
              <a:t>, </a:t>
            </a:r>
            <a:r>
              <a:rPr lang="lv-LV" sz="2000" b="1" dirty="0" err="1"/>
              <a:t>YearOfBirth</a:t>
            </a:r>
            <a:r>
              <a:rPr lang="lv-LV" sz="2000" b="1" dirty="0"/>
              <a:t> AS `</a:t>
            </a:r>
            <a:r>
              <a:rPr lang="lv-LV" sz="2000" b="1" dirty="0" err="1"/>
              <a:t>Year</a:t>
            </a:r>
            <a:r>
              <a:rPr lang="en-US" sz="2000" b="1" dirty="0"/>
              <a:t> </a:t>
            </a:r>
            <a:r>
              <a:rPr lang="lv-LV" sz="2000" b="1" dirty="0" err="1"/>
              <a:t>Of</a:t>
            </a:r>
            <a:r>
              <a:rPr lang="en-US" sz="2000" b="1" dirty="0"/>
              <a:t> </a:t>
            </a:r>
            <a:r>
              <a:rPr lang="lv-LV" sz="2000" b="1" dirty="0" err="1"/>
              <a:t>Birth</a:t>
            </a:r>
            <a:r>
              <a:rPr lang="lv-LV" sz="2000" b="1" dirty="0"/>
              <a:t>`</a:t>
            </a:r>
          </a:p>
          <a:p>
            <a:pPr marL="0" indent="0" algn="just">
              <a:buNone/>
            </a:pPr>
            <a:r>
              <a:rPr lang="lv-LV" sz="2000" b="1" dirty="0"/>
              <a:t>FROM </a:t>
            </a:r>
            <a:r>
              <a:rPr lang="lv-LV" sz="2000" b="1" dirty="0" err="1"/>
              <a:t>Authors</a:t>
            </a:r>
            <a:endParaRPr lang="lv-LV" sz="2000" b="1" dirty="0"/>
          </a:p>
          <a:p>
            <a:pPr marL="0" indent="0" algn="just">
              <a:buNone/>
            </a:pPr>
            <a:r>
              <a:rPr lang="lv-LV" sz="2000" b="1" dirty="0"/>
              <a:t>ORDER BY </a:t>
            </a:r>
            <a:r>
              <a:rPr lang="lv-LV" sz="2000" b="1" dirty="0" err="1"/>
              <a:t>AuthorSur</a:t>
            </a:r>
            <a:r>
              <a:rPr lang="lv-LV" sz="2000" b="1" dirty="0"/>
              <a:t> ASC;</a:t>
            </a:r>
            <a:endParaRPr lang="lv-LV" sz="2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19B1D3-6169-CD19-2562-5671EB65E3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105" y="3373492"/>
            <a:ext cx="2791215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13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Sorting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76246"/>
            <a:ext cx="7886700" cy="46378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Display authors' surnames, names and years of birth. Sort alphabetically by last name. If there are identical surnames - by names. </a:t>
            </a:r>
            <a:endParaRPr lang="lv-LV" sz="2000" b="1" dirty="0"/>
          </a:p>
          <a:p>
            <a:pPr marL="0" indent="0" algn="just">
              <a:buNone/>
            </a:pPr>
            <a:r>
              <a:rPr lang="lv-LV" sz="2000" b="1" dirty="0"/>
              <a:t>SELECT </a:t>
            </a:r>
            <a:r>
              <a:rPr lang="lv-LV" sz="2000" b="1" dirty="0" err="1"/>
              <a:t>AuthorSur</a:t>
            </a:r>
            <a:r>
              <a:rPr lang="lv-LV" sz="2000" b="1" dirty="0"/>
              <a:t> AS </a:t>
            </a:r>
            <a:r>
              <a:rPr lang="en-US" sz="2000" b="1" dirty="0"/>
              <a:t>Surname</a:t>
            </a:r>
            <a:r>
              <a:rPr lang="lv-LV" sz="2000" b="1" dirty="0"/>
              <a:t>, </a:t>
            </a:r>
            <a:r>
              <a:rPr lang="lv-LV" sz="2000" b="1" dirty="0" err="1"/>
              <a:t>AuthorName</a:t>
            </a:r>
            <a:r>
              <a:rPr lang="lv-LV" sz="2000" b="1" dirty="0"/>
              <a:t> AS </a:t>
            </a:r>
            <a:r>
              <a:rPr lang="en-US" sz="2000" b="1" dirty="0"/>
              <a:t>Name</a:t>
            </a:r>
            <a:r>
              <a:rPr lang="lv-LV" sz="2000" b="1" dirty="0"/>
              <a:t>, </a:t>
            </a:r>
            <a:r>
              <a:rPr lang="lv-LV" sz="2000" b="1" dirty="0" err="1"/>
              <a:t>YearOfBirth</a:t>
            </a:r>
            <a:r>
              <a:rPr lang="lv-LV" sz="2000" b="1" dirty="0"/>
              <a:t> AS `</a:t>
            </a:r>
            <a:r>
              <a:rPr lang="lv-LV" sz="2000" b="1" dirty="0" err="1"/>
              <a:t>Year</a:t>
            </a:r>
            <a:r>
              <a:rPr lang="lv-LV" sz="2000" b="1" dirty="0"/>
              <a:t> </a:t>
            </a:r>
            <a:r>
              <a:rPr lang="lv-LV" sz="2000" b="1" dirty="0" err="1"/>
              <a:t>Of</a:t>
            </a:r>
            <a:r>
              <a:rPr lang="lv-LV" sz="2000" b="1" dirty="0"/>
              <a:t> </a:t>
            </a:r>
            <a:r>
              <a:rPr lang="lv-LV" sz="2000" b="1" dirty="0" err="1"/>
              <a:t>Birth</a:t>
            </a:r>
            <a:r>
              <a:rPr lang="lv-LV" sz="2000" b="1" dirty="0"/>
              <a:t>`</a:t>
            </a:r>
          </a:p>
          <a:p>
            <a:pPr marL="0" indent="0" algn="just">
              <a:buNone/>
            </a:pPr>
            <a:r>
              <a:rPr lang="lv-LV" sz="2000" b="1" dirty="0"/>
              <a:t>FROM </a:t>
            </a:r>
            <a:r>
              <a:rPr lang="lv-LV" sz="2000" b="1" dirty="0" err="1"/>
              <a:t>Authors</a:t>
            </a:r>
            <a:endParaRPr lang="lv-LV" sz="2000" b="1" dirty="0"/>
          </a:p>
          <a:p>
            <a:pPr marL="0" indent="0" algn="just">
              <a:buNone/>
            </a:pPr>
            <a:r>
              <a:rPr lang="lv-LV" sz="2000" b="1" dirty="0"/>
              <a:t>ORDER BY </a:t>
            </a:r>
            <a:r>
              <a:rPr lang="lv-LV" sz="2000" b="1" dirty="0" err="1"/>
              <a:t>AuthorSur</a:t>
            </a:r>
            <a:r>
              <a:rPr lang="lv-LV" sz="2000" b="1" dirty="0"/>
              <a:t>, </a:t>
            </a:r>
            <a:r>
              <a:rPr lang="lv-LV" sz="2000" b="1" dirty="0" err="1"/>
              <a:t>AuthorName</a:t>
            </a:r>
            <a:r>
              <a:rPr lang="lv-LV" sz="2000" b="1" dirty="0"/>
              <a:t>;</a:t>
            </a:r>
            <a:endParaRPr lang="lv-LV" sz="2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CE1167-E2A2-4024-CCC9-61789D951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930" y="3429000"/>
            <a:ext cx="2743583" cy="319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08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Sorting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3780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This example shows that the column name you sort by may not be in the SELECT statement.</a:t>
            </a:r>
          </a:p>
          <a:p>
            <a:pPr marL="0" indent="0" algn="just">
              <a:buNone/>
            </a:pPr>
            <a:r>
              <a:rPr lang="en-US" sz="2000" b="1" dirty="0"/>
              <a:t>SELECT </a:t>
            </a:r>
            <a:r>
              <a:rPr lang="en-US" sz="2000" b="1" dirty="0" err="1"/>
              <a:t>AuthorSur</a:t>
            </a:r>
            <a:r>
              <a:rPr lang="en-US" sz="2000" b="1" dirty="0"/>
              <a:t>, </a:t>
            </a:r>
            <a:r>
              <a:rPr lang="en-US" sz="2000" b="1" dirty="0" err="1"/>
              <a:t>AuthorName</a:t>
            </a:r>
            <a:endParaRPr lang="en-US" sz="2000" b="1" dirty="0"/>
          </a:p>
          <a:p>
            <a:pPr marL="0" indent="0" algn="just">
              <a:buNone/>
            </a:pPr>
            <a:r>
              <a:rPr lang="en-US" sz="2000" b="1" dirty="0"/>
              <a:t>FROM Authors</a:t>
            </a:r>
          </a:p>
          <a:p>
            <a:pPr marL="0" indent="0" algn="just">
              <a:buNone/>
            </a:pPr>
            <a:r>
              <a:rPr lang="en-US" sz="2000" b="1" dirty="0"/>
              <a:t>ORDER BY </a:t>
            </a:r>
            <a:r>
              <a:rPr lang="en-US" sz="2000" b="1" dirty="0" err="1"/>
              <a:t>YearOfBirth</a:t>
            </a:r>
            <a:r>
              <a:rPr lang="en-US" sz="2000" b="1" dirty="0"/>
              <a:t> DESC;</a:t>
            </a:r>
            <a:endParaRPr lang="lv-LV" sz="2000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F37E66-6CBB-B693-F4A1-3CCFE3E3F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320606"/>
            <a:ext cx="2105319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822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The WHERE clause is used to filter records.</a:t>
            </a:r>
          </a:p>
          <a:p>
            <a:pPr marL="0" indent="0" algn="just">
              <a:buNone/>
            </a:pPr>
            <a:r>
              <a:rPr lang="en-US" dirty="0"/>
              <a:t>The WHERE clause is used to extract only those records that fulfill a specified condition.</a:t>
            </a:r>
            <a:r>
              <a:rPr lang="lv-LV" dirty="0"/>
              <a:t> </a:t>
            </a:r>
          </a:p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</a:t>
            </a:r>
            <a:r>
              <a:rPr lang="lv-LV" dirty="0"/>
              <a:t>t:</a:t>
            </a:r>
          </a:p>
          <a:p>
            <a:pPr marL="0" indent="0">
              <a:buNone/>
            </a:pPr>
            <a:r>
              <a:rPr lang="lv-LV" dirty="0"/>
              <a:t> </a:t>
            </a:r>
          </a:p>
          <a:p>
            <a:pPr marL="0" indent="0">
              <a:buNone/>
            </a:pPr>
            <a:r>
              <a:rPr lang="lv-LV" i="1" dirty="0"/>
              <a:t>SELECT </a:t>
            </a:r>
            <a:r>
              <a:rPr lang="en-US" i="1" dirty="0"/>
              <a:t>columns</a:t>
            </a:r>
            <a:r>
              <a:rPr lang="lv-LV" i="1" dirty="0"/>
              <a:t>					</a:t>
            </a:r>
          </a:p>
          <a:p>
            <a:pPr marL="0" indent="0">
              <a:buNone/>
            </a:pPr>
            <a:r>
              <a:rPr lang="lv-LV" i="1" dirty="0"/>
              <a:t>FROM	</a:t>
            </a:r>
            <a:r>
              <a:rPr lang="en-US" i="1" dirty="0"/>
              <a:t>  table</a:t>
            </a:r>
            <a:r>
              <a:rPr lang="lv-LV" i="1" dirty="0"/>
              <a:t>					</a:t>
            </a:r>
          </a:p>
          <a:p>
            <a:pPr marL="0" indent="0">
              <a:buNone/>
            </a:pPr>
            <a:r>
              <a:rPr lang="lv-LV" i="1" dirty="0"/>
              <a:t>WHERE </a:t>
            </a:r>
            <a:r>
              <a:rPr lang="en-US" i="1" dirty="0"/>
              <a:t>column</a:t>
            </a:r>
            <a:r>
              <a:rPr lang="lv-LV" i="1" dirty="0"/>
              <a:t> OPERATOR </a:t>
            </a:r>
            <a:r>
              <a:rPr lang="en-US" i="1" dirty="0"/>
              <a:t>value</a:t>
            </a:r>
            <a:r>
              <a:rPr lang="lv-LV" i="1" dirty="0"/>
              <a:t>		</a:t>
            </a:r>
          </a:p>
          <a:p>
            <a:pPr marL="0" indent="0">
              <a:buNone/>
            </a:pPr>
            <a:r>
              <a:rPr lang="lv-LV" i="1" dirty="0"/>
              <a:t>[ORDER BY </a:t>
            </a:r>
            <a:r>
              <a:rPr lang="en-US" i="1" dirty="0"/>
              <a:t>columns</a:t>
            </a:r>
            <a:r>
              <a:rPr lang="lv-LV" i="1" dirty="0"/>
              <a:t>];</a:t>
            </a:r>
            <a:endParaRPr lang="lv-LV" dirty="0"/>
          </a:p>
        </p:txBody>
      </p:sp>
    </p:spTree>
    <p:extLst>
      <p:ext uri="{BB962C8B-B14F-4D97-AF65-F5344CB8AC3E}">
        <p14:creationId xmlns:p14="http://schemas.microsoft.com/office/powerpoint/2010/main" val="2259165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2410"/>
            <a:ext cx="7886700" cy="534941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 following operators can be used in the WHERE clause</a:t>
            </a:r>
            <a:r>
              <a:rPr lang="lv-LV" dirty="0"/>
              <a:t>:</a:t>
            </a:r>
          </a:p>
          <a:p>
            <a:endParaRPr lang="lv-LV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can compare:</a:t>
            </a:r>
          </a:p>
          <a:p>
            <a:pPr marL="0" indent="0">
              <a:buNone/>
            </a:pPr>
            <a:r>
              <a:rPr lang="en-US" dirty="0"/>
              <a:t>text</a:t>
            </a:r>
          </a:p>
          <a:p>
            <a:pPr marL="0" indent="0">
              <a:buNone/>
            </a:pPr>
            <a:r>
              <a:rPr lang="en-US" dirty="0"/>
              <a:t>numbers</a:t>
            </a:r>
          </a:p>
          <a:p>
            <a:pPr marL="0" indent="0">
              <a:buNone/>
            </a:pPr>
            <a:r>
              <a:rPr lang="en-US" dirty="0"/>
              <a:t>same format date and time values ​</a:t>
            </a:r>
            <a:endParaRPr lang="lv-LV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EE0EDC-18C0-4F3B-BF26-B50ABD30ED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779209"/>
              </p:ext>
            </p:extLst>
          </p:nvPr>
        </p:nvGraphicFramePr>
        <p:xfrm>
          <a:off x="1459922" y="2031971"/>
          <a:ext cx="6461306" cy="3108094"/>
        </p:xfrm>
        <a:graphic>
          <a:graphicData uri="http://schemas.openxmlformats.org/drawingml/2006/table">
            <a:tbl>
              <a:tblPr/>
              <a:tblGrid>
                <a:gridCol w="1440889">
                  <a:extLst>
                    <a:ext uri="{9D8B030D-6E8A-4147-A177-3AD203B41FA5}">
                      <a16:colId xmlns:a16="http://schemas.microsoft.com/office/drawing/2014/main" val="3811665863"/>
                    </a:ext>
                  </a:extLst>
                </a:gridCol>
                <a:gridCol w="5020417">
                  <a:extLst>
                    <a:ext uri="{9D8B030D-6E8A-4147-A177-3AD203B41FA5}">
                      <a16:colId xmlns:a16="http://schemas.microsoft.com/office/drawing/2014/main" val="501404053"/>
                    </a:ext>
                  </a:extLst>
                </a:gridCol>
              </a:tblGrid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dirty="0">
                          <a:effectLst/>
                        </a:rPr>
                        <a:t>Operator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b="1" dirty="0">
                          <a:effectLst/>
                        </a:rPr>
                        <a:t>Description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937211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=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Equal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48380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&gt;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Greater than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83437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&lt;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Less than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071929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&gt;=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Greater than or equal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945168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&lt;=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Less than or equal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4909678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&lt;&gt;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Not equal. </a:t>
                      </a:r>
                      <a:r>
                        <a:rPr lang="en-US" sz="1200" b="1" dirty="0">
                          <a:effectLst/>
                        </a:rPr>
                        <a:t>Note:</a:t>
                      </a:r>
                      <a:r>
                        <a:rPr lang="en-US" sz="1200" dirty="0">
                          <a:effectLst/>
                        </a:rPr>
                        <a:t> In </a:t>
                      </a:r>
                      <a:r>
                        <a:rPr lang="en-US" sz="1200">
                          <a:effectLst/>
                        </a:rPr>
                        <a:t>some versions </a:t>
                      </a:r>
                      <a:r>
                        <a:rPr lang="en-US" sz="1200" dirty="0">
                          <a:effectLst/>
                        </a:rPr>
                        <a:t>of SQL this operator may be written as !=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37881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BETWEEN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Between a certain range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792453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LIKE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Search for a pattern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02595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IN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To specify multiple </a:t>
                      </a:r>
                      <a:r>
                        <a:rPr lang="en-US" sz="1200">
                          <a:effectLst/>
                        </a:rPr>
                        <a:t>possible values </a:t>
                      </a:r>
                      <a:r>
                        <a:rPr lang="en-US" sz="1200" dirty="0">
                          <a:effectLst/>
                        </a:rPr>
                        <a:t>for a column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691392"/>
                  </a:ext>
                </a:extLst>
              </a:tr>
              <a:tr h="279087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IS [NOT] NULL</a:t>
                      </a:r>
                    </a:p>
                  </a:txBody>
                  <a:tcPr marL="99674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Test for NULL Values</a:t>
                      </a:r>
                    </a:p>
                  </a:txBody>
                  <a:tcPr marL="49837" marR="49837" marT="49837" marB="49837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2855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0214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37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Display the name and year of birth of the author with the surname '</a:t>
            </a:r>
            <a:r>
              <a:rPr lang="en-US" dirty="0" err="1"/>
              <a:t>Leimane</a:t>
            </a:r>
            <a:r>
              <a:rPr lang="en-US" dirty="0"/>
              <a:t>'.</a:t>
            </a:r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r>
              <a:rPr lang="en-US" sz="2000" b="1" dirty="0"/>
              <a:t>SELECT </a:t>
            </a:r>
            <a:r>
              <a:rPr lang="en-US" sz="2000" b="1" dirty="0" err="1"/>
              <a:t>AuthorSur</a:t>
            </a:r>
            <a:r>
              <a:rPr lang="en-US" sz="2000" b="1" dirty="0"/>
              <a:t> AS Surname, </a:t>
            </a:r>
            <a:r>
              <a:rPr lang="en-US" sz="2000" b="1" dirty="0" err="1"/>
              <a:t>AuthorName</a:t>
            </a:r>
            <a:r>
              <a:rPr lang="en-US" sz="2000" b="1" dirty="0"/>
              <a:t> AS Name, </a:t>
            </a:r>
            <a:r>
              <a:rPr lang="en-US" sz="2000" b="1" dirty="0" err="1"/>
              <a:t>YearOfBirth</a:t>
            </a:r>
            <a:r>
              <a:rPr lang="en-US" sz="2000" b="1" dirty="0"/>
              <a:t> AS </a:t>
            </a:r>
            <a:r>
              <a:rPr lang="lv-LV" sz="2000" b="1" dirty="0"/>
              <a:t>`</a:t>
            </a:r>
            <a:r>
              <a:rPr lang="en-US" sz="2000" b="1" dirty="0"/>
              <a:t>Author Year Of Birth</a:t>
            </a:r>
            <a:r>
              <a:rPr lang="lv-LV" sz="2000" b="1" dirty="0"/>
              <a:t>`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FROM Authors</a:t>
            </a:r>
          </a:p>
          <a:p>
            <a:pPr marL="0" indent="0">
              <a:buNone/>
            </a:pPr>
            <a:r>
              <a:rPr lang="en-US" sz="2000" b="1" dirty="0"/>
              <a:t>WHERE </a:t>
            </a:r>
            <a:r>
              <a:rPr lang="en-US" sz="2000" b="1" dirty="0" err="1"/>
              <a:t>AuthorSur</a:t>
            </a:r>
            <a:r>
              <a:rPr lang="en-US" sz="2000" b="1" dirty="0"/>
              <a:t> = '</a:t>
            </a:r>
            <a:r>
              <a:rPr lang="en-US" sz="2000" b="1" dirty="0" err="1"/>
              <a:t>Leimane</a:t>
            </a:r>
            <a:r>
              <a:rPr lang="en-US" sz="2000" b="1" dirty="0"/>
              <a:t>';</a:t>
            </a:r>
            <a:endParaRPr lang="lv-LV" sz="20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0AEDBF-831B-8F9A-E583-1452C8A75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085" y="5119859"/>
            <a:ext cx="3143689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516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6378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Display surnames and names for authors born after 1990.</a:t>
            </a:r>
          </a:p>
          <a:p>
            <a:pPr marL="0" indent="0">
              <a:buNone/>
            </a:pPr>
            <a:endParaRPr lang="lv-LV" dirty="0"/>
          </a:p>
          <a:p>
            <a:pPr marL="0" indent="0">
              <a:buNone/>
            </a:pPr>
            <a:r>
              <a:rPr lang="en-US" sz="2000" b="1" dirty="0"/>
              <a:t>SELECT </a:t>
            </a:r>
            <a:r>
              <a:rPr lang="en-US" sz="2000" b="1" dirty="0" err="1"/>
              <a:t>AuthorSur</a:t>
            </a:r>
            <a:r>
              <a:rPr lang="en-US" sz="2000" b="1" dirty="0"/>
              <a:t> AS Surname, </a:t>
            </a:r>
            <a:r>
              <a:rPr lang="en-US" sz="2000" b="1" dirty="0" err="1"/>
              <a:t>AuthorName</a:t>
            </a:r>
            <a:r>
              <a:rPr lang="en-US" sz="2000" b="1" dirty="0"/>
              <a:t> AS Name</a:t>
            </a:r>
          </a:p>
          <a:p>
            <a:pPr marL="0" indent="0">
              <a:buNone/>
            </a:pPr>
            <a:r>
              <a:rPr lang="en-US" sz="2000" b="1" dirty="0"/>
              <a:t>FROM Authors</a:t>
            </a:r>
          </a:p>
          <a:p>
            <a:pPr marL="0" indent="0">
              <a:buNone/>
            </a:pPr>
            <a:r>
              <a:rPr lang="en-US" sz="2000" b="1" dirty="0"/>
              <a:t>WHERE </a:t>
            </a:r>
            <a:r>
              <a:rPr lang="en-US" sz="2000" b="1" dirty="0" err="1"/>
              <a:t>YearOfBirth</a:t>
            </a:r>
            <a:r>
              <a:rPr lang="en-US" sz="2000" b="1" dirty="0"/>
              <a:t> &gt; 1990;</a:t>
            </a:r>
            <a:endParaRPr lang="lv-LV" sz="2000" b="1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B8FFF5-493C-8BB2-B815-58395406E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071" y="4838663"/>
            <a:ext cx="2410527" cy="83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943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57196"/>
            <a:ext cx="7886700" cy="4906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Readers received the library service at 12:30.</a:t>
            </a:r>
          </a:p>
          <a:p>
            <a:pPr marL="0" indent="0">
              <a:buNone/>
            </a:pPr>
            <a:r>
              <a:rPr lang="en-US" dirty="0"/>
              <a:t>You can combine conditions with AND </a:t>
            </a:r>
            <a:r>
              <a:rPr lang="en-US" dirty="0" err="1"/>
              <a:t>and</a:t>
            </a:r>
            <a:r>
              <a:rPr lang="en-US" dirty="0"/>
              <a:t> OR</a:t>
            </a:r>
            <a:r>
              <a:rPr lang="lv-LV" dirty="0"/>
              <a:t>.</a:t>
            </a:r>
          </a:p>
          <a:p>
            <a:pPr marL="0" indent="0">
              <a:buNone/>
            </a:pPr>
            <a:endParaRPr lang="lv-LV" sz="1600" b="1" dirty="0"/>
          </a:p>
          <a:p>
            <a:pPr marL="0" indent="0">
              <a:buNone/>
            </a:pPr>
            <a:r>
              <a:rPr lang="lv-LV" sz="1600" b="1" dirty="0"/>
              <a:t>SELECT </a:t>
            </a:r>
            <a:r>
              <a:rPr lang="lv-LV" sz="1600" b="1" dirty="0" err="1"/>
              <a:t>ReaderID</a:t>
            </a:r>
            <a:r>
              <a:rPr lang="lv-LV" sz="1600" b="1" dirty="0"/>
              <a:t> AS ` </a:t>
            </a:r>
            <a:r>
              <a:rPr lang="lv-LV" sz="1600" b="1" dirty="0" err="1"/>
              <a:t>Reader</a:t>
            </a:r>
            <a:r>
              <a:rPr lang="lv-LV" sz="1600" b="1" dirty="0"/>
              <a:t> ID </a:t>
            </a:r>
            <a:r>
              <a:rPr lang="lv-LV" sz="1600" b="1" dirty="0" err="1"/>
              <a:t>number</a:t>
            </a:r>
            <a:r>
              <a:rPr lang="lv-LV" sz="1600" b="1" dirty="0"/>
              <a:t> `</a:t>
            </a:r>
            <a:endParaRPr lang="en-US" sz="1600" b="1" dirty="0"/>
          </a:p>
          <a:p>
            <a:pPr marL="0" indent="0">
              <a:buNone/>
            </a:pPr>
            <a:r>
              <a:rPr lang="lv-LV" sz="1600" b="1" dirty="0"/>
              <a:t>FROM </a:t>
            </a:r>
            <a:r>
              <a:rPr lang="lv-LV" sz="1600" b="1" dirty="0" err="1"/>
              <a:t>Journal</a:t>
            </a:r>
            <a:endParaRPr lang="en-US" sz="1600" b="1" dirty="0"/>
          </a:p>
          <a:p>
            <a:pPr marL="0" indent="0">
              <a:buNone/>
            </a:pPr>
            <a:r>
              <a:rPr lang="lv-LV" sz="1600" b="1" dirty="0"/>
              <a:t>WHERE TIME(</a:t>
            </a:r>
            <a:r>
              <a:rPr lang="lv-LV" sz="1600" b="1" dirty="0" err="1"/>
              <a:t>SStartTime</a:t>
            </a:r>
            <a:r>
              <a:rPr lang="lv-LV" sz="1600" b="1" dirty="0"/>
              <a:t>) = '12:30:00' OR TIME(</a:t>
            </a:r>
            <a:r>
              <a:rPr lang="lv-LV" sz="1600" b="1" dirty="0" err="1"/>
              <a:t>SFinishTime</a:t>
            </a:r>
            <a:r>
              <a:rPr lang="lv-LV" sz="1600" b="1" dirty="0"/>
              <a:t>) = '12:30:00';</a:t>
            </a:r>
          </a:p>
          <a:p>
            <a:pPr marL="0" indent="0">
              <a:buNone/>
            </a:pPr>
            <a:endParaRPr lang="lv-LV" sz="1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AD3194-08B7-5EE9-0D4D-DEBBCBF3C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76" y="4682303"/>
            <a:ext cx="2375169" cy="138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56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4772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Readers received the library service between 12:00 and 13:00.</a:t>
            </a:r>
          </a:p>
          <a:p>
            <a:pPr marL="0" indent="0">
              <a:buNone/>
            </a:pPr>
            <a:endParaRPr lang="lv-LV" sz="1600" b="1" dirty="0"/>
          </a:p>
          <a:p>
            <a:pPr marL="0" indent="0">
              <a:buNone/>
            </a:pPr>
            <a:r>
              <a:rPr lang="lv-LV" sz="1600" b="1" dirty="0"/>
              <a:t>SELECT </a:t>
            </a:r>
            <a:r>
              <a:rPr lang="lv-LV" sz="1600" b="1" dirty="0" err="1"/>
              <a:t>ReaderID</a:t>
            </a:r>
            <a:r>
              <a:rPr lang="lv-LV" sz="1600" b="1" dirty="0"/>
              <a:t> AS ` </a:t>
            </a:r>
            <a:r>
              <a:rPr lang="lv-LV" sz="1600" b="1" dirty="0" err="1"/>
              <a:t>Reader</a:t>
            </a:r>
            <a:r>
              <a:rPr lang="lv-LV" sz="1600" b="1" dirty="0"/>
              <a:t> ID </a:t>
            </a:r>
            <a:r>
              <a:rPr lang="lv-LV" sz="1600" b="1" dirty="0" err="1"/>
              <a:t>number</a:t>
            </a:r>
            <a:r>
              <a:rPr lang="lv-LV" sz="1600" b="1" dirty="0"/>
              <a:t> `</a:t>
            </a:r>
            <a:endParaRPr lang="en-US" sz="1600" b="1" dirty="0"/>
          </a:p>
          <a:p>
            <a:pPr marL="0" indent="0">
              <a:buNone/>
            </a:pPr>
            <a:r>
              <a:rPr lang="lv-LV" sz="1600" b="1" dirty="0"/>
              <a:t>FROM </a:t>
            </a:r>
            <a:r>
              <a:rPr lang="lv-LV" sz="1600" b="1" dirty="0" err="1"/>
              <a:t>Journal</a:t>
            </a:r>
            <a:endParaRPr lang="en-US" sz="1600" b="1" dirty="0"/>
          </a:p>
          <a:p>
            <a:pPr marL="0" indent="0">
              <a:buNone/>
            </a:pPr>
            <a:r>
              <a:rPr lang="lv-LV" sz="1600" b="1" dirty="0"/>
              <a:t>WHERE TIME(</a:t>
            </a:r>
            <a:r>
              <a:rPr lang="lv-LV" sz="1600" b="1" dirty="0" err="1"/>
              <a:t>SStartTime</a:t>
            </a:r>
            <a:r>
              <a:rPr lang="lv-LV" sz="1600" b="1" dirty="0"/>
              <a:t>) &gt;= '12:00:00' AND TIME(</a:t>
            </a:r>
            <a:r>
              <a:rPr lang="lv-LV" sz="1600" b="1" dirty="0" err="1"/>
              <a:t>SFinishTime</a:t>
            </a:r>
            <a:r>
              <a:rPr lang="lv-LV" sz="1600" b="1" dirty="0"/>
              <a:t>) &lt;= '13:00:00';</a:t>
            </a:r>
          </a:p>
          <a:p>
            <a:pPr marL="0" indent="0">
              <a:buNone/>
            </a:pPr>
            <a:endParaRPr lang="lv-LV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30CCD8-1321-7E18-4B6C-C24C68911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088" y="4560366"/>
            <a:ext cx="2168938" cy="77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790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90690"/>
            <a:ext cx="7886700" cy="4772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Readers received the library service between 12:00 and 13:00</a:t>
            </a:r>
            <a:r>
              <a:rPr lang="lv-LV" dirty="0"/>
              <a:t>. (</a:t>
            </a:r>
            <a:r>
              <a:rPr lang="en-US" dirty="0"/>
              <a:t>another example</a:t>
            </a:r>
            <a:r>
              <a:rPr lang="lv-LV" dirty="0"/>
              <a:t>)</a:t>
            </a:r>
          </a:p>
          <a:p>
            <a:pPr marL="0" indent="0">
              <a:buNone/>
            </a:pPr>
            <a:endParaRPr lang="lv-LV" sz="1800" dirty="0"/>
          </a:p>
          <a:p>
            <a:pPr marL="0" indent="0">
              <a:buNone/>
            </a:pPr>
            <a:r>
              <a:rPr lang="en-US" sz="1800" b="1" dirty="0"/>
              <a:t>SELECT </a:t>
            </a:r>
            <a:r>
              <a:rPr lang="en-US" sz="1800" b="1" dirty="0" err="1"/>
              <a:t>ReaderID</a:t>
            </a:r>
            <a:r>
              <a:rPr lang="en-US" sz="1800" b="1" dirty="0"/>
              <a:t> AS </a:t>
            </a:r>
            <a:r>
              <a:rPr lang="lv-LV" sz="1800" b="1" dirty="0"/>
              <a:t>`</a:t>
            </a:r>
            <a:r>
              <a:rPr lang="en-US" sz="1800" b="1" dirty="0"/>
              <a:t>Reader ID number</a:t>
            </a:r>
            <a:r>
              <a:rPr lang="lv-LV" sz="1800" b="1" dirty="0"/>
              <a:t>`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FROM Journal</a:t>
            </a:r>
          </a:p>
          <a:p>
            <a:pPr marL="0" indent="0">
              <a:buNone/>
            </a:pPr>
            <a:r>
              <a:rPr lang="en-US" sz="1800" b="1" dirty="0"/>
              <a:t>WHERE (extract(hour from </a:t>
            </a:r>
            <a:r>
              <a:rPr lang="en-US" sz="1800" b="1" dirty="0" err="1"/>
              <a:t>SStartTime</a:t>
            </a:r>
            <a:r>
              <a:rPr lang="en-US" sz="1800" b="1" dirty="0"/>
              <a:t>) &gt;= 12) </a:t>
            </a:r>
            <a:endParaRPr lang="lv-LV" sz="1800" b="1" dirty="0"/>
          </a:p>
          <a:p>
            <a:pPr marL="0" indent="0">
              <a:buNone/>
            </a:pPr>
            <a:r>
              <a:rPr lang="en-US" sz="1800" b="1" dirty="0"/>
              <a:t>AND (extract(hour from </a:t>
            </a:r>
            <a:r>
              <a:rPr lang="en-US" sz="1800" b="1" dirty="0" err="1"/>
              <a:t>SStartTime</a:t>
            </a:r>
            <a:r>
              <a:rPr lang="en-US" sz="1800" b="1" dirty="0"/>
              <a:t>) &lt;= 13)</a:t>
            </a:r>
            <a:endParaRPr lang="lv-LV" sz="1800" b="1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59D328-4816-DA1C-47D8-7493DF60F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175" y="4463367"/>
            <a:ext cx="1457528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266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4"/>
            <a:ext cx="8051887" cy="4963103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ru-RU" b="1" dirty="0"/>
              <a:t>LIKE </a:t>
            </a:r>
            <a:r>
              <a:rPr lang="ru-RU" b="1" dirty="0" err="1"/>
              <a:t>operator</a:t>
            </a:r>
            <a:endParaRPr lang="lv-LV" b="1" dirty="0"/>
          </a:p>
          <a:p>
            <a:pPr algn="just"/>
            <a:r>
              <a:rPr lang="en-US" dirty="0"/>
              <a:t>LIKE operator is used when exact values ​​are unknown or partially known.</a:t>
            </a:r>
          </a:p>
          <a:p>
            <a:pPr algn="just"/>
            <a:r>
              <a:rPr lang="en-US" dirty="0"/>
              <a:t>LIKE operator only works with text values</a:t>
            </a:r>
          </a:p>
          <a:p>
            <a:pPr algn="just"/>
            <a:r>
              <a:rPr lang="en-US" dirty="0"/>
              <a:t>a template using a </a:t>
            </a:r>
            <a:r>
              <a:rPr lang="en-US" dirty="0" err="1"/>
              <a:t>metasymbol</a:t>
            </a:r>
            <a:r>
              <a:rPr lang="en-US" dirty="0"/>
              <a:t> is used with the LIKE operator.</a:t>
            </a:r>
          </a:p>
          <a:p>
            <a:pPr algn="just"/>
            <a:r>
              <a:rPr lang="en-US" dirty="0"/>
              <a:t>Template - a set of symbols in quotation marks the value must match with </a:t>
            </a:r>
          </a:p>
          <a:p>
            <a:pPr algn="just"/>
            <a:r>
              <a:rPr lang="en-US" dirty="0" err="1"/>
              <a:t>Metasymbols</a:t>
            </a:r>
            <a:r>
              <a:rPr lang="en-US" dirty="0"/>
              <a:t>: % - any number of characters, _ - any single character</a:t>
            </a:r>
          </a:p>
          <a:p>
            <a:pPr algn="just"/>
            <a:r>
              <a:rPr lang="en-US" dirty="0"/>
              <a:t>You can use the NOT LIKE operator</a:t>
            </a:r>
          </a:p>
          <a:p>
            <a:pPr algn="just"/>
            <a:r>
              <a:rPr lang="en-US" dirty="0"/>
              <a:t>You can use complex conditions by using OR and </a:t>
            </a:r>
            <a:r>
              <a:rPr lang="en-US" dirty="0" err="1"/>
              <a:t>AND</a:t>
            </a:r>
            <a:endParaRPr lang="en-US" dirty="0"/>
          </a:p>
          <a:p>
            <a:pPr algn="just"/>
            <a:r>
              <a:rPr lang="en-US" dirty="0"/>
              <a:t>If the template has no </a:t>
            </a:r>
            <a:r>
              <a:rPr lang="en-US" dirty="0" err="1"/>
              <a:t>metasymbols</a:t>
            </a:r>
            <a:r>
              <a:rPr lang="en-US" dirty="0"/>
              <a:t>, LIKE is equal to the comparison operator =, but NOT LIKE is equal to &lt;&gt;</a:t>
            </a:r>
            <a:endParaRPr lang="lv-LV" b="1" dirty="0"/>
          </a:p>
        </p:txBody>
      </p:sp>
    </p:spTree>
    <p:extLst>
      <p:ext uri="{BB962C8B-B14F-4D97-AF65-F5344CB8AC3E}">
        <p14:creationId xmlns:p14="http://schemas.microsoft.com/office/powerpoint/2010/main" val="4078788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130588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LIKE </a:t>
            </a:r>
            <a:r>
              <a:rPr lang="ru-RU" b="1" dirty="0" err="1"/>
              <a:t>operator</a:t>
            </a:r>
            <a:endParaRPr lang="lv-LV" b="1" dirty="0"/>
          </a:p>
          <a:p>
            <a:pPr marL="0" indent="0">
              <a:buNone/>
            </a:pPr>
            <a:r>
              <a:rPr lang="en-US" dirty="0"/>
              <a:t>Here are some examples showing different LIKE operators with '</a:t>
            </a:r>
            <a:r>
              <a:rPr lang="lv-LV" dirty="0"/>
              <a:t>%</a:t>
            </a:r>
            <a:r>
              <a:rPr lang="en-US" dirty="0"/>
              <a:t>' and '</a:t>
            </a:r>
            <a:r>
              <a:rPr lang="lv-LV" dirty="0"/>
              <a:t>_</a:t>
            </a:r>
            <a:r>
              <a:rPr lang="en-US" dirty="0"/>
              <a:t>' wildcards:</a:t>
            </a:r>
            <a:endParaRPr lang="lv-LV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19388"/>
              </p:ext>
            </p:extLst>
          </p:nvPr>
        </p:nvGraphicFramePr>
        <p:xfrm>
          <a:off x="628651" y="3979877"/>
          <a:ext cx="7886699" cy="1524000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423908">
                  <a:extLst>
                    <a:ext uri="{9D8B030D-6E8A-4147-A177-3AD203B41FA5}">
                      <a16:colId xmlns:a16="http://schemas.microsoft.com/office/drawing/2014/main" val="3317917267"/>
                    </a:ext>
                  </a:extLst>
                </a:gridCol>
                <a:gridCol w="6462791">
                  <a:extLst>
                    <a:ext uri="{9D8B030D-6E8A-4147-A177-3AD203B41FA5}">
                      <a16:colId xmlns:a16="http://schemas.microsoft.com/office/drawing/2014/main" val="541054873"/>
                    </a:ext>
                  </a:extLst>
                </a:gridCol>
              </a:tblGrid>
              <a:tr h="281836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Template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b="1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Possible values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1032240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‘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%’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lv-LV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Rīga, Rundāle, Rembrants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0782169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‘%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’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Dēls, </a:t>
                      </a:r>
                      <a:r>
                        <a:rPr lang="lv-LV" sz="20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Name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 debess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9335925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‘</a:t>
                      </a:r>
                      <a:r>
                        <a:rPr lang="lv-LV" sz="20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___’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lv-LV" sz="20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Quatro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160757"/>
                  </a:ext>
                </a:extLst>
              </a:tr>
              <a:tr h="281836"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‘%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_’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228600" algn="just">
                        <a:spcAft>
                          <a:spcPts val="0"/>
                        </a:spcAft>
                        <a:tabLst>
                          <a:tab pos="571500" algn="l"/>
                          <a:tab pos="1257300" algn="l"/>
                        </a:tabLs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Tree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area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red</a:t>
                      </a:r>
                      <a:r>
                        <a:rPr lang="lv-LV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,</a:t>
                      </a: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 Blood red</a:t>
                      </a:r>
                      <a:endParaRPr lang="lv-LV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3587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6031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5753"/>
            <a:ext cx="7886700" cy="46112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Display surnames and names for authors whose last names begin with the letter A and whose last names ends with -s or -is. Sort the result by author names in alphabetical order.</a:t>
            </a:r>
          </a:p>
          <a:p>
            <a:pPr marL="0" indent="0" algn="just">
              <a:buNone/>
            </a:pPr>
            <a:endParaRPr lang="lv-LV" dirty="0"/>
          </a:p>
          <a:p>
            <a:pPr marL="0" indent="0">
              <a:buNone/>
            </a:pPr>
            <a:r>
              <a:rPr lang="en-US" sz="2400" b="1" dirty="0"/>
              <a:t>SELECT </a:t>
            </a:r>
            <a:r>
              <a:rPr lang="en-US" sz="2400" b="1" dirty="0" err="1"/>
              <a:t>AuthorSur</a:t>
            </a:r>
            <a:r>
              <a:rPr lang="en-US" sz="2400" b="1" dirty="0"/>
              <a:t> AS Surname, </a:t>
            </a:r>
            <a:r>
              <a:rPr lang="en-US" sz="2400" b="1" dirty="0" err="1"/>
              <a:t>AuthorName</a:t>
            </a:r>
            <a:r>
              <a:rPr lang="en-US" sz="2400" b="1" dirty="0"/>
              <a:t> AS Name</a:t>
            </a:r>
          </a:p>
          <a:p>
            <a:pPr marL="0" indent="0">
              <a:buNone/>
            </a:pPr>
            <a:r>
              <a:rPr lang="en-US" sz="2400" b="1" dirty="0"/>
              <a:t>FROM Authors</a:t>
            </a:r>
          </a:p>
          <a:p>
            <a:pPr marL="0" indent="0">
              <a:buNone/>
            </a:pPr>
            <a:r>
              <a:rPr lang="en-US" sz="2400" b="1" dirty="0"/>
              <a:t>WHERE (</a:t>
            </a:r>
            <a:r>
              <a:rPr lang="en-US" sz="2400" b="1" dirty="0" err="1"/>
              <a:t>AuthorSur</a:t>
            </a:r>
            <a:r>
              <a:rPr lang="en-US" sz="2400" b="1" dirty="0"/>
              <a:t> LIKE 'A%') </a:t>
            </a:r>
          </a:p>
          <a:p>
            <a:pPr marL="0" indent="0">
              <a:buNone/>
            </a:pPr>
            <a:r>
              <a:rPr lang="en-US" sz="2400" b="1" dirty="0"/>
              <a:t>  AND ( (</a:t>
            </a:r>
            <a:r>
              <a:rPr lang="en-US" sz="2400" b="1" dirty="0" err="1"/>
              <a:t>AuthorName</a:t>
            </a:r>
            <a:r>
              <a:rPr lang="en-US" sz="2400" b="1" dirty="0"/>
              <a:t> LIKE '%s') OR (</a:t>
            </a:r>
            <a:r>
              <a:rPr lang="en-US" sz="2400" b="1" dirty="0" err="1"/>
              <a:t>AuthorName</a:t>
            </a:r>
            <a:r>
              <a:rPr lang="en-US" sz="2400" b="1" dirty="0"/>
              <a:t> LIKE '%is'))</a:t>
            </a:r>
          </a:p>
          <a:p>
            <a:pPr marL="0" indent="0">
              <a:buNone/>
            </a:pPr>
            <a:r>
              <a:rPr lang="en-US" sz="2400" b="1" dirty="0"/>
              <a:t>ORDER BY </a:t>
            </a:r>
            <a:r>
              <a:rPr lang="en-US" sz="2400" b="1" dirty="0" err="1"/>
              <a:t>AuthorSur</a:t>
            </a:r>
            <a:r>
              <a:rPr lang="en-US" sz="2400" b="1" dirty="0"/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BE6E04-C9A6-3962-74EA-050286C63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5603562"/>
            <a:ext cx="2733807" cy="88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337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8" y="1825624"/>
            <a:ext cx="8818323" cy="48006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/>
              <a:t>BETWEEN </a:t>
            </a:r>
            <a:r>
              <a:rPr lang="ru-RU" b="1" dirty="0" err="1"/>
              <a:t>operator</a:t>
            </a: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This operator verifies that the value of a column is within a certain range</a:t>
            </a:r>
            <a:r>
              <a:rPr lang="lv-LV" dirty="0"/>
              <a:t>.</a:t>
            </a:r>
          </a:p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</a:p>
          <a:p>
            <a:pPr marL="0" indent="0">
              <a:buNone/>
            </a:pPr>
            <a:r>
              <a:rPr lang="lv-LV" sz="2400" i="1" dirty="0"/>
              <a:t>WHERE </a:t>
            </a:r>
            <a:r>
              <a:rPr lang="en-US" sz="2400" i="1" dirty="0"/>
              <a:t>column</a:t>
            </a:r>
            <a:r>
              <a:rPr lang="lv-LV" sz="2400" i="1" dirty="0"/>
              <a:t> [NOT] BETWEEN </a:t>
            </a:r>
            <a:r>
              <a:rPr lang="en-US" sz="2400" i="1" dirty="0"/>
              <a:t>value1 </a:t>
            </a:r>
            <a:r>
              <a:rPr lang="lv-LV" sz="2400" i="1" dirty="0"/>
              <a:t>AND </a:t>
            </a:r>
            <a:r>
              <a:rPr lang="en-US" sz="2400" i="1" dirty="0"/>
              <a:t>value2</a:t>
            </a:r>
            <a:r>
              <a:rPr lang="lv-LV" sz="2400" i="1" dirty="0"/>
              <a:t>;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82427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5753"/>
            <a:ext cx="7886700" cy="46112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display books titles for books that have from 1 to 5 copies</a:t>
            </a:r>
            <a:r>
              <a:rPr lang="lv-LV" dirty="0"/>
              <a:t>.</a:t>
            </a:r>
            <a:endParaRPr lang="en-US" dirty="0"/>
          </a:p>
          <a:p>
            <a:pPr marL="0" indent="0" algn="just">
              <a:buNone/>
            </a:pPr>
            <a:endParaRPr lang="lv-LV" dirty="0"/>
          </a:p>
          <a:p>
            <a:pPr marL="0" indent="0">
              <a:buNone/>
            </a:pPr>
            <a:r>
              <a:rPr lang="en-US" sz="2400" b="1" dirty="0"/>
              <a:t>SELECT Title</a:t>
            </a:r>
          </a:p>
          <a:p>
            <a:pPr marL="0" indent="0">
              <a:buNone/>
            </a:pPr>
            <a:r>
              <a:rPr lang="en-US" sz="2400" b="1" dirty="0"/>
              <a:t>FROM Books</a:t>
            </a:r>
          </a:p>
          <a:p>
            <a:pPr marL="0" indent="0">
              <a:buNone/>
            </a:pPr>
            <a:r>
              <a:rPr lang="en-US" sz="2400" b="1" dirty="0"/>
              <a:t>WHERE </a:t>
            </a:r>
            <a:r>
              <a:rPr lang="en-US" sz="2400" b="1" dirty="0" err="1"/>
              <a:t>NumOfCopies</a:t>
            </a:r>
            <a:r>
              <a:rPr lang="en-US" sz="2400" b="1" dirty="0"/>
              <a:t> BETWEEN 1 AND 5;</a:t>
            </a:r>
            <a:endParaRPr lang="lv-LV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AD4504-7188-3313-E3E0-98A8D45C6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2829" y="4436842"/>
            <a:ext cx="150516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743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8" y="1825624"/>
            <a:ext cx="8818323" cy="480064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/>
              <a:t>IN</a:t>
            </a:r>
            <a:r>
              <a:rPr lang="ru-RU" b="1" dirty="0"/>
              <a:t> </a:t>
            </a:r>
            <a:r>
              <a:rPr lang="ru-RU" b="1" dirty="0" err="1"/>
              <a:t>operator</a:t>
            </a: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dirty="0"/>
              <a:t>IN operator allows you to specify multiple values in a WHERE clause.</a:t>
            </a:r>
          </a:p>
          <a:p>
            <a:pPr marL="0" indent="0" algn="just">
              <a:buNone/>
            </a:pPr>
            <a:r>
              <a:rPr lang="en-US" dirty="0"/>
              <a:t>IN operator is a shorthand for multiple OR conditions</a:t>
            </a:r>
            <a:r>
              <a:rPr lang="lv-LV" dirty="0"/>
              <a:t>.</a:t>
            </a:r>
          </a:p>
          <a:p>
            <a:pPr marL="0" indent="0">
              <a:buNone/>
            </a:pPr>
            <a:r>
              <a:rPr lang="lv-LV" dirty="0"/>
              <a:t> </a:t>
            </a:r>
          </a:p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at</a:t>
            </a:r>
            <a:r>
              <a:rPr lang="lv-LV" dirty="0"/>
              <a:t>:</a:t>
            </a:r>
          </a:p>
          <a:p>
            <a:pPr marL="0" indent="0">
              <a:buNone/>
            </a:pPr>
            <a:r>
              <a:rPr lang="lv-LV" i="1" dirty="0"/>
              <a:t>SELECT </a:t>
            </a:r>
            <a:r>
              <a:rPr lang="en-US" i="1" dirty="0"/>
              <a:t>columns</a:t>
            </a:r>
            <a:r>
              <a:rPr lang="lv-LV" i="1" dirty="0"/>
              <a:t>						</a:t>
            </a:r>
          </a:p>
          <a:p>
            <a:pPr marL="0" indent="0">
              <a:buNone/>
            </a:pPr>
            <a:r>
              <a:rPr lang="lv-LV" i="1" dirty="0"/>
              <a:t>FROM </a:t>
            </a:r>
            <a:r>
              <a:rPr lang="en-US" i="1" dirty="0"/>
              <a:t>table</a:t>
            </a:r>
            <a:r>
              <a:rPr lang="lv-LV" i="1" dirty="0"/>
              <a:t>						</a:t>
            </a:r>
          </a:p>
          <a:p>
            <a:pPr marL="0" indent="0">
              <a:buNone/>
            </a:pPr>
            <a:r>
              <a:rPr lang="lv-LV" i="1" dirty="0"/>
              <a:t>WHERE </a:t>
            </a:r>
            <a:r>
              <a:rPr lang="en-US" i="1" dirty="0"/>
              <a:t>column</a:t>
            </a:r>
            <a:r>
              <a:rPr lang="lv-LV" i="1" dirty="0"/>
              <a:t> [NOT] IN (v</a:t>
            </a:r>
            <a:r>
              <a:rPr lang="en-US" i="1" dirty="0" err="1"/>
              <a:t>alue</a:t>
            </a:r>
            <a:r>
              <a:rPr lang="lv-LV" i="1" dirty="0"/>
              <a:t>1, ..., v</a:t>
            </a:r>
            <a:r>
              <a:rPr lang="en-US" i="1" dirty="0" err="1"/>
              <a:t>alue</a:t>
            </a:r>
            <a:r>
              <a:rPr lang="lv-LV" i="1" dirty="0"/>
              <a:t> n)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75758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5753"/>
            <a:ext cx="7886700" cy="46112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display the books that were published during the long years of the 21st century</a:t>
            </a:r>
            <a:r>
              <a:rPr lang="lv-LV" dirty="0"/>
              <a:t>.</a:t>
            </a:r>
            <a:endParaRPr lang="en-US" dirty="0"/>
          </a:p>
          <a:p>
            <a:pPr marL="0" indent="0" algn="just">
              <a:buNone/>
            </a:pPr>
            <a:endParaRPr lang="lv-LV" dirty="0"/>
          </a:p>
          <a:p>
            <a:pPr marL="0" indent="0">
              <a:buNone/>
            </a:pPr>
            <a:r>
              <a:rPr lang="en-US" sz="2400" b="1" dirty="0"/>
              <a:t>SELECT </a:t>
            </a:r>
            <a:r>
              <a:rPr lang="en-US" sz="2400" b="1" dirty="0" err="1"/>
              <a:t>YearOfPub</a:t>
            </a:r>
            <a:r>
              <a:rPr lang="en-US" sz="2400" b="1" dirty="0"/>
              <a:t>, </a:t>
            </a:r>
            <a:r>
              <a:rPr lang="en-US" sz="2400" b="1" dirty="0" err="1"/>
              <a:t>BookID</a:t>
            </a:r>
            <a:r>
              <a:rPr lang="en-US" sz="2400" b="1" dirty="0"/>
              <a:t> AS </a:t>
            </a:r>
            <a:r>
              <a:rPr lang="lv-LV" sz="2400" b="1" dirty="0"/>
              <a:t>`</a:t>
            </a:r>
            <a:r>
              <a:rPr lang="en-US" sz="2400" b="1" dirty="0"/>
              <a:t>Book ID</a:t>
            </a:r>
            <a:r>
              <a:rPr lang="lv-LV" sz="2400" b="1" dirty="0"/>
              <a:t>`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FROM </a:t>
            </a:r>
            <a:r>
              <a:rPr lang="en-US" sz="2400" b="1" dirty="0" err="1"/>
              <a:t>Title_page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WHERE </a:t>
            </a:r>
            <a:r>
              <a:rPr lang="en-US" sz="2400" b="1" dirty="0" err="1"/>
              <a:t>YearOfPub</a:t>
            </a:r>
            <a:r>
              <a:rPr lang="en-US" sz="2400" b="1" dirty="0"/>
              <a:t> IN (2000, 2002, 2004, 2008)</a:t>
            </a:r>
          </a:p>
          <a:p>
            <a:pPr marL="0" indent="0">
              <a:buNone/>
            </a:pPr>
            <a:r>
              <a:rPr lang="en-US" sz="2400" b="1" dirty="0"/>
              <a:t>ORDER BY </a:t>
            </a:r>
            <a:r>
              <a:rPr lang="en-US" sz="2400" b="1" dirty="0" err="1"/>
              <a:t>YearOfPub</a:t>
            </a:r>
            <a:r>
              <a:rPr lang="en-US" sz="2400" b="1" dirty="0"/>
              <a:t>;</a:t>
            </a:r>
            <a:endParaRPr lang="lv-LV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23171B-8430-3D5A-EDD0-A0370089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222" y="4830744"/>
            <a:ext cx="2450614" cy="151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729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8" y="1825624"/>
            <a:ext cx="8818323" cy="48006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lv-LV" b="1" dirty="0"/>
              <a:t>NOT NULL</a:t>
            </a:r>
            <a:r>
              <a:rPr lang="ru-RU" b="1" dirty="0"/>
              <a:t> </a:t>
            </a:r>
            <a:r>
              <a:rPr lang="ru-RU" b="1" dirty="0" err="1"/>
              <a:t>operator</a:t>
            </a:r>
            <a:endParaRPr lang="en-US" b="1" dirty="0"/>
          </a:p>
          <a:p>
            <a:pPr marL="0" indent="0" algn="just">
              <a:buNone/>
            </a:pPr>
            <a:endParaRPr lang="en-US" b="1" dirty="0"/>
          </a:p>
          <a:p>
            <a:pPr marL="0" indent="0" algn="just">
              <a:buNone/>
            </a:pPr>
            <a:r>
              <a:rPr lang="en-US" dirty="0"/>
              <a:t>The LIKE, BETWEEN, and IN operators do not see a NULL value. Use IS NULL or IS NOT NULL operators to find it. These operators can work with any type of value. With AND </a:t>
            </a:r>
            <a:r>
              <a:rPr lang="en-US" dirty="0" err="1"/>
              <a:t>and</a:t>
            </a:r>
            <a:r>
              <a:rPr lang="en-US" dirty="0"/>
              <a:t> OR you can construct complex conditions.</a:t>
            </a:r>
            <a:endParaRPr lang="lv-LV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lv-LV" dirty="0" err="1"/>
              <a:t>Form</a:t>
            </a:r>
            <a:r>
              <a:rPr lang="en-US" dirty="0"/>
              <a:t>a</a:t>
            </a:r>
            <a:r>
              <a:rPr lang="lv-LV" dirty="0"/>
              <a:t>t:</a:t>
            </a:r>
          </a:p>
          <a:p>
            <a:pPr marL="0" indent="0">
              <a:buNone/>
            </a:pPr>
            <a:r>
              <a:rPr lang="lv-LV" i="1" dirty="0"/>
              <a:t>WHERE </a:t>
            </a:r>
            <a:r>
              <a:rPr lang="en-US" i="1" dirty="0"/>
              <a:t>column</a:t>
            </a:r>
            <a:r>
              <a:rPr lang="lv-LV" i="1" dirty="0"/>
              <a:t> IS [NOT] NULL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6872670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lv-LV" dirty="0" err="1"/>
              <a:t>Row</a:t>
            </a:r>
            <a:r>
              <a:rPr lang="lv-LV" dirty="0"/>
              <a:t> </a:t>
            </a:r>
            <a:r>
              <a:rPr lang="lv-LV" dirty="0" err="1"/>
              <a:t>selection</a:t>
            </a:r>
            <a:r>
              <a:rPr lang="lv-LV" dirty="0"/>
              <a:t> </a:t>
            </a:r>
            <a:r>
              <a:rPr lang="en-US" dirty="0"/>
              <a:t>using</a:t>
            </a:r>
            <a:r>
              <a:rPr lang="lv-LV" dirty="0"/>
              <a:t> </a:t>
            </a:r>
            <a:r>
              <a:rPr lang="lv-LV" dirty="0" err="1"/>
              <a:t>condition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65753"/>
            <a:ext cx="7886700" cy="46112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Example: Display comments about authors</a:t>
            </a:r>
          </a:p>
          <a:p>
            <a:pPr marL="0" indent="0" algn="just">
              <a:buNone/>
            </a:pPr>
            <a:endParaRPr lang="lv-LV" dirty="0"/>
          </a:p>
          <a:p>
            <a:pPr marL="0" indent="0">
              <a:buNone/>
            </a:pPr>
            <a:r>
              <a:rPr lang="en-US" sz="2400" b="1" dirty="0"/>
              <a:t>SELECT Comment, </a:t>
            </a:r>
            <a:r>
              <a:rPr lang="en-US" sz="2400" b="1" dirty="0" err="1"/>
              <a:t>AuthorID</a:t>
            </a:r>
            <a:r>
              <a:rPr lang="en-US" sz="2400" b="1" dirty="0"/>
              <a:t> AS </a:t>
            </a:r>
            <a:r>
              <a:rPr lang="lv-LV" sz="2400" b="1" dirty="0"/>
              <a:t>`</a:t>
            </a:r>
            <a:r>
              <a:rPr lang="en-US" sz="2400" b="1" dirty="0"/>
              <a:t>about author</a:t>
            </a:r>
            <a:r>
              <a:rPr lang="lv-LV" sz="2400" b="1" dirty="0"/>
              <a:t>`</a:t>
            </a: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FROM Comments</a:t>
            </a:r>
          </a:p>
          <a:p>
            <a:pPr marL="0" indent="0">
              <a:buNone/>
            </a:pPr>
            <a:r>
              <a:rPr lang="en-US" sz="2400" b="1" dirty="0"/>
              <a:t>WHERE Comment IS NOT NULL;</a:t>
            </a:r>
            <a:endParaRPr lang="lv-LV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F89282-4E57-A99F-B874-FDA3259AC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784" y="4551776"/>
            <a:ext cx="3673076" cy="1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536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90885" cy="4351338"/>
          </a:xfrm>
        </p:spPr>
        <p:txBody>
          <a:bodyPr/>
          <a:lstStyle/>
          <a:p>
            <a:pPr marL="514350" indent="-514350" algn="just">
              <a:buAutoNum type="arabicPeriod"/>
            </a:pPr>
            <a:r>
              <a:rPr lang="en-US" dirty="0"/>
              <a:t>Display authors who were born in the 19th century.</a:t>
            </a:r>
          </a:p>
          <a:p>
            <a:pPr marL="514350" indent="-514350" algn="just">
              <a:buAutoNum type="arabicPeriod"/>
            </a:pPr>
            <a:r>
              <a:rPr lang="en-US" dirty="0"/>
              <a:t>Display books whose Title begins with the letter 'V</a:t>
            </a:r>
            <a:r>
              <a:rPr lang="lv-LV" dirty="0"/>
              <a:t>'</a:t>
            </a:r>
            <a:r>
              <a:rPr lang="en-US" dirty="0"/>
              <a:t>.</a:t>
            </a:r>
          </a:p>
          <a:p>
            <a:pPr marL="514350" indent="-514350" algn="just">
              <a:buAutoNum type="arabicPeriod"/>
            </a:pPr>
            <a:r>
              <a:rPr lang="en-US" dirty="0"/>
              <a:t>Display books whose Title begins with the letter 'V</a:t>
            </a:r>
            <a:r>
              <a:rPr lang="lv-LV" dirty="0"/>
              <a:t>'</a:t>
            </a:r>
            <a:r>
              <a:rPr lang="en-US" dirty="0"/>
              <a:t>, by leaving only book titles and removing duplicates.</a:t>
            </a:r>
          </a:p>
          <a:p>
            <a:pPr marL="514350" indent="-514350" algn="just">
              <a:buAutoNum type="arabicPeriod"/>
            </a:pPr>
            <a:r>
              <a:rPr lang="en-US" dirty="0"/>
              <a:t>Display the reader's last name and address by combining the address (street, house, flat) in one field.</a:t>
            </a:r>
          </a:p>
          <a:p>
            <a:pPr marL="514350" indent="-514350" algn="just">
              <a:buAutoNum type="arabicPeriod"/>
            </a:pPr>
            <a:r>
              <a:rPr lang="en-US" dirty="0"/>
              <a:t>Task 4 + sort by last name.</a:t>
            </a:r>
          </a:p>
          <a:p>
            <a:pPr marL="514350" indent="-514350" algn="just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88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825625"/>
            <a:ext cx="8190885" cy="4351338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6"/>
            </a:pPr>
            <a:r>
              <a:rPr lang="en-US" dirty="0"/>
              <a:t>Display the Reader ID number and Book Return Date from the Taken books, sort by Date in descending order.</a:t>
            </a:r>
          </a:p>
          <a:p>
            <a:pPr marL="514350" indent="-514350" algn="just">
              <a:buFont typeface="+mj-lt"/>
              <a:buAutoNum type="arabicPeriod" startAt="6"/>
            </a:pPr>
            <a:r>
              <a:rPr lang="en-US" dirty="0"/>
              <a:t>Display all Journal service operations that took place in December 2011, display only Reader ID and Date fields, sort by Date.</a:t>
            </a:r>
          </a:p>
          <a:p>
            <a:pPr marL="514350" indent="-514350" algn="just">
              <a:buFont typeface="+mj-lt"/>
              <a:buAutoNum type="arabicPeriod" startAt="6"/>
            </a:pPr>
            <a:r>
              <a:rPr lang="en-US" dirty="0"/>
              <a:t>By using "IN", display all Journal services that took place in the autumn.</a:t>
            </a:r>
          </a:p>
          <a:p>
            <a:pPr marL="514350" indent="-514350" algn="just">
              <a:buFont typeface="+mj-lt"/>
              <a:buAutoNum type="arabicPeriod" startAt="6"/>
            </a:pPr>
            <a:r>
              <a:rPr lang="en-US" dirty="0"/>
              <a:t>Display the Name and surname of the reader (with AS) who does not have a phone number.</a:t>
            </a:r>
          </a:p>
        </p:txBody>
      </p:sp>
    </p:spTree>
    <p:extLst>
      <p:ext uri="{BB962C8B-B14F-4D97-AF65-F5344CB8AC3E}">
        <p14:creationId xmlns:p14="http://schemas.microsoft.com/office/powerpoint/2010/main" val="26873606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85180"/>
            <a:ext cx="7886700" cy="528722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1a.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*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Authors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(</a:t>
            </a:r>
            <a:r>
              <a:rPr lang="en-US" sz="1100" dirty="0" err="1"/>
              <a:t>YearOfBirth</a:t>
            </a:r>
            <a:r>
              <a:rPr lang="en-US" sz="1100" dirty="0"/>
              <a:t>&gt;=1800) AND (</a:t>
            </a:r>
            <a:r>
              <a:rPr lang="en-US" sz="1100" dirty="0" err="1"/>
              <a:t>YearOfBirth</a:t>
            </a:r>
            <a:r>
              <a:rPr lang="en-US" sz="1100" dirty="0"/>
              <a:t>&lt;=1900);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1b.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*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Authors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</a:t>
            </a:r>
            <a:r>
              <a:rPr lang="en-US" sz="1100" dirty="0" err="1"/>
              <a:t>YearOfBirth</a:t>
            </a:r>
            <a:r>
              <a:rPr lang="en-US" sz="1100" dirty="0"/>
              <a:t> BETWEEN 1800 AND 1900;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2.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*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Books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Title LIKE 'V%';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3.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DISTINCT Title				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Books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Title LIKE 'V%';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4.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SELECT </a:t>
            </a:r>
            <a:r>
              <a:rPr lang="en-US" sz="1100" dirty="0" err="1"/>
              <a:t>ReaderSur</a:t>
            </a:r>
            <a:r>
              <a:rPr lang="lv-LV" sz="1100" dirty="0"/>
              <a:t>, CONCAT(</a:t>
            </a:r>
            <a:r>
              <a:rPr lang="en-US" sz="1100" dirty="0"/>
              <a:t>Street</a:t>
            </a:r>
            <a:r>
              <a:rPr lang="lv-LV" sz="1100" dirty="0"/>
              <a:t>, ' ', </a:t>
            </a:r>
            <a:r>
              <a:rPr lang="en-US" sz="1100" dirty="0"/>
              <a:t>House</a:t>
            </a:r>
            <a:r>
              <a:rPr lang="lv-LV" sz="1100" dirty="0"/>
              <a:t>, ' ', </a:t>
            </a:r>
            <a:r>
              <a:rPr lang="en-US" sz="1100" dirty="0"/>
              <a:t>Flat</a:t>
            </a:r>
            <a:r>
              <a:rPr lang="lv-LV" sz="1100" dirty="0"/>
              <a:t>) AS </a:t>
            </a:r>
            <a:r>
              <a:rPr lang="en-US" sz="1100" dirty="0"/>
              <a:t>Address</a:t>
            </a:r>
            <a:r>
              <a:rPr lang="lv-LV" sz="11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FROM </a:t>
            </a:r>
            <a:r>
              <a:rPr lang="lv-LV" sz="1100" dirty="0" err="1"/>
              <a:t>Readers</a:t>
            </a:r>
            <a:r>
              <a:rPr lang="lv-LV" sz="1100" dirty="0"/>
              <a:t>; </a:t>
            </a: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//</a:t>
            </a:r>
            <a:r>
              <a:rPr lang="lv-LV" sz="1100" dirty="0"/>
              <a:t> CONCAT_WS</a:t>
            </a: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SELECT </a:t>
            </a:r>
            <a:r>
              <a:rPr lang="en-US" sz="1100" dirty="0" err="1"/>
              <a:t>ReaderSur</a:t>
            </a:r>
            <a:r>
              <a:rPr lang="lv-LV" sz="1100" dirty="0"/>
              <a:t>, CONCAT_WS(' ', </a:t>
            </a:r>
            <a:r>
              <a:rPr lang="en-US" sz="1100" dirty="0"/>
              <a:t>Street</a:t>
            </a:r>
            <a:r>
              <a:rPr lang="lv-LV" sz="1100" dirty="0"/>
              <a:t>, </a:t>
            </a:r>
            <a:r>
              <a:rPr lang="en-US" sz="1100" dirty="0"/>
              <a:t>House</a:t>
            </a:r>
            <a:r>
              <a:rPr lang="lv-LV" sz="1100" dirty="0"/>
              <a:t>, </a:t>
            </a:r>
            <a:r>
              <a:rPr lang="en-US" sz="1100" dirty="0"/>
              <a:t>Flat</a:t>
            </a:r>
            <a:r>
              <a:rPr lang="lv-LV" sz="1100" dirty="0"/>
              <a:t>) AS </a:t>
            </a:r>
            <a:r>
              <a:rPr lang="en-US" sz="1100" dirty="0"/>
              <a:t>Address</a:t>
            </a:r>
            <a:r>
              <a:rPr lang="lv-LV" sz="11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FROM </a:t>
            </a:r>
            <a:r>
              <a:rPr lang="lv-LV" sz="1100" dirty="0" err="1"/>
              <a:t>Readers</a:t>
            </a:r>
            <a:r>
              <a:rPr lang="lv-LV" sz="1100" dirty="0"/>
              <a:t>;</a:t>
            </a:r>
            <a:endParaRPr lang="en-US" sz="11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7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Answers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30036"/>
            <a:ext cx="3943350" cy="5097101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5.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SELECT </a:t>
            </a:r>
            <a:r>
              <a:rPr lang="lv-LV" sz="1100" dirty="0" err="1"/>
              <a:t>ReaderSur</a:t>
            </a:r>
            <a:r>
              <a:rPr lang="lv-LV" sz="1100" dirty="0"/>
              <a:t>, CONCAT(</a:t>
            </a:r>
            <a:r>
              <a:rPr lang="lv-LV" sz="1100" dirty="0" err="1"/>
              <a:t>Street</a:t>
            </a:r>
            <a:r>
              <a:rPr lang="lv-LV" sz="1100" dirty="0"/>
              <a:t>, ' ', </a:t>
            </a:r>
            <a:r>
              <a:rPr lang="lv-LV" sz="1100" dirty="0" err="1"/>
              <a:t>House</a:t>
            </a:r>
            <a:r>
              <a:rPr lang="lv-LV" sz="1100" dirty="0"/>
              <a:t>, ' ', </a:t>
            </a:r>
            <a:r>
              <a:rPr lang="lv-LV" sz="1100" dirty="0" err="1"/>
              <a:t>Flat</a:t>
            </a:r>
            <a:r>
              <a:rPr lang="lv-LV" sz="1100" dirty="0"/>
              <a:t>) AS </a:t>
            </a:r>
            <a:r>
              <a:rPr lang="lv-LV" sz="1100" dirty="0" err="1"/>
              <a:t>Address</a:t>
            </a:r>
            <a:r>
              <a:rPr lang="lv-LV" sz="1100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FROM </a:t>
            </a:r>
            <a:r>
              <a:rPr lang="lv-LV" sz="1100" dirty="0" err="1"/>
              <a:t>Readers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ORDER BY </a:t>
            </a:r>
            <a:r>
              <a:rPr lang="lv-LV" sz="1100" dirty="0" err="1"/>
              <a:t>ReaderSur</a:t>
            </a:r>
            <a:r>
              <a:rPr lang="lv-LV" sz="1100" dirty="0"/>
              <a:t>;</a:t>
            </a:r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6.</a:t>
            </a:r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SELECT </a:t>
            </a:r>
            <a:r>
              <a:rPr lang="en-US" sz="1100" dirty="0" err="1"/>
              <a:t>ReaderID</a:t>
            </a:r>
            <a:r>
              <a:rPr lang="lv-LV" sz="1100" dirty="0"/>
              <a:t>, </a:t>
            </a:r>
            <a:r>
              <a:rPr lang="en-US" sz="1100" dirty="0" err="1"/>
              <a:t>ReturnDate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FROM </a:t>
            </a:r>
            <a:r>
              <a:rPr lang="en-US" sz="1100" dirty="0" err="1"/>
              <a:t>Books_taken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ORDER BY </a:t>
            </a:r>
            <a:r>
              <a:rPr lang="en-US" sz="1100" dirty="0" err="1"/>
              <a:t>ReturnDate</a:t>
            </a:r>
            <a:r>
              <a:rPr lang="lv-LV" sz="1100" dirty="0"/>
              <a:t> DESC;</a:t>
            </a:r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7.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</a:t>
            </a:r>
            <a:r>
              <a:rPr lang="en-US" sz="1100" dirty="0" err="1"/>
              <a:t>ReaderID</a:t>
            </a:r>
            <a:r>
              <a:rPr lang="en-US" sz="1100" dirty="0"/>
              <a:t>, </a:t>
            </a:r>
            <a:r>
              <a:rPr lang="en-US" sz="1100" dirty="0" err="1"/>
              <a:t>SDate</a:t>
            </a:r>
            <a:endParaRPr lang="en-US" sz="1100" dirty="0"/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Journal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YEAR(</a:t>
            </a:r>
            <a:r>
              <a:rPr lang="en-US" sz="1100" dirty="0" err="1"/>
              <a:t>SDate</a:t>
            </a:r>
            <a:r>
              <a:rPr lang="en-US" sz="1100" dirty="0"/>
              <a:t>) = 2011 AND MONTH(</a:t>
            </a:r>
            <a:r>
              <a:rPr lang="en-US" sz="1100" dirty="0" err="1"/>
              <a:t>SDate</a:t>
            </a:r>
            <a:r>
              <a:rPr lang="en-US" sz="1100" dirty="0"/>
              <a:t>) = 12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ORDER BY </a:t>
            </a:r>
            <a:r>
              <a:rPr lang="en-US" sz="1100" dirty="0" err="1"/>
              <a:t>SDate</a:t>
            </a:r>
            <a:r>
              <a:rPr lang="en-US" sz="1100" dirty="0"/>
              <a:t>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8.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*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Journal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MONTH(</a:t>
            </a:r>
            <a:r>
              <a:rPr lang="en-US" sz="1100" dirty="0" err="1"/>
              <a:t>SDate</a:t>
            </a:r>
            <a:r>
              <a:rPr lang="en-US" sz="1100" dirty="0"/>
              <a:t>) IN (9,10,11);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r>
              <a:rPr lang="lv-LV" sz="1100" dirty="0"/>
              <a:t>9.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SELECT </a:t>
            </a:r>
            <a:r>
              <a:rPr lang="en-US" sz="1100" dirty="0" err="1"/>
              <a:t>ReaderSur</a:t>
            </a:r>
            <a:r>
              <a:rPr lang="en-US" sz="1100" dirty="0"/>
              <a:t> AS Surname, </a:t>
            </a:r>
            <a:r>
              <a:rPr lang="en-US" sz="1100" dirty="0" err="1"/>
              <a:t>ReaderName</a:t>
            </a:r>
            <a:r>
              <a:rPr lang="en-US" sz="1100" dirty="0"/>
              <a:t> AS Name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FROM Readers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100" dirty="0"/>
              <a:t>WHERE </a:t>
            </a:r>
            <a:r>
              <a:rPr lang="en-US" sz="1100" dirty="0" err="1"/>
              <a:t>PhoneNum</a:t>
            </a:r>
            <a:r>
              <a:rPr lang="en-US" sz="1100" dirty="0"/>
              <a:t> IS NOT NULL;</a:t>
            </a:r>
            <a:endParaRPr lang="lv-LV" sz="1100" dirty="0"/>
          </a:p>
          <a:p>
            <a:pPr marL="0" indent="0">
              <a:spcBef>
                <a:spcPts val="0"/>
              </a:spcBef>
              <a:buNone/>
            </a:pPr>
            <a:endParaRPr lang="lv-LV" sz="11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352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1591</TotalTime>
  <Words>1953</Words>
  <Application>Microsoft Office PowerPoint</Application>
  <PresentationFormat>On-screen Show (4:3)</PresentationFormat>
  <Paragraphs>302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Google Sans</vt:lpstr>
      <vt:lpstr>Times New Roman</vt:lpstr>
      <vt:lpstr>Office Theme</vt:lpstr>
      <vt:lpstr>SQL</vt:lpstr>
      <vt:lpstr>SQL</vt:lpstr>
      <vt:lpstr>SQL</vt:lpstr>
      <vt:lpstr>Data Manipulation (DML)</vt:lpstr>
      <vt:lpstr>Single table data selection</vt:lpstr>
      <vt:lpstr>Single table data selection</vt:lpstr>
      <vt:lpstr>Single table data selection</vt:lpstr>
      <vt:lpstr>Single table data selection</vt:lpstr>
      <vt:lpstr>Column aliases</vt:lpstr>
      <vt:lpstr>Column aliases</vt:lpstr>
      <vt:lpstr>Ignoring duplicate values</vt:lpstr>
      <vt:lpstr>Ignoring duplicate values</vt:lpstr>
      <vt:lpstr>Sorting</vt:lpstr>
      <vt:lpstr>Sorting</vt:lpstr>
      <vt:lpstr>Sorting</vt:lpstr>
      <vt:lpstr>Sorting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Row selection using condition</vt:lpstr>
      <vt:lpstr>Practice</vt:lpstr>
      <vt:lpstr>Practice</vt:lpstr>
      <vt:lpstr>Answers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Windows User</dc:creator>
  <cp:lastModifiedBy>Andrejs Liepiņš</cp:lastModifiedBy>
  <cp:revision>60</cp:revision>
  <dcterms:created xsi:type="dcterms:W3CDTF">2017-02-28T19:18:39Z</dcterms:created>
  <dcterms:modified xsi:type="dcterms:W3CDTF">2025-02-24T16:43:40Z</dcterms:modified>
</cp:coreProperties>
</file>